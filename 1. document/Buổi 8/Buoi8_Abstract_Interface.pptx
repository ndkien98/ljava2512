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embeddedFontLst>
    <p:embeddedFont>
      <p:font typeface="Oi" panose="020B0604020202020204" charset="0"/>
      <p:regular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9" roundtripDataSignature="AMtx7mixq8GsvfcmImvp8OFKFxPAbruZL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850"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
        <p:cNvGrpSpPr/>
        <p:nvPr/>
      </p:nvGrpSpPr>
      <p:grpSpPr>
        <a:xfrm>
          <a:off x="0" y="0"/>
          <a:ext cx="0" cy="0"/>
          <a:chOff x="0" y="0"/>
          <a:chExt cx="0" cy="0"/>
        </a:xfrm>
      </p:grpSpPr>
      <p:sp>
        <p:nvSpPr>
          <p:cNvPr id="56" name="Google Shape;5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7" name="Google Shape;57;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8" name="Google Shape;68;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
        <p:cNvGrpSpPr/>
        <p:nvPr/>
      </p:nvGrpSpPr>
      <p:grpSpPr>
        <a:xfrm>
          <a:off x="0" y="0"/>
          <a:ext cx="0" cy="0"/>
          <a:chOff x="0" y="0"/>
          <a:chExt cx="0" cy="0"/>
        </a:xfrm>
      </p:grpSpPr>
      <p:sp>
        <p:nvSpPr>
          <p:cNvPr id="76" name="Google Shape;76;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77" name="Google Shape;77;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6" name="Google Shape;86;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3"/>
        <p:cNvGrpSpPr/>
        <p:nvPr/>
      </p:nvGrpSpPr>
      <p:grpSpPr>
        <a:xfrm>
          <a:off x="0" y="0"/>
          <a:ext cx="0" cy="0"/>
          <a:chOff x="0" y="0"/>
          <a:chExt cx="0" cy="0"/>
        </a:xfrm>
      </p:grpSpPr>
      <p:sp>
        <p:nvSpPr>
          <p:cNvPr id="94" name="Google Shape;94;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95" name="Google Shape;9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05" name="Google Shape;10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2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15" name="Google Shape;11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4" name="Google Shape;124;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1"/>
        <p:cNvGrpSpPr/>
        <p:nvPr/>
      </p:nvGrpSpPr>
      <p:grpSpPr>
        <a:xfrm>
          <a:off x="0" y="0"/>
          <a:ext cx="0" cy="0"/>
          <a:chOff x="0" y="0"/>
          <a:chExt cx="0" cy="0"/>
        </a:xfrm>
      </p:grpSpPr>
      <p:sp>
        <p:nvSpPr>
          <p:cNvPr id="132" name="Google Shape;132;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33" name="Google Shape;133;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42" name="Google Shape;142;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p2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51" name="Google Shape;151;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2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1" name="Google Shape;161;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8"/>
        <p:cNvGrpSpPr/>
        <p:nvPr/>
      </p:nvGrpSpPr>
      <p:grpSpPr>
        <a:xfrm>
          <a:off x="0" y="0"/>
          <a:ext cx="0" cy="0"/>
          <a:chOff x="0" y="0"/>
          <a:chExt cx="0" cy="0"/>
        </a:xfrm>
      </p:grpSpPr>
      <p:sp>
        <p:nvSpPr>
          <p:cNvPr id="169" name="Google Shape;169;p2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0" name="Google Shape;170;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2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79" name="Google Shape;179;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6"/>
        <p:cNvGrpSpPr/>
        <p:nvPr/>
      </p:nvGrpSpPr>
      <p:grpSpPr>
        <a:xfrm>
          <a:off x="0" y="0"/>
          <a:ext cx="0" cy="0"/>
          <a:chOff x="0" y="0"/>
          <a:chExt cx="0" cy="0"/>
        </a:xfrm>
      </p:grpSpPr>
      <p:sp>
        <p:nvSpPr>
          <p:cNvPr id="187" name="Google Shape;187;p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88" name="Google Shape;188;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
        <p:cNvGrpSpPr/>
        <p:nvPr/>
      </p:nvGrpSpPr>
      <p:grpSpPr>
        <a:xfrm>
          <a:off x="0" y="0"/>
          <a:ext cx="0" cy="0"/>
          <a:chOff x="0" y="0"/>
          <a:chExt cx="0" cy="0"/>
        </a:xfrm>
      </p:grpSpPr>
      <p:sp>
        <p:nvSpPr>
          <p:cNvPr id="197" name="Google Shape;197;p2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8" name="Google Shape;198;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
        <p:cNvGrpSpPr/>
        <p:nvPr/>
      </p:nvGrpSpPr>
      <p:grpSpPr>
        <a:xfrm>
          <a:off x="0" y="0"/>
          <a:ext cx="0" cy="0"/>
          <a:chOff x="0" y="0"/>
          <a:chExt cx="0" cy="0"/>
        </a:xfrm>
      </p:grpSpPr>
      <p:sp>
        <p:nvSpPr>
          <p:cNvPr id="206" name="Google Shape;206;p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07" name="Google Shape;207;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3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16" name="Google Shape;216;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4"/>
        <p:cNvGrpSpPr/>
        <p:nvPr/>
      </p:nvGrpSpPr>
      <p:grpSpPr>
        <a:xfrm>
          <a:off x="0" y="0"/>
          <a:ext cx="0" cy="0"/>
          <a:chOff x="0" y="0"/>
          <a:chExt cx="0" cy="0"/>
        </a:xfrm>
      </p:grpSpPr>
      <p:sp>
        <p:nvSpPr>
          <p:cNvPr id="225" name="Google Shape;225;p3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26" name="Google Shape;226;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4"/>
        <p:cNvGrpSpPr/>
        <p:nvPr/>
      </p:nvGrpSpPr>
      <p:grpSpPr>
        <a:xfrm>
          <a:off x="0" y="0"/>
          <a:ext cx="0" cy="0"/>
          <a:chOff x="0" y="0"/>
          <a:chExt cx="0" cy="0"/>
        </a:xfrm>
      </p:grpSpPr>
      <p:sp>
        <p:nvSpPr>
          <p:cNvPr id="235" name="Google Shape;235;p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36" name="Google Shape;236;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3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45" name="Google Shape;245;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4"/>
        <p:cNvGrpSpPr/>
        <p:nvPr/>
      </p:nvGrpSpPr>
      <p:grpSpPr>
        <a:xfrm>
          <a:off x="0" y="0"/>
          <a:ext cx="0" cy="0"/>
          <a:chOff x="0" y="0"/>
          <a:chExt cx="0" cy="0"/>
        </a:xfrm>
      </p:grpSpPr>
      <p:sp>
        <p:nvSpPr>
          <p:cNvPr id="255" name="Google Shape;255;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6" name="Google Shape;256;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
        <p:cNvGrpSpPr/>
        <p:nvPr/>
      </p:nvGrpSpPr>
      <p:grpSpPr>
        <a:xfrm>
          <a:off x="0" y="0"/>
          <a:ext cx="0" cy="0"/>
          <a:chOff x="0" y="0"/>
          <a:chExt cx="0" cy="0"/>
        </a:xfrm>
      </p:grpSpPr>
      <p:sp>
        <p:nvSpPr>
          <p:cNvPr id="21" name="Google Shape;21;p3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3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4"/>
        <p:cNvGrpSpPr/>
        <p:nvPr/>
      </p:nvGrpSpPr>
      <p:grpSpPr>
        <a:xfrm>
          <a:off x="0" y="0"/>
          <a:ext cx="0" cy="0"/>
          <a:chOff x="0" y="0"/>
          <a:chExt cx="0" cy="0"/>
        </a:xfrm>
      </p:grpSpPr>
      <p:sp>
        <p:nvSpPr>
          <p:cNvPr id="25" name="Google Shape;25;p1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1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7" name="Google Shape;27;p1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1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1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0"/>
        <p:cNvGrpSpPr/>
        <p:nvPr/>
      </p:nvGrpSpPr>
      <p:grpSpPr>
        <a:xfrm>
          <a:off x="0" y="0"/>
          <a:ext cx="0" cy="0"/>
          <a:chOff x="0" y="0"/>
          <a:chExt cx="0" cy="0"/>
        </a:xfrm>
      </p:grpSpPr>
      <p:sp>
        <p:nvSpPr>
          <p:cNvPr id="31" name="Google Shape;31;p10"/>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1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3" name="Google Shape;33;p1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1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35"/>
        <p:cNvGrpSpPr/>
        <p:nvPr/>
      </p:nvGrpSpPr>
      <p:grpSpPr>
        <a:xfrm>
          <a:off x="0" y="0"/>
          <a:ext cx="0" cy="0"/>
          <a:chOff x="0" y="0"/>
          <a:chExt cx="0" cy="0"/>
        </a:xfrm>
      </p:grpSpPr>
      <p:sp>
        <p:nvSpPr>
          <p:cNvPr id="36" name="Google Shape;36;p11"/>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11"/>
          <p:cNvSpPr txBox="1">
            <a:spLocks noGrp="1"/>
          </p:cNvSpPr>
          <p:nvPr>
            <p:ph type="subTitle" idx="1"/>
          </p:nvPr>
        </p:nvSpPr>
        <p:spPr>
          <a:xfrm>
            <a:off x="1524000" y="3602038"/>
            <a:ext cx="9144000" cy="1655762"/>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38" name="Google Shape;38;p1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9" name="Google Shape;39;p1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0" name="Google Shape;40;p1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41"/>
        <p:cNvGrpSpPr/>
        <p:nvPr/>
      </p:nvGrpSpPr>
      <p:grpSpPr>
        <a:xfrm>
          <a:off x="0" y="0"/>
          <a:ext cx="0" cy="0"/>
          <a:chOff x="0" y="0"/>
          <a:chExt cx="0" cy="0"/>
        </a:xfrm>
      </p:grpSpPr>
      <p:sp>
        <p:nvSpPr>
          <p:cNvPr id="42" name="Google Shape;42;p12"/>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2"/>
          <p:cNvSpPr>
            <a:spLocks noGrp="1"/>
          </p:cNvSpPr>
          <p:nvPr>
            <p:ph type="pic" idx="2"/>
          </p:nvPr>
        </p:nvSpPr>
        <p:spPr>
          <a:xfrm>
            <a:off x="5183188" y="987425"/>
            <a:ext cx="6172200" cy="4873625"/>
          </a:xfrm>
          <a:prstGeom prst="rect">
            <a:avLst/>
          </a:prstGeom>
          <a:noFill/>
          <a:ln>
            <a:noFill/>
          </a:ln>
        </p:spPr>
      </p:sp>
      <p:sp>
        <p:nvSpPr>
          <p:cNvPr id="44" name="Google Shape;44;p12"/>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45" name="Google Shape;45;p1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48"/>
        <p:cNvGrpSpPr/>
        <p:nvPr/>
      </p:nvGrpSpPr>
      <p:grpSpPr>
        <a:xfrm>
          <a:off x="0" y="0"/>
          <a:ext cx="0" cy="0"/>
          <a:chOff x="0" y="0"/>
          <a:chExt cx="0" cy="0"/>
        </a:xfrm>
      </p:grpSpPr>
      <p:sp>
        <p:nvSpPr>
          <p:cNvPr id="49" name="Google Shape;49;p14"/>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4"/>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1" name="Google Shape;51;p14"/>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52" name="Google Shape;52;p1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1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8"/>
          <p:cNvSpPr txBox="1"/>
          <p:nvPr/>
        </p:nvSpPr>
        <p:spPr>
          <a:xfrm>
            <a:off x="0" y="-712232"/>
            <a:ext cx="12192000" cy="369332"/>
          </a:xfrm>
          <a:prstGeom prst="rect">
            <a:avLst/>
          </a:prstGeom>
          <a:noFill/>
          <a:ln>
            <a:noFill/>
          </a:ln>
        </p:spPr>
        <p:txBody>
          <a:bodyPr spcFirstLastPara="1" wrap="square" lIns="0" tIns="0" rIns="0" bIns="0" anchor="t" anchorCtr="0">
            <a:spAutoFit/>
          </a:bodyPr>
          <a:lstStyle/>
          <a:p>
            <a:pPr marL="0" marR="0" lvl="0" indent="0" algn="ctr" rtl="0">
              <a:lnSpc>
                <a:spcPct val="100000"/>
              </a:lnSpc>
              <a:spcBef>
                <a:spcPts val="0"/>
              </a:spcBef>
              <a:spcAft>
                <a:spcPts val="0"/>
              </a:spcAft>
              <a:buClr>
                <a:srgbClr val="000000"/>
              </a:buClr>
              <a:buSzPts val="2400"/>
              <a:buFont typeface="Arial"/>
              <a:buNone/>
            </a:pPr>
            <a:r>
              <a:rPr lang="en-US" sz="2400" b="0" i="0" u="none" strike="noStrike" cap="none">
                <a:solidFill>
                  <a:srgbClr val="D7D7D7"/>
                </a:solidFill>
                <a:latin typeface="Oi"/>
                <a:ea typeface="Oi"/>
                <a:cs typeface="Oi"/>
                <a:sym typeface="Oi"/>
              </a:rPr>
              <a:t>www.9slide.vn</a:t>
            </a:r>
            <a:endParaRPr sz="1400" b="0" i="0" u="none" strike="noStrike" cap="none">
              <a:solidFill>
                <a:srgbClr val="000000"/>
              </a:solidFill>
              <a:latin typeface="Arial"/>
              <a:ea typeface="Arial"/>
              <a:cs typeface="Arial"/>
              <a:sym typeface="Arial"/>
            </a:endParaRPr>
          </a:p>
        </p:txBody>
      </p:sp>
      <p:sp>
        <p:nvSpPr>
          <p:cNvPr id="7" name="Google Shape;7;p8"/>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Arial"/>
              <a:buNone/>
              <a:defRPr sz="44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8" name="Google Shape;8;p8"/>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Oi"/>
                <a:ea typeface="Oi"/>
                <a:cs typeface="Oi"/>
                <a:sym typeface="O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Oi"/>
                <a:ea typeface="Oi"/>
                <a:cs typeface="Oi"/>
                <a:sym typeface="O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Oi"/>
                <a:ea typeface="Oi"/>
                <a:cs typeface="Oi"/>
                <a:sym typeface="O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Oi"/>
                <a:ea typeface="Oi"/>
                <a:cs typeface="Oi"/>
                <a:sym typeface="Oi"/>
              </a:defRPr>
            </a:lvl9pPr>
          </a:lstStyle>
          <a:p>
            <a:endParaRPr/>
          </a:p>
        </p:txBody>
      </p:sp>
      <p:sp>
        <p:nvSpPr>
          <p:cNvPr id="9" name="Google Shape;9;p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Oi"/>
                <a:ea typeface="Oi"/>
                <a:cs typeface="Oi"/>
                <a:sym typeface="O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i"/>
                <a:ea typeface="Oi"/>
                <a:cs typeface="Oi"/>
                <a:sym typeface="O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i"/>
                <a:ea typeface="Oi"/>
                <a:cs typeface="Oi"/>
                <a:sym typeface="O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i"/>
                <a:ea typeface="Oi"/>
                <a:cs typeface="Oi"/>
                <a:sym typeface="O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i"/>
                <a:ea typeface="Oi"/>
                <a:cs typeface="Oi"/>
                <a:sym typeface="O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i"/>
                <a:ea typeface="Oi"/>
                <a:cs typeface="Oi"/>
                <a:sym typeface="O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i"/>
                <a:ea typeface="Oi"/>
                <a:cs typeface="Oi"/>
                <a:sym typeface="O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i"/>
                <a:ea typeface="Oi"/>
                <a:cs typeface="Oi"/>
                <a:sym typeface="O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i"/>
                <a:ea typeface="Oi"/>
                <a:cs typeface="Oi"/>
                <a:sym typeface="Oi"/>
              </a:defRPr>
            </a:lvl9pPr>
          </a:lstStyle>
          <a:p>
            <a:endParaRPr/>
          </a:p>
        </p:txBody>
      </p:sp>
      <p:sp>
        <p:nvSpPr>
          <p:cNvPr id="10" name="Google Shape;10;p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200" b="0" i="0" u="none" strike="noStrike" cap="none">
                <a:solidFill>
                  <a:srgbClr val="888888"/>
                </a:solidFill>
                <a:latin typeface="Oi"/>
                <a:ea typeface="Oi"/>
                <a:cs typeface="Oi"/>
                <a:sym typeface="O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i"/>
                <a:ea typeface="Oi"/>
                <a:cs typeface="Oi"/>
                <a:sym typeface="O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i"/>
                <a:ea typeface="Oi"/>
                <a:cs typeface="Oi"/>
                <a:sym typeface="O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i"/>
                <a:ea typeface="Oi"/>
                <a:cs typeface="Oi"/>
                <a:sym typeface="O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i"/>
                <a:ea typeface="Oi"/>
                <a:cs typeface="Oi"/>
                <a:sym typeface="O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i"/>
                <a:ea typeface="Oi"/>
                <a:cs typeface="Oi"/>
                <a:sym typeface="O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i"/>
                <a:ea typeface="Oi"/>
                <a:cs typeface="Oi"/>
                <a:sym typeface="O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i"/>
                <a:ea typeface="Oi"/>
                <a:cs typeface="Oi"/>
                <a:sym typeface="O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Oi"/>
                <a:ea typeface="Oi"/>
                <a:cs typeface="Oi"/>
                <a:sym typeface="Oi"/>
              </a:defRPr>
            </a:lvl9pPr>
          </a:lstStyle>
          <a:p>
            <a:endParaRPr/>
          </a:p>
        </p:txBody>
      </p:sp>
      <p:sp>
        <p:nvSpPr>
          <p:cNvPr id="11" name="Google Shape;11;p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1pPr>
            <a:lvl2pPr marL="0" marR="0" lvl="1"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2pPr>
            <a:lvl3pPr marL="0" marR="0" lvl="2"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3pPr>
            <a:lvl4pPr marL="0" marR="0" lvl="3"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4pPr>
            <a:lvl5pPr marL="0" marR="0" lvl="4"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5pPr>
            <a:lvl6pPr marL="0" marR="0" lvl="5"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6pPr>
            <a:lvl7pPr marL="0" marR="0" lvl="6"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7pPr>
            <a:lvl8pPr marL="0" marR="0" lvl="7"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8pPr>
            <a:lvl9pPr marL="0" marR="0" lvl="8" indent="0" algn="r" rtl="0">
              <a:lnSpc>
                <a:spcPct val="100000"/>
              </a:lnSpc>
              <a:spcBef>
                <a:spcPts val="0"/>
              </a:spcBef>
              <a:spcAft>
                <a:spcPts val="0"/>
              </a:spcAft>
              <a:buClr>
                <a:srgbClr val="000000"/>
              </a:buClr>
              <a:buSzPts val="1200"/>
              <a:buFont typeface="Arial"/>
              <a:buNone/>
              <a:defRPr sz="1200" b="0" i="0" u="none" strike="noStrike" cap="none">
                <a:solidFill>
                  <a:srgbClr val="888888"/>
                </a:solidFill>
                <a:latin typeface="Oi"/>
                <a:ea typeface="Oi"/>
                <a:cs typeface="Oi"/>
                <a:sym typeface="Oi"/>
              </a:defRPr>
            </a:lvl9pPr>
          </a:lstStyle>
          <a:p>
            <a:pPr marL="0" lvl="0" indent="0" algn="r" rtl="0">
              <a:spcBef>
                <a:spcPts val="0"/>
              </a:spcBef>
              <a:spcAft>
                <a:spcPts val="0"/>
              </a:spcAft>
              <a:buNone/>
            </a:pPr>
            <a:fld id="{00000000-1234-1234-1234-123412341234}" type="slidenum">
              <a:rPr lang="en-US"/>
              <a:t>‹#›</a:t>
            </a:fld>
            <a:endParaRPr/>
          </a:p>
        </p:txBody>
      </p:sp>
      <p:sp>
        <p:nvSpPr>
          <p:cNvPr id="12" name="Google Shape;12;p8"/>
          <p:cNvSpPr/>
          <p:nvPr/>
        </p:nvSpPr>
        <p:spPr>
          <a:xfrm>
            <a:off x="-23164800" y="-1303020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i"/>
              <a:ea typeface="Oi"/>
              <a:cs typeface="Oi"/>
              <a:sym typeface="Oi"/>
            </a:endParaRPr>
          </a:p>
        </p:txBody>
      </p:sp>
      <p:sp>
        <p:nvSpPr>
          <p:cNvPr id="13" name="Google Shape;13;p8"/>
          <p:cNvSpPr/>
          <p:nvPr/>
        </p:nvSpPr>
        <p:spPr>
          <a:xfrm>
            <a:off x="34961778" y="-1303020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i"/>
              <a:ea typeface="Oi"/>
              <a:cs typeface="Oi"/>
              <a:sym typeface="Oi"/>
            </a:endParaRPr>
          </a:p>
        </p:txBody>
      </p:sp>
      <p:sp>
        <p:nvSpPr>
          <p:cNvPr id="14" name="Google Shape;14;p8"/>
          <p:cNvSpPr/>
          <p:nvPr/>
        </p:nvSpPr>
        <p:spPr>
          <a:xfrm>
            <a:off x="34961778" y="1949318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i"/>
              <a:ea typeface="Oi"/>
              <a:cs typeface="Oi"/>
              <a:sym typeface="Oi"/>
            </a:endParaRPr>
          </a:p>
        </p:txBody>
      </p:sp>
      <p:sp>
        <p:nvSpPr>
          <p:cNvPr id="15" name="Google Shape;15;p8"/>
          <p:cNvSpPr/>
          <p:nvPr/>
        </p:nvSpPr>
        <p:spPr>
          <a:xfrm>
            <a:off x="-23164800" y="19493180"/>
            <a:ext cx="395021" cy="395021"/>
          </a:xfrm>
          <a:prstGeom prst="ellipse">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i"/>
              <a:ea typeface="Oi"/>
              <a:cs typeface="Oi"/>
              <a:sym typeface="Oi"/>
            </a:endParaRPr>
          </a:p>
        </p:txBody>
      </p:sp>
      <p:grpSp>
        <p:nvGrpSpPr>
          <p:cNvPr id="16" name="Google Shape;16;p8"/>
          <p:cNvGrpSpPr/>
          <p:nvPr/>
        </p:nvGrpSpPr>
        <p:grpSpPr>
          <a:xfrm>
            <a:off x="-2202100" y="-2224223"/>
            <a:ext cx="16596200" cy="11284323"/>
            <a:chOff x="-2202100" y="-2224223"/>
            <a:chExt cx="16596200" cy="11284323"/>
          </a:xfrm>
        </p:grpSpPr>
        <p:sp>
          <p:nvSpPr>
            <p:cNvPr id="17" name="Google Shape;17;p8"/>
            <p:cNvSpPr/>
            <p:nvPr/>
          </p:nvSpPr>
          <p:spPr>
            <a:xfrm>
              <a:off x="4851540" y="8494776"/>
              <a:ext cx="2488920" cy="565324"/>
            </a:xfrm>
            <a:prstGeom prst="rect">
              <a:avLst/>
            </a:prstGeom>
            <a:noFill/>
            <a:ln w="21575" cap="flat" cmpd="sng">
              <a:solidFill>
                <a:srgbClr val="BFBFBF"/>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Oi"/>
                <a:ea typeface="Oi"/>
                <a:cs typeface="Oi"/>
                <a:sym typeface="Oi"/>
              </a:endParaRPr>
            </a:p>
          </p:txBody>
        </p:sp>
        <p:sp>
          <p:nvSpPr>
            <p:cNvPr id="18" name="Google Shape;18;p8"/>
            <p:cNvSpPr/>
            <p:nvPr/>
          </p:nvSpPr>
          <p:spPr>
            <a:xfrm>
              <a:off x="5006988" y="8647176"/>
              <a:ext cx="2178025" cy="260524"/>
            </a:xfrm>
            <a:custGeom>
              <a:avLst/>
              <a:gdLst/>
              <a:ahLst/>
              <a:cxnLst/>
              <a:rect l="l" t="t" r="r" b="b"/>
              <a:pathLst>
                <a:path w="2178025" h="260524" extrusionOk="0">
                  <a:moveTo>
                    <a:pt x="1807648" y="222182"/>
                  </a:moveTo>
                  <a:cubicBezTo>
                    <a:pt x="1814010" y="222182"/>
                    <a:pt x="1818838" y="223968"/>
                    <a:pt x="1822130" y="227540"/>
                  </a:cubicBezTo>
                  <a:cubicBezTo>
                    <a:pt x="1825423" y="231111"/>
                    <a:pt x="1827070" y="235576"/>
                    <a:pt x="1827070" y="240934"/>
                  </a:cubicBezTo>
                  <a:cubicBezTo>
                    <a:pt x="1827070" y="246069"/>
                    <a:pt x="1825423" y="250366"/>
                    <a:pt x="1822130" y="253826"/>
                  </a:cubicBezTo>
                  <a:cubicBezTo>
                    <a:pt x="1818838" y="257287"/>
                    <a:pt x="1814010" y="259017"/>
                    <a:pt x="1807648" y="259017"/>
                  </a:cubicBezTo>
                  <a:cubicBezTo>
                    <a:pt x="1801285" y="259017"/>
                    <a:pt x="1796513" y="257287"/>
                    <a:pt x="1793332" y="253826"/>
                  </a:cubicBezTo>
                  <a:cubicBezTo>
                    <a:pt x="1790151" y="250366"/>
                    <a:pt x="1788560" y="246069"/>
                    <a:pt x="1788560" y="240934"/>
                  </a:cubicBezTo>
                  <a:cubicBezTo>
                    <a:pt x="1788560" y="235576"/>
                    <a:pt x="1790151" y="231111"/>
                    <a:pt x="1793332" y="227540"/>
                  </a:cubicBezTo>
                  <a:cubicBezTo>
                    <a:pt x="1796513" y="223968"/>
                    <a:pt x="1801285" y="222182"/>
                    <a:pt x="1807648" y="222182"/>
                  </a:cubicBezTo>
                  <a:close/>
                  <a:moveTo>
                    <a:pt x="807523" y="222182"/>
                  </a:moveTo>
                  <a:cubicBezTo>
                    <a:pt x="813885" y="222182"/>
                    <a:pt x="818713" y="223968"/>
                    <a:pt x="822005" y="227540"/>
                  </a:cubicBezTo>
                  <a:cubicBezTo>
                    <a:pt x="825298" y="231111"/>
                    <a:pt x="826945" y="235576"/>
                    <a:pt x="826945" y="240934"/>
                  </a:cubicBezTo>
                  <a:cubicBezTo>
                    <a:pt x="826945" y="246069"/>
                    <a:pt x="825298" y="250366"/>
                    <a:pt x="822005" y="253826"/>
                  </a:cubicBezTo>
                  <a:cubicBezTo>
                    <a:pt x="818713" y="257287"/>
                    <a:pt x="813885" y="259017"/>
                    <a:pt x="807523" y="259017"/>
                  </a:cubicBezTo>
                  <a:cubicBezTo>
                    <a:pt x="801160" y="259017"/>
                    <a:pt x="796388" y="257287"/>
                    <a:pt x="793207" y="253826"/>
                  </a:cubicBezTo>
                  <a:cubicBezTo>
                    <a:pt x="790026" y="250366"/>
                    <a:pt x="788435" y="246069"/>
                    <a:pt x="788435" y="240934"/>
                  </a:cubicBezTo>
                  <a:cubicBezTo>
                    <a:pt x="788435" y="235576"/>
                    <a:pt x="790026" y="231111"/>
                    <a:pt x="793207" y="227540"/>
                  </a:cubicBezTo>
                  <a:cubicBezTo>
                    <a:pt x="796388" y="223968"/>
                    <a:pt x="801160" y="222182"/>
                    <a:pt x="807523" y="222182"/>
                  </a:cubicBezTo>
                  <a:close/>
                  <a:moveTo>
                    <a:pt x="1488076" y="98952"/>
                  </a:moveTo>
                  <a:cubicBezTo>
                    <a:pt x="1472896" y="98952"/>
                    <a:pt x="1461064" y="104812"/>
                    <a:pt x="1452581" y="116532"/>
                  </a:cubicBezTo>
                  <a:cubicBezTo>
                    <a:pt x="1444098" y="128253"/>
                    <a:pt x="1439856" y="145610"/>
                    <a:pt x="1439856" y="168604"/>
                  </a:cubicBezTo>
                  <a:cubicBezTo>
                    <a:pt x="1439856" y="189142"/>
                    <a:pt x="1444098" y="205215"/>
                    <a:pt x="1452581" y="216824"/>
                  </a:cubicBezTo>
                  <a:cubicBezTo>
                    <a:pt x="1461064" y="228433"/>
                    <a:pt x="1472784" y="234237"/>
                    <a:pt x="1487741" y="234237"/>
                  </a:cubicBezTo>
                  <a:cubicBezTo>
                    <a:pt x="1507387" y="234237"/>
                    <a:pt x="1521730" y="225419"/>
                    <a:pt x="1530771" y="207783"/>
                  </a:cubicBezTo>
                  <a:lnTo>
                    <a:pt x="1530771" y="124569"/>
                  </a:lnTo>
                  <a:cubicBezTo>
                    <a:pt x="1521507" y="107491"/>
                    <a:pt x="1507275" y="98952"/>
                    <a:pt x="1488076" y="98952"/>
                  </a:cubicBezTo>
                  <a:close/>
                  <a:moveTo>
                    <a:pt x="1678241" y="98115"/>
                  </a:moveTo>
                  <a:cubicBezTo>
                    <a:pt x="1665740" y="98115"/>
                    <a:pt x="1655248" y="102663"/>
                    <a:pt x="1646764" y="111761"/>
                  </a:cubicBezTo>
                  <a:cubicBezTo>
                    <a:pt x="1638281" y="120858"/>
                    <a:pt x="1633035" y="133610"/>
                    <a:pt x="1631026" y="150019"/>
                  </a:cubicBezTo>
                  <a:lnTo>
                    <a:pt x="1721774" y="150019"/>
                  </a:lnTo>
                  <a:lnTo>
                    <a:pt x="1721774" y="147675"/>
                  </a:lnTo>
                  <a:cubicBezTo>
                    <a:pt x="1720881" y="131936"/>
                    <a:pt x="1716639" y="119742"/>
                    <a:pt x="1709049" y="111091"/>
                  </a:cubicBezTo>
                  <a:cubicBezTo>
                    <a:pt x="1701459" y="102440"/>
                    <a:pt x="1691190" y="98115"/>
                    <a:pt x="1678241" y="98115"/>
                  </a:cubicBezTo>
                  <a:close/>
                  <a:moveTo>
                    <a:pt x="1855700" y="76014"/>
                  </a:moveTo>
                  <a:lnTo>
                    <a:pt x="1887345" y="76014"/>
                  </a:lnTo>
                  <a:lnTo>
                    <a:pt x="1933389" y="215150"/>
                  </a:lnTo>
                  <a:lnTo>
                    <a:pt x="1978260" y="76014"/>
                  </a:lnTo>
                  <a:lnTo>
                    <a:pt x="2009905" y="76014"/>
                  </a:lnTo>
                  <a:lnTo>
                    <a:pt x="1944941" y="257175"/>
                  </a:lnTo>
                  <a:lnTo>
                    <a:pt x="1921334" y="257175"/>
                  </a:lnTo>
                  <a:close/>
                  <a:moveTo>
                    <a:pt x="1333370" y="76014"/>
                  </a:moveTo>
                  <a:lnTo>
                    <a:pt x="1364344" y="76014"/>
                  </a:lnTo>
                  <a:lnTo>
                    <a:pt x="1364344" y="257175"/>
                  </a:lnTo>
                  <a:lnTo>
                    <a:pt x="1333370" y="257175"/>
                  </a:lnTo>
                  <a:close/>
                  <a:moveTo>
                    <a:pt x="514350" y="76014"/>
                  </a:moveTo>
                  <a:lnTo>
                    <a:pt x="545157" y="76014"/>
                  </a:lnTo>
                  <a:lnTo>
                    <a:pt x="580820" y="211634"/>
                  </a:lnTo>
                  <a:lnTo>
                    <a:pt x="623013" y="76014"/>
                  </a:lnTo>
                  <a:lnTo>
                    <a:pt x="647960" y="76014"/>
                  </a:lnTo>
                  <a:lnTo>
                    <a:pt x="690990" y="214480"/>
                  </a:lnTo>
                  <a:lnTo>
                    <a:pt x="725816" y="76014"/>
                  </a:lnTo>
                  <a:lnTo>
                    <a:pt x="756791" y="76014"/>
                  </a:lnTo>
                  <a:lnTo>
                    <a:pt x="704050" y="257175"/>
                  </a:lnTo>
                  <a:lnTo>
                    <a:pt x="678935" y="257175"/>
                  </a:lnTo>
                  <a:lnTo>
                    <a:pt x="634901" y="119881"/>
                  </a:lnTo>
                  <a:lnTo>
                    <a:pt x="592038" y="257175"/>
                  </a:lnTo>
                  <a:lnTo>
                    <a:pt x="566923" y="257175"/>
                  </a:lnTo>
                  <a:close/>
                  <a:moveTo>
                    <a:pt x="257175" y="76014"/>
                  </a:moveTo>
                  <a:lnTo>
                    <a:pt x="287982" y="76014"/>
                  </a:lnTo>
                  <a:lnTo>
                    <a:pt x="323645" y="211634"/>
                  </a:lnTo>
                  <a:lnTo>
                    <a:pt x="365838" y="76014"/>
                  </a:lnTo>
                  <a:lnTo>
                    <a:pt x="390785" y="76014"/>
                  </a:lnTo>
                  <a:lnTo>
                    <a:pt x="433815" y="214480"/>
                  </a:lnTo>
                  <a:lnTo>
                    <a:pt x="468641" y="76014"/>
                  </a:lnTo>
                  <a:lnTo>
                    <a:pt x="499616" y="76014"/>
                  </a:lnTo>
                  <a:lnTo>
                    <a:pt x="446875" y="257175"/>
                  </a:lnTo>
                  <a:lnTo>
                    <a:pt x="421760" y="257175"/>
                  </a:lnTo>
                  <a:lnTo>
                    <a:pt x="377726" y="119881"/>
                  </a:lnTo>
                  <a:lnTo>
                    <a:pt x="334863" y="257175"/>
                  </a:lnTo>
                  <a:lnTo>
                    <a:pt x="309748" y="257175"/>
                  </a:lnTo>
                  <a:close/>
                  <a:moveTo>
                    <a:pt x="0" y="76014"/>
                  </a:moveTo>
                  <a:lnTo>
                    <a:pt x="30807" y="76014"/>
                  </a:lnTo>
                  <a:lnTo>
                    <a:pt x="66470" y="211634"/>
                  </a:lnTo>
                  <a:lnTo>
                    <a:pt x="108663" y="76014"/>
                  </a:lnTo>
                  <a:lnTo>
                    <a:pt x="133610" y="76014"/>
                  </a:lnTo>
                  <a:lnTo>
                    <a:pt x="176640" y="214480"/>
                  </a:lnTo>
                  <a:lnTo>
                    <a:pt x="211466" y="76014"/>
                  </a:lnTo>
                  <a:lnTo>
                    <a:pt x="242441" y="76014"/>
                  </a:lnTo>
                  <a:lnTo>
                    <a:pt x="189700" y="257175"/>
                  </a:lnTo>
                  <a:lnTo>
                    <a:pt x="164585" y="257175"/>
                  </a:lnTo>
                  <a:lnTo>
                    <a:pt x="120551" y="119881"/>
                  </a:lnTo>
                  <a:lnTo>
                    <a:pt x="77688" y="257175"/>
                  </a:lnTo>
                  <a:lnTo>
                    <a:pt x="52573" y="257175"/>
                  </a:lnTo>
                  <a:close/>
                  <a:moveTo>
                    <a:pt x="2120094" y="72666"/>
                  </a:moveTo>
                  <a:cubicBezTo>
                    <a:pt x="2158380" y="72666"/>
                    <a:pt x="2177690" y="94264"/>
                    <a:pt x="2178025" y="137461"/>
                  </a:cubicBezTo>
                  <a:lnTo>
                    <a:pt x="2178025" y="257175"/>
                  </a:lnTo>
                  <a:lnTo>
                    <a:pt x="2147050" y="257175"/>
                  </a:lnTo>
                  <a:lnTo>
                    <a:pt x="2147050" y="137294"/>
                  </a:lnTo>
                  <a:cubicBezTo>
                    <a:pt x="2146938" y="124234"/>
                    <a:pt x="2143953" y="114579"/>
                    <a:pt x="2138092" y="108328"/>
                  </a:cubicBezTo>
                  <a:cubicBezTo>
                    <a:pt x="2132232" y="102077"/>
                    <a:pt x="2123107" y="98952"/>
                    <a:pt x="2110717" y="98952"/>
                  </a:cubicBezTo>
                  <a:cubicBezTo>
                    <a:pt x="2100671" y="98952"/>
                    <a:pt x="2091853" y="101631"/>
                    <a:pt x="2084263" y="106989"/>
                  </a:cubicBezTo>
                  <a:cubicBezTo>
                    <a:pt x="2076673" y="112347"/>
                    <a:pt x="2070757" y="119379"/>
                    <a:pt x="2066515" y="128085"/>
                  </a:cubicBezTo>
                  <a:lnTo>
                    <a:pt x="2066515" y="257175"/>
                  </a:lnTo>
                  <a:lnTo>
                    <a:pt x="2035541" y="257175"/>
                  </a:lnTo>
                  <a:lnTo>
                    <a:pt x="2035541" y="76014"/>
                  </a:lnTo>
                  <a:lnTo>
                    <a:pt x="2064841" y="76014"/>
                  </a:lnTo>
                  <a:lnTo>
                    <a:pt x="2065846" y="98785"/>
                  </a:lnTo>
                  <a:cubicBezTo>
                    <a:pt x="2079687" y="81372"/>
                    <a:pt x="2097769" y="72666"/>
                    <a:pt x="2120094" y="72666"/>
                  </a:cubicBezTo>
                  <a:close/>
                  <a:moveTo>
                    <a:pt x="1678241" y="72666"/>
                  </a:moveTo>
                  <a:cubicBezTo>
                    <a:pt x="1701794" y="72666"/>
                    <a:pt x="1720099" y="80423"/>
                    <a:pt x="1733159" y="95938"/>
                  </a:cubicBezTo>
                  <a:cubicBezTo>
                    <a:pt x="1746219" y="111454"/>
                    <a:pt x="1752749" y="133666"/>
                    <a:pt x="1752749" y="162576"/>
                  </a:cubicBezTo>
                  <a:lnTo>
                    <a:pt x="1752749" y="175468"/>
                  </a:lnTo>
                  <a:lnTo>
                    <a:pt x="1630021" y="175468"/>
                  </a:lnTo>
                  <a:cubicBezTo>
                    <a:pt x="1630468" y="193328"/>
                    <a:pt x="1635686" y="207755"/>
                    <a:pt x="1645676" y="218749"/>
                  </a:cubicBezTo>
                  <a:cubicBezTo>
                    <a:pt x="1655666" y="229744"/>
                    <a:pt x="1668363" y="235241"/>
                    <a:pt x="1683767" y="235241"/>
                  </a:cubicBezTo>
                  <a:cubicBezTo>
                    <a:pt x="1694706" y="235241"/>
                    <a:pt x="1703970" y="233009"/>
                    <a:pt x="1711560" y="228544"/>
                  </a:cubicBezTo>
                  <a:cubicBezTo>
                    <a:pt x="1719151" y="224079"/>
                    <a:pt x="1725792" y="218163"/>
                    <a:pt x="1731485" y="210796"/>
                  </a:cubicBezTo>
                  <a:lnTo>
                    <a:pt x="1750405" y="225530"/>
                  </a:lnTo>
                  <a:cubicBezTo>
                    <a:pt x="1735224" y="248859"/>
                    <a:pt x="1712453" y="260524"/>
                    <a:pt x="1682092" y="260524"/>
                  </a:cubicBezTo>
                  <a:cubicBezTo>
                    <a:pt x="1657536" y="260524"/>
                    <a:pt x="1637556" y="252459"/>
                    <a:pt x="1622152" y="236330"/>
                  </a:cubicBezTo>
                  <a:cubicBezTo>
                    <a:pt x="1606748" y="220201"/>
                    <a:pt x="1599046" y="198630"/>
                    <a:pt x="1599046" y="171617"/>
                  </a:cubicBezTo>
                  <a:lnTo>
                    <a:pt x="1599046" y="165925"/>
                  </a:lnTo>
                  <a:cubicBezTo>
                    <a:pt x="1599046" y="147954"/>
                    <a:pt x="1602479" y="131908"/>
                    <a:pt x="1609343" y="117788"/>
                  </a:cubicBezTo>
                  <a:cubicBezTo>
                    <a:pt x="1616208" y="103668"/>
                    <a:pt x="1625807" y="92618"/>
                    <a:pt x="1638142" y="84637"/>
                  </a:cubicBezTo>
                  <a:cubicBezTo>
                    <a:pt x="1650476" y="76656"/>
                    <a:pt x="1663842" y="72666"/>
                    <a:pt x="1678241" y="72666"/>
                  </a:cubicBezTo>
                  <a:close/>
                  <a:moveTo>
                    <a:pt x="1129624" y="72666"/>
                  </a:moveTo>
                  <a:cubicBezTo>
                    <a:pt x="1150162" y="72666"/>
                    <a:pt x="1166822" y="77968"/>
                    <a:pt x="1179602" y="88572"/>
                  </a:cubicBezTo>
                  <a:cubicBezTo>
                    <a:pt x="1192383" y="99175"/>
                    <a:pt x="1198773" y="112737"/>
                    <a:pt x="1198773" y="129257"/>
                  </a:cubicBezTo>
                  <a:lnTo>
                    <a:pt x="1167631" y="129257"/>
                  </a:lnTo>
                  <a:cubicBezTo>
                    <a:pt x="1167631" y="120774"/>
                    <a:pt x="1164031" y="113463"/>
                    <a:pt x="1156831" y="107324"/>
                  </a:cubicBezTo>
                  <a:cubicBezTo>
                    <a:pt x="1149632" y="101185"/>
                    <a:pt x="1140563" y="98115"/>
                    <a:pt x="1129624" y="98115"/>
                  </a:cubicBezTo>
                  <a:cubicBezTo>
                    <a:pt x="1118350" y="98115"/>
                    <a:pt x="1109532" y="100571"/>
                    <a:pt x="1103170" y="105482"/>
                  </a:cubicBezTo>
                  <a:cubicBezTo>
                    <a:pt x="1096807" y="110393"/>
                    <a:pt x="1093626" y="116811"/>
                    <a:pt x="1093626" y="124737"/>
                  </a:cubicBezTo>
                  <a:cubicBezTo>
                    <a:pt x="1093626" y="132215"/>
                    <a:pt x="1096584" y="137852"/>
                    <a:pt x="1102500" y="141647"/>
                  </a:cubicBezTo>
                  <a:cubicBezTo>
                    <a:pt x="1108416" y="145442"/>
                    <a:pt x="1119104" y="149070"/>
                    <a:pt x="1134563" y="152530"/>
                  </a:cubicBezTo>
                  <a:cubicBezTo>
                    <a:pt x="1150023" y="155990"/>
                    <a:pt x="1162552" y="160120"/>
                    <a:pt x="1172151" y="164920"/>
                  </a:cubicBezTo>
                  <a:cubicBezTo>
                    <a:pt x="1181751" y="169720"/>
                    <a:pt x="1188867" y="175496"/>
                    <a:pt x="1193499" y="182249"/>
                  </a:cubicBezTo>
                  <a:cubicBezTo>
                    <a:pt x="1198131" y="189002"/>
                    <a:pt x="1200447" y="197234"/>
                    <a:pt x="1200447" y="206945"/>
                  </a:cubicBezTo>
                  <a:cubicBezTo>
                    <a:pt x="1200447" y="223131"/>
                    <a:pt x="1193973" y="236107"/>
                    <a:pt x="1181025" y="245873"/>
                  </a:cubicBezTo>
                  <a:cubicBezTo>
                    <a:pt x="1168077" y="255640"/>
                    <a:pt x="1151278" y="260524"/>
                    <a:pt x="1130628" y="260524"/>
                  </a:cubicBezTo>
                  <a:cubicBezTo>
                    <a:pt x="1116118" y="260524"/>
                    <a:pt x="1103281" y="257956"/>
                    <a:pt x="1092119" y="252822"/>
                  </a:cubicBezTo>
                  <a:cubicBezTo>
                    <a:pt x="1080957" y="247687"/>
                    <a:pt x="1072223" y="240516"/>
                    <a:pt x="1065916" y="231307"/>
                  </a:cubicBezTo>
                  <a:cubicBezTo>
                    <a:pt x="1059610" y="222098"/>
                    <a:pt x="1056456" y="212136"/>
                    <a:pt x="1056456" y="201420"/>
                  </a:cubicBezTo>
                  <a:lnTo>
                    <a:pt x="1087431" y="201420"/>
                  </a:lnTo>
                  <a:cubicBezTo>
                    <a:pt x="1087989" y="211801"/>
                    <a:pt x="1092147" y="220033"/>
                    <a:pt x="1099905" y="226116"/>
                  </a:cubicBezTo>
                  <a:cubicBezTo>
                    <a:pt x="1107662" y="232200"/>
                    <a:pt x="1117904" y="235241"/>
                    <a:pt x="1130628" y="235241"/>
                  </a:cubicBezTo>
                  <a:cubicBezTo>
                    <a:pt x="1142349" y="235241"/>
                    <a:pt x="1151753" y="232869"/>
                    <a:pt x="1158841" y="228126"/>
                  </a:cubicBezTo>
                  <a:cubicBezTo>
                    <a:pt x="1165929" y="223382"/>
                    <a:pt x="1169473" y="217047"/>
                    <a:pt x="1169473" y="209122"/>
                  </a:cubicBezTo>
                  <a:cubicBezTo>
                    <a:pt x="1169473" y="200751"/>
                    <a:pt x="1166319" y="194249"/>
                    <a:pt x="1160013" y="189616"/>
                  </a:cubicBezTo>
                  <a:cubicBezTo>
                    <a:pt x="1153706" y="184984"/>
                    <a:pt x="1142711" y="180994"/>
                    <a:pt x="1127029" y="177645"/>
                  </a:cubicBezTo>
                  <a:cubicBezTo>
                    <a:pt x="1111346" y="174296"/>
                    <a:pt x="1098900" y="170278"/>
                    <a:pt x="1089691" y="165590"/>
                  </a:cubicBezTo>
                  <a:cubicBezTo>
                    <a:pt x="1080483" y="160902"/>
                    <a:pt x="1073674" y="155321"/>
                    <a:pt x="1069265" y="148847"/>
                  </a:cubicBezTo>
                  <a:cubicBezTo>
                    <a:pt x="1064856" y="142373"/>
                    <a:pt x="1062651" y="134671"/>
                    <a:pt x="1062651" y="125741"/>
                  </a:cubicBezTo>
                  <a:cubicBezTo>
                    <a:pt x="1062651" y="110896"/>
                    <a:pt x="1068930" y="98338"/>
                    <a:pt x="1081487" y="88069"/>
                  </a:cubicBezTo>
                  <a:cubicBezTo>
                    <a:pt x="1094045" y="77800"/>
                    <a:pt x="1110090" y="72666"/>
                    <a:pt x="1129624" y="72666"/>
                  </a:cubicBezTo>
                  <a:close/>
                  <a:moveTo>
                    <a:pt x="942472" y="35831"/>
                  </a:moveTo>
                  <a:cubicBezTo>
                    <a:pt x="928855" y="35831"/>
                    <a:pt x="917916" y="41049"/>
                    <a:pt x="909656" y="51485"/>
                  </a:cubicBezTo>
                  <a:cubicBezTo>
                    <a:pt x="901396" y="61922"/>
                    <a:pt x="897266" y="75679"/>
                    <a:pt x="897266" y="92757"/>
                  </a:cubicBezTo>
                  <a:cubicBezTo>
                    <a:pt x="897266" y="109389"/>
                    <a:pt x="901256" y="123090"/>
                    <a:pt x="909237" y="133862"/>
                  </a:cubicBezTo>
                  <a:cubicBezTo>
                    <a:pt x="917218" y="144633"/>
                    <a:pt x="927906" y="150019"/>
                    <a:pt x="941300" y="150019"/>
                  </a:cubicBezTo>
                  <a:cubicBezTo>
                    <a:pt x="951681" y="150019"/>
                    <a:pt x="961253" y="146838"/>
                    <a:pt x="970015" y="140475"/>
                  </a:cubicBezTo>
                  <a:cubicBezTo>
                    <a:pt x="978777" y="134113"/>
                    <a:pt x="985168" y="126243"/>
                    <a:pt x="989186" y="116867"/>
                  </a:cubicBezTo>
                  <a:lnTo>
                    <a:pt x="989186" y="104477"/>
                  </a:lnTo>
                  <a:cubicBezTo>
                    <a:pt x="989186" y="84163"/>
                    <a:pt x="984777" y="67643"/>
                    <a:pt x="975959" y="54918"/>
                  </a:cubicBezTo>
                  <a:cubicBezTo>
                    <a:pt x="967141" y="42193"/>
                    <a:pt x="955979" y="35831"/>
                    <a:pt x="942472" y="35831"/>
                  </a:cubicBezTo>
                  <a:close/>
                  <a:moveTo>
                    <a:pt x="1349108" y="10046"/>
                  </a:moveTo>
                  <a:cubicBezTo>
                    <a:pt x="1355136" y="10046"/>
                    <a:pt x="1359712" y="11776"/>
                    <a:pt x="1362837" y="15237"/>
                  </a:cubicBezTo>
                  <a:cubicBezTo>
                    <a:pt x="1365963" y="18697"/>
                    <a:pt x="1367526" y="22938"/>
                    <a:pt x="1367526" y="27961"/>
                  </a:cubicBezTo>
                  <a:cubicBezTo>
                    <a:pt x="1367526" y="32984"/>
                    <a:pt x="1365963" y="37170"/>
                    <a:pt x="1362837" y="40519"/>
                  </a:cubicBezTo>
                  <a:cubicBezTo>
                    <a:pt x="1359712" y="43867"/>
                    <a:pt x="1355136" y="45542"/>
                    <a:pt x="1349108" y="45542"/>
                  </a:cubicBezTo>
                  <a:cubicBezTo>
                    <a:pt x="1343081" y="45542"/>
                    <a:pt x="1338532" y="43867"/>
                    <a:pt x="1335462" y="40519"/>
                  </a:cubicBezTo>
                  <a:cubicBezTo>
                    <a:pt x="1332393" y="37170"/>
                    <a:pt x="1330858" y="32984"/>
                    <a:pt x="1330858" y="27961"/>
                  </a:cubicBezTo>
                  <a:cubicBezTo>
                    <a:pt x="1330858" y="22938"/>
                    <a:pt x="1332393" y="18697"/>
                    <a:pt x="1335462" y="15237"/>
                  </a:cubicBezTo>
                  <a:cubicBezTo>
                    <a:pt x="1338532" y="11776"/>
                    <a:pt x="1343081" y="10046"/>
                    <a:pt x="1349108" y="10046"/>
                  </a:cubicBezTo>
                  <a:close/>
                  <a:moveTo>
                    <a:pt x="942305" y="10046"/>
                  </a:moveTo>
                  <a:cubicBezTo>
                    <a:pt x="966415" y="10046"/>
                    <a:pt x="985419" y="19060"/>
                    <a:pt x="999316" y="37086"/>
                  </a:cubicBezTo>
                  <a:cubicBezTo>
                    <a:pt x="1013212" y="55113"/>
                    <a:pt x="1020161" y="79698"/>
                    <a:pt x="1020161" y="110840"/>
                  </a:cubicBezTo>
                  <a:lnTo>
                    <a:pt x="1020161" y="119881"/>
                  </a:lnTo>
                  <a:cubicBezTo>
                    <a:pt x="1020161" y="167320"/>
                    <a:pt x="1010785" y="201950"/>
                    <a:pt x="992032" y="223772"/>
                  </a:cubicBezTo>
                  <a:cubicBezTo>
                    <a:pt x="973280" y="245594"/>
                    <a:pt x="944984" y="256784"/>
                    <a:pt x="907144" y="257342"/>
                  </a:cubicBezTo>
                  <a:lnTo>
                    <a:pt x="901117" y="257342"/>
                  </a:lnTo>
                  <a:lnTo>
                    <a:pt x="901117" y="231056"/>
                  </a:lnTo>
                  <a:lnTo>
                    <a:pt x="907647" y="231056"/>
                  </a:lnTo>
                  <a:cubicBezTo>
                    <a:pt x="933208" y="230611"/>
                    <a:pt x="952853" y="223956"/>
                    <a:pt x="966583" y="211089"/>
                  </a:cubicBezTo>
                  <a:cubicBezTo>
                    <a:pt x="980312" y="198223"/>
                    <a:pt x="987791" y="177866"/>
                    <a:pt x="989018" y="150019"/>
                  </a:cubicBezTo>
                  <a:cubicBezTo>
                    <a:pt x="982545" y="157721"/>
                    <a:pt x="974815" y="163916"/>
                    <a:pt x="965829" y="168604"/>
                  </a:cubicBezTo>
                  <a:cubicBezTo>
                    <a:pt x="956844" y="173292"/>
                    <a:pt x="946993" y="175636"/>
                    <a:pt x="936278" y="175636"/>
                  </a:cubicBezTo>
                  <a:cubicBezTo>
                    <a:pt x="922213" y="175636"/>
                    <a:pt x="909963" y="172176"/>
                    <a:pt x="899526" y="165255"/>
                  </a:cubicBezTo>
                  <a:cubicBezTo>
                    <a:pt x="889090" y="158335"/>
                    <a:pt x="881025" y="148596"/>
                    <a:pt x="875332" y="136038"/>
                  </a:cubicBezTo>
                  <a:cubicBezTo>
                    <a:pt x="869640" y="123481"/>
                    <a:pt x="866793" y="109612"/>
                    <a:pt x="866793" y="94431"/>
                  </a:cubicBezTo>
                  <a:cubicBezTo>
                    <a:pt x="866793" y="78135"/>
                    <a:pt x="869891" y="63457"/>
                    <a:pt x="876086" y="50397"/>
                  </a:cubicBezTo>
                  <a:cubicBezTo>
                    <a:pt x="882281" y="37338"/>
                    <a:pt x="891071" y="27347"/>
                    <a:pt x="902456" y="20427"/>
                  </a:cubicBezTo>
                  <a:cubicBezTo>
                    <a:pt x="913842" y="13506"/>
                    <a:pt x="927125" y="10046"/>
                    <a:pt x="942305" y="10046"/>
                  </a:cubicBezTo>
                  <a:close/>
                  <a:moveTo>
                    <a:pt x="1530771" y="0"/>
                  </a:moveTo>
                  <a:lnTo>
                    <a:pt x="1561746" y="0"/>
                  </a:lnTo>
                  <a:lnTo>
                    <a:pt x="1561746" y="257175"/>
                  </a:lnTo>
                  <a:lnTo>
                    <a:pt x="1533283" y="257175"/>
                  </a:lnTo>
                  <a:lnTo>
                    <a:pt x="1531776" y="237753"/>
                  </a:lnTo>
                  <a:cubicBezTo>
                    <a:pt x="1519386" y="252933"/>
                    <a:pt x="1502141" y="260524"/>
                    <a:pt x="1480040" y="260524"/>
                  </a:cubicBezTo>
                  <a:cubicBezTo>
                    <a:pt x="1459055" y="260524"/>
                    <a:pt x="1441949" y="251929"/>
                    <a:pt x="1428722" y="234739"/>
                  </a:cubicBezTo>
                  <a:cubicBezTo>
                    <a:pt x="1415495" y="217549"/>
                    <a:pt x="1408881" y="195114"/>
                    <a:pt x="1408881" y="167432"/>
                  </a:cubicBezTo>
                  <a:lnTo>
                    <a:pt x="1408881" y="165088"/>
                  </a:lnTo>
                  <a:cubicBezTo>
                    <a:pt x="1408881" y="137294"/>
                    <a:pt x="1415467" y="114942"/>
                    <a:pt x="1428638" y="98031"/>
                  </a:cubicBezTo>
                  <a:cubicBezTo>
                    <a:pt x="1441809" y="81121"/>
                    <a:pt x="1459055" y="72666"/>
                    <a:pt x="1480375" y="72666"/>
                  </a:cubicBezTo>
                  <a:cubicBezTo>
                    <a:pt x="1501583" y="72666"/>
                    <a:pt x="1518381" y="79921"/>
                    <a:pt x="1530771" y="94431"/>
                  </a:cubicBezTo>
                  <a:close/>
                  <a:moveTo>
                    <a:pt x="1247645" y="0"/>
                  </a:moveTo>
                  <a:lnTo>
                    <a:pt x="1278619" y="0"/>
                  </a:lnTo>
                  <a:lnTo>
                    <a:pt x="1278619" y="257175"/>
                  </a:lnTo>
                  <a:lnTo>
                    <a:pt x="1247645" y="257175"/>
                  </a:lnTo>
                  <a:close/>
                </a:path>
              </a:pathLst>
            </a:custGeom>
            <a:solidFill>
              <a:srgbClr val="BFBFBF"/>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2700"/>
                <a:buFont typeface="Arial"/>
                <a:buNone/>
              </a:pPr>
              <a:endParaRPr sz="2700" b="0" i="0" u="none" strike="noStrike" cap="none">
                <a:solidFill>
                  <a:srgbClr val="BFBFBF"/>
                </a:solidFill>
                <a:latin typeface="Oi"/>
                <a:ea typeface="Oi"/>
                <a:cs typeface="Oi"/>
                <a:sym typeface="Oi"/>
              </a:endParaRPr>
            </a:p>
          </p:txBody>
        </p:sp>
        <p:sp>
          <p:nvSpPr>
            <p:cNvPr id="19" name="Google Shape;19;p8"/>
            <p:cNvSpPr/>
            <p:nvPr/>
          </p:nvSpPr>
          <p:spPr>
            <a:xfrm>
              <a:off x="-2202100" y="-2224223"/>
              <a:ext cx="16596200" cy="11284323"/>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i"/>
                <a:ea typeface="Oi"/>
                <a:cs typeface="Oi"/>
                <a:sym typeface="Oi"/>
              </a:endParaRPr>
            </a:p>
          </p:txBody>
        </p:sp>
      </p:gr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7.png"/><Relationship Id="rId4" Type="http://schemas.openxmlformats.org/officeDocument/2006/relationships/image" Target="../media/image3.png"/></Relationships>
</file>

<file path=ppt/slides/_rels/slide1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3.png"/></Relationships>
</file>

<file path=ppt/slides/_rels/slide1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7.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8.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8.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3.png"/></Relationships>
</file>

<file path=ppt/slides/_rels/slide19.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1.xml"/><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13.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8"/>
        <p:cNvGrpSpPr/>
        <p:nvPr/>
      </p:nvGrpSpPr>
      <p:grpSpPr>
        <a:xfrm>
          <a:off x="0" y="0"/>
          <a:ext cx="0" cy="0"/>
          <a:chOff x="0" y="0"/>
          <a:chExt cx="0" cy="0"/>
        </a:xfrm>
      </p:grpSpPr>
      <p:pic>
        <p:nvPicPr>
          <p:cNvPr id="59" name="Google Shape;59;p15"/>
          <p:cNvPicPr preferRelativeResize="0"/>
          <p:nvPr/>
        </p:nvPicPr>
        <p:blipFill rotWithShape="1">
          <a:blip r:embed="rId3">
            <a:alphaModFix/>
          </a:blip>
          <a:srcRect/>
          <a:stretch/>
        </p:blipFill>
        <p:spPr>
          <a:xfrm>
            <a:off x="-263300" y="-147937"/>
            <a:ext cx="12192000" cy="6858000"/>
          </a:xfrm>
          <a:prstGeom prst="rect">
            <a:avLst/>
          </a:prstGeom>
          <a:noFill/>
          <a:ln>
            <a:noFill/>
          </a:ln>
        </p:spPr>
      </p:pic>
      <p:sp>
        <p:nvSpPr>
          <p:cNvPr id="60" name="Google Shape;60;p15"/>
          <p:cNvSpPr txBox="1"/>
          <p:nvPr/>
        </p:nvSpPr>
        <p:spPr>
          <a:xfrm>
            <a:off x="304800" y="1773588"/>
            <a:ext cx="4626428"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b="1" i="0" u="none" strike="noStrike" cap="none">
                <a:solidFill>
                  <a:srgbClr val="154A8D"/>
                </a:solidFill>
                <a:latin typeface="Arial"/>
                <a:ea typeface="Arial"/>
                <a:cs typeface="Arial"/>
                <a:sym typeface="Arial"/>
              </a:rPr>
              <a:t>Lập trình Java</a:t>
            </a:r>
            <a:endParaRPr/>
          </a:p>
        </p:txBody>
      </p:sp>
      <p:pic>
        <p:nvPicPr>
          <p:cNvPr id="61" name="Google Shape;61;p15"/>
          <p:cNvPicPr preferRelativeResize="0"/>
          <p:nvPr/>
        </p:nvPicPr>
        <p:blipFill rotWithShape="1">
          <a:blip r:embed="rId4">
            <a:alphaModFix/>
          </a:blip>
          <a:srcRect/>
          <a:stretch/>
        </p:blipFill>
        <p:spPr>
          <a:xfrm>
            <a:off x="4681850" y="914400"/>
            <a:ext cx="7445124" cy="5029200"/>
          </a:xfrm>
          <a:prstGeom prst="rect">
            <a:avLst/>
          </a:prstGeom>
          <a:noFill/>
          <a:ln>
            <a:noFill/>
          </a:ln>
        </p:spPr>
      </p:pic>
      <p:pic>
        <p:nvPicPr>
          <p:cNvPr id="62" name="Google Shape;62;p15"/>
          <p:cNvPicPr preferRelativeResize="0"/>
          <p:nvPr/>
        </p:nvPicPr>
        <p:blipFill rotWithShape="1">
          <a:blip r:embed="rId5">
            <a:alphaModFix/>
          </a:blip>
          <a:srcRect/>
          <a:stretch/>
        </p:blipFill>
        <p:spPr>
          <a:xfrm>
            <a:off x="304800" y="228600"/>
            <a:ext cx="1143000" cy="821245"/>
          </a:xfrm>
          <a:prstGeom prst="rect">
            <a:avLst/>
          </a:prstGeom>
          <a:noFill/>
          <a:ln>
            <a:noFill/>
          </a:ln>
        </p:spPr>
      </p:pic>
      <p:sp>
        <p:nvSpPr>
          <p:cNvPr id="63" name="Google Shape;63;p15"/>
          <p:cNvSpPr/>
          <p:nvPr/>
        </p:nvSpPr>
        <p:spPr>
          <a:xfrm>
            <a:off x="-266700" y="4067031"/>
            <a:ext cx="2753046" cy="237641"/>
          </a:xfrm>
          <a:custGeom>
            <a:avLst/>
            <a:gdLst/>
            <a:ahLst/>
            <a:cxnLst/>
            <a:rect l="l" t="t" r="r" b="b"/>
            <a:pathLst>
              <a:path w="3429000" h="247014" extrusionOk="0">
                <a:moveTo>
                  <a:pt x="3429000" y="0"/>
                </a:moveTo>
                <a:lnTo>
                  <a:pt x="0" y="0"/>
                </a:lnTo>
                <a:lnTo>
                  <a:pt x="0" y="246887"/>
                </a:lnTo>
                <a:lnTo>
                  <a:pt x="3429000" y="246887"/>
                </a:lnTo>
                <a:lnTo>
                  <a:pt x="3429000" y="0"/>
                </a:lnTo>
                <a:close/>
              </a:path>
            </a:pathLst>
          </a:custGeom>
          <a:solidFill>
            <a:srgbClr val="36365C"/>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64" name="Google Shape;64;p15"/>
          <p:cNvSpPr txBox="1"/>
          <p:nvPr/>
        </p:nvSpPr>
        <p:spPr>
          <a:xfrm>
            <a:off x="304800" y="4067031"/>
            <a:ext cx="2479401" cy="228268"/>
          </a:xfrm>
          <a:prstGeom prst="rect">
            <a:avLst/>
          </a:prstGeom>
          <a:noFill/>
          <a:ln>
            <a:noFill/>
          </a:ln>
        </p:spPr>
        <p:txBody>
          <a:bodyPr spcFirstLastPara="1" wrap="square" lIns="0" tIns="12700" rIns="0" bIns="0" anchor="t" anchorCtr="0">
            <a:spAutoFit/>
          </a:bodyPr>
          <a:lstStyle/>
          <a:p>
            <a:pPr marL="12700" marR="0" lvl="0" indent="0" algn="l" rtl="0">
              <a:lnSpc>
                <a:spcPct val="100000"/>
              </a:lnSpc>
              <a:spcBef>
                <a:spcPts val="0"/>
              </a:spcBef>
              <a:spcAft>
                <a:spcPts val="0"/>
              </a:spcAft>
              <a:buNone/>
            </a:pPr>
            <a:r>
              <a:rPr lang="en-US" sz="1400" b="0" i="0" u="none" strike="noStrike" cap="none">
                <a:solidFill>
                  <a:schemeClr val="lt1"/>
                </a:solidFill>
                <a:latin typeface="Arial"/>
                <a:ea typeface="Arial"/>
                <a:cs typeface="Arial"/>
                <a:sym typeface="Arial"/>
              </a:rPr>
              <a:t>GV Nguyễn Đắc Kiên</a:t>
            </a:r>
            <a:endParaRPr sz="1400" b="0" i="0" u="none" strike="noStrike" cap="none">
              <a:solidFill>
                <a:schemeClr val="lt1"/>
              </a:solidFill>
              <a:latin typeface="Arial"/>
              <a:ea typeface="Arial"/>
              <a:cs typeface="Arial"/>
              <a:sym typeface="Arial"/>
            </a:endParaRPr>
          </a:p>
        </p:txBody>
      </p:sp>
      <p:sp>
        <p:nvSpPr>
          <p:cNvPr id="65" name="Google Shape;65;p15"/>
          <p:cNvSpPr txBox="1"/>
          <p:nvPr/>
        </p:nvSpPr>
        <p:spPr>
          <a:xfrm>
            <a:off x="1270884" y="2612533"/>
            <a:ext cx="4626428" cy="615553"/>
          </a:xfrm>
          <a:prstGeom prst="rect">
            <a:avLst/>
          </a:prstGeom>
          <a:noFill/>
          <a:ln>
            <a:noFill/>
          </a:ln>
        </p:spPr>
        <p:txBody>
          <a:bodyPr spcFirstLastPara="1" wrap="square" lIns="0" tIns="0" rIns="0" bIns="0" anchor="t" anchorCtr="0">
            <a:spAutoFit/>
          </a:bodyPr>
          <a:lstStyle/>
          <a:p>
            <a:pPr marL="0" marR="0" lvl="0" indent="0" algn="l" rtl="0">
              <a:lnSpc>
                <a:spcPct val="100000"/>
              </a:lnSpc>
              <a:spcBef>
                <a:spcPts val="0"/>
              </a:spcBef>
              <a:spcAft>
                <a:spcPts val="0"/>
              </a:spcAft>
              <a:buNone/>
            </a:pPr>
            <a:r>
              <a:rPr lang="en-US" sz="4000" b="1" i="0" u="none" strike="noStrike" cap="none">
                <a:solidFill>
                  <a:srgbClr val="154A8D"/>
                </a:solidFill>
                <a:latin typeface="Times New Roman"/>
                <a:ea typeface="Times New Roman"/>
                <a:cs typeface="Times New Roman"/>
                <a:sym typeface="Times New Roman"/>
              </a:rPr>
              <a:t>Tính trừu tượng</a:t>
            </a:r>
            <a:endParaRPr sz="4000" b="1" i="0" u="none" strike="noStrike" cap="none">
              <a:solidFill>
                <a:srgbClr val="154A8D"/>
              </a:solidFill>
              <a:latin typeface="Times New Roman"/>
              <a:ea typeface="Times New Roman"/>
              <a:cs typeface="Times New Roman"/>
              <a:sym typeface="Times New Roman"/>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pic>
        <p:nvPicPr>
          <p:cNvPr id="70" name="Google Shape;70;p4"/>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1" name="Google Shape;71;p4"/>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72" name="Google Shape;72;p4"/>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b="1">
                <a:latin typeface="Times New Roman"/>
                <a:ea typeface="Times New Roman"/>
                <a:cs typeface="Times New Roman"/>
                <a:sym typeface="Times New Roman"/>
              </a:rPr>
              <a:t>Nội dung bài học</a:t>
            </a:r>
            <a:endParaRPr sz="2800" b="1">
              <a:latin typeface="Times New Roman"/>
              <a:ea typeface="Times New Roman"/>
              <a:cs typeface="Times New Roman"/>
              <a:sym typeface="Times New Roman"/>
            </a:endParaRPr>
          </a:p>
        </p:txBody>
      </p:sp>
      <p:sp>
        <p:nvSpPr>
          <p:cNvPr id="73" name="Google Shape;73;p4"/>
          <p:cNvSpPr txBox="1">
            <a:spLocks noGrp="1"/>
          </p:cNvSpPr>
          <p:nvPr>
            <p:ph type="body" idx="1"/>
          </p:nvPr>
        </p:nvSpPr>
        <p:spPr>
          <a:xfrm>
            <a:off x="838200" y="1613043"/>
            <a:ext cx="10515600" cy="4563920"/>
          </a:xfrm>
          <a:prstGeom prst="rect">
            <a:avLst/>
          </a:prstGeom>
          <a:noFill/>
          <a:ln>
            <a:noFill/>
          </a:ln>
        </p:spPr>
        <p:txBody>
          <a:bodyPr spcFirstLastPara="1" wrap="square" lIns="91425" tIns="45700" rIns="91425" bIns="45700" anchor="t" anchorCtr="0">
            <a:normAutofit/>
          </a:bodyPr>
          <a:lstStyle/>
          <a:p>
            <a:pPr marL="571500" lvl="0" indent="-457200" algn="l" rtl="0">
              <a:lnSpc>
                <a:spcPct val="90000"/>
              </a:lnSpc>
              <a:spcBef>
                <a:spcPts val="1000"/>
              </a:spcBef>
              <a:spcAft>
                <a:spcPts val="0"/>
              </a:spcAft>
              <a:buSzPts val="1800"/>
              <a:buFont typeface="Arial"/>
              <a:buAutoNum type="arabicPeriod"/>
            </a:pPr>
            <a:r>
              <a:rPr lang="en-US" sz="2400" dirty="0" err="1">
                <a:latin typeface="Times New Roman"/>
                <a:ea typeface="Times New Roman"/>
                <a:cs typeface="Times New Roman"/>
                <a:sym typeface="Times New Roman"/>
              </a:rPr>
              <a:t>Tính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trừu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endParaRPr dirty="0"/>
          </a:p>
          <a:p>
            <a:pPr marL="571500" lvl="0" indent="-457200" algn="l" rtl="0">
              <a:lnSpc>
                <a:spcPct val="90000"/>
              </a:lnSpc>
              <a:spcBef>
                <a:spcPts val="1000"/>
              </a:spcBef>
              <a:spcAft>
                <a:spcPts val="0"/>
              </a:spcAft>
              <a:buSzPts val="1800"/>
              <a:buFont typeface="Arial"/>
              <a:buAutoNum type="arabicPeriod"/>
            </a:pPr>
            <a:r>
              <a:rPr lang="en-US" sz="2400" dirty="0">
                <a:latin typeface="Times New Roman"/>
                <a:ea typeface="Times New Roman"/>
                <a:cs typeface="Times New Roman"/>
                <a:sym typeface="Times New Roman"/>
              </a:rPr>
              <a:t>Abstract</a:t>
            </a:r>
            <a:endParaRPr dirty="0"/>
          </a:p>
          <a:p>
            <a:pPr marL="571500" lvl="0" indent="-457200" algn="l" rtl="0">
              <a:lnSpc>
                <a:spcPct val="90000"/>
              </a:lnSpc>
              <a:spcBef>
                <a:spcPts val="1000"/>
              </a:spcBef>
              <a:spcAft>
                <a:spcPts val="0"/>
              </a:spcAft>
              <a:buSzPts val="1800"/>
              <a:buFont typeface="Arial"/>
              <a:buAutoNum type="arabicPeriod"/>
            </a:pPr>
            <a:r>
              <a:rPr lang="en-US" sz="2400" dirty="0">
                <a:latin typeface="Times New Roman"/>
                <a:ea typeface="Times New Roman"/>
                <a:cs typeface="Times New Roman"/>
                <a:sym typeface="Times New Roman"/>
              </a:rPr>
              <a:t>Interface</a:t>
            </a:r>
            <a:endParaRPr dirty="0"/>
          </a:p>
          <a:p>
            <a:pPr marL="571500" lvl="0" indent="-342900" algn="l" rtl="0">
              <a:lnSpc>
                <a:spcPct val="90000"/>
              </a:lnSpc>
              <a:spcBef>
                <a:spcPts val="1000"/>
              </a:spcBef>
              <a:spcAft>
                <a:spcPts val="0"/>
              </a:spcAft>
              <a:buSzPts val="1800"/>
              <a:buFont typeface="Arial"/>
              <a:buNone/>
            </a:pPr>
            <a:endParaRPr sz="2400" dirty="0">
              <a:latin typeface="Times New Roman"/>
              <a:ea typeface="Times New Roman"/>
              <a:cs typeface="Times New Roman"/>
              <a:sym typeface="Times New Roman"/>
            </a:endParaRPr>
          </a:p>
        </p:txBody>
      </p:sp>
      <p:sp>
        <p:nvSpPr>
          <p:cNvPr id="74" name="Google Shape;74;p4"/>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pic>
        <p:nvPicPr>
          <p:cNvPr id="79" name="Google Shape;79;p16"/>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0" name="Google Shape;80;p16"/>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81" name="Google Shape;81;p16"/>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b="1">
                <a:latin typeface="Times New Roman"/>
                <a:ea typeface="Times New Roman"/>
                <a:cs typeface="Times New Roman"/>
                <a:sym typeface="Times New Roman"/>
              </a:rPr>
              <a:t>1)Tính trừu tượng</a:t>
            </a:r>
            <a:endParaRPr sz="2800" b="1">
              <a:latin typeface="Times New Roman"/>
              <a:ea typeface="Times New Roman"/>
              <a:cs typeface="Times New Roman"/>
              <a:sym typeface="Times New Roman"/>
            </a:endParaRPr>
          </a:p>
        </p:txBody>
      </p:sp>
      <p:sp>
        <p:nvSpPr>
          <p:cNvPr id="82" name="Google Shape;82;p16"/>
          <p:cNvSpPr txBox="1">
            <a:spLocks noGrp="1"/>
          </p:cNvSpPr>
          <p:nvPr>
            <p:ph type="body" idx="1"/>
          </p:nvPr>
        </p:nvSpPr>
        <p:spPr>
          <a:xfrm>
            <a:off x="838200" y="1613043"/>
            <a:ext cx="10515600" cy="456392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Tính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trừu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tiến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trình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ẩn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cài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đặt</a:t>
            </a:r>
            <a:r>
              <a:rPr lang="en-US" sz="2400" dirty="0">
                <a:latin typeface="Times New Roman"/>
                <a:ea typeface="Times New Roman"/>
                <a:cs typeface="Times New Roman"/>
                <a:sym typeface="Times New Roman"/>
              </a:rPr>
              <a:t> chi </a:t>
            </a:r>
            <a:r>
              <a:rPr lang="en-US" sz="2400" dirty="0" err="1">
                <a:latin typeface="Times New Roman"/>
                <a:ea typeface="Times New Roman"/>
                <a:cs typeface="Times New Roman"/>
                <a:sym typeface="Times New Roman"/>
              </a:rPr>
              <a:t>tiết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và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chỉ</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hiển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thị</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tính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năng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tới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người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dùng</a:t>
            </a:r>
            <a:r>
              <a:rPr lang="en-US" sz="2400" dirty="0">
                <a:latin typeface="Times New Roman"/>
                <a:ea typeface="Times New Roman"/>
                <a:cs typeface="Times New Roman"/>
                <a:sym typeface="Times New Roman"/>
              </a:rPr>
              <a:t>.</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Nói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cách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chỉ</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hiển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thị</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thứ</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quan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trọng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tới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người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dùng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và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ẩn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các</a:t>
            </a:r>
            <a:r>
              <a:rPr lang="en-US" sz="2400" dirty="0">
                <a:latin typeface="Times New Roman"/>
                <a:ea typeface="Times New Roman"/>
                <a:cs typeface="Times New Roman"/>
                <a:sym typeface="Times New Roman"/>
              </a:rPr>
              <a:t> chi </a:t>
            </a:r>
            <a:r>
              <a:rPr lang="en-US" sz="2400" dirty="0" err="1">
                <a:latin typeface="Times New Roman"/>
                <a:ea typeface="Times New Roman"/>
                <a:cs typeface="Times New Roman"/>
                <a:sym typeface="Times New Roman"/>
              </a:rPr>
              <a:t>tiết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nội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tại</a:t>
            </a:r>
            <a:endParaRPr dirty="0"/>
          </a:p>
          <a:p>
            <a:pPr marL="457200" lvl="0" indent="-342900" algn="l" rtl="0">
              <a:lnSpc>
                <a:spcPct val="90000"/>
              </a:lnSpc>
              <a:spcBef>
                <a:spcPts val="1000"/>
              </a:spcBef>
              <a:spcAft>
                <a:spcPts val="0"/>
              </a:spcAft>
              <a:buSzPts val="1800"/>
              <a:buFont typeface="Noto Sans Symbols"/>
              <a:buChar char="❑"/>
            </a:pPr>
            <a:r>
              <a:rPr lang="en-US" sz="2400" dirty="0" err="1">
                <a:latin typeface="Times New Roman"/>
                <a:ea typeface="Times New Roman"/>
                <a:cs typeface="Times New Roman"/>
                <a:sym typeface="Times New Roman"/>
              </a:rPr>
              <a:t>ví</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dụ</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gửi</a:t>
            </a:r>
            <a:r>
              <a:rPr lang="en-US" sz="2400" dirty="0">
                <a:latin typeface="Times New Roman"/>
                <a:ea typeface="Times New Roman"/>
                <a:cs typeface="Times New Roman"/>
                <a:sym typeface="Times New Roman"/>
              </a:rPr>
              <a:t> tin </a:t>
            </a:r>
            <a:r>
              <a:rPr lang="en-US" sz="2400" dirty="0" err="1">
                <a:latin typeface="Times New Roman"/>
                <a:ea typeface="Times New Roman"/>
                <a:cs typeface="Times New Roman"/>
                <a:sym typeface="Times New Roman"/>
              </a:rPr>
              <a:t>nhắn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người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dùng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chỉ</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cần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soạn</a:t>
            </a:r>
            <a:r>
              <a:rPr lang="en-US" sz="2400" dirty="0">
                <a:latin typeface="Times New Roman"/>
                <a:ea typeface="Times New Roman"/>
                <a:cs typeface="Times New Roman"/>
                <a:sym typeface="Times New Roman"/>
              </a:rPr>
              <a:t> text </a:t>
            </a:r>
            <a:r>
              <a:rPr lang="en-US" sz="2400" dirty="0" err="1">
                <a:latin typeface="Times New Roman"/>
                <a:ea typeface="Times New Roman"/>
                <a:cs typeface="Times New Roman"/>
                <a:sym typeface="Times New Roman"/>
              </a:rPr>
              <a:t>và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gửi</a:t>
            </a:r>
            <a:r>
              <a:rPr lang="en-US" sz="2400" dirty="0">
                <a:latin typeface="Times New Roman"/>
                <a:ea typeface="Times New Roman"/>
                <a:cs typeface="Times New Roman"/>
                <a:sym typeface="Times New Roman"/>
              </a:rPr>
              <a:t> tin. </a:t>
            </a:r>
            <a:r>
              <a:rPr lang="en-US" sz="2400" dirty="0" err="1">
                <a:latin typeface="Times New Roman"/>
                <a:ea typeface="Times New Roman"/>
                <a:cs typeface="Times New Roman"/>
                <a:sym typeface="Times New Roman"/>
              </a:rPr>
              <a:t>Bạn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biết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tiến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trình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xử</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lý</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nội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tại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về</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phân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phối</a:t>
            </a:r>
            <a:r>
              <a:rPr lang="en-US" sz="2400" dirty="0">
                <a:latin typeface="Times New Roman"/>
                <a:ea typeface="Times New Roman"/>
                <a:cs typeface="Times New Roman"/>
                <a:sym typeface="Times New Roman"/>
              </a:rPr>
              <a:t> tin </a:t>
            </a:r>
            <a:r>
              <a:rPr lang="en-US" sz="2400" dirty="0" err="1">
                <a:latin typeface="Times New Roman"/>
                <a:ea typeface="Times New Roman"/>
                <a:cs typeface="Times New Roman"/>
                <a:sym typeface="Times New Roman"/>
              </a:rPr>
              <a:t>nhắn</a:t>
            </a:r>
            <a:r>
              <a:rPr lang="en-US" sz="2400" dirty="0">
                <a:latin typeface="Times New Roman"/>
                <a:ea typeface="Times New Roman"/>
                <a:cs typeface="Times New Roman"/>
                <a:sym typeface="Times New Roman"/>
              </a:rPr>
              <a:t>.</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Tính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trừu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giúp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bạn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trọng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tâm</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hơn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vào</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đối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thay</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vì</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quan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tâm</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đến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cách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thực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hiện</a:t>
            </a:r>
            <a:r>
              <a:rPr lang="en-US" sz="2400" dirty="0">
                <a:latin typeface="Times New Roman"/>
                <a:ea typeface="Times New Roman"/>
                <a:cs typeface="Times New Roman"/>
                <a:sym typeface="Times New Roman"/>
              </a:rPr>
              <a:t>.</a:t>
            </a:r>
            <a:endParaRPr sz="2400" dirty="0">
              <a:latin typeface="Times New Roman"/>
              <a:ea typeface="Times New Roman"/>
              <a:cs typeface="Times New Roman"/>
              <a:sym typeface="Times New Roman"/>
            </a:endParaRPr>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2 </a:t>
            </a:r>
            <a:r>
              <a:rPr lang="en-US" sz="2400" dirty="0" err="1">
                <a:latin typeface="Times New Roman"/>
                <a:ea typeface="Times New Roman"/>
                <a:cs typeface="Times New Roman"/>
                <a:sym typeface="Times New Roman"/>
              </a:rPr>
              <a:t>cách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đạt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được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sự</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trừu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hóa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trong</a:t>
            </a:r>
            <a:r>
              <a:rPr lang="en-US" sz="2400" dirty="0">
                <a:latin typeface="Times New Roman"/>
                <a:ea typeface="Times New Roman"/>
                <a:cs typeface="Times New Roman"/>
                <a:sym typeface="Times New Roman"/>
              </a:rPr>
              <a:t> java</a:t>
            </a:r>
            <a:endParaRPr dirty="0"/>
          </a:p>
          <a:p>
            <a:pPr marL="914400" lvl="1" indent="-342900" algn="l" rtl="0">
              <a:lnSpc>
                <a:spcPct val="90000"/>
              </a:lnSpc>
              <a:spcBef>
                <a:spcPts val="500"/>
              </a:spcBef>
              <a:spcAft>
                <a:spcPts val="0"/>
              </a:spcAft>
              <a:buSzPts val="1800"/>
              <a:buFont typeface="Noto Sans Symbols"/>
              <a:buChar char="❑"/>
            </a:pPr>
            <a:r>
              <a:rPr lang="en-US" sz="2000" dirty="0" err="1">
                <a:latin typeface="Times New Roman"/>
                <a:ea typeface="Times New Roman"/>
                <a:cs typeface="Times New Roman"/>
                <a:sym typeface="Times New Roman"/>
              </a:rPr>
              <a:t>Sử</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dụng</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lớp</a:t>
            </a:r>
            <a:r>
              <a:rPr lang="en-US" sz="2000" dirty="0">
                <a:latin typeface="Times New Roman"/>
                <a:ea typeface="Times New Roman"/>
                <a:cs typeface="Times New Roman"/>
                <a:sym typeface="Times New Roman"/>
              </a:rPr>
              <a:t> abstract</a:t>
            </a:r>
            <a:endParaRPr dirty="0"/>
          </a:p>
          <a:p>
            <a:pPr marL="914400" lvl="1" indent="-342900" algn="l" rtl="0">
              <a:lnSpc>
                <a:spcPct val="90000"/>
              </a:lnSpc>
              <a:spcBef>
                <a:spcPts val="500"/>
              </a:spcBef>
              <a:spcAft>
                <a:spcPts val="0"/>
              </a:spcAft>
              <a:buSzPts val="1800"/>
              <a:buFont typeface="Noto Sans Symbols"/>
              <a:buChar char="❑"/>
            </a:pPr>
            <a:r>
              <a:rPr lang="en-US" sz="2000" dirty="0" err="1">
                <a:latin typeface="Times New Roman"/>
                <a:ea typeface="Times New Roman"/>
                <a:cs typeface="Times New Roman"/>
                <a:sym typeface="Times New Roman"/>
              </a:rPr>
              <a:t>Sử</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dụng</a:t>
            </a:r>
            <a:r>
              <a:rPr lang="en-US" sz="2000" dirty="0">
                <a:latin typeface="Times New Roman"/>
                <a:ea typeface="Times New Roman"/>
                <a:cs typeface="Times New Roman"/>
                <a:sym typeface="Times New Roman"/>
              </a:rPr>
              <a:t> interface</a:t>
            </a:r>
            <a:endParaRPr dirty="0"/>
          </a:p>
          <a:p>
            <a:pPr marL="457200" lvl="0" indent="-228600" algn="l" rtl="0">
              <a:lnSpc>
                <a:spcPct val="90000"/>
              </a:lnSpc>
              <a:spcBef>
                <a:spcPts val="1000"/>
              </a:spcBef>
              <a:spcAft>
                <a:spcPts val="0"/>
              </a:spcAft>
              <a:buClr>
                <a:schemeClr val="dk1"/>
              </a:buClr>
              <a:buSzPts val="1800"/>
              <a:buNone/>
            </a:pPr>
            <a:endParaRPr sz="2400" dirty="0">
              <a:latin typeface="Times New Roman"/>
              <a:ea typeface="Times New Roman"/>
              <a:cs typeface="Times New Roman"/>
              <a:sym typeface="Times New Roman"/>
            </a:endParaRPr>
          </a:p>
        </p:txBody>
      </p:sp>
      <p:sp>
        <p:nvSpPr>
          <p:cNvPr id="83" name="Google Shape;83;p16"/>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pic>
        <p:nvPicPr>
          <p:cNvPr id="88" name="Google Shape;88;p17"/>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9" name="Google Shape;89;p17"/>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90" name="Google Shape;90;p17"/>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b="1">
                <a:latin typeface="Times New Roman"/>
                <a:ea typeface="Times New Roman"/>
                <a:cs typeface="Times New Roman"/>
                <a:sym typeface="Times New Roman"/>
              </a:rPr>
              <a:t>2) Abstract trong Java</a:t>
            </a:r>
            <a:endParaRPr/>
          </a:p>
        </p:txBody>
      </p:sp>
      <p:sp>
        <p:nvSpPr>
          <p:cNvPr id="91" name="Google Shape;91;p17"/>
          <p:cNvSpPr txBox="1">
            <a:spLocks noGrp="1"/>
          </p:cNvSpPr>
          <p:nvPr>
            <p:ph type="body" idx="1"/>
          </p:nvPr>
        </p:nvSpPr>
        <p:spPr>
          <a:xfrm>
            <a:off x="838200" y="1613043"/>
            <a:ext cx="10515600" cy="4563920"/>
          </a:xfrm>
          <a:prstGeom prst="rect">
            <a:avLst/>
          </a:prstGeom>
          <a:noFill/>
          <a:ln>
            <a:noFill/>
          </a:ln>
        </p:spPr>
        <p:txBody>
          <a:bodyPr spcFirstLastPara="1" wrap="square" lIns="91425" tIns="45700" rIns="91425" bIns="45700" anchor="t" anchorCtr="0">
            <a:normAutofit/>
          </a:bodyPr>
          <a:lstStyle/>
          <a:p>
            <a:pPr marL="571500" lvl="0" indent="-457200" algn="l" rtl="0">
              <a:lnSpc>
                <a:spcPct val="90000"/>
              </a:lnSpc>
              <a:spcBef>
                <a:spcPts val="1000"/>
              </a:spcBef>
              <a:spcAft>
                <a:spcPts val="0"/>
              </a:spcAft>
              <a:buSzPts val="1800"/>
              <a:buFont typeface="Arial"/>
              <a:buAutoNum type="arabicPeriod"/>
            </a:pP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trừu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(Abstract Class) </a:t>
            </a:r>
            <a:r>
              <a:rPr lang="en-US" sz="2400" dirty="0" err="1">
                <a:latin typeface="Times New Roman"/>
                <a:ea typeface="Times New Roman"/>
                <a:cs typeface="Times New Roman"/>
                <a:sym typeface="Times New Roman"/>
              </a:rPr>
              <a:t>trong</a:t>
            </a:r>
            <a:r>
              <a:rPr lang="en-US" sz="2400" dirty="0">
                <a:latin typeface="Times New Roman"/>
                <a:ea typeface="Times New Roman"/>
                <a:cs typeface="Times New Roman"/>
                <a:sym typeface="Times New Roman"/>
              </a:rPr>
              <a:t> Java</a:t>
            </a:r>
            <a:endParaRPr dirty="0"/>
          </a:p>
          <a:p>
            <a:pPr marL="571500" lvl="0" indent="-457200" algn="l" rtl="0">
              <a:lnSpc>
                <a:spcPct val="90000"/>
              </a:lnSpc>
              <a:spcBef>
                <a:spcPts val="1000"/>
              </a:spcBef>
              <a:spcAft>
                <a:spcPts val="0"/>
              </a:spcAft>
              <a:buSzPts val="1800"/>
              <a:buFont typeface="Arial"/>
              <a:buAutoNum type="arabicPeriod"/>
            </a:pPr>
            <a:r>
              <a:rPr lang="en-US" sz="2400" dirty="0" err="1">
                <a:latin typeface="Times New Roman"/>
                <a:ea typeface="Times New Roman"/>
                <a:cs typeface="Times New Roman"/>
                <a:sym typeface="Times New Roman"/>
              </a:rPr>
              <a:t>Phương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thức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trừu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trong</a:t>
            </a:r>
            <a:r>
              <a:rPr lang="en-US" sz="2400" dirty="0">
                <a:latin typeface="Times New Roman"/>
                <a:ea typeface="Times New Roman"/>
                <a:cs typeface="Times New Roman"/>
                <a:sym typeface="Times New Roman"/>
              </a:rPr>
              <a:t> Java</a:t>
            </a:r>
            <a:endParaRPr dirty="0"/>
          </a:p>
          <a:p>
            <a:pPr marL="571500" lvl="0" indent="-342900" algn="l" rtl="0">
              <a:lnSpc>
                <a:spcPct val="90000"/>
              </a:lnSpc>
              <a:spcBef>
                <a:spcPts val="1000"/>
              </a:spcBef>
              <a:spcAft>
                <a:spcPts val="0"/>
              </a:spcAft>
              <a:buSzPts val="1800"/>
              <a:buFont typeface="Arial"/>
              <a:buNone/>
            </a:pPr>
            <a:endParaRPr sz="2400" dirty="0">
              <a:latin typeface="Times New Roman"/>
              <a:ea typeface="Times New Roman"/>
              <a:cs typeface="Times New Roman"/>
              <a:sym typeface="Times New Roman"/>
            </a:endParaRPr>
          </a:p>
        </p:txBody>
      </p:sp>
      <p:sp>
        <p:nvSpPr>
          <p:cNvPr id="92" name="Google Shape;92;p17"/>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96"/>
        <p:cNvGrpSpPr/>
        <p:nvPr/>
      </p:nvGrpSpPr>
      <p:grpSpPr>
        <a:xfrm>
          <a:off x="0" y="0"/>
          <a:ext cx="0" cy="0"/>
          <a:chOff x="0" y="0"/>
          <a:chExt cx="0" cy="0"/>
        </a:xfrm>
      </p:grpSpPr>
      <p:pic>
        <p:nvPicPr>
          <p:cNvPr id="97" name="Google Shape;97;p18"/>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98" name="Google Shape;98;p18"/>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99" name="Google Shape;99;p18"/>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b="1" dirty="0">
                <a:latin typeface="Times New Roman"/>
                <a:ea typeface="Times New Roman"/>
                <a:cs typeface="Times New Roman"/>
                <a:sym typeface="Times New Roman"/>
              </a:rPr>
              <a:t>2.1) </a:t>
            </a:r>
            <a:r>
              <a:rPr lang="en-US" sz="2800" b="1" dirty="0" err="1">
                <a:latin typeface="Times New Roman"/>
                <a:ea typeface="Times New Roman"/>
                <a:cs typeface="Times New Roman"/>
                <a:sym typeface="Times New Roman"/>
              </a:rPr>
              <a:t>Lớp</a:t>
            </a:r>
            <a:r>
              <a:rPr lang="en-US" sz="2800" b="1" dirty="0">
                <a:latin typeface="Times New Roman"/>
                <a:ea typeface="Times New Roman"/>
                <a:cs typeface="Times New Roman"/>
                <a:sym typeface="Times New Roman"/>
              </a:rPr>
              <a:t> </a:t>
            </a:r>
            <a:r>
              <a:rPr lang="en-US" sz="2800" b="1" dirty="0" err="1">
                <a:latin typeface="Times New Roman"/>
                <a:ea typeface="Times New Roman"/>
                <a:cs typeface="Times New Roman"/>
                <a:sym typeface="Times New Roman"/>
              </a:rPr>
              <a:t>trìu</a:t>
            </a:r>
            <a:r>
              <a:rPr lang="en-US" sz="2800" b="1" dirty="0">
                <a:latin typeface="Times New Roman"/>
                <a:ea typeface="Times New Roman"/>
                <a:cs typeface="Times New Roman"/>
                <a:sym typeface="Times New Roman"/>
              </a:rPr>
              <a:t> </a:t>
            </a:r>
            <a:r>
              <a:rPr lang="en-US" sz="2800" b="1" dirty="0" err="1">
                <a:latin typeface="Times New Roman"/>
                <a:ea typeface="Times New Roman"/>
                <a:cs typeface="Times New Roman"/>
                <a:sym typeface="Times New Roman"/>
              </a:rPr>
              <a:t>tượng</a:t>
            </a:r>
            <a:endParaRPr sz="2800" b="1" dirty="0">
              <a:latin typeface="Times New Roman"/>
              <a:ea typeface="Times New Roman"/>
              <a:cs typeface="Times New Roman"/>
              <a:sym typeface="Times New Roman"/>
            </a:endParaRPr>
          </a:p>
        </p:txBody>
      </p:sp>
      <p:sp>
        <p:nvSpPr>
          <p:cNvPr id="100" name="Google Shape;100;p18"/>
          <p:cNvSpPr txBox="1">
            <a:spLocks noGrp="1"/>
          </p:cNvSpPr>
          <p:nvPr>
            <p:ph type="body" idx="1"/>
          </p:nvPr>
        </p:nvSpPr>
        <p:spPr>
          <a:xfrm>
            <a:off x="838200" y="1613043"/>
            <a:ext cx="10515600" cy="456392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được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báo</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với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từ</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khóa</a:t>
            </a:r>
            <a:r>
              <a:rPr lang="en-US" sz="2400" dirty="0">
                <a:latin typeface="Times New Roman"/>
                <a:ea typeface="Times New Roman"/>
                <a:cs typeface="Times New Roman"/>
                <a:sym typeface="Times New Roman"/>
              </a:rPr>
              <a:t> abstract </a:t>
            </a: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trừu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(abstract class).</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trừu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phương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thức</a:t>
            </a:r>
            <a:r>
              <a:rPr lang="en-US" sz="2400" dirty="0">
                <a:latin typeface="Times New Roman"/>
                <a:ea typeface="Times New Roman"/>
                <a:cs typeface="Times New Roman"/>
                <a:sym typeface="Times New Roman"/>
              </a:rPr>
              <a:t> abstract </a:t>
            </a:r>
            <a:r>
              <a:rPr lang="en-US" sz="2400" dirty="0" err="1">
                <a:latin typeface="Times New Roman"/>
                <a:ea typeface="Times New Roman"/>
                <a:cs typeface="Times New Roman"/>
                <a:sym typeface="Times New Roman"/>
              </a:rPr>
              <a:t>hoặc</a:t>
            </a:r>
            <a:r>
              <a:rPr lang="en-US" sz="2400" dirty="0">
                <a:latin typeface="Times New Roman"/>
                <a:ea typeface="Times New Roman"/>
                <a:cs typeface="Times New Roman"/>
                <a:sym typeface="Times New Roman"/>
              </a:rPr>
              <a:t> non-abstract.</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trừu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báo</a:t>
            </a:r>
            <a:r>
              <a:rPr lang="en-US" sz="2400" dirty="0">
                <a:latin typeface="Times New Roman"/>
                <a:ea typeface="Times New Roman"/>
                <a:cs typeface="Times New Roman"/>
                <a:sym typeface="Times New Roman"/>
              </a:rPr>
              <a:t> 0, 1 </a:t>
            </a:r>
            <a:r>
              <a:rPr lang="en-US" sz="2400" dirty="0" err="1">
                <a:latin typeface="Times New Roman"/>
                <a:ea typeface="Times New Roman"/>
                <a:cs typeface="Times New Roman"/>
                <a:sym typeface="Times New Roman"/>
              </a:rPr>
              <a:t>hoặc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nhiều</a:t>
            </a:r>
            <a:r>
              <a:rPr lang="en-US" sz="2400" dirty="0">
                <a:latin typeface="Times New Roman"/>
                <a:ea typeface="Times New Roman"/>
                <a:cs typeface="Times New Roman"/>
                <a:sym typeface="Times New Roman"/>
              </a:rPr>
              <a:t> method </a:t>
            </a:r>
            <a:r>
              <a:rPr lang="en-US" sz="2400" dirty="0" err="1">
                <a:latin typeface="Times New Roman"/>
                <a:ea typeface="Times New Roman"/>
                <a:cs typeface="Times New Roman"/>
                <a:sym typeface="Times New Roman"/>
              </a:rPr>
              <a:t>trừu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bên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trong</a:t>
            </a:r>
            <a:r>
              <a:rPr lang="en-US" sz="2400" dirty="0">
                <a:latin typeface="Times New Roman"/>
                <a:ea typeface="Times New Roman"/>
                <a:cs typeface="Times New Roman"/>
                <a:sym typeface="Times New Roman"/>
              </a:rPr>
              <a:t>.</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khởi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tạo</a:t>
            </a:r>
            <a:r>
              <a:rPr lang="en-US" sz="2400" dirty="0">
                <a:latin typeface="Times New Roman"/>
                <a:ea typeface="Times New Roman"/>
                <a:cs typeface="Times New Roman"/>
                <a:sym typeface="Times New Roman"/>
              </a:rPr>
              <a:t> 1 </a:t>
            </a:r>
            <a:r>
              <a:rPr lang="en-US" sz="2400" dirty="0" err="1">
                <a:latin typeface="Times New Roman"/>
                <a:ea typeface="Times New Roman"/>
                <a:cs typeface="Times New Roman"/>
                <a:sym typeface="Times New Roman"/>
              </a:rPr>
              <a:t>đối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trực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tiếp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từ</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class </a:t>
            </a:r>
            <a:r>
              <a:rPr lang="en-US" sz="2400" dirty="0" err="1">
                <a:latin typeface="Times New Roman"/>
                <a:ea typeface="Times New Roman"/>
                <a:cs typeface="Times New Roman"/>
                <a:sym typeface="Times New Roman"/>
              </a:rPr>
              <a:t>trừu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kế</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thừa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từ</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trừu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(subclass –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con) </a:t>
            </a: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cần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phải</a:t>
            </a:r>
            <a:r>
              <a:rPr lang="en-US" sz="2400" dirty="0">
                <a:latin typeface="Times New Roman"/>
                <a:ea typeface="Times New Roman"/>
                <a:cs typeface="Times New Roman"/>
                <a:sym typeface="Times New Roman"/>
              </a:rPr>
              <a:t> implement non-abstract methods, </a:t>
            </a:r>
            <a:r>
              <a:rPr lang="en-US" sz="2400" dirty="0" err="1">
                <a:latin typeface="Times New Roman"/>
                <a:ea typeface="Times New Roman"/>
                <a:cs typeface="Times New Roman"/>
                <a:sym typeface="Times New Roman"/>
              </a:rPr>
              <a:t>nhưng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những</a:t>
            </a:r>
            <a:r>
              <a:rPr lang="en-US" sz="2400" dirty="0">
                <a:latin typeface="Times New Roman"/>
                <a:ea typeface="Times New Roman"/>
                <a:cs typeface="Times New Roman"/>
                <a:sym typeface="Times New Roman"/>
              </a:rPr>
              <a:t> method </a:t>
            </a:r>
            <a:r>
              <a:rPr lang="en-US" sz="2400" dirty="0" err="1">
                <a:latin typeface="Times New Roman"/>
                <a:ea typeface="Times New Roman"/>
                <a:cs typeface="Times New Roman"/>
                <a:sym typeface="Times New Roman"/>
              </a:rPr>
              <a:t>nào</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abstract </a:t>
            </a:r>
            <a:r>
              <a:rPr lang="en-US" sz="2400" dirty="0" err="1">
                <a:latin typeface="Times New Roman"/>
                <a:ea typeface="Times New Roman"/>
                <a:cs typeface="Times New Roman"/>
                <a:sym typeface="Times New Roman"/>
              </a:rPr>
              <a:t>thì</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bắt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buộc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phải</a:t>
            </a:r>
            <a:r>
              <a:rPr lang="en-US" sz="2400" dirty="0">
                <a:latin typeface="Times New Roman"/>
                <a:ea typeface="Times New Roman"/>
                <a:cs typeface="Times New Roman"/>
                <a:sym typeface="Times New Roman"/>
              </a:rPr>
              <a:t> override. </a:t>
            </a:r>
            <a:r>
              <a:rPr lang="en-US" sz="2400" dirty="0" err="1">
                <a:latin typeface="Times New Roman"/>
                <a:ea typeface="Times New Roman"/>
                <a:cs typeface="Times New Roman"/>
                <a:sym typeface="Times New Roman"/>
              </a:rPr>
              <a:t>Trừ</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khi</a:t>
            </a:r>
            <a:r>
              <a:rPr lang="en-US" sz="2400" dirty="0">
                <a:latin typeface="Times New Roman"/>
                <a:ea typeface="Times New Roman"/>
                <a:cs typeface="Times New Roman"/>
                <a:sym typeface="Times New Roman"/>
              </a:rPr>
              <a:t> subclass </a:t>
            </a:r>
            <a:r>
              <a:rPr lang="en-US" sz="2400" dirty="0" err="1">
                <a:latin typeface="Times New Roman"/>
                <a:ea typeface="Times New Roman"/>
                <a:cs typeface="Times New Roman"/>
                <a:sym typeface="Times New Roman"/>
              </a:rPr>
              <a:t>cũng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abstract.</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Cú</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pháp</a:t>
            </a:r>
            <a:r>
              <a:rPr lang="en-US" sz="2400" dirty="0">
                <a:latin typeface="Times New Roman"/>
                <a:ea typeface="Times New Roman"/>
                <a:cs typeface="Times New Roman"/>
                <a:sym typeface="Times New Roman"/>
              </a:rPr>
              <a:t>: </a:t>
            </a:r>
            <a:endParaRPr dirty="0"/>
          </a:p>
          <a:p>
            <a:pPr marL="457200" lvl="0" indent="-228600" algn="l" rtl="0">
              <a:lnSpc>
                <a:spcPct val="90000"/>
              </a:lnSpc>
              <a:spcBef>
                <a:spcPts val="1000"/>
              </a:spcBef>
              <a:spcAft>
                <a:spcPts val="0"/>
              </a:spcAft>
              <a:buClr>
                <a:schemeClr val="dk1"/>
              </a:buClr>
              <a:buSzPts val="1800"/>
              <a:buNone/>
            </a:pPr>
            <a:endParaRPr sz="2400" dirty="0">
              <a:latin typeface="Times New Roman"/>
              <a:ea typeface="Times New Roman"/>
              <a:cs typeface="Times New Roman"/>
              <a:sym typeface="Times New Roman"/>
            </a:endParaRPr>
          </a:p>
        </p:txBody>
      </p:sp>
      <p:sp>
        <p:nvSpPr>
          <p:cNvPr id="101" name="Google Shape;101;p18"/>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102" name="Google Shape;102;p18"/>
          <p:cNvPicPr preferRelativeResize="0"/>
          <p:nvPr/>
        </p:nvPicPr>
        <p:blipFill rotWithShape="1">
          <a:blip r:embed="rId5">
            <a:alphaModFix/>
          </a:blip>
          <a:srcRect/>
          <a:stretch/>
        </p:blipFill>
        <p:spPr>
          <a:xfrm>
            <a:off x="2867848" y="4876800"/>
            <a:ext cx="6721773" cy="114844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06"/>
        <p:cNvGrpSpPr/>
        <p:nvPr/>
      </p:nvGrpSpPr>
      <p:grpSpPr>
        <a:xfrm>
          <a:off x="0" y="0"/>
          <a:ext cx="0" cy="0"/>
          <a:chOff x="0" y="0"/>
          <a:chExt cx="0" cy="0"/>
        </a:xfrm>
      </p:grpSpPr>
      <p:pic>
        <p:nvPicPr>
          <p:cNvPr id="107" name="Google Shape;107;p19"/>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8" name="Google Shape;108;p19"/>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109" name="Google Shape;109;p19"/>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b="1" dirty="0">
                <a:latin typeface="Times New Roman"/>
                <a:ea typeface="Times New Roman"/>
                <a:cs typeface="Times New Roman"/>
                <a:sym typeface="Times New Roman"/>
              </a:rPr>
              <a:t>2.2) </a:t>
            </a:r>
            <a:r>
              <a:rPr lang="en-US" sz="2800" b="1" dirty="0" err="1">
                <a:latin typeface="Times New Roman"/>
                <a:ea typeface="Times New Roman"/>
                <a:cs typeface="Times New Roman"/>
                <a:sym typeface="Times New Roman"/>
              </a:rPr>
              <a:t>Phương</a:t>
            </a:r>
            <a:r>
              <a:rPr lang="en-US" sz="2800" b="1" dirty="0">
                <a:latin typeface="Times New Roman"/>
                <a:ea typeface="Times New Roman"/>
                <a:cs typeface="Times New Roman"/>
                <a:sym typeface="Times New Roman"/>
              </a:rPr>
              <a:t> </a:t>
            </a:r>
            <a:r>
              <a:rPr lang="en-US" sz="2800" b="1" dirty="0" err="1">
                <a:latin typeface="Times New Roman"/>
                <a:ea typeface="Times New Roman"/>
                <a:cs typeface="Times New Roman"/>
                <a:sym typeface="Times New Roman"/>
              </a:rPr>
              <a:t>thức</a:t>
            </a:r>
            <a:r>
              <a:rPr lang="en-US" sz="2800" b="1" dirty="0">
                <a:latin typeface="Times New Roman"/>
                <a:ea typeface="Times New Roman"/>
                <a:cs typeface="Times New Roman"/>
                <a:sym typeface="Times New Roman"/>
              </a:rPr>
              <a:t> </a:t>
            </a:r>
            <a:r>
              <a:rPr lang="en-US" sz="2800" b="1" dirty="0" err="1">
                <a:latin typeface="Times New Roman"/>
                <a:ea typeface="Times New Roman"/>
                <a:cs typeface="Times New Roman"/>
                <a:sym typeface="Times New Roman"/>
              </a:rPr>
              <a:t>trừu</a:t>
            </a:r>
            <a:r>
              <a:rPr lang="en-US" sz="2800" b="1" dirty="0">
                <a:latin typeface="Times New Roman"/>
                <a:ea typeface="Times New Roman"/>
                <a:cs typeface="Times New Roman"/>
                <a:sym typeface="Times New Roman"/>
              </a:rPr>
              <a:t> </a:t>
            </a:r>
            <a:r>
              <a:rPr lang="en-US" sz="2800" b="1" dirty="0" err="1">
                <a:latin typeface="Times New Roman"/>
                <a:ea typeface="Times New Roman"/>
                <a:cs typeface="Times New Roman"/>
                <a:sym typeface="Times New Roman"/>
              </a:rPr>
              <a:t>tượng</a:t>
            </a:r>
            <a:r>
              <a:rPr lang="en-US" sz="2800" b="1" dirty="0">
                <a:latin typeface="Times New Roman"/>
                <a:ea typeface="Times New Roman"/>
                <a:cs typeface="Times New Roman"/>
                <a:sym typeface="Times New Roman"/>
              </a:rPr>
              <a:t> </a:t>
            </a:r>
            <a:r>
              <a:rPr lang="en-US" sz="2800" b="1" dirty="0" err="1">
                <a:latin typeface="Times New Roman"/>
                <a:ea typeface="Times New Roman"/>
                <a:cs typeface="Times New Roman"/>
                <a:sym typeface="Times New Roman"/>
              </a:rPr>
              <a:t>trong</a:t>
            </a:r>
            <a:r>
              <a:rPr lang="en-US" sz="2800" b="1" dirty="0">
                <a:latin typeface="Times New Roman"/>
                <a:ea typeface="Times New Roman"/>
                <a:cs typeface="Times New Roman"/>
                <a:sym typeface="Times New Roman"/>
              </a:rPr>
              <a:t> Java</a:t>
            </a:r>
            <a:endParaRPr sz="2800" b="1" dirty="0">
              <a:latin typeface="Times New Roman"/>
              <a:ea typeface="Times New Roman"/>
              <a:cs typeface="Times New Roman"/>
              <a:sym typeface="Times New Roman"/>
            </a:endParaRPr>
          </a:p>
        </p:txBody>
      </p:sp>
      <p:sp>
        <p:nvSpPr>
          <p:cNvPr id="110" name="Google Shape;110;p19"/>
          <p:cNvSpPr txBox="1">
            <a:spLocks noGrp="1"/>
          </p:cNvSpPr>
          <p:nvPr>
            <p:ph type="body" idx="1"/>
          </p:nvPr>
        </p:nvSpPr>
        <p:spPr>
          <a:xfrm>
            <a:off x="838200" y="1613043"/>
            <a:ext cx="10515600" cy="456392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phương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thức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được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báo</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abstract </a:t>
            </a:r>
            <a:r>
              <a:rPr lang="en-US" sz="2400" dirty="0" err="1">
                <a:latin typeface="Times New Roman"/>
                <a:ea typeface="Times New Roman"/>
                <a:cs typeface="Times New Roman"/>
                <a:sym typeface="Times New Roman"/>
              </a:rPr>
              <a:t>và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trình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triển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thì</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phương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thức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trừu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(abstract method).</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Nếu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bạn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muốn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chứa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phương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thức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cụ</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nhưng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bạn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muốn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triển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thực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sự</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phương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thức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được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quyết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định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bởi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con, </a:t>
            </a:r>
            <a:r>
              <a:rPr lang="en-US" sz="2400" dirty="0" err="1">
                <a:latin typeface="Times New Roman"/>
                <a:ea typeface="Times New Roman"/>
                <a:cs typeface="Times New Roman"/>
                <a:sym typeface="Times New Roman"/>
              </a:rPr>
              <a:t>thì</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bạn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báo</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phương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thức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trong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cha ở </a:t>
            </a:r>
            <a:r>
              <a:rPr lang="en-US" sz="2400" dirty="0" err="1">
                <a:latin typeface="Times New Roman"/>
                <a:ea typeface="Times New Roman"/>
                <a:cs typeface="Times New Roman"/>
                <a:sym typeface="Times New Roman"/>
              </a:rPr>
              <a:t>dạng</a:t>
            </a:r>
            <a:r>
              <a:rPr lang="en-US" sz="2400" dirty="0">
                <a:latin typeface="Times New Roman"/>
                <a:ea typeface="Times New Roman"/>
                <a:cs typeface="Times New Roman"/>
                <a:sym typeface="Times New Roman"/>
              </a:rPr>
              <a:t> abstract.</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Từ</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khóa</a:t>
            </a:r>
            <a:r>
              <a:rPr lang="en-US" sz="2400" dirty="0">
                <a:latin typeface="Times New Roman"/>
                <a:ea typeface="Times New Roman"/>
                <a:cs typeface="Times New Roman"/>
                <a:sym typeface="Times New Roman"/>
              </a:rPr>
              <a:t> abstract </a:t>
            </a:r>
            <a:r>
              <a:rPr lang="en-US" sz="2400" dirty="0" err="1">
                <a:latin typeface="Times New Roman"/>
                <a:ea typeface="Times New Roman"/>
                <a:cs typeface="Times New Roman"/>
                <a:sym typeface="Times New Roman"/>
              </a:rPr>
              <a:t>được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sử</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dụng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báo</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phương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thức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dạng</a:t>
            </a:r>
            <a:r>
              <a:rPr lang="en-US" sz="2400" dirty="0">
                <a:latin typeface="Times New Roman"/>
                <a:ea typeface="Times New Roman"/>
                <a:cs typeface="Times New Roman"/>
                <a:sym typeface="Times New Roman"/>
              </a:rPr>
              <a:t> abstract. </a:t>
            </a:r>
            <a:r>
              <a:rPr lang="en-US" sz="2400" dirty="0" err="1">
                <a:latin typeface="Times New Roman"/>
                <a:ea typeface="Times New Roman"/>
                <a:cs typeface="Times New Roman"/>
                <a:sym typeface="Times New Roman"/>
              </a:rPr>
              <a:t>Phương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thức</a:t>
            </a:r>
            <a:r>
              <a:rPr lang="en-US" sz="2400" dirty="0">
                <a:latin typeface="Times New Roman"/>
                <a:ea typeface="Times New Roman"/>
                <a:cs typeface="Times New Roman"/>
                <a:sym typeface="Times New Roman"/>
              </a:rPr>
              <a:t> abstract </a:t>
            </a:r>
            <a:r>
              <a:rPr lang="en-US" sz="2400" dirty="0" err="1">
                <a:latin typeface="Times New Roman"/>
                <a:ea typeface="Times New Roman"/>
                <a:cs typeface="Times New Roman"/>
                <a:sym typeface="Times New Roman"/>
              </a:rPr>
              <a:t>sẽ</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định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nghĩa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được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theo</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sau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bởi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dấu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chấm</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phẩy</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dấu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ngoặc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nhọn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theo</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sau</a:t>
            </a:r>
            <a:r>
              <a:rPr lang="en-US" sz="2400" dirty="0">
                <a:latin typeface="Times New Roman"/>
                <a:ea typeface="Times New Roman"/>
                <a:cs typeface="Times New Roman"/>
                <a:sym typeface="Times New Roman"/>
              </a:rPr>
              <a:t>.</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Cú</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pháp</a:t>
            </a:r>
            <a:r>
              <a:rPr lang="en-US" sz="2400" dirty="0">
                <a:latin typeface="Times New Roman"/>
                <a:ea typeface="Times New Roman"/>
                <a:cs typeface="Times New Roman"/>
                <a:sym typeface="Times New Roman"/>
              </a:rPr>
              <a:t>: </a:t>
            </a:r>
            <a:endParaRPr dirty="0"/>
          </a:p>
          <a:p>
            <a:pPr marL="457200" lvl="0" indent="-228600" algn="l" rtl="0">
              <a:lnSpc>
                <a:spcPct val="90000"/>
              </a:lnSpc>
              <a:spcBef>
                <a:spcPts val="1000"/>
              </a:spcBef>
              <a:spcAft>
                <a:spcPts val="0"/>
              </a:spcAft>
              <a:buClr>
                <a:schemeClr val="dk1"/>
              </a:buClr>
              <a:buSzPts val="1800"/>
              <a:buNone/>
            </a:pPr>
            <a:endParaRPr sz="2400" dirty="0">
              <a:latin typeface="Times New Roman"/>
              <a:ea typeface="Times New Roman"/>
              <a:cs typeface="Times New Roman"/>
              <a:sym typeface="Times New Roman"/>
            </a:endParaRPr>
          </a:p>
        </p:txBody>
      </p:sp>
      <p:sp>
        <p:nvSpPr>
          <p:cNvPr id="111" name="Google Shape;111;p19"/>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112" name="Google Shape;112;p19"/>
          <p:cNvPicPr preferRelativeResize="0"/>
          <p:nvPr/>
        </p:nvPicPr>
        <p:blipFill rotWithShape="1">
          <a:blip r:embed="rId5">
            <a:alphaModFix/>
          </a:blip>
          <a:srcRect/>
          <a:stretch/>
        </p:blipFill>
        <p:spPr>
          <a:xfrm>
            <a:off x="2712635" y="4855779"/>
            <a:ext cx="7782735" cy="66046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pic>
        <p:nvPicPr>
          <p:cNvPr id="117" name="Google Shape;117;p20"/>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8" name="Google Shape;118;p20"/>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119" name="Google Shape;119;p20"/>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b="1">
                <a:latin typeface="Times New Roman"/>
                <a:ea typeface="Times New Roman"/>
                <a:cs typeface="Times New Roman"/>
                <a:sym typeface="Times New Roman"/>
              </a:rPr>
              <a:t>Ví dụ về lớp và phương thức trìu tượng</a:t>
            </a:r>
            <a:endParaRPr sz="2800" b="1">
              <a:latin typeface="Times New Roman"/>
              <a:ea typeface="Times New Roman"/>
              <a:cs typeface="Times New Roman"/>
              <a:sym typeface="Times New Roman"/>
            </a:endParaRPr>
          </a:p>
        </p:txBody>
      </p:sp>
      <p:sp>
        <p:nvSpPr>
          <p:cNvPr id="120" name="Google Shape;120;p20"/>
          <p:cNvSpPr txBox="1">
            <a:spLocks noGrp="1"/>
          </p:cNvSpPr>
          <p:nvPr>
            <p:ph type="body" idx="1"/>
          </p:nvPr>
        </p:nvSpPr>
        <p:spPr>
          <a:xfrm>
            <a:off x="838200" y="1613043"/>
            <a:ext cx="10515600" cy="456392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Ví dụ: </a:t>
            </a:r>
            <a:endParaRPr/>
          </a:p>
          <a:p>
            <a:pPr marL="914400" lvl="1" indent="-342900" algn="l" rtl="0">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 Viết chương trình vẽ một hình bất kỳ với màu đỏ, sao cho cách sử dụng là giống nhau, bất kể đó là hình gì.</a:t>
            </a:r>
            <a:endParaRPr/>
          </a:p>
          <a:p>
            <a:pPr marL="914400" lvl="1" indent="-342900" algn="l" rtl="0">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Hình đó có thể là hình chữ nhật (rectangle), hình tròn (circle), tam giác (triangle), đường (line), …</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Với yêu cầu trên chúng ta tạo một lớp trìu tượng Shape</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Lớp này cung cấp phương thức trìu tượng draw. Phương thức này đảm bảo tất cả các đối tượng là các hình khi kế thừa lớp abstract Shape sẽ đều phải có các sử dụng là “draw”</a:t>
            </a:r>
            <a:endParaRPr/>
          </a:p>
          <a:p>
            <a:pPr marL="457200" lvl="0" indent="-228600" algn="l" rtl="0">
              <a:lnSpc>
                <a:spcPct val="90000"/>
              </a:lnSpc>
              <a:spcBef>
                <a:spcPts val="1000"/>
              </a:spcBef>
              <a:spcAft>
                <a:spcPts val="0"/>
              </a:spcAft>
              <a:buClr>
                <a:schemeClr val="dk1"/>
              </a:buClr>
              <a:buSzPts val="1800"/>
              <a:buNone/>
            </a:pPr>
            <a:endParaRPr sz="2400">
              <a:latin typeface="Times New Roman"/>
              <a:ea typeface="Times New Roman"/>
              <a:cs typeface="Times New Roman"/>
              <a:sym typeface="Times New Roman"/>
            </a:endParaRPr>
          </a:p>
        </p:txBody>
      </p:sp>
      <p:sp>
        <p:nvSpPr>
          <p:cNvPr id="121" name="Google Shape;121;p20"/>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pic>
        <p:nvPicPr>
          <p:cNvPr id="126" name="Google Shape;126;p21"/>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27" name="Google Shape;127;p21"/>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128" name="Google Shape;128;p21"/>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b="1">
                <a:latin typeface="Times New Roman"/>
                <a:ea typeface="Times New Roman"/>
                <a:cs typeface="Times New Roman"/>
                <a:sym typeface="Times New Roman"/>
              </a:rPr>
              <a:t>Ví dụ về lớp và phương thức trìu tượng</a:t>
            </a:r>
            <a:endParaRPr sz="2800" b="1">
              <a:latin typeface="Times New Roman"/>
              <a:ea typeface="Times New Roman"/>
              <a:cs typeface="Times New Roman"/>
              <a:sym typeface="Times New Roman"/>
            </a:endParaRPr>
          </a:p>
        </p:txBody>
      </p:sp>
      <p:sp>
        <p:nvSpPr>
          <p:cNvPr id="129" name="Google Shape;129;p21"/>
          <p:cNvSpPr txBox="1">
            <a:spLocks noGrp="1"/>
          </p:cNvSpPr>
          <p:nvPr>
            <p:ph type="body" idx="1"/>
          </p:nvPr>
        </p:nvSpPr>
        <p:spPr>
          <a:xfrm>
            <a:off x="838200" y="1613043"/>
            <a:ext cx="10515600" cy="2599728"/>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Cung cấp phương thức getColor để cung cấp màu sử dụng cho tất cả các hình</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Tạo hai lớp là Rectangle và Circle kế thừa từ lớp abstract Shape</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Hai lớp này bắt buộc phải implement lại phương thức draw, có thể có cách sử lý giống hoặc khác nhau</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Cuối cùng tạo class ShapeApp gọi tới phương thức draw để vẽ hình </a:t>
            </a:r>
            <a:endParaRPr/>
          </a:p>
          <a:p>
            <a:pPr marL="457200" lvl="0" indent="-228600" algn="l" rtl="0">
              <a:lnSpc>
                <a:spcPct val="90000"/>
              </a:lnSpc>
              <a:spcBef>
                <a:spcPts val="1000"/>
              </a:spcBef>
              <a:spcAft>
                <a:spcPts val="0"/>
              </a:spcAft>
              <a:buClr>
                <a:schemeClr val="dk1"/>
              </a:buClr>
              <a:buSzPts val="1800"/>
              <a:buNone/>
            </a:pPr>
            <a:endParaRPr sz="2400">
              <a:latin typeface="Times New Roman"/>
              <a:ea typeface="Times New Roman"/>
              <a:cs typeface="Times New Roman"/>
              <a:sym typeface="Times New Roman"/>
            </a:endParaRPr>
          </a:p>
        </p:txBody>
      </p:sp>
      <p:sp>
        <p:nvSpPr>
          <p:cNvPr id="130" name="Google Shape;130;p21"/>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pic>
        <p:nvPicPr>
          <p:cNvPr id="135" name="Google Shape;135;p2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6" name="Google Shape;136;p2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137" name="Google Shape;137;p22"/>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a:latin typeface="Times New Roman"/>
                <a:ea typeface="Times New Roman"/>
                <a:cs typeface="Times New Roman"/>
                <a:sym typeface="Times New Roman"/>
              </a:rPr>
              <a:t>Ví dụ về lớp và phương thức trìu tượng</a:t>
            </a:r>
            <a:endParaRPr sz="2800">
              <a:latin typeface="Times New Roman"/>
              <a:ea typeface="Times New Roman"/>
              <a:cs typeface="Times New Roman"/>
              <a:sym typeface="Times New Roman"/>
            </a:endParaRPr>
          </a:p>
        </p:txBody>
      </p:sp>
      <p:sp>
        <p:nvSpPr>
          <p:cNvPr id="138" name="Google Shape;138;p22"/>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139" name="Google Shape;139;p22"/>
          <p:cNvPicPr preferRelativeResize="0"/>
          <p:nvPr/>
        </p:nvPicPr>
        <p:blipFill rotWithShape="1">
          <a:blip r:embed="rId5">
            <a:alphaModFix/>
          </a:blip>
          <a:srcRect/>
          <a:stretch/>
        </p:blipFill>
        <p:spPr>
          <a:xfrm>
            <a:off x="1437528" y="1458918"/>
            <a:ext cx="9316925" cy="4794725"/>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pic>
        <p:nvPicPr>
          <p:cNvPr id="144" name="Google Shape;144;p23"/>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45" name="Google Shape;145;p23"/>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146" name="Google Shape;146;p23"/>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b="1">
                <a:latin typeface="Times New Roman"/>
                <a:ea typeface="Times New Roman"/>
                <a:cs typeface="Times New Roman"/>
                <a:sym typeface="Times New Roman"/>
              </a:rPr>
              <a:t>Lưu ý</a:t>
            </a:r>
            <a:endParaRPr sz="2800" b="1">
              <a:latin typeface="Times New Roman"/>
              <a:ea typeface="Times New Roman"/>
              <a:cs typeface="Times New Roman"/>
              <a:sym typeface="Times New Roman"/>
            </a:endParaRPr>
          </a:p>
        </p:txBody>
      </p:sp>
      <p:sp>
        <p:nvSpPr>
          <p:cNvPr id="147" name="Google Shape;147;p23"/>
          <p:cNvSpPr txBox="1">
            <a:spLocks noGrp="1"/>
          </p:cNvSpPr>
          <p:nvPr>
            <p:ph type="body" idx="1"/>
          </p:nvPr>
        </p:nvSpPr>
        <p:spPr>
          <a:xfrm>
            <a:off x="838200" y="1613043"/>
            <a:ext cx="10515600" cy="1962914"/>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Lớp con bắt buộc phải cài đặt (implement) tất cả các phương thức trừu tượng của lớp cha nếu không sẽ có thông báo lỗi</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Không thể khởi tạo trực tiếp một lớp trừu tượng</a:t>
            </a:r>
            <a:endParaRPr/>
          </a:p>
          <a:p>
            <a:pPr marL="457200" lvl="0" indent="-228600" algn="l" rtl="0">
              <a:lnSpc>
                <a:spcPct val="90000"/>
              </a:lnSpc>
              <a:spcBef>
                <a:spcPts val="1000"/>
              </a:spcBef>
              <a:spcAft>
                <a:spcPts val="0"/>
              </a:spcAft>
              <a:buClr>
                <a:schemeClr val="dk1"/>
              </a:buClr>
              <a:buSzPts val="1800"/>
              <a:buNone/>
            </a:pPr>
            <a:endParaRPr sz="2400">
              <a:latin typeface="Times New Roman"/>
              <a:ea typeface="Times New Roman"/>
              <a:cs typeface="Times New Roman"/>
              <a:sym typeface="Times New Roman"/>
            </a:endParaRPr>
          </a:p>
        </p:txBody>
      </p:sp>
      <p:sp>
        <p:nvSpPr>
          <p:cNvPr id="148" name="Google Shape;148;p23"/>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pic>
        <p:nvPicPr>
          <p:cNvPr id="153" name="Google Shape;153;p24"/>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4" name="Google Shape;154;p24"/>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155" name="Google Shape;155;p24"/>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b="1">
                <a:latin typeface="Times New Roman"/>
                <a:ea typeface="Times New Roman"/>
                <a:cs typeface="Times New Roman"/>
                <a:sym typeface="Times New Roman"/>
              </a:rPr>
              <a:t>3) Interface trong Java</a:t>
            </a:r>
            <a:endParaRPr/>
          </a:p>
        </p:txBody>
      </p:sp>
      <p:sp>
        <p:nvSpPr>
          <p:cNvPr id="156" name="Google Shape;156;p24"/>
          <p:cNvSpPr txBox="1">
            <a:spLocks noGrp="1"/>
          </p:cNvSpPr>
          <p:nvPr>
            <p:ph type="body" idx="1"/>
          </p:nvPr>
        </p:nvSpPr>
        <p:spPr>
          <a:xfrm>
            <a:off x="838200" y="1613043"/>
            <a:ext cx="10515600" cy="456392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Cú</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pháp</a:t>
            </a:r>
            <a:r>
              <a:rPr lang="en-US" sz="2400" dirty="0">
                <a:latin typeface="Times New Roman"/>
                <a:ea typeface="Times New Roman"/>
                <a:cs typeface="Times New Roman"/>
                <a:sym typeface="Times New Roman"/>
              </a:rPr>
              <a:t>: </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Đặc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điểm</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của</a:t>
            </a:r>
            <a:r>
              <a:rPr lang="en-US" sz="2400" dirty="0">
                <a:latin typeface="Times New Roman"/>
                <a:ea typeface="Times New Roman"/>
                <a:cs typeface="Times New Roman"/>
                <a:sym typeface="Times New Roman"/>
              </a:rPr>
              <a:t> Interface</a:t>
            </a:r>
            <a:endParaRPr dirty="0"/>
          </a:p>
          <a:p>
            <a:pPr marL="457200" lvl="0" indent="-342900" algn="l" rtl="0">
              <a:lnSpc>
                <a:spcPct val="90000"/>
              </a:lnSpc>
              <a:spcBef>
                <a:spcPts val="1000"/>
              </a:spcBef>
              <a:spcAft>
                <a:spcPts val="0"/>
              </a:spcAft>
              <a:buSzPts val="1800"/>
              <a:buFont typeface="Noto Sans Symbols"/>
              <a:buChar char="❑"/>
            </a:pPr>
            <a:r>
              <a:rPr lang="en-US" sz="2400" dirty="0" err="1">
                <a:latin typeface="Times New Roman"/>
                <a:ea typeface="Times New Roman"/>
                <a:cs typeface="Times New Roman"/>
                <a:sym typeface="Times New Roman"/>
              </a:rPr>
              <a:t>Các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phương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thức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trong</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đều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phương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thức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trìu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endParaRPr dirty="0"/>
          </a:p>
          <a:p>
            <a:pPr marL="457200" lvl="0" indent="-342900" algn="l" rtl="0">
              <a:lnSpc>
                <a:spcPct val="90000"/>
              </a:lnSpc>
              <a:spcBef>
                <a:spcPts val="1000"/>
              </a:spcBef>
              <a:spcAft>
                <a:spcPts val="0"/>
              </a:spcAft>
              <a:buSzPts val="1800"/>
              <a:buFont typeface="Noto Sans Symbols"/>
              <a:buChar char="❑"/>
            </a:pP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kỹ</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thuật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được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tính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trìu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hoàn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toàn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và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kế</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thừa</a:t>
            </a:r>
            <a:endParaRPr dirty="0"/>
          </a:p>
          <a:p>
            <a:pPr marL="457200" lvl="0" indent="-342900" algn="l" rtl="0">
              <a:lnSpc>
                <a:spcPct val="90000"/>
              </a:lnSpc>
              <a:spcBef>
                <a:spcPts val="1000"/>
              </a:spcBef>
              <a:spcAft>
                <a:spcPts val="0"/>
              </a:spcAft>
              <a:buSzPts val="1800"/>
              <a:buFont typeface="Noto Sans Symbols"/>
              <a:buChar char="❑"/>
            </a:pPr>
            <a:r>
              <a:rPr lang="en-US" sz="2400" dirty="0" err="1">
                <a:latin typeface="Times New Roman"/>
                <a:ea typeface="Times New Roman"/>
                <a:cs typeface="Times New Roman"/>
                <a:sym typeface="Times New Roman"/>
              </a:rPr>
              <a:t>Luôn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luôn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modifier </a:t>
            </a: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public interface, </a:t>
            </a:r>
            <a:r>
              <a:rPr lang="en-US" sz="2400" dirty="0" err="1">
                <a:latin typeface="Times New Roman"/>
                <a:ea typeface="Times New Roman"/>
                <a:cs typeface="Times New Roman"/>
                <a:sym typeface="Times New Roman"/>
              </a:rPr>
              <a:t>dù</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báo</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rõ</a:t>
            </a:r>
            <a:r>
              <a:rPr lang="en-US" sz="2400" dirty="0">
                <a:latin typeface="Times New Roman"/>
                <a:ea typeface="Times New Roman"/>
                <a:cs typeface="Times New Roman"/>
                <a:sym typeface="Times New Roman"/>
              </a:rPr>
              <a:t> hay </a:t>
            </a:r>
            <a:r>
              <a:rPr lang="en-US" sz="2400" dirty="0" err="1">
                <a:latin typeface="Times New Roman"/>
                <a:ea typeface="Times New Roman"/>
                <a:cs typeface="Times New Roman"/>
                <a:sym typeface="Times New Roman"/>
              </a:rPr>
              <a:t>không</a:t>
            </a:r>
            <a:endParaRPr dirty="0"/>
          </a:p>
          <a:p>
            <a:pPr marL="457200" lvl="0" indent="-342900" algn="l" rtl="0">
              <a:lnSpc>
                <a:spcPct val="90000"/>
              </a:lnSpc>
              <a:spcBef>
                <a:spcPts val="1000"/>
              </a:spcBef>
              <a:spcAft>
                <a:spcPts val="0"/>
              </a:spcAft>
              <a:buSzPts val="1800"/>
              <a:buFont typeface="Noto Sans Symbols"/>
              <a:buChar char="❑"/>
            </a:pPr>
            <a:r>
              <a:rPr lang="en-US" sz="2400" dirty="0" err="1">
                <a:latin typeface="Times New Roman"/>
                <a:ea typeface="Times New Roman"/>
                <a:cs typeface="Times New Roman"/>
                <a:sym typeface="Times New Roman"/>
              </a:rPr>
              <a:t>Các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thuộc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tính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luôn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public static final </a:t>
            </a:r>
            <a:r>
              <a:rPr lang="en-US" sz="2400" dirty="0" err="1">
                <a:latin typeface="Times New Roman"/>
                <a:ea typeface="Times New Roman"/>
                <a:cs typeface="Times New Roman"/>
                <a:sym typeface="Times New Roman"/>
              </a:rPr>
              <a:t>dù</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báo</a:t>
            </a:r>
            <a:r>
              <a:rPr lang="en-US" sz="2400" dirty="0">
                <a:latin typeface="Times New Roman"/>
                <a:ea typeface="Times New Roman"/>
                <a:cs typeface="Times New Roman"/>
                <a:sym typeface="Times New Roman"/>
              </a:rPr>
              <a:t> hay </a:t>
            </a: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 </a:t>
            </a:r>
            <a:endParaRPr dirty="0"/>
          </a:p>
          <a:p>
            <a:pPr marL="457200" lvl="0" indent="-342900" algn="l" rtl="0">
              <a:lnSpc>
                <a:spcPct val="90000"/>
              </a:lnSpc>
              <a:spcBef>
                <a:spcPts val="1000"/>
              </a:spcBef>
              <a:spcAft>
                <a:spcPts val="0"/>
              </a:spcAft>
              <a:buSzPts val="1800"/>
              <a:buFont typeface="Noto Sans Symbols"/>
              <a:buChar char="❑"/>
            </a:pPr>
            <a:r>
              <a:rPr lang="en-US" sz="2400" dirty="0" err="1">
                <a:latin typeface="Times New Roman"/>
                <a:ea typeface="Times New Roman"/>
                <a:cs typeface="Times New Roman"/>
                <a:sym typeface="Times New Roman"/>
              </a:rPr>
              <a:t>Các</a:t>
            </a:r>
            <a:r>
              <a:rPr lang="en-US" sz="2400" dirty="0">
                <a:latin typeface="Times New Roman"/>
                <a:ea typeface="Times New Roman"/>
                <a:cs typeface="Times New Roman"/>
                <a:sym typeface="Times New Roman"/>
              </a:rPr>
              <a:t> method </a:t>
            </a:r>
            <a:r>
              <a:rPr lang="en-US" sz="2400" dirty="0" err="1">
                <a:latin typeface="Times New Roman"/>
                <a:ea typeface="Times New Roman"/>
                <a:cs typeface="Times New Roman"/>
                <a:sym typeface="Times New Roman"/>
              </a:rPr>
              <a:t>của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đều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method </a:t>
            </a:r>
            <a:r>
              <a:rPr lang="en-US" sz="2400" dirty="0" err="1">
                <a:latin typeface="Times New Roman"/>
                <a:ea typeface="Times New Roman"/>
                <a:cs typeface="Times New Roman"/>
                <a:sym typeface="Times New Roman"/>
              </a:rPr>
              <a:t>trừu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nghĩa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thân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hàm</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và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đều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modifier </a:t>
            </a: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public abstract, </a:t>
            </a:r>
            <a:r>
              <a:rPr lang="en-US" sz="2400" dirty="0" err="1">
                <a:latin typeface="Times New Roman"/>
                <a:ea typeface="Times New Roman"/>
                <a:cs typeface="Times New Roman"/>
                <a:sym typeface="Times New Roman"/>
              </a:rPr>
              <a:t>cho</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dù</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bạn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báo</a:t>
            </a:r>
            <a:r>
              <a:rPr lang="en-US" sz="2400" dirty="0">
                <a:latin typeface="Times New Roman"/>
                <a:ea typeface="Times New Roman"/>
                <a:cs typeface="Times New Roman"/>
                <a:sym typeface="Times New Roman"/>
              </a:rPr>
              <a:t> hay </a:t>
            </a: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a:t>
            </a:r>
            <a:endParaRPr dirty="0"/>
          </a:p>
          <a:p>
            <a:pPr marL="457200" lvl="0" indent="-228600" algn="l" rtl="0">
              <a:lnSpc>
                <a:spcPct val="90000"/>
              </a:lnSpc>
              <a:spcBef>
                <a:spcPts val="1000"/>
              </a:spcBef>
              <a:spcAft>
                <a:spcPts val="0"/>
              </a:spcAft>
              <a:buClr>
                <a:schemeClr val="dk1"/>
              </a:buClr>
              <a:buSzPts val="1800"/>
              <a:buNone/>
            </a:pPr>
            <a:endParaRPr sz="2400" dirty="0">
              <a:latin typeface="Times New Roman"/>
              <a:ea typeface="Times New Roman"/>
              <a:cs typeface="Times New Roman"/>
              <a:sym typeface="Times New Roman"/>
            </a:endParaRPr>
          </a:p>
        </p:txBody>
      </p:sp>
      <p:sp>
        <p:nvSpPr>
          <p:cNvPr id="157" name="Google Shape;157;p24"/>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158" name="Google Shape;158;p24"/>
          <p:cNvPicPr preferRelativeResize="0"/>
          <p:nvPr/>
        </p:nvPicPr>
        <p:blipFill rotWithShape="1">
          <a:blip r:embed="rId5">
            <a:alphaModFix/>
          </a:blip>
          <a:srcRect/>
          <a:stretch/>
        </p:blipFill>
        <p:spPr>
          <a:xfrm>
            <a:off x="4611405" y="1297131"/>
            <a:ext cx="3835177" cy="1229394"/>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pic>
        <p:nvPicPr>
          <p:cNvPr id="163" name="Google Shape;163;p25"/>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64" name="Google Shape;164;p25"/>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165" name="Google Shape;165;p25"/>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b="1">
                <a:latin typeface="Times New Roman"/>
                <a:ea typeface="Times New Roman"/>
                <a:cs typeface="Times New Roman"/>
                <a:sym typeface="Times New Roman"/>
              </a:rPr>
              <a:t>Đặc điểm của Interface</a:t>
            </a:r>
            <a:endParaRPr/>
          </a:p>
        </p:txBody>
      </p:sp>
      <p:sp>
        <p:nvSpPr>
          <p:cNvPr id="166" name="Google Shape;166;p25"/>
          <p:cNvSpPr txBox="1">
            <a:spLocks noGrp="1"/>
          </p:cNvSpPr>
          <p:nvPr>
            <p:ph type="body" idx="1"/>
          </p:nvPr>
        </p:nvSpPr>
        <p:spPr>
          <a:xfrm>
            <a:off x="838200" y="1613043"/>
            <a:ext cx="10515600" cy="456392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dirty="0">
                <a:latin typeface="Times New Roman"/>
                <a:ea typeface="Times New Roman"/>
                <a:cs typeface="Times New Roman"/>
                <a:sym typeface="Times New Roman"/>
              </a:rPr>
              <a:t>Interface </a:t>
            </a: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hàm</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khởi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tạo</a:t>
            </a:r>
            <a:r>
              <a:rPr lang="en-US" sz="2400" dirty="0">
                <a:latin typeface="Times New Roman"/>
                <a:ea typeface="Times New Roman"/>
                <a:cs typeface="Times New Roman"/>
                <a:sym typeface="Times New Roman"/>
              </a:rPr>
              <a:t> (constructor).</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phải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Viết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giống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như</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viết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nhưng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chúng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2 </a:t>
            </a:r>
            <a:r>
              <a:rPr lang="en-US" sz="2400" dirty="0" err="1">
                <a:latin typeface="Times New Roman"/>
                <a:ea typeface="Times New Roman"/>
                <a:cs typeface="Times New Roman"/>
                <a:sym typeface="Times New Roman"/>
              </a:rPr>
              <a:t>định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nghĩa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nhau</a:t>
            </a:r>
            <a:r>
              <a:rPr lang="en-US" sz="2400" dirty="0">
                <a:latin typeface="Times New Roman"/>
                <a:ea typeface="Times New Roman"/>
                <a:cs typeface="Times New Roman"/>
                <a:sym typeface="Times New Roman"/>
              </a:rPr>
              <a:t>. </a:t>
            </a:r>
            <a:endParaRPr dirty="0"/>
          </a:p>
          <a:p>
            <a:pPr marL="914400" lvl="1" indent="-342900" algn="l" rtl="0">
              <a:lnSpc>
                <a:spcPct val="90000"/>
              </a:lnSpc>
              <a:spcBef>
                <a:spcPts val="500"/>
              </a:spcBef>
              <a:spcAft>
                <a:spcPts val="0"/>
              </a:spcAft>
              <a:buSzPts val="1800"/>
              <a:buChar char="•"/>
            </a:pPr>
            <a:r>
              <a:rPr lang="en-US" sz="2000" dirty="0" err="1">
                <a:latin typeface="Times New Roman"/>
                <a:ea typeface="Times New Roman"/>
                <a:cs typeface="Times New Roman"/>
                <a:sym typeface="Times New Roman"/>
              </a:rPr>
              <a:t>Một</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lớp</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mô</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tả</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các</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thuộc</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tính</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và</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hành</a:t>
            </a:r>
            <a:r>
              <a:rPr lang="en-US" sz="2000" dirty="0">
                <a:latin typeface="Times New Roman"/>
                <a:ea typeface="Times New Roman"/>
                <a:cs typeface="Times New Roman"/>
                <a:sym typeface="Times New Roman"/>
              </a:rPr>
              <a:t> vi </a:t>
            </a:r>
            <a:r>
              <a:rPr lang="en-US" sz="2000" dirty="0" err="1">
                <a:latin typeface="Times New Roman"/>
                <a:ea typeface="Times New Roman"/>
                <a:cs typeface="Times New Roman"/>
                <a:sym typeface="Times New Roman"/>
              </a:rPr>
              <a:t>của</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một</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đối</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tượng</a:t>
            </a:r>
            <a:r>
              <a:rPr lang="en-US" sz="2000" dirty="0">
                <a:latin typeface="Times New Roman"/>
                <a:ea typeface="Times New Roman"/>
                <a:cs typeface="Times New Roman"/>
                <a:sym typeface="Times New Roman"/>
              </a:rPr>
              <a:t>. </a:t>
            </a:r>
            <a:endParaRPr dirty="0"/>
          </a:p>
          <a:p>
            <a:pPr marL="914400" lvl="1" indent="-342900" algn="l" rtl="0">
              <a:lnSpc>
                <a:spcPct val="90000"/>
              </a:lnSpc>
              <a:spcBef>
                <a:spcPts val="500"/>
              </a:spcBef>
              <a:spcAft>
                <a:spcPts val="0"/>
              </a:spcAft>
              <a:buSzPts val="1800"/>
              <a:buChar char="•"/>
            </a:pPr>
            <a:r>
              <a:rPr lang="en-US" sz="2000" dirty="0" err="1">
                <a:latin typeface="Times New Roman"/>
                <a:ea typeface="Times New Roman"/>
                <a:cs typeface="Times New Roman"/>
                <a:sym typeface="Times New Roman"/>
              </a:rPr>
              <a:t>Một</a:t>
            </a:r>
            <a:r>
              <a:rPr lang="en-US" sz="2000" dirty="0">
                <a:latin typeface="Times New Roman"/>
                <a:ea typeface="Times New Roman"/>
                <a:cs typeface="Times New Roman"/>
                <a:sym typeface="Times New Roman"/>
              </a:rPr>
              <a:t> interface </a:t>
            </a:r>
            <a:r>
              <a:rPr lang="en-US" sz="2000" dirty="0" err="1">
                <a:latin typeface="Times New Roman"/>
                <a:ea typeface="Times New Roman"/>
                <a:cs typeface="Times New Roman"/>
                <a:sym typeface="Times New Roman"/>
              </a:rPr>
              <a:t>chứa</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các</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hành</a:t>
            </a:r>
            <a:r>
              <a:rPr lang="en-US" sz="2000" dirty="0">
                <a:latin typeface="Times New Roman"/>
                <a:ea typeface="Times New Roman"/>
                <a:cs typeface="Times New Roman"/>
                <a:sym typeface="Times New Roman"/>
              </a:rPr>
              <a:t> vi </a:t>
            </a:r>
            <a:r>
              <a:rPr lang="en-US" sz="2000" dirty="0" err="1">
                <a:latin typeface="Times New Roman"/>
                <a:ea typeface="Times New Roman"/>
                <a:cs typeface="Times New Roman"/>
                <a:sym typeface="Times New Roman"/>
              </a:rPr>
              <a:t>mà</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một</a:t>
            </a:r>
            <a:r>
              <a:rPr lang="en-US" sz="2000" dirty="0">
                <a:latin typeface="Times New Roman"/>
                <a:ea typeface="Times New Roman"/>
                <a:cs typeface="Times New Roman"/>
                <a:sym typeface="Times New Roman"/>
              </a:rPr>
              <a:t> class </a:t>
            </a:r>
            <a:r>
              <a:rPr lang="en-US" sz="2000" dirty="0" err="1">
                <a:latin typeface="Times New Roman"/>
                <a:ea typeface="Times New Roman"/>
                <a:cs typeface="Times New Roman"/>
                <a:sym typeface="Times New Roman"/>
              </a:rPr>
              <a:t>triển</a:t>
            </a:r>
            <a:r>
              <a:rPr lang="en-US" sz="2000" dirty="0">
                <a:latin typeface="Times New Roman"/>
                <a:ea typeface="Times New Roman"/>
                <a:cs typeface="Times New Roman"/>
                <a:sym typeface="Times New Roman"/>
              </a:rPr>
              <a:t> </a:t>
            </a:r>
            <a:r>
              <a:rPr lang="en-US" sz="2000" dirty="0" err="1">
                <a:latin typeface="Times New Roman"/>
                <a:ea typeface="Times New Roman"/>
                <a:cs typeface="Times New Roman"/>
                <a:sym typeface="Times New Roman"/>
              </a:rPr>
              <a:t>khai</a:t>
            </a:r>
            <a:r>
              <a:rPr lang="en-US" sz="2000" dirty="0">
                <a:latin typeface="Times New Roman"/>
                <a:ea typeface="Times New Roman"/>
                <a:cs typeface="Times New Roman"/>
                <a:sym typeface="Times New Roman"/>
              </a:rPr>
              <a:t>.</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Trừ</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triển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trừu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abstract, </a:t>
            </a:r>
            <a:r>
              <a:rPr lang="en-US" sz="2400" dirty="0" err="1">
                <a:latin typeface="Times New Roman"/>
                <a:ea typeface="Times New Roman"/>
                <a:cs typeface="Times New Roman"/>
                <a:sym typeface="Times New Roman"/>
              </a:rPr>
              <a:t>còn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lại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tất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cả</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phương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thức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của</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cần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được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định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nghĩa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trong</a:t>
            </a:r>
            <a:r>
              <a:rPr lang="en-US" sz="2400" dirty="0">
                <a:latin typeface="Times New Roman"/>
                <a:ea typeface="Times New Roman"/>
                <a:cs typeface="Times New Roman"/>
                <a:sym typeface="Times New Roman"/>
              </a:rPr>
              <a:t> class.</a:t>
            </a:r>
            <a:endParaRPr dirty="0"/>
          </a:p>
          <a:p>
            <a:pPr marL="457200" lvl="0" indent="-342900" algn="l" rtl="0">
              <a:lnSpc>
                <a:spcPct val="90000"/>
              </a:lnSpc>
              <a:spcBef>
                <a:spcPts val="1000"/>
              </a:spcBef>
              <a:spcAft>
                <a:spcPts val="0"/>
              </a:spcAft>
              <a:buClr>
                <a:schemeClr val="dk1"/>
              </a:buClr>
              <a:buSzPts val="1800"/>
              <a:buChar char="•"/>
            </a:pPr>
            <a:r>
              <a:rPr lang="en-US" sz="2400" dirty="0">
                <a:latin typeface="Times New Roman"/>
                <a:ea typeface="Times New Roman"/>
                <a:cs typeface="Times New Roman"/>
                <a:sym typeface="Times New Roman"/>
              </a:rPr>
              <a:t>Java Compiler </a:t>
            </a:r>
            <a:r>
              <a:rPr lang="en-US" sz="2400" dirty="0" err="1">
                <a:latin typeface="Times New Roman"/>
                <a:ea typeface="Times New Roman"/>
                <a:cs typeface="Times New Roman"/>
                <a:sym typeface="Times New Roman"/>
              </a:rPr>
              <a:t>thêm</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từ</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khóa</a:t>
            </a:r>
            <a:r>
              <a:rPr lang="en-US" sz="2400" dirty="0">
                <a:latin typeface="Times New Roman"/>
                <a:ea typeface="Times New Roman"/>
                <a:cs typeface="Times New Roman"/>
                <a:sym typeface="Times New Roman"/>
              </a:rPr>
              <a:t> public abstract </a:t>
            </a:r>
            <a:r>
              <a:rPr lang="en-US" sz="2400" dirty="0" err="1">
                <a:latin typeface="Times New Roman"/>
                <a:ea typeface="Times New Roman"/>
                <a:cs typeface="Times New Roman"/>
                <a:sym typeface="Times New Roman"/>
              </a:rPr>
              <a:t>trước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phương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thức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của</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và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từ</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khóa</a:t>
            </a:r>
            <a:r>
              <a:rPr lang="en-US" sz="2400" dirty="0">
                <a:latin typeface="Times New Roman"/>
                <a:ea typeface="Times New Roman"/>
                <a:cs typeface="Times New Roman"/>
                <a:sym typeface="Times New Roman"/>
              </a:rPr>
              <a:t> public static final </a:t>
            </a:r>
            <a:r>
              <a:rPr lang="en-US" sz="2400" dirty="0" err="1">
                <a:latin typeface="Times New Roman"/>
                <a:ea typeface="Times New Roman"/>
                <a:cs typeface="Times New Roman"/>
                <a:sym typeface="Times New Roman"/>
              </a:rPr>
              <a:t>trước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thành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viên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dữ</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liệu</a:t>
            </a:r>
            <a:r>
              <a:rPr lang="en-US" sz="2400" dirty="0">
                <a:latin typeface="Times New Roman"/>
                <a:ea typeface="Times New Roman"/>
                <a:cs typeface="Times New Roman"/>
                <a:sym typeface="Times New Roman"/>
              </a:rPr>
              <a:t>.</a:t>
            </a:r>
            <a:endParaRPr dirty="0"/>
          </a:p>
          <a:p>
            <a:pPr marL="457200" lvl="0" indent="-228600" algn="l" rtl="0">
              <a:lnSpc>
                <a:spcPct val="90000"/>
              </a:lnSpc>
              <a:spcBef>
                <a:spcPts val="1000"/>
              </a:spcBef>
              <a:spcAft>
                <a:spcPts val="0"/>
              </a:spcAft>
              <a:buClr>
                <a:schemeClr val="dk1"/>
              </a:buClr>
              <a:buSzPts val="1800"/>
              <a:buNone/>
            </a:pPr>
            <a:endParaRPr sz="2400" dirty="0">
              <a:latin typeface="Times New Roman"/>
              <a:ea typeface="Times New Roman"/>
              <a:cs typeface="Times New Roman"/>
              <a:sym typeface="Times New Roman"/>
            </a:endParaRPr>
          </a:p>
        </p:txBody>
      </p:sp>
      <p:sp>
        <p:nvSpPr>
          <p:cNvPr id="167" name="Google Shape;167;p25"/>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pic>
        <p:nvPicPr>
          <p:cNvPr id="172" name="Google Shape;172;p26"/>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3" name="Google Shape;173;p26"/>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174" name="Google Shape;174;p26"/>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b="1">
                <a:latin typeface="Times New Roman"/>
                <a:ea typeface="Times New Roman"/>
                <a:cs typeface="Times New Roman"/>
                <a:sym typeface="Times New Roman"/>
              </a:rPr>
              <a:t>3.1) Các đặc điểm giống với Class của Interface</a:t>
            </a:r>
            <a:endParaRPr/>
          </a:p>
        </p:txBody>
      </p:sp>
      <p:sp>
        <p:nvSpPr>
          <p:cNvPr id="175" name="Google Shape;175;p26"/>
          <p:cNvSpPr txBox="1">
            <a:spLocks noGrp="1"/>
          </p:cNvSpPr>
          <p:nvPr>
            <p:ph type="body" idx="1"/>
          </p:nvPr>
        </p:nvSpPr>
        <p:spPr>
          <a:xfrm>
            <a:off x="838200" y="1613043"/>
            <a:ext cx="10515600" cy="456392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được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viết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trong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file </a:t>
            </a:r>
            <a:r>
              <a:rPr lang="en-US" sz="2400" dirty="0" err="1">
                <a:latin typeface="Times New Roman"/>
                <a:ea typeface="Times New Roman"/>
                <a:cs typeface="Times New Roman"/>
                <a:sym typeface="Times New Roman"/>
              </a:rPr>
              <a:t>với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định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dạng</a:t>
            </a:r>
            <a:r>
              <a:rPr lang="en-US" sz="2400" dirty="0">
                <a:latin typeface="Times New Roman"/>
                <a:ea typeface="Times New Roman"/>
                <a:cs typeface="Times New Roman"/>
                <a:sym typeface="Times New Roman"/>
              </a:rPr>
              <a:t> .java, </a:t>
            </a:r>
            <a:r>
              <a:rPr lang="en-US" sz="2400" dirty="0" err="1">
                <a:latin typeface="Times New Roman"/>
                <a:ea typeface="Times New Roman"/>
                <a:cs typeface="Times New Roman"/>
                <a:sym typeface="Times New Roman"/>
              </a:rPr>
              <a:t>với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tên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của</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giống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tên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của</a:t>
            </a:r>
            <a:r>
              <a:rPr lang="en-US" sz="2400" dirty="0">
                <a:latin typeface="Times New Roman"/>
                <a:ea typeface="Times New Roman"/>
                <a:cs typeface="Times New Roman"/>
                <a:sym typeface="Times New Roman"/>
              </a:rPr>
              <a:t> file.</a:t>
            </a:r>
            <a:endParaRPr dirty="0"/>
          </a:p>
          <a:p>
            <a:pPr marL="457200" lvl="0" indent="-342900" algn="l" rtl="0">
              <a:lnSpc>
                <a:spcPct val="90000"/>
              </a:lnSpc>
              <a:spcBef>
                <a:spcPts val="1000"/>
              </a:spcBef>
              <a:spcAft>
                <a:spcPts val="0"/>
              </a:spcAft>
              <a:buClr>
                <a:schemeClr val="dk1"/>
              </a:buClr>
              <a:buSzPts val="1800"/>
              <a:buChar char="•"/>
            </a:pPr>
            <a:r>
              <a:rPr lang="en-US" sz="2400" dirty="0">
                <a:latin typeface="Times New Roman"/>
                <a:ea typeface="Times New Roman"/>
                <a:cs typeface="Times New Roman"/>
                <a:sym typeface="Times New Roman"/>
              </a:rPr>
              <a:t>Bytecode </a:t>
            </a:r>
            <a:r>
              <a:rPr lang="en-US" sz="2400" dirty="0" err="1">
                <a:latin typeface="Times New Roman"/>
                <a:ea typeface="Times New Roman"/>
                <a:cs typeface="Times New Roman"/>
                <a:sym typeface="Times New Roman"/>
              </a:rPr>
              <a:t>của</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được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lưu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trong</a:t>
            </a:r>
            <a:r>
              <a:rPr lang="en-US" sz="2400" dirty="0">
                <a:latin typeface="Times New Roman"/>
                <a:ea typeface="Times New Roman"/>
                <a:cs typeface="Times New Roman"/>
                <a:sym typeface="Times New Roman"/>
              </a:rPr>
              <a:t> file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định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dạng</a:t>
            </a:r>
            <a:r>
              <a:rPr lang="en-US" sz="2400" dirty="0">
                <a:latin typeface="Times New Roman"/>
                <a:ea typeface="Times New Roman"/>
                <a:cs typeface="Times New Roman"/>
                <a:sym typeface="Times New Roman"/>
              </a:rPr>
              <a:t> .class.</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báo</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trong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package, </a:t>
            </a:r>
            <a:r>
              <a:rPr lang="en-US" sz="2400" dirty="0" err="1">
                <a:latin typeface="Times New Roman"/>
                <a:ea typeface="Times New Roman"/>
                <a:cs typeface="Times New Roman"/>
                <a:sym typeface="Times New Roman"/>
              </a:rPr>
              <a:t>những</a:t>
            </a:r>
            <a:r>
              <a:rPr lang="en-US" sz="2400" dirty="0">
                <a:latin typeface="Times New Roman"/>
                <a:ea typeface="Times New Roman"/>
                <a:cs typeface="Times New Roman"/>
                <a:sym typeface="Times New Roman"/>
              </a:rPr>
              <a:t> file bytecode </a:t>
            </a:r>
            <a:r>
              <a:rPr lang="en-US" sz="2400" dirty="0" err="1">
                <a:latin typeface="Times New Roman"/>
                <a:ea typeface="Times New Roman"/>
                <a:cs typeface="Times New Roman"/>
                <a:sym typeface="Times New Roman"/>
              </a:rPr>
              <a:t>tương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ứng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cũng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cấu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trúc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thư</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mục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cùng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tên</a:t>
            </a:r>
            <a:r>
              <a:rPr lang="en-US" sz="2400" dirty="0">
                <a:latin typeface="Times New Roman"/>
                <a:ea typeface="Times New Roman"/>
                <a:cs typeface="Times New Roman"/>
                <a:sym typeface="Times New Roman"/>
              </a:rPr>
              <a:t> package.</a:t>
            </a:r>
            <a:endParaRPr dirty="0"/>
          </a:p>
          <a:p>
            <a:pPr marL="457200" lvl="0" indent="-228600" algn="l" rtl="0">
              <a:lnSpc>
                <a:spcPct val="90000"/>
              </a:lnSpc>
              <a:spcBef>
                <a:spcPts val="1000"/>
              </a:spcBef>
              <a:spcAft>
                <a:spcPts val="0"/>
              </a:spcAft>
              <a:buClr>
                <a:schemeClr val="dk1"/>
              </a:buClr>
              <a:buSzPts val="1800"/>
              <a:buNone/>
            </a:pPr>
            <a:endParaRPr sz="2400" dirty="0">
              <a:latin typeface="Times New Roman"/>
              <a:ea typeface="Times New Roman"/>
              <a:cs typeface="Times New Roman"/>
              <a:sym typeface="Times New Roman"/>
            </a:endParaRPr>
          </a:p>
        </p:txBody>
      </p:sp>
      <p:sp>
        <p:nvSpPr>
          <p:cNvPr id="176" name="Google Shape;176;p26"/>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80"/>
        <p:cNvGrpSpPr/>
        <p:nvPr/>
      </p:nvGrpSpPr>
      <p:grpSpPr>
        <a:xfrm>
          <a:off x="0" y="0"/>
          <a:ext cx="0" cy="0"/>
          <a:chOff x="0" y="0"/>
          <a:chExt cx="0" cy="0"/>
        </a:xfrm>
      </p:grpSpPr>
      <p:pic>
        <p:nvPicPr>
          <p:cNvPr id="181" name="Google Shape;181;p27"/>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2" name="Google Shape;182;p27"/>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183" name="Google Shape;183;p27"/>
          <p:cNvSpPr txBox="1">
            <a:spLocks noGrp="1"/>
          </p:cNvSpPr>
          <p:nvPr>
            <p:ph type="title"/>
          </p:nvPr>
        </p:nvSpPr>
        <p:spPr>
          <a:xfrm>
            <a:off x="838200" y="955497"/>
            <a:ext cx="10095271" cy="503433"/>
          </a:xfrm>
          <a:prstGeom prst="rect">
            <a:avLst/>
          </a:prstGeom>
          <a:noFill/>
          <a:ln>
            <a:noFill/>
          </a:ln>
        </p:spPr>
        <p:txBody>
          <a:bodyPr spcFirstLastPara="1" wrap="square" lIns="91425" tIns="45700" rIns="91425" bIns="45700" anchor="ctr" anchorCtr="0">
            <a:normAutofit fontScale="90000"/>
          </a:bodyPr>
          <a:lstStyle/>
          <a:p>
            <a:pPr marL="0" lvl="0" indent="0" algn="l" rtl="0">
              <a:lnSpc>
                <a:spcPct val="90000"/>
              </a:lnSpc>
              <a:spcBef>
                <a:spcPts val="0"/>
              </a:spcBef>
              <a:spcAft>
                <a:spcPts val="0"/>
              </a:spcAft>
              <a:buClr>
                <a:schemeClr val="dk1"/>
              </a:buClr>
              <a:buSzPts val="1800"/>
              <a:buNone/>
            </a:pPr>
            <a:r>
              <a:rPr lang="en-US" sz="2800" b="1" dirty="0">
                <a:latin typeface="Times New Roman"/>
                <a:ea typeface="Times New Roman"/>
                <a:cs typeface="Times New Roman"/>
                <a:sym typeface="Times New Roman"/>
              </a:rPr>
              <a:t>3.2)  interface </a:t>
            </a:r>
            <a:r>
              <a:rPr lang="en-US" sz="2800" b="1" dirty="0" err="1">
                <a:latin typeface="Times New Roman"/>
                <a:ea typeface="Times New Roman"/>
                <a:cs typeface="Times New Roman"/>
                <a:sym typeface="Times New Roman"/>
              </a:rPr>
              <a:t>khác</a:t>
            </a:r>
            <a:r>
              <a:rPr lang="en-US" sz="2800" b="1" dirty="0">
                <a:latin typeface="Times New Roman"/>
                <a:ea typeface="Times New Roman"/>
                <a:cs typeface="Times New Roman"/>
                <a:sym typeface="Times New Roman"/>
              </a:rPr>
              <a:t> </a:t>
            </a:r>
            <a:r>
              <a:rPr lang="en-US" sz="2800" b="1" dirty="0" err="1">
                <a:latin typeface="Times New Roman"/>
                <a:ea typeface="Times New Roman"/>
                <a:cs typeface="Times New Roman"/>
                <a:sym typeface="Times New Roman"/>
              </a:rPr>
              <a:t>với</a:t>
            </a:r>
            <a:r>
              <a:rPr lang="en-US" sz="2800" b="1" dirty="0">
                <a:latin typeface="Times New Roman"/>
                <a:ea typeface="Times New Roman"/>
                <a:cs typeface="Times New Roman"/>
                <a:sym typeface="Times New Roman"/>
              </a:rPr>
              <a:t> </a:t>
            </a:r>
            <a:r>
              <a:rPr lang="en-US" sz="2800" b="1" dirty="0" err="1">
                <a:latin typeface="Times New Roman"/>
                <a:ea typeface="Times New Roman"/>
                <a:cs typeface="Times New Roman"/>
                <a:sym typeface="Times New Roman"/>
              </a:rPr>
              <a:t>một</a:t>
            </a:r>
            <a:r>
              <a:rPr lang="en-US" sz="2800" b="1" dirty="0">
                <a:latin typeface="Times New Roman"/>
                <a:ea typeface="Times New Roman"/>
                <a:cs typeface="Times New Roman"/>
                <a:sym typeface="Times New Roman"/>
              </a:rPr>
              <a:t> class </a:t>
            </a:r>
            <a:r>
              <a:rPr lang="en-US" sz="2800" b="1" dirty="0" err="1">
                <a:latin typeface="Times New Roman"/>
                <a:ea typeface="Times New Roman"/>
                <a:cs typeface="Times New Roman"/>
                <a:sym typeface="Times New Roman"/>
              </a:rPr>
              <a:t>thông</a:t>
            </a:r>
            <a:r>
              <a:rPr lang="en-US" sz="2800" b="1" dirty="0">
                <a:latin typeface="Times New Roman"/>
                <a:ea typeface="Times New Roman"/>
                <a:cs typeface="Times New Roman"/>
                <a:sym typeface="Times New Roman"/>
              </a:rPr>
              <a:t> </a:t>
            </a:r>
            <a:r>
              <a:rPr lang="en-US" sz="2800" b="1" dirty="0" err="1">
                <a:latin typeface="Times New Roman"/>
                <a:ea typeface="Times New Roman"/>
                <a:cs typeface="Times New Roman"/>
                <a:sym typeface="Times New Roman"/>
              </a:rPr>
              <a:t>thường</a:t>
            </a:r>
            <a:r>
              <a:rPr lang="en-US" sz="2800" b="1" dirty="0">
                <a:latin typeface="Times New Roman"/>
                <a:ea typeface="Times New Roman"/>
                <a:cs typeface="Times New Roman"/>
                <a:sym typeface="Times New Roman"/>
              </a:rPr>
              <a:t> ở </a:t>
            </a:r>
            <a:r>
              <a:rPr lang="en-US" sz="2800" b="1" dirty="0" err="1">
                <a:latin typeface="Times New Roman"/>
                <a:ea typeface="Times New Roman"/>
                <a:cs typeface="Times New Roman"/>
                <a:sym typeface="Times New Roman"/>
              </a:rPr>
              <a:t>một</a:t>
            </a:r>
            <a:r>
              <a:rPr lang="en-US" sz="2800" b="1" dirty="0">
                <a:latin typeface="Times New Roman"/>
                <a:ea typeface="Times New Roman"/>
                <a:cs typeface="Times New Roman"/>
                <a:sym typeface="Times New Roman"/>
              </a:rPr>
              <a:t> </a:t>
            </a:r>
            <a:r>
              <a:rPr lang="en-US" sz="2800" b="1" dirty="0" err="1">
                <a:latin typeface="Times New Roman"/>
                <a:ea typeface="Times New Roman"/>
                <a:cs typeface="Times New Roman"/>
                <a:sym typeface="Times New Roman"/>
              </a:rPr>
              <a:t>số</a:t>
            </a:r>
            <a:r>
              <a:rPr lang="en-US" sz="2800" b="1" dirty="0">
                <a:latin typeface="Times New Roman"/>
                <a:ea typeface="Times New Roman"/>
                <a:cs typeface="Times New Roman"/>
                <a:sym typeface="Times New Roman"/>
              </a:rPr>
              <a:t> </a:t>
            </a:r>
            <a:r>
              <a:rPr lang="en-US" sz="2800" b="1" dirty="0" err="1">
                <a:latin typeface="Times New Roman"/>
                <a:ea typeface="Times New Roman"/>
                <a:cs typeface="Times New Roman"/>
                <a:sym typeface="Times New Roman"/>
              </a:rPr>
              <a:t>điểm</a:t>
            </a:r>
            <a:r>
              <a:rPr lang="en-US" sz="2800" b="1" dirty="0">
                <a:latin typeface="Times New Roman"/>
                <a:ea typeface="Times New Roman"/>
                <a:cs typeface="Times New Roman"/>
                <a:sym typeface="Times New Roman"/>
              </a:rPr>
              <a:t> </a:t>
            </a:r>
            <a:r>
              <a:rPr lang="en-US" sz="2800" b="1" dirty="0" err="1">
                <a:latin typeface="Times New Roman"/>
                <a:ea typeface="Times New Roman"/>
                <a:cs typeface="Times New Roman"/>
                <a:sym typeface="Times New Roman"/>
              </a:rPr>
              <a:t>sau</a:t>
            </a:r>
            <a:r>
              <a:rPr lang="en-US" sz="2800" b="1" dirty="0">
                <a:latin typeface="Times New Roman"/>
                <a:ea typeface="Times New Roman"/>
                <a:cs typeface="Times New Roman"/>
                <a:sym typeface="Times New Roman"/>
              </a:rPr>
              <a:t> </a:t>
            </a:r>
            <a:r>
              <a:rPr lang="en-US" sz="2800" b="1" dirty="0" err="1">
                <a:latin typeface="Times New Roman"/>
                <a:ea typeface="Times New Roman"/>
                <a:cs typeface="Times New Roman"/>
                <a:sym typeface="Times New Roman"/>
              </a:rPr>
              <a:t>đây</a:t>
            </a:r>
            <a:r>
              <a:rPr lang="en-US" sz="2800" b="1" dirty="0">
                <a:latin typeface="Times New Roman"/>
                <a:ea typeface="Times New Roman"/>
                <a:cs typeface="Times New Roman"/>
                <a:sym typeface="Times New Roman"/>
              </a:rPr>
              <a:t>:</a:t>
            </a:r>
            <a:endParaRPr dirty="0"/>
          </a:p>
        </p:txBody>
      </p:sp>
      <p:sp>
        <p:nvSpPr>
          <p:cNvPr id="184" name="Google Shape;184;p27"/>
          <p:cNvSpPr txBox="1">
            <a:spLocks noGrp="1"/>
          </p:cNvSpPr>
          <p:nvPr>
            <p:ph type="body" idx="1"/>
          </p:nvPr>
        </p:nvSpPr>
        <p:spPr>
          <a:xfrm>
            <a:off x="838200" y="1613043"/>
            <a:ext cx="10515600" cy="456392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Bạn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khởi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tạo</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đối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tượng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thông</a:t>
            </a:r>
            <a:r>
              <a:rPr lang="en-US" sz="2400" dirty="0">
                <a:latin typeface="Times New Roman"/>
                <a:ea typeface="Times New Roman"/>
                <a:cs typeface="Times New Roman"/>
                <a:sym typeface="Times New Roman"/>
              </a:rPr>
              <a:t> qua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Trừ</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sử</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dụng</a:t>
            </a:r>
            <a:r>
              <a:rPr lang="en-US" sz="2400" dirty="0">
                <a:latin typeface="Times New Roman"/>
                <a:ea typeface="Times New Roman"/>
                <a:cs typeface="Times New Roman"/>
                <a:sym typeface="Times New Roman"/>
              </a:rPr>
              <a:t> anonymous class</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chứa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bất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cứ</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hàm</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Contructor</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nào</a:t>
            </a:r>
            <a:r>
              <a:rPr lang="en-US" sz="2400" dirty="0">
                <a:latin typeface="Times New Roman"/>
                <a:ea typeface="Times New Roman"/>
                <a:cs typeface="Times New Roman"/>
                <a:sym typeface="Times New Roman"/>
              </a:rPr>
              <a:t>.</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Tất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cả</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phương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thức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của</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đều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abstract.</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chứa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trường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nào</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trừ</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trường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vừa</a:t>
            </a:r>
            <a:r>
              <a:rPr lang="en-US" sz="2400" dirty="0">
                <a:latin typeface="Times New Roman"/>
                <a:ea typeface="Times New Roman"/>
                <a:cs typeface="Times New Roman"/>
                <a:sym typeface="Times New Roman"/>
              </a:rPr>
              <a:t> static </a:t>
            </a:r>
            <a:r>
              <a:rPr lang="en-US" sz="2400" dirty="0" err="1">
                <a:latin typeface="Times New Roman"/>
                <a:ea typeface="Times New Roman"/>
                <a:cs typeface="Times New Roman"/>
                <a:sym typeface="Times New Roman"/>
              </a:rPr>
              <a:t>và</a:t>
            </a:r>
            <a:r>
              <a:rPr lang="en-US" sz="2400" dirty="0">
                <a:latin typeface="Times New Roman"/>
                <a:ea typeface="Times New Roman"/>
                <a:cs typeface="Times New Roman"/>
                <a:sym typeface="Times New Roman"/>
              </a:rPr>
              <a:t> final.</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kế</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thừa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từ</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được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triển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bởi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kế</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thừa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từ</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nhiều</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khác</a:t>
            </a:r>
            <a:r>
              <a:rPr lang="en-US" sz="2400" dirty="0">
                <a:latin typeface="Times New Roman"/>
                <a:ea typeface="Times New Roman"/>
                <a:cs typeface="Times New Roman"/>
                <a:sym typeface="Times New Roman"/>
              </a:rPr>
              <a:t>.</a:t>
            </a:r>
            <a:endParaRPr dirty="0"/>
          </a:p>
          <a:p>
            <a:pPr marL="457200" lvl="0" indent="-228600" algn="l" rtl="0">
              <a:lnSpc>
                <a:spcPct val="90000"/>
              </a:lnSpc>
              <a:spcBef>
                <a:spcPts val="1000"/>
              </a:spcBef>
              <a:spcAft>
                <a:spcPts val="0"/>
              </a:spcAft>
              <a:buClr>
                <a:schemeClr val="dk1"/>
              </a:buClr>
              <a:buSzPts val="1800"/>
              <a:buNone/>
            </a:pPr>
            <a:endParaRPr sz="2400" dirty="0">
              <a:latin typeface="Times New Roman"/>
              <a:ea typeface="Times New Roman"/>
              <a:cs typeface="Times New Roman"/>
              <a:sym typeface="Times New Roman"/>
            </a:endParaRPr>
          </a:p>
        </p:txBody>
      </p:sp>
      <p:sp>
        <p:nvSpPr>
          <p:cNvPr id="185" name="Google Shape;185;p27"/>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89"/>
        <p:cNvGrpSpPr/>
        <p:nvPr/>
      </p:nvGrpSpPr>
      <p:grpSpPr>
        <a:xfrm>
          <a:off x="0" y="0"/>
          <a:ext cx="0" cy="0"/>
          <a:chOff x="0" y="0"/>
          <a:chExt cx="0" cy="0"/>
        </a:xfrm>
      </p:grpSpPr>
      <p:pic>
        <p:nvPicPr>
          <p:cNvPr id="190" name="Google Shape;190;p28"/>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1" name="Google Shape;191;p28"/>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192" name="Google Shape;192;p28"/>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a:latin typeface="Times New Roman"/>
                <a:ea typeface="Times New Roman"/>
                <a:cs typeface="Times New Roman"/>
                <a:sym typeface="Times New Roman"/>
              </a:rPr>
              <a:t>Ví dụ sử dụng Interface trong Java</a:t>
            </a:r>
            <a:endParaRPr/>
          </a:p>
        </p:txBody>
      </p:sp>
      <p:sp>
        <p:nvSpPr>
          <p:cNvPr id="193" name="Google Shape;193;p28"/>
          <p:cNvSpPr txBox="1">
            <a:spLocks noGrp="1"/>
          </p:cNvSpPr>
          <p:nvPr>
            <p:ph type="body" idx="1"/>
          </p:nvPr>
        </p:nvSpPr>
        <p:spPr>
          <a:xfrm>
            <a:off x="838200" y="1613043"/>
            <a:ext cx="10515600" cy="456392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Tương tự như yêu cầu ở ví dụ về sử dụng abstract class ở trên, nhưng sẽ dụng Interface để áp dụng vào chương trình.</a:t>
            </a:r>
            <a:endParaRPr/>
          </a:p>
          <a:p>
            <a:pPr marL="457200" lvl="0" indent="-228600" algn="l" rtl="0">
              <a:lnSpc>
                <a:spcPct val="90000"/>
              </a:lnSpc>
              <a:spcBef>
                <a:spcPts val="1000"/>
              </a:spcBef>
              <a:spcAft>
                <a:spcPts val="0"/>
              </a:spcAft>
              <a:buClr>
                <a:schemeClr val="dk1"/>
              </a:buClr>
              <a:buSzPts val="1800"/>
              <a:buNone/>
            </a:pPr>
            <a:endParaRPr sz="2400">
              <a:latin typeface="Times New Roman"/>
              <a:ea typeface="Times New Roman"/>
              <a:cs typeface="Times New Roman"/>
              <a:sym typeface="Times New Roman"/>
            </a:endParaRPr>
          </a:p>
        </p:txBody>
      </p:sp>
      <p:sp>
        <p:nvSpPr>
          <p:cNvPr id="194" name="Google Shape;194;p28"/>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195" name="Google Shape;195;p28"/>
          <p:cNvPicPr preferRelativeResize="0"/>
          <p:nvPr/>
        </p:nvPicPr>
        <p:blipFill rotWithShape="1">
          <a:blip r:embed="rId5">
            <a:alphaModFix/>
          </a:blip>
          <a:srcRect/>
          <a:stretch/>
        </p:blipFill>
        <p:spPr>
          <a:xfrm>
            <a:off x="1624342" y="2414427"/>
            <a:ext cx="8943316" cy="414896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99"/>
        <p:cNvGrpSpPr/>
        <p:nvPr/>
      </p:nvGrpSpPr>
      <p:grpSpPr>
        <a:xfrm>
          <a:off x="0" y="0"/>
          <a:ext cx="0" cy="0"/>
          <a:chOff x="0" y="0"/>
          <a:chExt cx="0" cy="0"/>
        </a:xfrm>
      </p:grpSpPr>
      <p:pic>
        <p:nvPicPr>
          <p:cNvPr id="200" name="Google Shape;200;p29"/>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01" name="Google Shape;201;p29"/>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202" name="Google Shape;202;p29"/>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a:latin typeface="Times New Roman"/>
                <a:ea typeface="Times New Roman"/>
                <a:cs typeface="Times New Roman"/>
                <a:sym typeface="Times New Roman"/>
              </a:rPr>
              <a:t>Lưu ý</a:t>
            </a:r>
            <a:endParaRPr sz="2800">
              <a:latin typeface="Times New Roman"/>
              <a:ea typeface="Times New Roman"/>
              <a:cs typeface="Times New Roman"/>
              <a:sym typeface="Times New Roman"/>
            </a:endParaRPr>
          </a:p>
        </p:txBody>
      </p:sp>
      <p:sp>
        <p:nvSpPr>
          <p:cNvPr id="203" name="Google Shape;203;p29"/>
          <p:cNvSpPr txBox="1">
            <a:spLocks noGrp="1"/>
          </p:cNvSpPr>
          <p:nvPr>
            <p:ph type="body" idx="1"/>
          </p:nvPr>
        </p:nvSpPr>
        <p:spPr>
          <a:xfrm>
            <a:off x="838200" y="1613043"/>
            <a:ext cx="10515600" cy="456392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triển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hoặc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nhiều</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tại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thời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điểm</a:t>
            </a:r>
            <a:r>
              <a:rPr lang="en-US" sz="2400" dirty="0">
                <a:latin typeface="Times New Roman"/>
                <a:ea typeface="Times New Roman"/>
                <a:cs typeface="Times New Roman"/>
                <a:sym typeface="Times New Roman"/>
              </a:rPr>
              <a:t>.</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chỉ</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kế</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thừa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nhưng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được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triển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nhiều</a:t>
            </a:r>
            <a:r>
              <a:rPr lang="en-US" sz="2400" dirty="0">
                <a:latin typeface="Times New Roman"/>
                <a:ea typeface="Times New Roman"/>
                <a:cs typeface="Times New Roman"/>
                <a:sym typeface="Times New Roman"/>
              </a:rPr>
              <a:t> interface.</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kế</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thừa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từ</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khác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tương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tự</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cách</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kế</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thừa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khác</a:t>
            </a:r>
            <a:r>
              <a:rPr lang="en-US" sz="2400" dirty="0">
                <a:latin typeface="Times New Roman"/>
                <a:ea typeface="Times New Roman"/>
                <a:cs typeface="Times New Roman"/>
                <a:sym typeface="Times New Roman"/>
              </a:rPr>
              <a:t>.</a:t>
            </a:r>
            <a:endParaRPr dirty="0"/>
          </a:p>
          <a:p>
            <a:pPr marL="457200" lvl="0" indent="-228600" algn="l" rtl="0">
              <a:lnSpc>
                <a:spcPct val="90000"/>
              </a:lnSpc>
              <a:spcBef>
                <a:spcPts val="1000"/>
              </a:spcBef>
              <a:spcAft>
                <a:spcPts val="0"/>
              </a:spcAft>
              <a:buClr>
                <a:schemeClr val="dk1"/>
              </a:buClr>
              <a:buSzPts val="1800"/>
              <a:buNone/>
            </a:pPr>
            <a:endParaRPr sz="2400" dirty="0">
              <a:latin typeface="Times New Roman"/>
              <a:ea typeface="Times New Roman"/>
              <a:cs typeface="Times New Roman"/>
              <a:sym typeface="Times New Roman"/>
            </a:endParaRPr>
          </a:p>
          <a:p>
            <a:pPr marL="457200" lvl="0" indent="-228600" algn="l" rtl="0">
              <a:lnSpc>
                <a:spcPct val="90000"/>
              </a:lnSpc>
              <a:spcBef>
                <a:spcPts val="1000"/>
              </a:spcBef>
              <a:spcAft>
                <a:spcPts val="0"/>
              </a:spcAft>
              <a:buClr>
                <a:schemeClr val="dk1"/>
              </a:buClr>
              <a:buSzPts val="1800"/>
              <a:buNone/>
            </a:pPr>
            <a:endParaRPr sz="2400" dirty="0">
              <a:latin typeface="Times New Roman"/>
              <a:ea typeface="Times New Roman"/>
              <a:cs typeface="Times New Roman"/>
              <a:sym typeface="Times New Roman"/>
            </a:endParaRPr>
          </a:p>
        </p:txBody>
      </p:sp>
      <p:sp>
        <p:nvSpPr>
          <p:cNvPr id="204" name="Google Shape;204;p29"/>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08"/>
        <p:cNvGrpSpPr/>
        <p:nvPr/>
      </p:nvGrpSpPr>
      <p:grpSpPr>
        <a:xfrm>
          <a:off x="0" y="0"/>
          <a:ext cx="0" cy="0"/>
          <a:chOff x="0" y="0"/>
          <a:chExt cx="0" cy="0"/>
        </a:xfrm>
      </p:grpSpPr>
      <p:pic>
        <p:nvPicPr>
          <p:cNvPr id="209" name="Google Shape;209;p30"/>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0" name="Google Shape;210;p30"/>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211" name="Google Shape;211;p30"/>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b="1">
                <a:latin typeface="Times New Roman"/>
                <a:ea typeface="Times New Roman"/>
                <a:cs typeface="Times New Roman"/>
                <a:sym typeface="Times New Roman"/>
              </a:rPr>
              <a:t>3.3) Đa thừa kế trong Java bởi Interface</a:t>
            </a:r>
            <a:endParaRPr/>
          </a:p>
        </p:txBody>
      </p:sp>
      <p:sp>
        <p:nvSpPr>
          <p:cNvPr id="212" name="Google Shape;212;p30"/>
          <p:cNvSpPr txBox="1">
            <a:spLocks noGrp="1"/>
          </p:cNvSpPr>
          <p:nvPr>
            <p:ph type="body" idx="1"/>
          </p:nvPr>
        </p:nvSpPr>
        <p:spPr>
          <a:xfrm>
            <a:off x="838200" y="1613043"/>
            <a:ext cx="10515600" cy="456392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Nếu</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triển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kế</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thừa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hoặc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kế</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thừa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từ</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nhiều</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thì</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là</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kế</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thừa</a:t>
            </a:r>
            <a:r>
              <a:rPr lang="en-US" sz="2400" dirty="0">
                <a:latin typeface="Times New Roman"/>
                <a:ea typeface="Times New Roman"/>
                <a:cs typeface="Times New Roman"/>
                <a:sym typeface="Times New Roman"/>
              </a:rPr>
              <a:t>.</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Trong</a:t>
            </a:r>
            <a:r>
              <a:rPr lang="en-US" sz="2400" dirty="0">
                <a:latin typeface="Times New Roman"/>
                <a:ea typeface="Times New Roman"/>
                <a:cs typeface="Times New Roman"/>
                <a:sym typeface="Times New Roman"/>
              </a:rPr>
              <a:t> Java,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chỉ</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được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thừa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kế</a:t>
            </a:r>
            <a:r>
              <a:rPr lang="en-US" sz="2400" dirty="0">
                <a:latin typeface="Times New Roman"/>
                <a:ea typeface="Times New Roman"/>
                <a:cs typeface="Times New Roman"/>
                <a:sym typeface="Times New Roman"/>
              </a:rPr>
              <a:t> (extends) </a:t>
            </a:r>
            <a:r>
              <a:rPr lang="en-US" sz="2400" dirty="0" err="1">
                <a:latin typeface="Times New Roman"/>
                <a:ea typeface="Times New Roman"/>
                <a:cs typeface="Times New Roman"/>
                <a:sym typeface="Times New Roman"/>
              </a:rPr>
              <a:t>từ</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lớp</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cài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đặt</a:t>
            </a:r>
            <a:r>
              <a:rPr lang="en-US" sz="2400" dirty="0">
                <a:latin typeface="Times New Roman"/>
                <a:ea typeface="Times New Roman"/>
                <a:cs typeface="Times New Roman"/>
                <a:sym typeface="Times New Roman"/>
              </a:rPr>
              <a:t> (implements) </a:t>
            </a:r>
            <a:r>
              <a:rPr lang="en-US" sz="2400" dirty="0" err="1">
                <a:latin typeface="Times New Roman"/>
                <a:ea typeface="Times New Roman"/>
                <a:cs typeface="Times New Roman"/>
                <a:sym typeface="Times New Roman"/>
              </a:rPr>
              <a:t>nhiều</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Tuy</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nhiên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có</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thừa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kế</a:t>
            </a:r>
            <a:r>
              <a:rPr lang="en-US" sz="2400" dirty="0">
                <a:latin typeface="Times New Roman"/>
                <a:ea typeface="Times New Roman"/>
                <a:cs typeface="Times New Roman"/>
                <a:sym typeface="Times New Roman"/>
              </a:rPr>
              <a:t> (extends) </a:t>
            </a:r>
            <a:r>
              <a:rPr lang="en-US" sz="2400" dirty="0" err="1">
                <a:latin typeface="Times New Roman"/>
                <a:ea typeface="Times New Roman"/>
                <a:cs typeface="Times New Roman"/>
                <a:sym typeface="Times New Roman"/>
              </a:rPr>
              <a:t>nhiều</a:t>
            </a:r>
            <a:r>
              <a:rPr lang="en-US" sz="2400" dirty="0">
                <a:latin typeface="Times New Roman"/>
                <a:ea typeface="Times New Roman"/>
                <a:cs typeface="Times New Roman"/>
                <a:sym typeface="Times New Roman"/>
              </a:rPr>
              <a:t> interface.</a:t>
            </a:r>
            <a:endParaRPr dirty="0"/>
          </a:p>
          <a:p>
            <a:pPr marL="457200" lvl="0" indent="-342900" algn="l" rtl="0">
              <a:lnSpc>
                <a:spcPct val="90000"/>
              </a:lnSpc>
              <a:spcBef>
                <a:spcPts val="1000"/>
              </a:spcBef>
              <a:spcAft>
                <a:spcPts val="0"/>
              </a:spcAft>
              <a:buClr>
                <a:schemeClr val="dk1"/>
              </a:buClr>
              <a:buSzPts val="1800"/>
              <a:buChar char="•"/>
            </a:pPr>
            <a:r>
              <a:rPr lang="en-US" sz="2400" dirty="0" err="1">
                <a:latin typeface="Times New Roman"/>
                <a:ea typeface="Times New Roman"/>
                <a:cs typeface="Times New Roman"/>
                <a:sym typeface="Times New Roman"/>
              </a:rPr>
              <a:t>Một</a:t>
            </a:r>
            <a:r>
              <a:rPr lang="en-US" sz="2400" dirty="0">
                <a:latin typeface="Times New Roman"/>
                <a:ea typeface="Times New Roman"/>
                <a:cs typeface="Times New Roman"/>
                <a:sym typeface="Times New Roman"/>
              </a:rPr>
              <a:t> interface </a:t>
            </a: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thể</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cài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đặt</a:t>
            </a:r>
            <a:r>
              <a:rPr lang="en-US" sz="2400" dirty="0">
                <a:latin typeface="Times New Roman"/>
                <a:ea typeface="Times New Roman"/>
                <a:cs typeface="Times New Roman"/>
                <a:sym typeface="Times New Roman"/>
              </a:rPr>
              <a:t> (implements) interface </a:t>
            </a:r>
            <a:r>
              <a:rPr lang="en-US" sz="2400" dirty="0" err="1">
                <a:latin typeface="Times New Roman"/>
                <a:ea typeface="Times New Roman"/>
                <a:cs typeface="Times New Roman"/>
                <a:sym typeface="Times New Roman"/>
              </a:rPr>
              <a:t>khác</a:t>
            </a:r>
            <a:r>
              <a:rPr lang="en-US" sz="2400" dirty="0">
                <a:latin typeface="Times New Roman"/>
                <a:ea typeface="Times New Roman"/>
                <a:cs typeface="Times New Roman"/>
                <a:sym typeface="Times New Roman"/>
              </a:rPr>
              <a:t>, do interface </a:t>
            </a:r>
            <a:r>
              <a:rPr lang="en-US" sz="2400" dirty="0" err="1">
                <a:latin typeface="Times New Roman"/>
                <a:ea typeface="Times New Roman"/>
                <a:cs typeface="Times New Roman"/>
                <a:sym typeface="Times New Roman"/>
              </a:rPr>
              <a:t>không</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phần</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cài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đặt</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chỉ</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chứa</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các</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khai</a:t>
            </a:r>
            <a:r>
              <a:rPr lang="en-US" sz="2400" dirty="0">
                <a:latin typeface="Times New Roman"/>
                <a:ea typeface="Times New Roman"/>
                <a:cs typeface="Times New Roman"/>
                <a:sym typeface="Times New Roman"/>
              </a:rPr>
              <a:t> </a:t>
            </a:r>
            <a:r>
              <a:rPr lang="en-US" sz="2400" dirty="0" err="1">
                <a:latin typeface="Times New Roman"/>
                <a:ea typeface="Times New Roman"/>
                <a:cs typeface="Times New Roman"/>
                <a:sym typeface="Times New Roman"/>
              </a:rPr>
              <a:t>báo</a:t>
            </a:r>
            <a:r>
              <a:rPr lang="en-US" sz="2400" dirty="0">
                <a:latin typeface="Times New Roman"/>
                <a:ea typeface="Times New Roman"/>
                <a:cs typeface="Times New Roman"/>
                <a:sym typeface="Times New Roman"/>
              </a:rPr>
              <a:t>.</a:t>
            </a:r>
            <a:endParaRPr dirty="0"/>
          </a:p>
          <a:p>
            <a:pPr marL="457200" lvl="0" indent="-228600" algn="l" rtl="0">
              <a:lnSpc>
                <a:spcPct val="90000"/>
              </a:lnSpc>
              <a:spcBef>
                <a:spcPts val="1000"/>
              </a:spcBef>
              <a:spcAft>
                <a:spcPts val="0"/>
              </a:spcAft>
              <a:buClr>
                <a:schemeClr val="dk1"/>
              </a:buClr>
              <a:buSzPts val="1800"/>
              <a:buNone/>
            </a:pPr>
            <a:endParaRPr sz="2400" dirty="0">
              <a:latin typeface="Times New Roman"/>
              <a:ea typeface="Times New Roman"/>
              <a:cs typeface="Times New Roman"/>
              <a:sym typeface="Times New Roman"/>
            </a:endParaRPr>
          </a:p>
        </p:txBody>
      </p:sp>
      <p:sp>
        <p:nvSpPr>
          <p:cNvPr id="213" name="Google Shape;213;p30"/>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pic>
        <p:nvPicPr>
          <p:cNvPr id="218" name="Google Shape;218;p31"/>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9" name="Google Shape;219;p31"/>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220" name="Google Shape;220;p31"/>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b="1">
                <a:latin typeface="Times New Roman"/>
                <a:ea typeface="Times New Roman"/>
                <a:cs typeface="Times New Roman"/>
                <a:sym typeface="Times New Roman"/>
              </a:rPr>
              <a:t>3.3) Đa thừa kế trong Java bởi Interface</a:t>
            </a:r>
            <a:endParaRPr/>
          </a:p>
        </p:txBody>
      </p:sp>
      <p:sp>
        <p:nvSpPr>
          <p:cNvPr id="221" name="Google Shape;221;p31"/>
          <p:cNvSpPr txBox="1">
            <a:spLocks noGrp="1"/>
          </p:cNvSpPr>
          <p:nvPr>
            <p:ph type="body" idx="1"/>
          </p:nvPr>
        </p:nvSpPr>
        <p:spPr>
          <a:xfrm>
            <a:off x="838200" y="1613043"/>
            <a:ext cx="10515600" cy="69483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Ví dụ một lớp cài đặt (implements) nhiều interface:</a:t>
            </a:r>
            <a:endParaRPr/>
          </a:p>
          <a:p>
            <a:pPr marL="457200" lvl="0" indent="-228600" algn="l" rtl="0">
              <a:lnSpc>
                <a:spcPct val="90000"/>
              </a:lnSpc>
              <a:spcBef>
                <a:spcPts val="1000"/>
              </a:spcBef>
              <a:spcAft>
                <a:spcPts val="0"/>
              </a:spcAft>
              <a:buClr>
                <a:schemeClr val="dk1"/>
              </a:buClr>
              <a:buSzPts val="1800"/>
              <a:buNone/>
            </a:pPr>
            <a:endParaRPr sz="2400">
              <a:latin typeface="Times New Roman"/>
              <a:ea typeface="Times New Roman"/>
              <a:cs typeface="Times New Roman"/>
              <a:sym typeface="Times New Roman"/>
            </a:endParaRPr>
          </a:p>
          <a:p>
            <a:pPr marL="457200" lvl="0" indent="-228600" algn="l" rtl="0">
              <a:lnSpc>
                <a:spcPct val="90000"/>
              </a:lnSpc>
              <a:spcBef>
                <a:spcPts val="1000"/>
              </a:spcBef>
              <a:spcAft>
                <a:spcPts val="0"/>
              </a:spcAft>
              <a:buClr>
                <a:schemeClr val="dk1"/>
              </a:buClr>
              <a:buSzPts val="1800"/>
              <a:buNone/>
            </a:pPr>
            <a:endParaRPr sz="2400">
              <a:latin typeface="Times New Roman"/>
              <a:ea typeface="Times New Roman"/>
              <a:cs typeface="Times New Roman"/>
              <a:sym typeface="Times New Roman"/>
            </a:endParaRPr>
          </a:p>
        </p:txBody>
      </p:sp>
      <p:sp>
        <p:nvSpPr>
          <p:cNvPr id="222" name="Google Shape;222;p31"/>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23" name="Google Shape;223;p31"/>
          <p:cNvPicPr preferRelativeResize="0"/>
          <p:nvPr/>
        </p:nvPicPr>
        <p:blipFill rotWithShape="1">
          <a:blip r:embed="rId5">
            <a:alphaModFix/>
          </a:blip>
          <a:srcRect/>
          <a:stretch/>
        </p:blipFill>
        <p:spPr>
          <a:xfrm>
            <a:off x="3025485" y="2185827"/>
            <a:ext cx="5466874" cy="400490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27"/>
        <p:cNvGrpSpPr/>
        <p:nvPr/>
      </p:nvGrpSpPr>
      <p:grpSpPr>
        <a:xfrm>
          <a:off x="0" y="0"/>
          <a:ext cx="0" cy="0"/>
          <a:chOff x="0" y="0"/>
          <a:chExt cx="0" cy="0"/>
        </a:xfrm>
      </p:grpSpPr>
      <p:pic>
        <p:nvPicPr>
          <p:cNvPr id="228" name="Google Shape;228;p32"/>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29" name="Google Shape;229;p32"/>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230" name="Google Shape;230;p32"/>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b="1">
                <a:latin typeface="Times New Roman"/>
                <a:ea typeface="Times New Roman"/>
                <a:cs typeface="Times New Roman"/>
                <a:sym typeface="Times New Roman"/>
              </a:rPr>
              <a:t>3.3) Đa thừa kế trong Java bởi Interface</a:t>
            </a:r>
            <a:endParaRPr/>
          </a:p>
        </p:txBody>
      </p:sp>
      <p:sp>
        <p:nvSpPr>
          <p:cNvPr id="231" name="Google Shape;231;p32"/>
          <p:cNvSpPr txBox="1">
            <a:spLocks noGrp="1"/>
          </p:cNvSpPr>
          <p:nvPr>
            <p:ph type="body" idx="1"/>
          </p:nvPr>
        </p:nvSpPr>
        <p:spPr>
          <a:xfrm>
            <a:off x="838200" y="1613043"/>
            <a:ext cx="10515600" cy="456392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Ví dụ interface kế thừa (extend) nhiều interface</a:t>
            </a:r>
            <a:endParaRPr/>
          </a:p>
          <a:p>
            <a:pPr marL="457200" lvl="0" indent="-228600" algn="l" rtl="0">
              <a:lnSpc>
                <a:spcPct val="90000"/>
              </a:lnSpc>
              <a:spcBef>
                <a:spcPts val="1000"/>
              </a:spcBef>
              <a:spcAft>
                <a:spcPts val="0"/>
              </a:spcAft>
              <a:buClr>
                <a:schemeClr val="dk1"/>
              </a:buClr>
              <a:buSzPts val="1800"/>
              <a:buNone/>
            </a:pPr>
            <a:endParaRPr sz="2400">
              <a:latin typeface="Times New Roman"/>
              <a:ea typeface="Times New Roman"/>
              <a:cs typeface="Times New Roman"/>
              <a:sym typeface="Times New Roman"/>
            </a:endParaRPr>
          </a:p>
        </p:txBody>
      </p:sp>
      <p:sp>
        <p:nvSpPr>
          <p:cNvPr id="232" name="Google Shape;232;p32"/>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33" name="Google Shape;233;p32"/>
          <p:cNvPicPr preferRelativeResize="0"/>
          <p:nvPr/>
        </p:nvPicPr>
        <p:blipFill rotWithShape="1">
          <a:blip r:embed="rId5">
            <a:alphaModFix/>
          </a:blip>
          <a:srcRect/>
          <a:stretch/>
        </p:blipFill>
        <p:spPr>
          <a:xfrm>
            <a:off x="3084888" y="2263333"/>
            <a:ext cx="5792008" cy="4067743"/>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37"/>
        <p:cNvGrpSpPr/>
        <p:nvPr/>
      </p:nvGrpSpPr>
      <p:grpSpPr>
        <a:xfrm>
          <a:off x="0" y="0"/>
          <a:ext cx="0" cy="0"/>
          <a:chOff x="0" y="0"/>
          <a:chExt cx="0" cy="0"/>
        </a:xfrm>
      </p:grpSpPr>
      <p:pic>
        <p:nvPicPr>
          <p:cNvPr id="238" name="Google Shape;238;p33"/>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9" name="Google Shape;239;p33"/>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240" name="Google Shape;240;p33"/>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b="1">
                <a:latin typeface="Times New Roman"/>
                <a:ea typeface="Times New Roman"/>
                <a:cs typeface="Times New Roman"/>
                <a:sym typeface="Times New Roman"/>
              </a:rPr>
              <a:t>3.3) Đa thừa kế trong Java bởi Interface</a:t>
            </a:r>
            <a:endParaRPr/>
          </a:p>
        </p:txBody>
      </p:sp>
      <p:sp>
        <p:nvSpPr>
          <p:cNvPr id="241" name="Google Shape;241;p33"/>
          <p:cNvSpPr txBox="1">
            <a:spLocks noGrp="1"/>
          </p:cNvSpPr>
          <p:nvPr>
            <p:ph type="body" idx="1"/>
          </p:nvPr>
        </p:nvSpPr>
        <p:spPr>
          <a:xfrm>
            <a:off x="838200" y="1613043"/>
            <a:ext cx="10515600" cy="4563920"/>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Câu hỏi: Đa kế thừa không được hỗ trợ thông qua lớp trong Java nhưng là có thể bởi Interface, tại sao?</a:t>
            </a:r>
            <a:endParaRPr/>
          </a:p>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kế thừa không được hỗ trợ thông qua lớp. Nhưng nó được hỗ trợ bởi Interface bởi vì không có tính lưỡng nghĩa khi trình triển khai được cung cấp bởi lớp Implementation.</a:t>
            </a:r>
            <a:endParaRPr/>
          </a:p>
          <a:p>
            <a:pPr marL="457200" lvl="0" indent="-228600" algn="l" rtl="0">
              <a:lnSpc>
                <a:spcPct val="90000"/>
              </a:lnSpc>
              <a:spcBef>
                <a:spcPts val="1000"/>
              </a:spcBef>
              <a:spcAft>
                <a:spcPts val="0"/>
              </a:spcAft>
              <a:buClr>
                <a:schemeClr val="dk1"/>
              </a:buClr>
              <a:buSzPts val="1800"/>
              <a:buNone/>
            </a:pPr>
            <a:endParaRPr sz="2400">
              <a:latin typeface="Times New Roman"/>
              <a:ea typeface="Times New Roman"/>
              <a:cs typeface="Times New Roman"/>
              <a:sym typeface="Times New Roman"/>
            </a:endParaRPr>
          </a:p>
        </p:txBody>
      </p:sp>
      <p:sp>
        <p:nvSpPr>
          <p:cNvPr id="242" name="Google Shape;242;p33"/>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46"/>
        <p:cNvGrpSpPr/>
        <p:nvPr/>
      </p:nvGrpSpPr>
      <p:grpSpPr>
        <a:xfrm>
          <a:off x="0" y="0"/>
          <a:ext cx="0" cy="0"/>
          <a:chOff x="0" y="0"/>
          <a:chExt cx="0" cy="0"/>
        </a:xfrm>
      </p:grpSpPr>
      <p:pic>
        <p:nvPicPr>
          <p:cNvPr id="247" name="Google Shape;247;p34"/>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8" name="Google Shape;248;p34"/>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249" name="Google Shape;249;p34"/>
          <p:cNvSpPr txBox="1">
            <a:spLocks noGrp="1"/>
          </p:cNvSpPr>
          <p:nvPr>
            <p:ph type="title"/>
          </p:nvPr>
        </p:nvSpPr>
        <p:spPr>
          <a:xfrm>
            <a:off x="838200" y="955497"/>
            <a:ext cx="9055813" cy="503433"/>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Clr>
                <a:schemeClr val="dk1"/>
              </a:buClr>
              <a:buSzPts val="1800"/>
              <a:buNone/>
            </a:pPr>
            <a:r>
              <a:rPr lang="en-US" sz="2800" b="1">
                <a:latin typeface="Times New Roman"/>
                <a:ea typeface="Times New Roman"/>
                <a:cs typeface="Times New Roman"/>
                <a:sym typeface="Times New Roman"/>
              </a:rPr>
              <a:t>3.3) Đa thừa kế trong Java bởi Interface</a:t>
            </a:r>
            <a:endParaRPr/>
          </a:p>
        </p:txBody>
      </p:sp>
      <p:sp>
        <p:nvSpPr>
          <p:cNvPr id="250" name="Google Shape;250;p34"/>
          <p:cNvSpPr txBox="1">
            <a:spLocks noGrp="1"/>
          </p:cNvSpPr>
          <p:nvPr>
            <p:ph type="body" idx="1"/>
          </p:nvPr>
        </p:nvSpPr>
        <p:spPr>
          <a:xfrm>
            <a:off x="838200" y="1613043"/>
            <a:ext cx="2924503" cy="1439284"/>
          </a:xfrm>
          <a:prstGeom prst="rect">
            <a:avLst/>
          </a:prstGeom>
          <a:noFill/>
          <a:ln>
            <a:noFill/>
          </a:ln>
        </p:spPr>
        <p:txBody>
          <a:bodyPr spcFirstLastPara="1" wrap="square" lIns="91425" tIns="45700" rIns="91425" bIns="45700" anchor="t" anchorCtr="0">
            <a:normAutofit/>
          </a:bodyPr>
          <a:lstStyle/>
          <a:p>
            <a:pPr marL="457200" lvl="0" indent="-342900" algn="l" rtl="0">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Ví dụ đa thừa kế với Interface</a:t>
            </a:r>
            <a:endParaRPr/>
          </a:p>
          <a:p>
            <a:pPr marL="457200" lvl="0" indent="-228600" algn="l" rtl="0">
              <a:lnSpc>
                <a:spcPct val="90000"/>
              </a:lnSpc>
              <a:spcBef>
                <a:spcPts val="1000"/>
              </a:spcBef>
              <a:spcAft>
                <a:spcPts val="0"/>
              </a:spcAft>
              <a:buClr>
                <a:schemeClr val="dk1"/>
              </a:buClr>
              <a:buSzPts val="1800"/>
              <a:buNone/>
            </a:pPr>
            <a:endParaRPr sz="2400">
              <a:latin typeface="Times New Roman"/>
              <a:ea typeface="Times New Roman"/>
              <a:cs typeface="Times New Roman"/>
              <a:sym typeface="Times New Roman"/>
            </a:endParaRPr>
          </a:p>
        </p:txBody>
      </p:sp>
      <p:sp>
        <p:nvSpPr>
          <p:cNvPr id="251" name="Google Shape;251;p34"/>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52" name="Google Shape;252;p34"/>
          <p:cNvPicPr preferRelativeResize="0"/>
          <p:nvPr/>
        </p:nvPicPr>
        <p:blipFill rotWithShape="1">
          <a:blip r:embed="rId5">
            <a:alphaModFix/>
          </a:blip>
          <a:srcRect/>
          <a:stretch/>
        </p:blipFill>
        <p:spPr>
          <a:xfrm>
            <a:off x="4163247" y="1458930"/>
            <a:ext cx="6264166" cy="4561827"/>
          </a:xfrm>
          <a:prstGeom prst="rect">
            <a:avLst/>
          </a:prstGeom>
          <a:noFill/>
          <a:ln>
            <a:noFill/>
          </a:ln>
        </p:spPr>
      </p:pic>
      <p:pic>
        <p:nvPicPr>
          <p:cNvPr id="253" name="Google Shape;253;p34"/>
          <p:cNvPicPr preferRelativeResize="0"/>
          <p:nvPr/>
        </p:nvPicPr>
        <p:blipFill rotWithShape="1">
          <a:blip r:embed="rId6">
            <a:alphaModFix/>
          </a:blip>
          <a:srcRect/>
          <a:stretch/>
        </p:blipFill>
        <p:spPr>
          <a:xfrm>
            <a:off x="1165980" y="2596457"/>
            <a:ext cx="2796995" cy="1219966"/>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pic>
        <p:nvPicPr>
          <p:cNvPr id="258" name="Google Shape;258;p7"/>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59" name="Google Shape;259;p7"/>
          <p:cNvPicPr preferRelativeResize="0"/>
          <p:nvPr/>
        </p:nvPicPr>
        <p:blipFill rotWithShape="1">
          <a:blip r:embed="rId4">
            <a:alphaModFix/>
          </a:blip>
          <a:srcRect/>
          <a:stretch/>
        </p:blipFill>
        <p:spPr>
          <a:xfrm>
            <a:off x="304800" y="228600"/>
            <a:ext cx="1143000" cy="821245"/>
          </a:xfrm>
          <a:prstGeom prst="rect">
            <a:avLst/>
          </a:prstGeom>
          <a:noFill/>
          <a:ln>
            <a:noFill/>
          </a:ln>
        </p:spPr>
      </p:pic>
      <p:sp>
        <p:nvSpPr>
          <p:cNvPr id="260" name="Google Shape;260;p7"/>
          <p:cNvSpPr txBox="1">
            <a:spLocks noGrp="1"/>
          </p:cNvSpPr>
          <p:nvPr>
            <p:ph type="ftr" idx="11"/>
          </p:nvPr>
        </p:nvSpPr>
        <p:spPr>
          <a:xfrm>
            <a:off x="8077200" y="6492875"/>
            <a:ext cx="4114800" cy="365125"/>
          </a:xfrm>
          <a:prstGeom prst="rect">
            <a:avLst/>
          </a:prstGeom>
          <a:noFill/>
          <a:ln>
            <a:noFill/>
          </a:ln>
        </p:spPr>
        <p:txBody>
          <a:bodyPr spcFirstLastPara="1" wrap="square" lIns="0" tIns="0" rIns="0" bIns="0" anchor="ctr" anchorCtr="0">
            <a:spAutoFit/>
          </a:bodyPr>
          <a:lstStyle/>
          <a:p>
            <a:pPr marL="12700" lvl="0" indent="0" algn="ctr" rtl="0">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61" name="Google Shape;261;p7"/>
          <p:cNvPicPr preferRelativeResize="0"/>
          <p:nvPr/>
        </p:nvPicPr>
        <p:blipFill rotWithShape="1">
          <a:blip r:embed="rId5">
            <a:alphaModFix/>
          </a:blip>
          <a:srcRect/>
          <a:stretch/>
        </p:blipFill>
        <p:spPr>
          <a:xfrm>
            <a:off x="1447800" y="1307628"/>
            <a:ext cx="9031014" cy="4658711"/>
          </a:xfrm>
          <a:prstGeom prst="rect">
            <a:avLst/>
          </a:prstGeom>
          <a:noFill/>
          <a:ln>
            <a:noFill/>
          </a:ln>
        </p:spPr>
      </p:pic>
    </p:spTree>
  </p:cSld>
  <p:clrMapOvr>
    <a:masterClrMapping/>
  </p:clrMapOvr>
  <mc:AlternateContent xmlns:mc="http://schemas.openxmlformats.org/markup-compatibility/2006" xmlns:p14="http://schemas.microsoft.com/office/powerpoint/2010/main">
    <mc:Choice Requires="p14">
      <p:transition spd="med" p14:dur="700">
        <p:fade/>
      </p:transition>
    </mc:Choice>
    <mc:Fallback xmlns:ahyp="http://schemas.microsoft.com/office/drawing/2018/hyperlinkcolor" xmlns:p15="http://schemas.microsoft.com/office/powerpoint/2012/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
      <p:transition spd="slow">
        <p:fade/>
      </p:transition>
    </mc:Fallback>
  </mc:AlternateContent>
</p:sld>
</file>

<file path=ppt/theme/theme1.xml><?xml version="1.0" encoding="utf-8"?>
<a:theme xmlns:a="http://schemas.openxmlformats.org/drawingml/2006/main" name="Office Theme">
  <a:themeElements>
    <a:clrScheme name="9Slide - 2019">
      <a:dk1>
        <a:srgbClr val="000000"/>
      </a:dk1>
      <a:lt1>
        <a:srgbClr val="FFFFFF"/>
      </a:lt1>
      <a:dk2>
        <a:srgbClr val="092D6C"/>
      </a:dk2>
      <a:lt2>
        <a:srgbClr val="FCECD0"/>
      </a:lt2>
      <a:accent1>
        <a:srgbClr val="4FC1E9"/>
      </a:accent1>
      <a:accent2>
        <a:srgbClr val="48CFAD"/>
      </a:accent2>
      <a:accent3>
        <a:srgbClr val="A0D468"/>
      </a:accent3>
      <a:accent4>
        <a:srgbClr val="FFCE54"/>
      </a:accent4>
      <a:accent5>
        <a:srgbClr val="FC6E51"/>
      </a:accent5>
      <a:accent6>
        <a:srgbClr val="ED5565"/>
      </a:accent6>
      <a:hlink>
        <a:srgbClr val="5D9CEC"/>
      </a:hlink>
      <a:folHlink>
        <a:srgbClr val="AC92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1490</Words>
  <Application>Microsoft Office PowerPoint</Application>
  <PresentationFormat>Widescreen</PresentationFormat>
  <Paragraphs>111</Paragraphs>
  <Slides>22</Slides>
  <Notes>22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22</vt:i4>
      </vt:variant>
    </vt:vector>
  </HeadingPairs>
  <TitlesOfParts>
    <vt:vector size="27" baseType="lpstr">
      <vt:lpstr>Times New Roman</vt:lpstr>
      <vt:lpstr>Arial</vt:lpstr>
      <vt:lpstr>Oi</vt:lpstr>
      <vt:lpstr>Noto Sans Symbols</vt:lpstr>
      <vt:lpstr>Office Theme</vt:lpstr>
      <vt:lpstr>PowerPoint Presentation</vt:lpstr>
      <vt:lpstr>Nội dung bài học</vt:lpstr>
      <vt:lpstr>1)Tính trừu tượng</vt:lpstr>
      <vt:lpstr>2) Abstract trong Java</vt:lpstr>
      <vt:lpstr>2.1) Lớp trìu tượng</vt:lpstr>
      <vt:lpstr>2.2) Phương thức trừu tượng trong Java</vt:lpstr>
      <vt:lpstr>Ví dụ về lớp và phương thức trìu tượng</vt:lpstr>
      <vt:lpstr>Ví dụ về lớp và phương thức trìu tượng</vt:lpstr>
      <vt:lpstr>Ví dụ về lớp và phương thức trìu tượng</vt:lpstr>
      <vt:lpstr>Lưu ý</vt:lpstr>
      <vt:lpstr>3) Interface trong Java</vt:lpstr>
      <vt:lpstr>Đặc điểm của Interface</vt:lpstr>
      <vt:lpstr>3.1) Các đặc điểm giống với Class của Interface</vt:lpstr>
      <vt:lpstr>3.2)  interface khác với một class thông thường ở một số điểm sau đây:</vt:lpstr>
      <vt:lpstr>Ví dụ sử dụng Interface trong Java</vt:lpstr>
      <vt:lpstr>Lưu ý</vt:lpstr>
      <vt:lpstr>3.3) Đa thừa kế trong Java bởi Interface</vt:lpstr>
      <vt:lpstr>3.3) Đa thừa kế trong Java bởi Interface</vt:lpstr>
      <vt:lpstr>3.3) Đa thừa kế trong Java bởi Interface</vt:lpstr>
      <vt:lpstr>3.3) Đa thừa kế trong Java bởi Interface</vt:lpstr>
      <vt:lpstr>3.3) Đa thừa kế trong Java bởi Interface</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kien nguyen</cp:lastModifiedBy>
  <cp:revision>1</cp:revision>
  <dcterms:created xsi:type="dcterms:W3CDTF">2020-08-07T13:14:06Z</dcterms:created>
  <dcterms:modified xsi:type="dcterms:W3CDTF">2026-01-15T13:39:06Z</dcterms:modified>
</cp:coreProperties>
</file>