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7"/>
  </p:notesMasterIdLst>
  <p:sldIdLst>
    <p:sldId id="263" r:id="rId2"/>
    <p:sldId id="259" r:id="rId3"/>
    <p:sldId id="264" r:id="rId4"/>
    <p:sldId id="265" r:id="rId5"/>
    <p:sldId id="266" r:id="rId6"/>
    <p:sldId id="267" r:id="rId7"/>
    <p:sldId id="268" r:id="rId8"/>
    <p:sldId id="269" r:id="rId9"/>
    <p:sldId id="270" r:id="rId10"/>
    <p:sldId id="271" r:id="rId11"/>
    <p:sldId id="272"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294" r:id="rId34"/>
    <p:sldId id="295" r:id="rId35"/>
    <p:sldId id="262" r:id="rId36"/>
  </p:sldIdLst>
  <p:sldSz cx="12192000" cy="6858000"/>
  <p:notesSz cx="6858000" cy="9144000"/>
  <p:embeddedFontLst>
    <p:embeddedFont>
      <p:font typeface="Oi" panose="020B0604020202020204" charset="0"/>
      <p:regular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9" roundtripDataSignature="AMtx7mhtyW5ytG2QzhO0bomHZxkHQZwEe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25" d="100"/>
          <a:sy n="25" d="100"/>
        </p:scale>
        <p:origin x="596" y="81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customschemas.google.com/relationships/presentationmetadata" Target="meta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 name="Google Shape;5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45266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41711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121477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39926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52019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748428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919782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38309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29902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83059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918374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29401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662316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46865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004321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89548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75812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47113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09272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31070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06108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41591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48958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86814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4256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09603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37883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98332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72421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949731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21279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45018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77081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88628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01382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9"/>
        <p:cNvGrpSpPr/>
        <p:nvPr/>
      </p:nvGrpSpPr>
      <p:grpSpPr>
        <a:xfrm>
          <a:off x="0" y="0"/>
          <a:ext cx="0" cy="0"/>
          <a:chOff x="0" y="0"/>
          <a:chExt cx="0" cy="0"/>
        </a:xfrm>
      </p:grpSpPr>
      <p:sp>
        <p:nvSpPr>
          <p:cNvPr id="30" name="Google Shape;30;p1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2" name="Google Shape;3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5"/>
        <p:cNvGrpSpPr/>
        <p:nvPr/>
      </p:nvGrpSpPr>
      <p:grpSpPr>
        <a:xfrm>
          <a:off x="0" y="0"/>
          <a:ext cx="0" cy="0"/>
          <a:chOff x="0" y="0"/>
          <a:chExt cx="0" cy="0"/>
        </a:xfrm>
      </p:grpSpPr>
      <p:sp>
        <p:nvSpPr>
          <p:cNvPr id="36" name="Google Shape;36;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12"/>
          <p:cNvSpPr>
            <a:spLocks noGrp="1"/>
          </p:cNvSpPr>
          <p:nvPr>
            <p:ph type="pic" idx="2"/>
          </p:nvPr>
        </p:nvSpPr>
        <p:spPr>
          <a:xfrm>
            <a:off x="5183188" y="987425"/>
            <a:ext cx="6172200" cy="4873625"/>
          </a:xfrm>
          <a:prstGeom prst="rect">
            <a:avLst/>
          </a:prstGeom>
          <a:noFill/>
          <a:ln>
            <a:noFill/>
          </a:ln>
        </p:spPr>
      </p:sp>
      <p:sp>
        <p:nvSpPr>
          <p:cNvPr id="38" name="Google Shape;38;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9" name="Google Shape;39;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2"/>
        <p:cNvGrpSpPr/>
        <p:nvPr/>
      </p:nvGrpSpPr>
      <p:grpSpPr>
        <a:xfrm>
          <a:off x="0" y="0"/>
          <a:ext cx="0" cy="0"/>
          <a:chOff x="0" y="0"/>
          <a:chExt cx="0" cy="0"/>
        </a:xfrm>
      </p:grpSpPr>
      <p:sp>
        <p:nvSpPr>
          <p:cNvPr id="43" name="Google Shape;43;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8"/>
        <p:cNvGrpSpPr/>
        <p:nvPr/>
      </p:nvGrpSpPr>
      <p:grpSpPr>
        <a:xfrm>
          <a:off x="0" y="0"/>
          <a:ext cx="0" cy="0"/>
          <a:chOff x="0" y="0"/>
          <a:chExt cx="0" cy="0"/>
        </a:xfrm>
      </p:grpSpPr>
      <p:sp>
        <p:nvSpPr>
          <p:cNvPr id="49" name="Google Shape;49;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1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
        <p:cNvGrpSpPr/>
        <p:nvPr/>
      </p:nvGrpSpPr>
      <p:grpSpPr>
        <a:xfrm>
          <a:off x="0" y="0"/>
          <a:ext cx="0" cy="0"/>
          <a:chOff x="0" y="0"/>
          <a:chExt cx="0" cy="0"/>
        </a:xfrm>
      </p:grpSpPr>
      <p:sp>
        <p:nvSpPr>
          <p:cNvPr id="21" name="Google Shape;21;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620365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p:nvPr/>
        </p:nvSpPr>
        <p:spPr>
          <a:xfrm>
            <a:off x="0" y="-712232"/>
            <a:ext cx="12192000"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a:solidFill>
                  <a:srgbClr val="D7D7D7"/>
                </a:solidFill>
                <a:latin typeface="Oi"/>
                <a:ea typeface="Oi"/>
                <a:cs typeface="Oi"/>
                <a:sym typeface="Oi"/>
              </a:rPr>
              <a:t>www.9slide.vn</a:t>
            </a:r>
            <a:endParaRPr/>
          </a:p>
        </p:txBody>
      </p:sp>
      <p:sp>
        <p:nvSpPr>
          <p:cNvPr id="7" name="Google Shape;7;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Oi"/>
                <a:ea typeface="Oi"/>
                <a:cs typeface="Oi"/>
                <a:sym typeface="O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Oi"/>
                <a:ea typeface="Oi"/>
                <a:cs typeface="Oi"/>
                <a:sym typeface="O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Oi"/>
                <a:ea typeface="Oi"/>
                <a:cs typeface="Oi"/>
                <a:sym typeface="O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9pPr>
          </a:lstStyle>
          <a:p>
            <a:endParaRPr/>
          </a:p>
        </p:txBody>
      </p:sp>
      <p:sp>
        <p:nvSpPr>
          <p:cNvPr id="9" name="Google Shape;9;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Oi"/>
                <a:ea typeface="Oi"/>
                <a:cs typeface="Oi"/>
                <a:sym typeface="Oi"/>
              </a:defRPr>
            </a:lvl1pPr>
            <a:lvl2pPr marR="0" lvl="1" algn="l" rtl="0">
              <a:spcBef>
                <a:spcPts val="0"/>
              </a:spcBef>
              <a:spcAft>
                <a:spcPts val="0"/>
              </a:spcAft>
              <a:buSzPts val="1400"/>
              <a:buNone/>
              <a:defRPr sz="1800" b="0" i="0" u="none" strike="noStrike" cap="none">
                <a:solidFill>
                  <a:schemeClr val="dk1"/>
                </a:solidFill>
                <a:latin typeface="Oi"/>
                <a:ea typeface="Oi"/>
                <a:cs typeface="Oi"/>
                <a:sym typeface="Oi"/>
              </a:defRPr>
            </a:lvl2pPr>
            <a:lvl3pPr marR="0" lvl="2" algn="l" rtl="0">
              <a:spcBef>
                <a:spcPts val="0"/>
              </a:spcBef>
              <a:spcAft>
                <a:spcPts val="0"/>
              </a:spcAft>
              <a:buSzPts val="1400"/>
              <a:buNone/>
              <a:defRPr sz="1800" b="0" i="0" u="none" strike="noStrike" cap="none">
                <a:solidFill>
                  <a:schemeClr val="dk1"/>
                </a:solidFill>
                <a:latin typeface="Oi"/>
                <a:ea typeface="Oi"/>
                <a:cs typeface="Oi"/>
                <a:sym typeface="Oi"/>
              </a:defRPr>
            </a:lvl3pPr>
            <a:lvl4pPr marR="0" lvl="3" algn="l" rtl="0">
              <a:spcBef>
                <a:spcPts val="0"/>
              </a:spcBef>
              <a:spcAft>
                <a:spcPts val="0"/>
              </a:spcAft>
              <a:buSzPts val="1400"/>
              <a:buNone/>
              <a:defRPr sz="1800" b="0" i="0" u="none" strike="noStrike" cap="none">
                <a:solidFill>
                  <a:schemeClr val="dk1"/>
                </a:solidFill>
                <a:latin typeface="Oi"/>
                <a:ea typeface="Oi"/>
                <a:cs typeface="Oi"/>
                <a:sym typeface="Oi"/>
              </a:defRPr>
            </a:lvl4pPr>
            <a:lvl5pPr marR="0" lvl="4" algn="l" rtl="0">
              <a:spcBef>
                <a:spcPts val="0"/>
              </a:spcBef>
              <a:spcAft>
                <a:spcPts val="0"/>
              </a:spcAft>
              <a:buSzPts val="1400"/>
              <a:buNone/>
              <a:defRPr sz="1800" b="0" i="0" u="none" strike="noStrike" cap="none">
                <a:solidFill>
                  <a:schemeClr val="dk1"/>
                </a:solidFill>
                <a:latin typeface="Oi"/>
                <a:ea typeface="Oi"/>
                <a:cs typeface="Oi"/>
                <a:sym typeface="Oi"/>
              </a:defRPr>
            </a:lvl5pPr>
            <a:lvl6pPr marR="0" lvl="5" algn="l" rtl="0">
              <a:spcBef>
                <a:spcPts val="0"/>
              </a:spcBef>
              <a:spcAft>
                <a:spcPts val="0"/>
              </a:spcAft>
              <a:buSzPts val="1400"/>
              <a:buNone/>
              <a:defRPr sz="1800" b="0" i="0" u="none" strike="noStrike" cap="none">
                <a:solidFill>
                  <a:schemeClr val="dk1"/>
                </a:solidFill>
                <a:latin typeface="Oi"/>
                <a:ea typeface="Oi"/>
                <a:cs typeface="Oi"/>
                <a:sym typeface="Oi"/>
              </a:defRPr>
            </a:lvl6pPr>
            <a:lvl7pPr marR="0" lvl="6" algn="l" rtl="0">
              <a:spcBef>
                <a:spcPts val="0"/>
              </a:spcBef>
              <a:spcAft>
                <a:spcPts val="0"/>
              </a:spcAft>
              <a:buSzPts val="1400"/>
              <a:buNone/>
              <a:defRPr sz="1800" b="0" i="0" u="none" strike="noStrike" cap="none">
                <a:solidFill>
                  <a:schemeClr val="dk1"/>
                </a:solidFill>
                <a:latin typeface="Oi"/>
                <a:ea typeface="Oi"/>
                <a:cs typeface="Oi"/>
                <a:sym typeface="Oi"/>
              </a:defRPr>
            </a:lvl7pPr>
            <a:lvl8pPr marR="0" lvl="7" algn="l" rtl="0">
              <a:spcBef>
                <a:spcPts val="0"/>
              </a:spcBef>
              <a:spcAft>
                <a:spcPts val="0"/>
              </a:spcAft>
              <a:buSzPts val="1400"/>
              <a:buNone/>
              <a:defRPr sz="1800" b="0" i="0" u="none" strike="noStrike" cap="none">
                <a:solidFill>
                  <a:schemeClr val="dk1"/>
                </a:solidFill>
                <a:latin typeface="Oi"/>
                <a:ea typeface="Oi"/>
                <a:cs typeface="Oi"/>
                <a:sym typeface="Oi"/>
              </a:defRPr>
            </a:lvl8pPr>
            <a:lvl9pPr marR="0" lvl="8" algn="l" rtl="0">
              <a:spcBef>
                <a:spcPts val="0"/>
              </a:spcBef>
              <a:spcAft>
                <a:spcPts val="0"/>
              </a:spcAft>
              <a:buSzPts val="1400"/>
              <a:buNone/>
              <a:defRPr sz="1800" b="0" i="0" u="none" strike="noStrike" cap="none">
                <a:solidFill>
                  <a:schemeClr val="dk1"/>
                </a:solidFill>
                <a:latin typeface="Oi"/>
                <a:ea typeface="Oi"/>
                <a:cs typeface="Oi"/>
                <a:sym typeface="Oi"/>
              </a:defRPr>
            </a:lvl9pPr>
          </a:lstStyle>
          <a:p>
            <a:endParaRPr/>
          </a:p>
        </p:txBody>
      </p:sp>
      <p:sp>
        <p:nvSpPr>
          <p:cNvPr id="10" name="Google Shape;10;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Oi"/>
                <a:ea typeface="Oi"/>
                <a:cs typeface="Oi"/>
                <a:sym typeface="Oi"/>
              </a:defRPr>
            </a:lvl1pPr>
            <a:lvl2pPr marR="0" lvl="1" algn="l" rtl="0">
              <a:spcBef>
                <a:spcPts val="0"/>
              </a:spcBef>
              <a:spcAft>
                <a:spcPts val="0"/>
              </a:spcAft>
              <a:buSzPts val="1400"/>
              <a:buNone/>
              <a:defRPr sz="1800" b="0" i="0" u="none" strike="noStrike" cap="none">
                <a:solidFill>
                  <a:schemeClr val="dk1"/>
                </a:solidFill>
                <a:latin typeface="Oi"/>
                <a:ea typeface="Oi"/>
                <a:cs typeface="Oi"/>
                <a:sym typeface="Oi"/>
              </a:defRPr>
            </a:lvl2pPr>
            <a:lvl3pPr marR="0" lvl="2" algn="l" rtl="0">
              <a:spcBef>
                <a:spcPts val="0"/>
              </a:spcBef>
              <a:spcAft>
                <a:spcPts val="0"/>
              </a:spcAft>
              <a:buSzPts val="1400"/>
              <a:buNone/>
              <a:defRPr sz="1800" b="0" i="0" u="none" strike="noStrike" cap="none">
                <a:solidFill>
                  <a:schemeClr val="dk1"/>
                </a:solidFill>
                <a:latin typeface="Oi"/>
                <a:ea typeface="Oi"/>
                <a:cs typeface="Oi"/>
                <a:sym typeface="Oi"/>
              </a:defRPr>
            </a:lvl3pPr>
            <a:lvl4pPr marR="0" lvl="3" algn="l" rtl="0">
              <a:spcBef>
                <a:spcPts val="0"/>
              </a:spcBef>
              <a:spcAft>
                <a:spcPts val="0"/>
              </a:spcAft>
              <a:buSzPts val="1400"/>
              <a:buNone/>
              <a:defRPr sz="1800" b="0" i="0" u="none" strike="noStrike" cap="none">
                <a:solidFill>
                  <a:schemeClr val="dk1"/>
                </a:solidFill>
                <a:latin typeface="Oi"/>
                <a:ea typeface="Oi"/>
                <a:cs typeface="Oi"/>
                <a:sym typeface="Oi"/>
              </a:defRPr>
            </a:lvl4pPr>
            <a:lvl5pPr marR="0" lvl="4" algn="l" rtl="0">
              <a:spcBef>
                <a:spcPts val="0"/>
              </a:spcBef>
              <a:spcAft>
                <a:spcPts val="0"/>
              </a:spcAft>
              <a:buSzPts val="1400"/>
              <a:buNone/>
              <a:defRPr sz="1800" b="0" i="0" u="none" strike="noStrike" cap="none">
                <a:solidFill>
                  <a:schemeClr val="dk1"/>
                </a:solidFill>
                <a:latin typeface="Oi"/>
                <a:ea typeface="Oi"/>
                <a:cs typeface="Oi"/>
                <a:sym typeface="Oi"/>
              </a:defRPr>
            </a:lvl5pPr>
            <a:lvl6pPr marR="0" lvl="5" algn="l" rtl="0">
              <a:spcBef>
                <a:spcPts val="0"/>
              </a:spcBef>
              <a:spcAft>
                <a:spcPts val="0"/>
              </a:spcAft>
              <a:buSzPts val="1400"/>
              <a:buNone/>
              <a:defRPr sz="1800" b="0" i="0" u="none" strike="noStrike" cap="none">
                <a:solidFill>
                  <a:schemeClr val="dk1"/>
                </a:solidFill>
                <a:latin typeface="Oi"/>
                <a:ea typeface="Oi"/>
                <a:cs typeface="Oi"/>
                <a:sym typeface="Oi"/>
              </a:defRPr>
            </a:lvl6pPr>
            <a:lvl7pPr marR="0" lvl="6" algn="l" rtl="0">
              <a:spcBef>
                <a:spcPts val="0"/>
              </a:spcBef>
              <a:spcAft>
                <a:spcPts val="0"/>
              </a:spcAft>
              <a:buSzPts val="1400"/>
              <a:buNone/>
              <a:defRPr sz="1800" b="0" i="0" u="none" strike="noStrike" cap="none">
                <a:solidFill>
                  <a:schemeClr val="dk1"/>
                </a:solidFill>
                <a:latin typeface="Oi"/>
                <a:ea typeface="Oi"/>
                <a:cs typeface="Oi"/>
                <a:sym typeface="Oi"/>
              </a:defRPr>
            </a:lvl7pPr>
            <a:lvl8pPr marR="0" lvl="7" algn="l" rtl="0">
              <a:spcBef>
                <a:spcPts val="0"/>
              </a:spcBef>
              <a:spcAft>
                <a:spcPts val="0"/>
              </a:spcAft>
              <a:buSzPts val="1400"/>
              <a:buNone/>
              <a:defRPr sz="1800" b="0" i="0" u="none" strike="noStrike" cap="none">
                <a:solidFill>
                  <a:schemeClr val="dk1"/>
                </a:solidFill>
                <a:latin typeface="Oi"/>
                <a:ea typeface="Oi"/>
                <a:cs typeface="Oi"/>
                <a:sym typeface="Oi"/>
              </a:defRPr>
            </a:lvl8pPr>
            <a:lvl9pPr marR="0" lvl="8" algn="l" rtl="0">
              <a:spcBef>
                <a:spcPts val="0"/>
              </a:spcBef>
              <a:spcAft>
                <a:spcPts val="0"/>
              </a:spcAft>
              <a:buSzPts val="1400"/>
              <a:buNone/>
              <a:defRPr sz="1800" b="0" i="0" u="none" strike="noStrike" cap="none">
                <a:solidFill>
                  <a:schemeClr val="dk1"/>
                </a:solidFill>
                <a:latin typeface="Oi"/>
                <a:ea typeface="Oi"/>
                <a:cs typeface="Oi"/>
                <a:sym typeface="Oi"/>
              </a:defRPr>
            </a:lvl9pPr>
          </a:lstStyle>
          <a:p>
            <a:endParaRPr/>
          </a:p>
        </p:txBody>
      </p:sp>
      <p:sp>
        <p:nvSpPr>
          <p:cNvPr id="11" name="Google Shape;11;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Oi"/>
                <a:ea typeface="Oi"/>
                <a:cs typeface="Oi"/>
                <a:sym typeface="Oi"/>
              </a:defRPr>
            </a:lvl1pPr>
            <a:lvl2pPr marL="0" marR="0" lvl="1" indent="0" algn="r" rtl="0">
              <a:spcBef>
                <a:spcPts val="0"/>
              </a:spcBef>
              <a:buNone/>
              <a:defRPr sz="1200" b="0" i="0" u="none" strike="noStrike" cap="none">
                <a:solidFill>
                  <a:srgbClr val="888888"/>
                </a:solidFill>
                <a:latin typeface="Oi"/>
                <a:ea typeface="Oi"/>
                <a:cs typeface="Oi"/>
                <a:sym typeface="Oi"/>
              </a:defRPr>
            </a:lvl2pPr>
            <a:lvl3pPr marL="0" marR="0" lvl="2" indent="0" algn="r" rtl="0">
              <a:spcBef>
                <a:spcPts val="0"/>
              </a:spcBef>
              <a:buNone/>
              <a:defRPr sz="1200" b="0" i="0" u="none" strike="noStrike" cap="none">
                <a:solidFill>
                  <a:srgbClr val="888888"/>
                </a:solidFill>
                <a:latin typeface="Oi"/>
                <a:ea typeface="Oi"/>
                <a:cs typeface="Oi"/>
                <a:sym typeface="Oi"/>
              </a:defRPr>
            </a:lvl3pPr>
            <a:lvl4pPr marL="0" marR="0" lvl="3" indent="0" algn="r" rtl="0">
              <a:spcBef>
                <a:spcPts val="0"/>
              </a:spcBef>
              <a:buNone/>
              <a:defRPr sz="1200" b="0" i="0" u="none" strike="noStrike" cap="none">
                <a:solidFill>
                  <a:srgbClr val="888888"/>
                </a:solidFill>
                <a:latin typeface="Oi"/>
                <a:ea typeface="Oi"/>
                <a:cs typeface="Oi"/>
                <a:sym typeface="Oi"/>
              </a:defRPr>
            </a:lvl4pPr>
            <a:lvl5pPr marL="0" marR="0" lvl="4" indent="0" algn="r" rtl="0">
              <a:spcBef>
                <a:spcPts val="0"/>
              </a:spcBef>
              <a:buNone/>
              <a:defRPr sz="1200" b="0" i="0" u="none" strike="noStrike" cap="none">
                <a:solidFill>
                  <a:srgbClr val="888888"/>
                </a:solidFill>
                <a:latin typeface="Oi"/>
                <a:ea typeface="Oi"/>
                <a:cs typeface="Oi"/>
                <a:sym typeface="Oi"/>
              </a:defRPr>
            </a:lvl5pPr>
            <a:lvl6pPr marL="0" marR="0" lvl="5" indent="0" algn="r" rtl="0">
              <a:spcBef>
                <a:spcPts val="0"/>
              </a:spcBef>
              <a:buNone/>
              <a:defRPr sz="1200" b="0" i="0" u="none" strike="noStrike" cap="none">
                <a:solidFill>
                  <a:srgbClr val="888888"/>
                </a:solidFill>
                <a:latin typeface="Oi"/>
                <a:ea typeface="Oi"/>
                <a:cs typeface="Oi"/>
                <a:sym typeface="Oi"/>
              </a:defRPr>
            </a:lvl6pPr>
            <a:lvl7pPr marL="0" marR="0" lvl="6" indent="0" algn="r" rtl="0">
              <a:spcBef>
                <a:spcPts val="0"/>
              </a:spcBef>
              <a:buNone/>
              <a:defRPr sz="1200" b="0" i="0" u="none" strike="noStrike" cap="none">
                <a:solidFill>
                  <a:srgbClr val="888888"/>
                </a:solidFill>
                <a:latin typeface="Oi"/>
                <a:ea typeface="Oi"/>
                <a:cs typeface="Oi"/>
                <a:sym typeface="Oi"/>
              </a:defRPr>
            </a:lvl7pPr>
            <a:lvl8pPr marL="0" marR="0" lvl="7" indent="0" algn="r" rtl="0">
              <a:spcBef>
                <a:spcPts val="0"/>
              </a:spcBef>
              <a:buNone/>
              <a:defRPr sz="1200" b="0" i="0" u="none" strike="noStrike" cap="none">
                <a:solidFill>
                  <a:srgbClr val="888888"/>
                </a:solidFill>
                <a:latin typeface="Oi"/>
                <a:ea typeface="Oi"/>
                <a:cs typeface="Oi"/>
                <a:sym typeface="Oi"/>
              </a:defRPr>
            </a:lvl8pPr>
            <a:lvl9pPr marL="0" marR="0" lvl="8" indent="0" algn="r" rtl="0">
              <a:spcBef>
                <a:spcPts val="0"/>
              </a:spcBef>
              <a:buNone/>
              <a:defRPr sz="1200" b="0" i="0" u="none" strike="noStrike" cap="none">
                <a:solidFill>
                  <a:srgbClr val="888888"/>
                </a:solidFill>
                <a:latin typeface="Oi"/>
                <a:ea typeface="Oi"/>
                <a:cs typeface="Oi"/>
                <a:sym typeface="Oi"/>
              </a:defRPr>
            </a:lvl9pPr>
          </a:lstStyle>
          <a:p>
            <a:pPr marL="0" lvl="0" indent="0" algn="r" rtl="0">
              <a:spcBef>
                <a:spcPts val="0"/>
              </a:spcBef>
              <a:spcAft>
                <a:spcPts val="0"/>
              </a:spcAft>
              <a:buNone/>
            </a:pPr>
            <a:fld id="{00000000-1234-1234-1234-123412341234}" type="slidenum">
              <a:rPr lang="en-US"/>
              <a:t>‹#›</a:t>
            </a:fld>
            <a:endParaRPr/>
          </a:p>
        </p:txBody>
      </p:sp>
      <p:sp>
        <p:nvSpPr>
          <p:cNvPr id="12" name="Google Shape;12;p8"/>
          <p:cNvSpPr/>
          <p:nvPr/>
        </p:nvSpPr>
        <p:spPr>
          <a:xfrm>
            <a:off x="-23164800" y="-13030200"/>
            <a:ext cx="395021" cy="395021"/>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Oi"/>
              <a:ea typeface="Oi"/>
              <a:cs typeface="Oi"/>
              <a:sym typeface="Oi"/>
            </a:endParaRPr>
          </a:p>
        </p:txBody>
      </p:sp>
      <p:sp>
        <p:nvSpPr>
          <p:cNvPr id="13" name="Google Shape;13;p8"/>
          <p:cNvSpPr/>
          <p:nvPr/>
        </p:nvSpPr>
        <p:spPr>
          <a:xfrm>
            <a:off x="34961778" y="-13030200"/>
            <a:ext cx="395021" cy="395021"/>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Oi"/>
              <a:ea typeface="Oi"/>
              <a:cs typeface="Oi"/>
              <a:sym typeface="Oi"/>
            </a:endParaRPr>
          </a:p>
        </p:txBody>
      </p:sp>
      <p:sp>
        <p:nvSpPr>
          <p:cNvPr id="14" name="Google Shape;14;p8"/>
          <p:cNvSpPr/>
          <p:nvPr/>
        </p:nvSpPr>
        <p:spPr>
          <a:xfrm>
            <a:off x="34961778" y="19493180"/>
            <a:ext cx="395021" cy="395021"/>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Oi"/>
              <a:ea typeface="Oi"/>
              <a:cs typeface="Oi"/>
              <a:sym typeface="Oi"/>
            </a:endParaRPr>
          </a:p>
        </p:txBody>
      </p:sp>
      <p:sp>
        <p:nvSpPr>
          <p:cNvPr id="15" name="Google Shape;15;p8"/>
          <p:cNvSpPr/>
          <p:nvPr/>
        </p:nvSpPr>
        <p:spPr>
          <a:xfrm>
            <a:off x="-23164800" y="19493180"/>
            <a:ext cx="395021" cy="395021"/>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Oi"/>
              <a:ea typeface="Oi"/>
              <a:cs typeface="Oi"/>
              <a:sym typeface="Oi"/>
            </a:endParaRPr>
          </a:p>
        </p:txBody>
      </p:sp>
      <p:grpSp>
        <p:nvGrpSpPr>
          <p:cNvPr id="16" name="Google Shape;16;p8"/>
          <p:cNvGrpSpPr/>
          <p:nvPr/>
        </p:nvGrpSpPr>
        <p:grpSpPr>
          <a:xfrm>
            <a:off x="-2202100" y="-2224223"/>
            <a:ext cx="16596200" cy="11284323"/>
            <a:chOff x="-2202100" y="-2224223"/>
            <a:chExt cx="16596200" cy="11284323"/>
          </a:xfrm>
        </p:grpSpPr>
        <p:sp>
          <p:nvSpPr>
            <p:cNvPr id="17" name="Google Shape;17;p8"/>
            <p:cNvSpPr/>
            <p:nvPr/>
          </p:nvSpPr>
          <p:spPr>
            <a:xfrm>
              <a:off x="4851540" y="8494776"/>
              <a:ext cx="2488920" cy="565324"/>
            </a:xfrm>
            <a:prstGeom prst="rect">
              <a:avLst/>
            </a:prstGeom>
            <a:noFill/>
            <a:ln w="2157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Oi"/>
                <a:ea typeface="Oi"/>
                <a:cs typeface="Oi"/>
                <a:sym typeface="Oi"/>
              </a:endParaRPr>
            </a:p>
          </p:txBody>
        </p:sp>
        <p:sp>
          <p:nvSpPr>
            <p:cNvPr id="18" name="Google Shape;18;p8"/>
            <p:cNvSpPr/>
            <p:nvPr/>
          </p:nvSpPr>
          <p:spPr>
            <a:xfrm>
              <a:off x="5006988" y="8647176"/>
              <a:ext cx="2178025" cy="260524"/>
            </a:xfrm>
            <a:custGeom>
              <a:avLst/>
              <a:gdLst/>
              <a:ahLst/>
              <a:cxnLst/>
              <a:rect l="l" t="t" r="r" b="b"/>
              <a:pathLst>
                <a:path w="2178025" h="260524" extrusionOk="0">
                  <a:moveTo>
                    <a:pt x="1807648" y="222182"/>
                  </a:moveTo>
                  <a:cubicBezTo>
                    <a:pt x="1814010" y="222182"/>
                    <a:pt x="1818838" y="223968"/>
                    <a:pt x="1822130" y="227540"/>
                  </a:cubicBezTo>
                  <a:cubicBezTo>
                    <a:pt x="1825423" y="231111"/>
                    <a:pt x="1827070" y="235576"/>
                    <a:pt x="1827070" y="240934"/>
                  </a:cubicBezTo>
                  <a:cubicBezTo>
                    <a:pt x="1827070" y="246069"/>
                    <a:pt x="1825423" y="250366"/>
                    <a:pt x="1822130" y="253826"/>
                  </a:cubicBezTo>
                  <a:cubicBezTo>
                    <a:pt x="1818838" y="257287"/>
                    <a:pt x="1814010" y="259017"/>
                    <a:pt x="1807648" y="259017"/>
                  </a:cubicBezTo>
                  <a:cubicBezTo>
                    <a:pt x="1801285" y="259017"/>
                    <a:pt x="1796513" y="257287"/>
                    <a:pt x="1793332" y="253826"/>
                  </a:cubicBezTo>
                  <a:cubicBezTo>
                    <a:pt x="1790151" y="250366"/>
                    <a:pt x="1788560" y="246069"/>
                    <a:pt x="1788560" y="240934"/>
                  </a:cubicBezTo>
                  <a:cubicBezTo>
                    <a:pt x="1788560" y="235576"/>
                    <a:pt x="1790151" y="231111"/>
                    <a:pt x="1793332" y="227540"/>
                  </a:cubicBezTo>
                  <a:cubicBezTo>
                    <a:pt x="1796513" y="223968"/>
                    <a:pt x="1801285" y="222182"/>
                    <a:pt x="1807648" y="222182"/>
                  </a:cubicBezTo>
                  <a:close/>
                  <a:moveTo>
                    <a:pt x="807523" y="222182"/>
                  </a:moveTo>
                  <a:cubicBezTo>
                    <a:pt x="813885" y="222182"/>
                    <a:pt x="818713" y="223968"/>
                    <a:pt x="822005" y="227540"/>
                  </a:cubicBezTo>
                  <a:cubicBezTo>
                    <a:pt x="825298" y="231111"/>
                    <a:pt x="826945" y="235576"/>
                    <a:pt x="826945" y="240934"/>
                  </a:cubicBezTo>
                  <a:cubicBezTo>
                    <a:pt x="826945" y="246069"/>
                    <a:pt x="825298" y="250366"/>
                    <a:pt x="822005" y="253826"/>
                  </a:cubicBezTo>
                  <a:cubicBezTo>
                    <a:pt x="818713" y="257287"/>
                    <a:pt x="813885" y="259017"/>
                    <a:pt x="807523" y="259017"/>
                  </a:cubicBezTo>
                  <a:cubicBezTo>
                    <a:pt x="801160" y="259017"/>
                    <a:pt x="796388" y="257287"/>
                    <a:pt x="793207" y="253826"/>
                  </a:cubicBezTo>
                  <a:cubicBezTo>
                    <a:pt x="790026" y="250366"/>
                    <a:pt x="788435" y="246069"/>
                    <a:pt x="788435" y="240934"/>
                  </a:cubicBezTo>
                  <a:cubicBezTo>
                    <a:pt x="788435" y="235576"/>
                    <a:pt x="790026" y="231111"/>
                    <a:pt x="793207" y="227540"/>
                  </a:cubicBezTo>
                  <a:cubicBezTo>
                    <a:pt x="796388" y="223968"/>
                    <a:pt x="801160" y="222182"/>
                    <a:pt x="807523" y="222182"/>
                  </a:cubicBezTo>
                  <a:close/>
                  <a:moveTo>
                    <a:pt x="1488076" y="98952"/>
                  </a:moveTo>
                  <a:cubicBezTo>
                    <a:pt x="1472896" y="98952"/>
                    <a:pt x="1461064" y="104812"/>
                    <a:pt x="1452581" y="116532"/>
                  </a:cubicBezTo>
                  <a:cubicBezTo>
                    <a:pt x="1444098" y="128253"/>
                    <a:pt x="1439856" y="145610"/>
                    <a:pt x="1439856" y="168604"/>
                  </a:cubicBezTo>
                  <a:cubicBezTo>
                    <a:pt x="1439856" y="189142"/>
                    <a:pt x="1444098" y="205215"/>
                    <a:pt x="1452581" y="216824"/>
                  </a:cubicBezTo>
                  <a:cubicBezTo>
                    <a:pt x="1461064" y="228433"/>
                    <a:pt x="1472784" y="234237"/>
                    <a:pt x="1487741" y="234237"/>
                  </a:cubicBezTo>
                  <a:cubicBezTo>
                    <a:pt x="1507387" y="234237"/>
                    <a:pt x="1521730" y="225419"/>
                    <a:pt x="1530771" y="207783"/>
                  </a:cubicBezTo>
                  <a:lnTo>
                    <a:pt x="1530771" y="124569"/>
                  </a:lnTo>
                  <a:cubicBezTo>
                    <a:pt x="1521507" y="107491"/>
                    <a:pt x="1507275" y="98952"/>
                    <a:pt x="1488076" y="98952"/>
                  </a:cubicBezTo>
                  <a:close/>
                  <a:moveTo>
                    <a:pt x="1678241" y="98115"/>
                  </a:moveTo>
                  <a:cubicBezTo>
                    <a:pt x="1665740" y="98115"/>
                    <a:pt x="1655248" y="102663"/>
                    <a:pt x="1646764" y="111761"/>
                  </a:cubicBezTo>
                  <a:cubicBezTo>
                    <a:pt x="1638281" y="120858"/>
                    <a:pt x="1633035" y="133610"/>
                    <a:pt x="1631026" y="150019"/>
                  </a:cubicBezTo>
                  <a:lnTo>
                    <a:pt x="1721774" y="150019"/>
                  </a:lnTo>
                  <a:lnTo>
                    <a:pt x="1721774" y="147675"/>
                  </a:lnTo>
                  <a:cubicBezTo>
                    <a:pt x="1720881" y="131936"/>
                    <a:pt x="1716639" y="119742"/>
                    <a:pt x="1709049" y="111091"/>
                  </a:cubicBezTo>
                  <a:cubicBezTo>
                    <a:pt x="1701459" y="102440"/>
                    <a:pt x="1691190" y="98115"/>
                    <a:pt x="1678241" y="98115"/>
                  </a:cubicBezTo>
                  <a:close/>
                  <a:moveTo>
                    <a:pt x="1855700" y="76014"/>
                  </a:moveTo>
                  <a:lnTo>
                    <a:pt x="1887345" y="76014"/>
                  </a:lnTo>
                  <a:lnTo>
                    <a:pt x="1933389" y="215150"/>
                  </a:lnTo>
                  <a:lnTo>
                    <a:pt x="1978260" y="76014"/>
                  </a:lnTo>
                  <a:lnTo>
                    <a:pt x="2009905" y="76014"/>
                  </a:lnTo>
                  <a:lnTo>
                    <a:pt x="1944941" y="257175"/>
                  </a:lnTo>
                  <a:lnTo>
                    <a:pt x="1921334" y="257175"/>
                  </a:lnTo>
                  <a:close/>
                  <a:moveTo>
                    <a:pt x="1333370" y="76014"/>
                  </a:moveTo>
                  <a:lnTo>
                    <a:pt x="1364344" y="76014"/>
                  </a:lnTo>
                  <a:lnTo>
                    <a:pt x="1364344" y="257175"/>
                  </a:lnTo>
                  <a:lnTo>
                    <a:pt x="1333370" y="257175"/>
                  </a:lnTo>
                  <a:close/>
                  <a:moveTo>
                    <a:pt x="514350" y="76014"/>
                  </a:moveTo>
                  <a:lnTo>
                    <a:pt x="545157" y="76014"/>
                  </a:lnTo>
                  <a:lnTo>
                    <a:pt x="580820" y="211634"/>
                  </a:lnTo>
                  <a:lnTo>
                    <a:pt x="623013" y="76014"/>
                  </a:lnTo>
                  <a:lnTo>
                    <a:pt x="647960" y="76014"/>
                  </a:lnTo>
                  <a:lnTo>
                    <a:pt x="690990" y="214480"/>
                  </a:lnTo>
                  <a:lnTo>
                    <a:pt x="725816" y="76014"/>
                  </a:lnTo>
                  <a:lnTo>
                    <a:pt x="756791" y="76014"/>
                  </a:lnTo>
                  <a:lnTo>
                    <a:pt x="704050" y="257175"/>
                  </a:lnTo>
                  <a:lnTo>
                    <a:pt x="678935" y="257175"/>
                  </a:lnTo>
                  <a:lnTo>
                    <a:pt x="634901" y="119881"/>
                  </a:lnTo>
                  <a:lnTo>
                    <a:pt x="592038" y="257175"/>
                  </a:lnTo>
                  <a:lnTo>
                    <a:pt x="566923" y="257175"/>
                  </a:lnTo>
                  <a:close/>
                  <a:moveTo>
                    <a:pt x="257175" y="76014"/>
                  </a:moveTo>
                  <a:lnTo>
                    <a:pt x="287982" y="76014"/>
                  </a:lnTo>
                  <a:lnTo>
                    <a:pt x="323645" y="211634"/>
                  </a:lnTo>
                  <a:lnTo>
                    <a:pt x="365838" y="76014"/>
                  </a:lnTo>
                  <a:lnTo>
                    <a:pt x="390785" y="76014"/>
                  </a:lnTo>
                  <a:lnTo>
                    <a:pt x="433815" y="214480"/>
                  </a:lnTo>
                  <a:lnTo>
                    <a:pt x="468641" y="76014"/>
                  </a:lnTo>
                  <a:lnTo>
                    <a:pt x="499616" y="76014"/>
                  </a:lnTo>
                  <a:lnTo>
                    <a:pt x="446875" y="257175"/>
                  </a:lnTo>
                  <a:lnTo>
                    <a:pt x="421760" y="257175"/>
                  </a:lnTo>
                  <a:lnTo>
                    <a:pt x="377726" y="119881"/>
                  </a:lnTo>
                  <a:lnTo>
                    <a:pt x="334863" y="257175"/>
                  </a:lnTo>
                  <a:lnTo>
                    <a:pt x="309748" y="257175"/>
                  </a:lnTo>
                  <a:close/>
                  <a:moveTo>
                    <a:pt x="0" y="76014"/>
                  </a:moveTo>
                  <a:lnTo>
                    <a:pt x="30807" y="76014"/>
                  </a:lnTo>
                  <a:lnTo>
                    <a:pt x="66470" y="211634"/>
                  </a:lnTo>
                  <a:lnTo>
                    <a:pt x="108663" y="76014"/>
                  </a:lnTo>
                  <a:lnTo>
                    <a:pt x="133610" y="76014"/>
                  </a:lnTo>
                  <a:lnTo>
                    <a:pt x="176640" y="214480"/>
                  </a:lnTo>
                  <a:lnTo>
                    <a:pt x="211466" y="76014"/>
                  </a:lnTo>
                  <a:lnTo>
                    <a:pt x="242441" y="76014"/>
                  </a:lnTo>
                  <a:lnTo>
                    <a:pt x="189700" y="257175"/>
                  </a:lnTo>
                  <a:lnTo>
                    <a:pt x="164585" y="257175"/>
                  </a:lnTo>
                  <a:lnTo>
                    <a:pt x="120551" y="119881"/>
                  </a:lnTo>
                  <a:lnTo>
                    <a:pt x="77688" y="257175"/>
                  </a:lnTo>
                  <a:lnTo>
                    <a:pt x="52573" y="257175"/>
                  </a:lnTo>
                  <a:close/>
                  <a:moveTo>
                    <a:pt x="2120094" y="72666"/>
                  </a:moveTo>
                  <a:cubicBezTo>
                    <a:pt x="2158380" y="72666"/>
                    <a:pt x="2177690" y="94264"/>
                    <a:pt x="2178025" y="137461"/>
                  </a:cubicBezTo>
                  <a:lnTo>
                    <a:pt x="2178025" y="257175"/>
                  </a:lnTo>
                  <a:lnTo>
                    <a:pt x="2147050" y="257175"/>
                  </a:lnTo>
                  <a:lnTo>
                    <a:pt x="2147050" y="137294"/>
                  </a:lnTo>
                  <a:cubicBezTo>
                    <a:pt x="2146938" y="124234"/>
                    <a:pt x="2143953" y="114579"/>
                    <a:pt x="2138092" y="108328"/>
                  </a:cubicBezTo>
                  <a:cubicBezTo>
                    <a:pt x="2132232" y="102077"/>
                    <a:pt x="2123107" y="98952"/>
                    <a:pt x="2110717" y="98952"/>
                  </a:cubicBezTo>
                  <a:cubicBezTo>
                    <a:pt x="2100671" y="98952"/>
                    <a:pt x="2091853" y="101631"/>
                    <a:pt x="2084263" y="106989"/>
                  </a:cubicBezTo>
                  <a:cubicBezTo>
                    <a:pt x="2076673" y="112347"/>
                    <a:pt x="2070757" y="119379"/>
                    <a:pt x="2066515" y="128085"/>
                  </a:cubicBezTo>
                  <a:lnTo>
                    <a:pt x="2066515" y="257175"/>
                  </a:lnTo>
                  <a:lnTo>
                    <a:pt x="2035541" y="257175"/>
                  </a:lnTo>
                  <a:lnTo>
                    <a:pt x="2035541" y="76014"/>
                  </a:lnTo>
                  <a:lnTo>
                    <a:pt x="2064841" y="76014"/>
                  </a:lnTo>
                  <a:lnTo>
                    <a:pt x="2065846" y="98785"/>
                  </a:lnTo>
                  <a:cubicBezTo>
                    <a:pt x="2079687" y="81372"/>
                    <a:pt x="2097769" y="72666"/>
                    <a:pt x="2120094" y="72666"/>
                  </a:cubicBezTo>
                  <a:close/>
                  <a:moveTo>
                    <a:pt x="1678241" y="72666"/>
                  </a:moveTo>
                  <a:cubicBezTo>
                    <a:pt x="1701794" y="72666"/>
                    <a:pt x="1720099" y="80423"/>
                    <a:pt x="1733159" y="95938"/>
                  </a:cubicBezTo>
                  <a:cubicBezTo>
                    <a:pt x="1746219" y="111454"/>
                    <a:pt x="1752749" y="133666"/>
                    <a:pt x="1752749" y="162576"/>
                  </a:cubicBezTo>
                  <a:lnTo>
                    <a:pt x="1752749" y="175468"/>
                  </a:lnTo>
                  <a:lnTo>
                    <a:pt x="1630021" y="175468"/>
                  </a:lnTo>
                  <a:cubicBezTo>
                    <a:pt x="1630468" y="193328"/>
                    <a:pt x="1635686" y="207755"/>
                    <a:pt x="1645676" y="218749"/>
                  </a:cubicBezTo>
                  <a:cubicBezTo>
                    <a:pt x="1655666" y="229744"/>
                    <a:pt x="1668363" y="235241"/>
                    <a:pt x="1683767" y="235241"/>
                  </a:cubicBezTo>
                  <a:cubicBezTo>
                    <a:pt x="1694706" y="235241"/>
                    <a:pt x="1703970" y="233009"/>
                    <a:pt x="1711560" y="228544"/>
                  </a:cubicBezTo>
                  <a:cubicBezTo>
                    <a:pt x="1719151" y="224079"/>
                    <a:pt x="1725792" y="218163"/>
                    <a:pt x="1731485" y="210796"/>
                  </a:cubicBezTo>
                  <a:lnTo>
                    <a:pt x="1750405" y="225530"/>
                  </a:lnTo>
                  <a:cubicBezTo>
                    <a:pt x="1735224" y="248859"/>
                    <a:pt x="1712453" y="260524"/>
                    <a:pt x="1682092" y="260524"/>
                  </a:cubicBezTo>
                  <a:cubicBezTo>
                    <a:pt x="1657536" y="260524"/>
                    <a:pt x="1637556" y="252459"/>
                    <a:pt x="1622152" y="236330"/>
                  </a:cubicBezTo>
                  <a:cubicBezTo>
                    <a:pt x="1606748" y="220201"/>
                    <a:pt x="1599046" y="198630"/>
                    <a:pt x="1599046" y="171617"/>
                  </a:cubicBezTo>
                  <a:lnTo>
                    <a:pt x="1599046" y="165925"/>
                  </a:lnTo>
                  <a:cubicBezTo>
                    <a:pt x="1599046" y="147954"/>
                    <a:pt x="1602479" y="131908"/>
                    <a:pt x="1609343" y="117788"/>
                  </a:cubicBezTo>
                  <a:cubicBezTo>
                    <a:pt x="1616208" y="103668"/>
                    <a:pt x="1625807" y="92618"/>
                    <a:pt x="1638142" y="84637"/>
                  </a:cubicBezTo>
                  <a:cubicBezTo>
                    <a:pt x="1650476" y="76656"/>
                    <a:pt x="1663842" y="72666"/>
                    <a:pt x="1678241" y="72666"/>
                  </a:cubicBezTo>
                  <a:close/>
                  <a:moveTo>
                    <a:pt x="1129624" y="72666"/>
                  </a:moveTo>
                  <a:cubicBezTo>
                    <a:pt x="1150162" y="72666"/>
                    <a:pt x="1166822" y="77968"/>
                    <a:pt x="1179602" y="88572"/>
                  </a:cubicBezTo>
                  <a:cubicBezTo>
                    <a:pt x="1192383" y="99175"/>
                    <a:pt x="1198773" y="112737"/>
                    <a:pt x="1198773" y="129257"/>
                  </a:cubicBezTo>
                  <a:lnTo>
                    <a:pt x="1167631" y="129257"/>
                  </a:lnTo>
                  <a:cubicBezTo>
                    <a:pt x="1167631" y="120774"/>
                    <a:pt x="1164031" y="113463"/>
                    <a:pt x="1156831" y="107324"/>
                  </a:cubicBezTo>
                  <a:cubicBezTo>
                    <a:pt x="1149632" y="101185"/>
                    <a:pt x="1140563" y="98115"/>
                    <a:pt x="1129624" y="98115"/>
                  </a:cubicBezTo>
                  <a:cubicBezTo>
                    <a:pt x="1118350" y="98115"/>
                    <a:pt x="1109532" y="100571"/>
                    <a:pt x="1103170" y="105482"/>
                  </a:cubicBezTo>
                  <a:cubicBezTo>
                    <a:pt x="1096807" y="110393"/>
                    <a:pt x="1093626" y="116811"/>
                    <a:pt x="1093626" y="124737"/>
                  </a:cubicBezTo>
                  <a:cubicBezTo>
                    <a:pt x="1093626" y="132215"/>
                    <a:pt x="1096584" y="137852"/>
                    <a:pt x="1102500" y="141647"/>
                  </a:cubicBezTo>
                  <a:cubicBezTo>
                    <a:pt x="1108416" y="145442"/>
                    <a:pt x="1119104" y="149070"/>
                    <a:pt x="1134563" y="152530"/>
                  </a:cubicBezTo>
                  <a:cubicBezTo>
                    <a:pt x="1150023" y="155990"/>
                    <a:pt x="1162552" y="160120"/>
                    <a:pt x="1172151" y="164920"/>
                  </a:cubicBezTo>
                  <a:cubicBezTo>
                    <a:pt x="1181751" y="169720"/>
                    <a:pt x="1188867" y="175496"/>
                    <a:pt x="1193499" y="182249"/>
                  </a:cubicBezTo>
                  <a:cubicBezTo>
                    <a:pt x="1198131" y="189002"/>
                    <a:pt x="1200447" y="197234"/>
                    <a:pt x="1200447" y="206945"/>
                  </a:cubicBezTo>
                  <a:cubicBezTo>
                    <a:pt x="1200447" y="223131"/>
                    <a:pt x="1193973" y="236107"/>
                    <a:pt x="1181025" y="245873"/>
                  </a:cubicBezTo>
                  <a:cubicBezTo>
                    <a:pt x="1168077" y="255640"/>
                    <a:pt x="1151278" y="260524"/>
                    <a:pt x="1130628" y="260524"/>
                  </a:cubicBezTo>
                  <a:cubicBezTo>
                    <a:pt x="1116118" y="260524"/>
                    <a:pt x="1103281" y="257956"/>
                    <a:pt x="1092119" y="252822"/>
                  </a:cubicBezTo>
                  <a:cubicBezTo>
                    <a:pt x="1080957" y="247687"/>
                    <a:pt x="1072223" y="240516"/>
                    <a:pt x="1065916" y="231307"/>
                  </a:cubicBezTo>
                  <a:cubicBezTo>
                    <a:pt x="1059610" y="222098"/>
                    <a:pt x="1056456" y="212136"/>
                    <a:pt x="1056456" y="201420"/>
                  </a:cubicBezTo>
                  <a:lnTo>
                    <a:pt x="1087431" y="201420"/>
                  </a:lnTo>
                  <a:cubicBezTo>
                    <a:pt x="1087989" y="211801"/>
                    <a:pt x="1092147" y="220033"/>
                    <a:pt x="1099905" y="226116"/>
                  </a:cubicBezTo>
                  <a:cubicBezTo>
                    <a:pt x="1107662" y="232200"/>
                    <a:pt x="1117904" y="235241"/>
                    <a:pt x="1130628" y="235241"/>
                  </a:cubicBezTo>
                  <a:cubicBezTo>
                    <a:pt x="1142349" y="235241"/>
                    <a:pt x="1151753" y="232869"/>
                    <a:pt x="1158841" y="228126"/>
                  </a:cubicBezTo>
                  <a:cubicBezTo>
                    <a:pt x="1165929" y="223382"/>
                    <a:pt x="1169473" y="217047"/>
                    <a:pt x="1169473" y="209122"/>
                  </a:cubicBezTo>
                  <a:cubicBezTo>
                    <a:pt x="1169473" y="200751"/>
                    <a:pt x="1166319" y="194249"/>
                    <a:pt x="1160013" y="189616"/>
                  </a:cubicBezTo>
                  <a:cubicBezTo>
                    <a:pt x="1153706" y="184984"/>
                    <a:pt x="1142711" y="180994"/>
                    <a:pt x="1127029" y="177645"/>
                  </a:cubicBezTo>
                  <a:cubicBezTo>
                    <a:pt x="1111346" y="174296"/>
                    <a:pt x="1098900" y="170278"/>
                    <a:pt x="1089691" y="165590"/>
                  </a:cubicBezTo>
                  <a:cubicBezTo>
                    <a:pt x="1080483" y="160902"/>
                    <a:pt x="1073674" y="155321"/>
                    <a:pt x="1069265" y="148847"/>
                  </a:cubicBezTo>
                  <a:cubicBezTo>
                    <a:pt x="1064856" y="142373"/>
                    <a:pt x="1062651" y="134671"/>
                    <a:pt x="1062651" y="125741"/>
                  </a:cubicBezTo>
                  <a:cubicBezTo>
                    <a:pt x="1062651" y="110896"/>
                    <a:pt x="1068930" y="98338"/>
                    <a:pt x="1081487" y="88069"/>
                  </a:cubicBezTo>
                  <a:cubicBezTo>
                    <a:pt x="1094045" y="77800"/>
                    <a:pt x="1110090" y="72666"/>
                    <a:pt x="1129624" y="72666"/>
                  </a:cubicBezTo>
                  <a:close/>
                  <a:moveTo>
                    <a:pt x="942472" y="35831"/>
                  </a:moveTo>
                  <a:cubicBezTo>
                    <a:pt x="928855" y="35831"/>
                    <a:pt x="917916" y="41049"/>
                    <a:pt x="909656" y="51485"/>
                  </a:cubicBezTo>
                  <a:cubicBezTo>
                    <a:pt x="901396" y="61922"/>
                    <a:pt x="897266" y="75679"/>
                    <a:pt x="897266" y="92757"/>
                  </a:cubicBezTo>
                  <a:cubicBezTo>
                    <a:pt x="897266" y="109389"/>
                    <a:pt x="901256" y="123090"/>
                    <a:pt x="909237" y="133862"/>
                  </a:cubicBezTo>
                  <a:cubicBezTo>
                    <a:pt x="917218" y="144633"/>
                    <a:pt x="927906" y="150019"/>
                    <a:pt x="941300" y="150019"/>
                  </a:cubicBezTo>
                  <a:cubicBezTo>
                    <a:pt x="951681" y="150019"/>
                    <a:pt x="961253" y="146838"/>
                    <a:pt x="970015" y="140475"/>
                  </a:cubicBezTo>
                  <a:cubicBezTo>
                    <a:pt x="978777" y="134113"/>
                    <a:pt x="985168" y="126243"/>
                    <a:pt x="989186" y="116867"/>
                  </a:cubicBezTo>
                  <a:lnTo>
                    <a:pt x="989186" y="104477"/>
                  </a:lnTo>
                  <a:cubicBezTo>
                    <a:pt x="989186" y="84163"/>
                    <a:pt x="984777" y="67643"/>
                    <a:pt x="975959" y="54918"/>
                  </a:cubicBezTo>
                  <a:cubicBezTo>
                    <a:pt x="967141" y="42193"/>
                    <a:pt x="955979" y="35831"/>
                    <a:pt x="942472" y="35831"/>
                  </a:cubicBezTo>
                  <a:close/>
                  <a:moveTo>
                    <a:pt x="1349108" y="10046"/>
                  </a:moveTo>
                  <a:cubicBezTo>
                    <a:pt x="1355136" y="10046"/>
                    <a:pt x="1359712" y="11776"/>
                    <a:pt x="1362837" y="15237"/>
                  </a:cubicBezTo>
                  <a:cubicBezTo>
                    <a:pt x="1365963" y="18697"/>
                    <a:pt x="1367526" y="22938"/>
                    <a:pt x="1367526" y="27961"/>
                  </a:cubicBezTo>
                  <a:cubicBezTo>
                    <a:pt x="1367526" y="32984"/>
                    <a:pt x="1365963" y="37170"/>
                    <a:pt x="1362837" y="40519"/>
                  </a:cubicBezTo>
                  <a:cubicBezTo>
                    <a:pt x="1359712" y="43867"/>
                    <a:pt x="1355136" y="45542"/>
                    <a:pt x="1349108" y="45542"/>
                  </a:cubicBezTo>
                  <a:cubicBezTo>
                    <a:pt x="1343081" y="45542"/>
                    <a:pt x="1338532" y="43867"/>
                    <a:pt x="1335462" y="40519"/>
                  </a:cubicBezTo>
                  <a:cubicBezTo>
                    <a:pt x="1332393" y="37170"/>
                    <a:pt x="1330858" y="32984"/>
                    <a:pt x="1330858" y="27961"/>
                  </a:cubicBezTo>
                  <a:cubicBezTo>
                    <a:pt x="1330858" y="22938"/>
                    <a:pt x="1332393" y="18697"/>
                    <a:pt x="1335462" y="15237"/>
                  </a:cubicBezTo>
                  <a:cubicBezTo>
                    <a:pt x="1338532" y="11776"/>
                    <a:pt x="1343081" y="10046"/>
                    <a:pt x="1349108" y="10046"/>
                  </a:cubicBezTo>
                  <a:close/>
                  <a:moveTo>
                    <a:pt x="942305" y="10046"/>
                  </a:moveTo>
                  <a:cubicBezTo>
                    <a:pt x="966415" y="10046"/>
                    <a:pt x="985419" y="19060"/>
                    <a:pt x="999316" y="37086"/>
                  </a:cubicBezTo>
                  <a:cubicBezTo>
                    <a:pt x="1013212" y="55113"/>
                    <a:pt x="1020161" y="79698"/>
                    <a:pt x="1020161" y="110840"/>
                  </a:cubicBezTo>
                  <a:lnTo>
                    <a:pt x="1020161" y="119881"/>
                  </a:lnTo>
                  <a:cubicBezTo>
                    <a:pt x="1020161" y="167320"/>
                    <a:pt x="1010785" y="201950"/>
                    <a:pt x="992032" y="223772"/>
                  </a:cubicBezTo>
                  <a:cubicBezTo>
                    <a:pt x="973280" y="245594"/>
                    <a:pt x="944984" y="256784"/>
                    <a:pt x="907144" y="257342"/>
                  </a:cubicBezTo>
                  <a:lnTo>
                    <a:pt x="901117" y="257342"/>
                  </a:lnTo>
                  <a:lnTo>
                    <a:pt x="901117" y="231056"/>
                  </a:lnTo>
                  <a:lnTo>
                    <a:pt x="907647" y="231056"/>
                  </a:lnTo>
                  <a:cubicBezTo>
                    <a:pt x="933208" y="230611"/>
                    <a:pt x="952853" y="223956"/>
                    <a:pt x="966583" y="211089"/>
                  </a:cubicBezTo>
                  <a:cubicBezTo>
                    <a:pt x="980312" y="198223"/>
                    <a:pt x="987791" y="177866"/>
                    <a:pt x="989018" y="150019"/>
                  </a:cubicBezTo>
                  <a:cubicBezTo>
                    <a:pt x="982545" y="157721"/>
                    <a:pt x="974815" y="163916"/>
                    <a:pt x="965829" y="168604"/>
                  </a:cubicBezTo>
                  <a:cubicBezTo>
                    <a:pt x="956844" y="173292"/>
                    <a:pt x="946993" y="175636"/>
                    <a:pt x="936278" y="175636"/>
                  </a:cubicBezTo>
                  <a:cubicBezTo>
                    <a:pt x="922213" y="175636"/>
                    <a:pt x="909963" y="172176"/>
                    <a:pt x="899526" y="165255"/>
                  </a:cubicBezTo>
                  <a:cubicBezTo>
                    <a:pt x="889090" y="158335"/>
                    <a:pt x="881025" y="148596"/>
                    <a:pt x="875332" y="136038"/>
                  </a:cubicBezTo>
                  <a:cubicBezTo>
                    <a:pt x="869640" y="123481"/>
                    <a:pt x="866793" y="109612"/>
                    <a:pt x="866793" y="94431"/>
                  </a:cubicBezTo>
                  <a:cubicBezTo>
                    <a:pt x="866793" y="78135"/>
                    <a:pt x="869891" y="63457"/>
                    <a:pt x="876086" y="50397"/>
                  </a:cubicBezTo>
                  <a:cubicBezTo>
                    <a:pt x="882281" y="37338"/>
                    <a:pt x="891071" y="27347"/>
                    <a:pt x="902456" y="20427"/>
                  </a:cubicBezTo>
                  <a:cubicBezTo>
                    <a:pt x="913842" y="13506"/>
                    <a:pt x="927125" y="10046"/>
                    <a:pt x="942305" y="10046"/>
                  </a:cubicBezTo>
                  <a:close/>
                  <a:moveTo>
                    <a:pt x="1530771" y="0"/>
                  </a:moveTo>
                  <a:lnTo>
                    <a:pt x="1561746" y="0"/>
                  </a:lnTo>
                  <a:lnTo>
                    <a:pt x="1561746" y="257175"/>
                  </a:lnTo>
                  <a:lnTo>
                    <a:pt x="1533283" y="257175"/>
                  </a:lnTo>
                  <a:lnTo>
                    <a:pt x="1531776" y="237753"/>
                  </a:lnTo>
                  <a:cubicBezTo>
                    <a:pt x="1519386" y="252933"/>
                    <a:pt x="1502141" y="260524"/>
                    <a:pt x="1480040" y="260524"/>
                  </a:cubicBezTo>
                  <a:cubicBezTo>
                    <a:pt x="1459055" y="260524"/>
                    <a:pt x="1441949" y="251929"/>
                    <a:pt x="1428722" y="234739"/>
                  </a:cubicBezTo>
                  <a:cubicBezTo>
                    <a:pt x="1415495" y="217549"/>
                    <a:pt x="1408881" y="195114"/>
                    <a:pt x="1408881" y="167432"/>
                  </a:cubicBezTo>
                  <a:lnTo>
                    <a:pt x="1408881" y="165088"/>
                  </a:lnTo>
                  <a:cubicBezTo>
                    <a:pt x="1408881" y="137294"/>
                    <a:pt x="1415467" y="114942"/>
                    <a:pt x="1428638" y="98031"/>
                  </a:cubicBezTo>
                  <a:cubicBezTo>
                    <a:pt x="1441809" y="81121"/>
                    <a:pt x="1459055" y="72666"/>
                    <a:pt x="1480375" y="72666"/>
                  </a:cubicBezTo>
                  <a:cubicBezTo>
                    <a:pt x="1501583" y="72666"/>
                    <a:pt x="1518381" y="79921"/>
                    <a:pt x="1530771" y="94431"/>
                  </a:cubicBezTo>
                  <a:close/>
                  <a:moveTo>
                    <a:pt x="1247645" y="0"/>
                  </a:moveTo>
                  <a:lnTo>
                    <a:pt x="1278619" y="0"/>
                  </a:lnTo>
                  <a:lnTo>
                    <a:pt x="1278619" y="257175"/>
                  </a:lnTo>
                  <a:lnTo>
                    <a:pt x="1247645" y="257175"/>
                  </a:lnTo>
                  <a:close/>
                </a:path>
              </a:pathLst>
            </a:custGeom>
            <a:solidFill>
              <a:srgbClr val="BFBFB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700" b="0" i="0" u="none" strike="noStrike" cap="none">
                <a:solidFill>
                  <a:srgbClr val="BFBFBF"/>
                </a:solidFill>
                <a:latin typeface="Oi"/>
                <a:ea typeface="Oi"/>
                <a:cs typeface="Oi"/>
                <a:sym typeface="Oi"/>
              </a:endParaRPr>
            </a:p>
          </p:txBody>
        </p:sp>
        <p:sp>
          <p:nvSpPr>
            <p:cNvPr id="19" name="Google Shape;19;p8"/>
            <p:cNvSpPr/>
            <p:nvPr/>
          </p:nvSpPr>
          <p:spPr>
            <a:xfrm>
              <a:off x="-2202100" y="-2224223"/>
              <a:ext cx="16596200" cy="11284323"/>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Oi"/>
                <a:ea typeface="Oi"/>
                <a:cs typeface="Oi"/>
                <a:sym typeface="Oi"/>
              </a:endParaRPr>
            </a:p>
          </p:txBody>
        </p:sp>
      </p:gr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image" Target="../media/image12.gif"/><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4.xml"/><Relationship Id="rId5" Type="http://schemas.openxmlformats.org/officeDocument/2006/relationships/hyperlink" Target="http://localhost:8080/api/products?price=150.75&amp;bookTitle=Java%20Programming&amp;publisher=O'Reilly" TargetMode="Externa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6.xml"/><Relationship Id="rId1" Type="http://schemas.openxmlformats.org/officeDocument/2006/relationships/slideLayout" Target="../slideLayouts/slideLayout4.xml"/><Relationship Id="rId5" Type="http://schemas.openxmlformats.org/officeDocument/2006/relationships/hyperlink" Target="http://localhost:8080/api/products/123" TargetMode="Externa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7.xml"/><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8.xml"/><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1.xml"/><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3.xml"/><Relationship Id="rId1" Type="http://schemas.openxmlformats.org/officeDocument/2006/relationships/slideLayout" Target="../slideLayouts/slideLayout4.xml"/><Relationship Id="rId5" Type="http://schemas.openxmlformats.org/officeDocument/2006/relationships/image" Target="../media/image19.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5.xml"/><Relationship Id="rId1"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pic>
        <p:nvPicPr>
          <p:cNvPr id="59" name="Google Shape;59;p1"/>
          <p:cNvPicPr preferRelativeResize="0"/>
          <p:nvPr/>
        </p:nvPicPr>
        <p:blipFill rotWithShape="1">
          <a:blip r:embed="rId3">
            <a:alphaModFix/>
          </a:blip>
          <a:srcRect/>
          <a:stretch/>
        </p:blipFill>
        <p:spPr>
          <a:xfrm>
            <a:off x="-263300" y="-147937"/>
            <a:ext cx="12192000" cy="6858000"/>
          </a:xfrm>
          <a:prstGeom prst="rect">
            <a:avLst/>
          </a:prstGeom>
          <a:noFill/>
          <a:ln>
            <a:noFill/>
          </a:ln>
        </p:spPr>
      </p:pic>
      <p:sp>
        <p:nvSpPr>
          <p:cNvPr id="61" name="Google Shape;61;p1"/>
          <p:cNvSpPr txBox="1"/>
          <p:nvPr/>
        </p:nvSpPr>
        <p:spPr>
          <a:xfrm>
            <a:off x="304800" y="1773588"/>
            <a:ext cx="4626428" cy="615553"/>
          </a:xfrm>
          <a:prstGeom prst="rect">
            <a:avLst/>
          </a:prstGeom>
          <a:noFill/>
          <a:ln>
            <a:noFill/>
          </a:ln>
        </p:spPr>
        <p:txBody>
          <a:bodyPr spcFirstLastPara="1" wrap="square" lIns="0" tIns="0" rIns="0" bIns="0" anchor="t" anchorCtr="0">
            <a:spAutoFit/>
          </a:bodyPr>
          <a:lstStyle/>
          <a:p>
            <a:pPr lvl="0"/>
            <a:r>
              <a:rPr lang="vi-VN" sz="4000" b="1" dirty="0">
                <a:solidFill>
                  <a:srgbClr val="154A8D"/>
                </a:solidFill>
                <a:latin typeface="+mj-lt"/>
              </a:rPr>
              <a:t>Lập trình Java</a:t>
            </a:r>
          </a:p>
        </p:txBody>
      </p:sp>
      <p:pic>
        <p:nvPicPr>
          <p:cNvPr id="63" name="Google Shape;63;p1"/>
          <p:cNvPicPr preferRelativeResize="0"/>
          <p:nvPr/>
        </p:nvPicPr>
        <p:blipFill rotWithShape="1">
          <a:blip r:embed="rId4">
            <a:alphaModFix/>
          </a:blip>
          <a:srcRect/>
          <a:stretch/>
        </p:blipFill>
        <p:spPr>
          <a:xfrm>
            <a:off x="4681850" y="914400"/>
            <a:ext cx="7445124" cy="5029200"/>
          </a:xfrm>
          <a:prstGeom prst="rect">
            <a:avLst/>
          </a:prstGeom>
          <a:noFill/>
          <a:ln>
            <a:noFill/>
          </a:ln>
        </p:spPr>
      </p:pic>
      <p:pic>
        <p:nvPicPr>
          <p:cNvPr id="64" name="Google Shape;64;p1"/>
          <p:cNvPicPr preferRelativeResize="0"/>
          <p:nvPr/>
        </p:nvPicPr>
        <p:blipFill rotWithShape="1">
          <a:blip r:embed="rId5">
            <a:alphaModFix/>
          </a:blip>
          <a:srcRect/>
          <a:stretch/>
        </p:blipFill>
        <p:spPr>
          <a:xfrm>
            <a:off x="304800" y="228600"/>
            <a:ext cx="1143000" cy="821245"/>
          </a:xfrm>
          <a:prstGeom prst="rect">
            <a:avLst/>
          </a:prstGeom>
          <a:noFill/>
          <a:ln>
            <a:noFill/>
          </a:ln>
        </p:spPr>
      </p:pic>
      <p:sp>
        <p:nvSpPr>
          <p:cNvPr id="10" name="object 393"/>
          <p:cNvSpPr/>
          <p:nvPr/>
        </p:nvSpPr>
        <p:spPr>
          <a:xfrm>
            <a:off x="-266700" y="4067031"/>
            <a:ext cx="2753046" cy="237641"/>
          </a:xfrm>
          <a:custGeom>
            <a:avLst/>
            <a:gdLst/>
            <a:ahLst/>
            <a:cxnLst/>
            <a:rect l="l" t="t" r="r" b="b"/>
            <a:pathLst>
              <a:path w="3429000" h="247014">
                <a:moveTo>
                  <a:pt x="3429000" y="0"/>
                </a:moveTo>
                <a:lnTo>
                  <a:pt x="0" y="0"/>
                </a:lnTo>
                <a:lnTo>
                  <a:pt x="0" y="246887"/>
                </a:lnTo>
                <a:lnTo>
                  <a:pt x="3429000" y="246887"/>
                </a:lnTo>
                <a:lnTo>
                  <a:pt x="3429000" y="0"/>
                </a:lnTo>
                <a:close/>
              </a:path>
            </a:pathLst>
          </a:custGeom>
          <a:solidFill>
            <a:srgbClr val="36365C"/>
          </a:solidFill>
        </p:spPr>
        <p:txBody>
          <a:bodyPr wrap="square" lIns="0" tIns="0" rIns="0" bIns="0" rtlCol="0"/>
          <a:lstStyle/>
          <a:p>
            <a:endParaRPr/>
          </a:p>
        </p:txBody>
      </p:sp>
      <p:sp>
        <p:nvSpPr>
          <p:cNvPr id="12" name="object 403"/>
          <p:cNvSpPr txBox="1"/>
          <p:nvPr/>
        </p:nvSpPr>
        <p:spPr>
          <a:xfrm>
            <a:off x="304800" y="4067031"/>
            <a:ext cx="2479401" cy="228268"/>
          </a:xfrm>
          <a:prstGeom prst="rect">
            <a:avLst/>
          </a:prstGeom>
        </p:spPr>
        <p:txBody>
          <a:bodyPr vert="horz" wrap="square" lIns="0" tIns="12700" rIns="0" bIns="0" rtlCol="0">
            <a:spAutoFit/>
          </a:bodyPr>
          <a:lstStyle/>
          <a:p>
            <a:pPr marL="12700">
              <a:lnSpc>
                <a:spcPct val="100000"/>
              </a:lnSpc>
              <a:spcBef>
                <a:spcPts val="100"/>
              </a:spcBef>
            </a:pPr>
            <a:r>
              <a:rPr lang="vi-VN" dirty="0" smtClean="0">
                <a:solidFill>
                  <a:schemeClr val="bg1"/>
                </a:solidFill>
                <a:latin typeface="+mn-lt"/>
                <a:cs typeface="Times New Roman"/>
              </a:rPr>
              <a:t>GV Nguyễn Đắc Kiên</a:t>
            </a:r>
            <a:endParaRPr dirty="0">
              <a:solidFill>
                <a:schemeClr val="bg1"/>
              </a:solidFill>
              <a:latin typeface="+mn-lt"/>
              <a:cs typeface="Times New Roman"/>
            </a:endParaRPr>
          </a:p>
        </p:txBody>
      </p:sp>
      <p:sp>
        <p:nvSpPr>
          <p:cNvPr id="8" name="Google Shape;61;p1"/>
          <p:cNvSpPr txBox="1"/>
          <p:nvPr/>
        </p:nvSpPr>
        <p:spPr>
          <a:xfrm>
            <a:off x="1270884" y="2612533"/>
            <a:ext cx="4626428" cy="615553"/>
          </a:xfrm>
          <a:prstGeom prst="rect">
            <a:avLst/>
          </a:prstGeom>
          <a:noFill/>
          <a:ln>
            <a:noFill/>
          </a:ln>
        </p:spPr>
        <p:txBody>
          <a:bodyPr spcFirstLastPara="1" wrap="square" lIns="0" tIns="0" rIns="0" bIns="0" anchor="t" anchorCtr="0">
            <a:spAutoFit/>
          </a:bodyPr>
          <a:lstStyle/>
          <a:p>
            <a:pPr lvl="0"/>
            <a:r>
              <a:rPr lang="vi-VN" sz="4000" b="1" dirty="0" smtClean="0">
                <a:solidFill>
                  <a:srgbClr val="154A8D"/>
                </a:solidFill>
                <a:latin typeface="+mj-lt"/>
              </a:rPr>
              <a:t>Restful API</a:t>
            </a:r>
            <a:endParaRPr lang="vi-VN" sz="4000" b="1" dirty="0">
              <a:solidFill>
                <a:srgbClr val="154A8D"/>
              </a:solidFill>
              <a:latin typeface="+mj-lt"/>
            </a:endParaRPr>
          </a:p>
        </p:txBody>
      </p:sp>
    </p:spTree>
    <p:extLst>
      <p:ext uri="{BB962C8B-B14F-4D97-AF65-F5344CB8AC3E}">
        <p14:creationId xmlns:p14="http://schemas.microsoft.com/office/powerpoint/2010/main" val="682489889"/>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vi-VN" sz="2800" b="1" dirty="0" smtClean="0">
                <a:latin typeface="Times New Roman" panose="02020603050405020304" pitchFamily="18" charset="0"/>
                <a:cs typeface="Times New Roman" panose="02020603050405020304" pitchFamily="18" charset="0"/>
              </a:rPr>
              <a:t>Nội dung bài học</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pPr marL="571500" indent="-457200">
              <a:buFont typeface="+mj-lt"/>
              <a:buAutoNum type="arabicPeriod"/>
            </a:pPr>
            <a:r>
              <a:rPr lang="vi-VN" sz="2400" dirty="0" smtClean="0">
                <a:latin typeface="Times New Roman" panose="02020603050405020304" pitchFamily="18" charset="0"/>
                <a:cs typeface="Times New Roman" panose="02020603050405020304" pitchFamily="18" charset="0"/>
              </a:rPr>
              <a:t>Giới thiệu</a:t>
            </a:r>
          </a:p>
          <a:p>
            <a:pPr marL="571500" indent="-457200">
              <a:buFont typeface="+mj-lt"/>
              <a:buAutoNum type="arabicPeriod"/>
            </a:pPr>
            <a:r>
              <a:rPr lang="vi-VN" sz="2400" dirty="0" smtClean="0">
                <a:latin typeface="Times New Roman" panose="02020603050405020304" pitchFamily="18" charset="0"/>
                <a:cs typeface="Times New Roman" panose="02020603050405020304" pitchFamily="18" charset="0"/>
              </a:rPr>
              <a:t>RESTful API</a:t>
            </a:r>
          </a:p>
          <a:p>
            <a:pPr marL="571500" indent="-457200">
              <a:buFont typeface="+mj-lt"/>
              <a:buAutoNum type="arabicPeriod"/>
            </a:pPr>
            <a:r>
              <a:rPr lang="vi-VN" sz="2400" dirty="0" smtClean="0">
                <a:latin typeface="Times New Roman" panose="02020603050405020304" pitchFamily="18" charset="0"/>
                <a:cs typeface="Times New Roman" panose="02020603050405020304" pitchFamily="18" charset="0"/>
              </a:rPr>
              <a:t>Cách truyền tham số vào Api</a:t>
            </a:r>
          </a:p>
          <a:p>
            <a:pPr marL="571500" indent="-457200">
              <a:buFont typeface="+mj-lt"/>
              <a:buAutoNum type="arabicPeriod"/>
            </a:pPr>
            <a:r>
              <a:rPr lang="vi-VN" sz="2400" dirty="0" smtClean="0">
                <a:latin typeface="Times New Roman" panose="02020603050405020304" pitchFamily="18" charset="0"/>
                <a:cs typeface="Times New Roman" panose="02020603050405020304" pitchFamily="18" charset="0"/>
              </a:rPr>
              <a:t>Cách tạo api bằng Spring MVC</a:t>
            </a: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spTree>
    <p:extLst>
      <p:ext uri="{BB962C8B-B14F-4D97-AF65-F5344CB8AC3E}">
        <p14:creationId xmlns:p14="http://schemas.microsoft.com/office/powerpoint/2010/main" val="1093093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vi-VN" sz="2800" b="1" dirty="0" smtClean="0">
                <a:latin typeface="Times New Roman" panose="02020603050405020304" pitchFamily="18" charset="0"/>
                <a:cs typeface="Times New Roman" panose="02020603050405020304" pitchFamily="18" charset="0"/>
              </a:rPr>
              <a:t>1</a:t>
            </a:r>
            <a:r>
              <a:rPr lang="vi-VN" sz="2800" b="1" dirty="0">
                <a:latin typeface="Times New Roman" panose="02020603050405020304" pitchFamily="18" charset="0"/>
                <a:cs typeface="Times New Roman" panose="02020603050405020304" pitchFamily="18" charset="0"/>
              </a:rPr>
              <a:t>) Giới </a:t>
            </a:r>
            <a:r>
              <a:rPr lang="vi-VN" sz="2800" b="1" dirty="0" smtClean="0">
                <a:latin typeface="Times New Roman" panose="02020603050405020304" pitchFamily="18" charset="0"/>
                <a:cs typeface="Times New Roman" panose="02020603050405020304" pitchFamily="18" charset="0"/>
              </a:rPr>
              <a:t>thiệu</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pPr marL="571500" indent="-457200">
              <a:buFont typeface="+mj-lt"/>
              <a:buAutoNum type="arabicPeriod"/>
            </a:pPr>
            <a:r>
              <a:rPr lang="vi-VN" sz="2400" dirty="0">
                <a:latin typeface="Times New Roman" panose="02020603050405020304" pitchFamily="18" charset="0"/>
                <a:cs typeface="Times New Roman" panose="02020603050405020304" pitchFamily="18" charset="0"/>
              </a:rPr>
              <a:t>API</a:t>
            </a:r>
            <a:r>
              <a:rPr lang="vi-VN" sz="2400" dirty="0" smtClean="0">
                <a:latin typeface="Times New Roman" panose="02020603050405020304" pitchFamily="18" charset="0"/>
                <a:cs typeface="Times New Roman" panose="02020603050405020304" pitchFamily="18" charset="0"/>
              </a:rPr>
              <a:t> là gì </a:t>
            </a:r>
          </a:p>
          <a:p>
            <a:pPr marL="571500" indent="-457200">
              <a:buFont typeface="+mj-lt"/>
              <a:buAutoNum type="arabicPeriod"/>
            </a:pPr>
            <a:r>
              <a:rPr lang="vi-VN" sz="2400" dirty="0" smtClean="0">
                <a:latin typeface="Times New Roman" panose="02020603050405020304" pitchFamily="18" charset="0"/>
                <a:cs typeface="Times New Roman" panose="02020603050405020304" pitchFamily="18" charset="0"/>
              </a:rPr>
              <a:t>Các loại API</a:t>
            </a:r>
          </a:p>
          <a:p>
            <a:pPr marL="571500" indent="-457200">
              <a:buFont typeface="+mj-lt"/>
              <a:buAutoNum type="arabicPeriod"/>
            </a:pPr>
            <a:r>
              <a:rPr lang="vi-VN" sz="2400" dirty="0" smtClean="0">
                <a:latin typeface="Times New Roman" panose="02020603050405020304" pitchFamily="18" charset="0"/>
                <a:cs typeface="Times New Roman" panose="02020603050405020304" pitchFamily="18" charset="0"/>
              </a:rPr>
              <a:t>Ví dụ</a:t>
            </a:r>
          </a:p>
          <a:p>
            <a:pPr marL="571500" indent="-457200">
              <a:buFont typeface="+mj-lt"/>
              <a:buAutoNum type="arabicPeriod"/>
            </a:pPr>
            <a:r>
              <a:rPr lang="vi-VN" sz="2400" dirty="0" smtClean="0">
                <a:latin typeface="Times New Roman" panose="02020603050405020304" pitchFamily="18" charset="0"/>
                <a:cs typeface="Times New Roman" panose="02020603050405020304" pitchFamily="18" charset="0"/>
              </a:rPr>
              <a:t>Các công nghệ tạo api</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spTree>
    <p:extLst>
      <p:ext uri="{BB962C8B-B14F-4D97-AF65-F5344CB8AC3E}">
        <p14:creationId xmlns:p14="http://schemas.microsoft.com/office/powerpoint/2010/main" val="31249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vi-VN" sz="2800" b="1" dirty="0" smtClean="0">
                <a:latin typeface="Times New Roman" panose="02020603050405020304" pitchFamily="18" charset="0"/>
                <a:cs typeface="Times New Roman" panose="02020603050405020304" pitchFamily="18" charset="0"/>
              </a:rPr>
              <a:t>1.1) API là gì</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r>
              <a:rPr lang="vi-VN" sz="2400" dirty="0">
                <a:latin typeface="Times New Roman" panose="02020603050405020304" pitchFamily="18" charset="0"/>
                <a:cs typeface="Times New Roman" panose="02020603050405020304" pitchFamily="18" charset="0"/>
              </a:rPr>
              <a:t>API (Application Programming Interface) là một giao diện cho phép các phần mềm hoặc hệ thống khác nhau giao tiếp và tương tác với nhau. Nó là một tập hợp các phương thức, hàm, giao thức, và công cụ mà ứng dụng cung cấp để một ứng dụng khác có thể sử dụng</a:t>
            </a:r>
            <a:r>
              <a:rPr lang="vi-VN" sz="2400" dirty="0" smtClean="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6" name="Picture 5"/>
          <p:cNvPicPr>
            <a:picLocks noChangeAspect="1"/>
          </p:cNvPicPr>
          <p:nvPr/>
        </p:nvPicPr>
        <p:blipFill>
          <a:blip r:embed="rId5"/>
          <a:stretch>
            <a:fillRect/>
          </a:stretch>
        </p:blipFill>
        <p:spPr>
          <a:xfrm>
            <a:off x="6950528" y="3421246"/>
            <a:ext cx="4267200" cy="2755717"/>
          </a:xfrm>
          <a:prstGeom prst="rect">
            <a:avLst/>
          </a:prstGeom>
        </p:spPr>
      </p:pic>
      <p:pic>
        <p:nvPicPr>
          <p:cNvPr id="7" name="Picture 6"/>
          <p:cNvPicPr>
            <a:picLocks noChangeAspect="1"/>
          </p:cNvPicPr>
          <p:nvPr/>
        </p:nvPicPr>
        <p:blipFill>
          <a:blip r:embed="rId6"/>
          <a:stretch>
            <a:fillRect/>
          </a:stretch>
        </p:blipFill>
        <p:spPr>
          <a:xfrm>
            <a:off x="1097345" y="3374802"/>
            <a:ext cx="5594038" cy="2373503"/>
          </a:xfrm>
          <a:prstGeom prst="rect">
            <a:avLst/>
          </a:prstGeom>
        </p:spPr>
      </p:pic>
    </p:spTree>
    <p:extLst>
      <p:ext uri="{BB962C8B-B14F-4D97-AF65-F5344CB8AC3E}">
        <p14:creationId xmlns:p14="http://schemas.microsoft.com/office/powerpoint/2010/main" val="3770366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vi-VN" sz="2800" b="1" dirty="0">
                <a:latin typeface="Times New Roman" panose="02020603050405020304" pitchFamily="18" charset="0"/>
                <a:cs typeface="Times New Roman" panose="02020603050405020304" pitchFamily="18" charset="0"/>
              </a:rPr>
              <a:t>1.1) API là gì</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r>
              <a:rPr lang="vi-VN" sz="2400" b="1" dirty="0">
                <a:latin typeface="Times New Roman" panose="02020603050405020304" pitchFamily="18" charset="0"/>
                <a:cs typeface="Times New Roman" panose="02020603050405020304" pitchFamily="18" charset="0"/>
              </a:rPr>
              <a:t>API trong ngữ cảnh của phần mềm: </a:t>
            </a:r>
            <a:r>
              <a:rPr lang="vi-VN" sz="2400" dirty="0">
                <a:latin typeface="Times New Roman" panose="02020603050405020304" pitchFamily="18" charset="0"/>
                <a:cs typeface="Times New Roman" panose="02020603050405020304" pitchFamily="18" charset="0"/>
              </a:rPr>
              <a:t>API định nghĩa các phương thức mà một phần mềm có thể cung cấp cho các hệ thống khác để sử dụng.</a:t>
            </a:r>
          </a:p>
          <a:p>
            <a:r>
              <a:rPr lang="vi-VN" sz="2400" b="1" dirty="0">
                <a:latin typeface="Times New Roman" panose="02020603050405020304" pitchFamily="18" charset="0"/>
                <a:cs typeface="Times New Roman" panose="02020603050405020304" pitchFamily="18" charset="0"/>
              </a:rPr>
              <a:t>API trong ngữ cảnh của web: </a:t>
            </a:r>
            <a:r>
              <a:rPr lang="vi-VN" sz="2400" dirty="0">
                <a:latin typeface="Times New Roman" panose="02020603050405020304" pitchFamily="18" charset="0"/>
                <a:cs typeface="Times New Roman" panose="02020603050405020304" pitchFamily="18" charset="0"/>
              </a:rPr>
              <a:t>Web API (RESTful API, SOAP API) cho phép các ứng dụng giao tiếp qua giao thức HTTP, truyền tải dữ liệu giữa client và server.</a:t>
            </a:r>
          </a:p>
          <a:p>
            <a:r>
              <a:rPr lang="en-US" sz="2400" dirty="0">
                <a:latin typeface="Times New Roman" panose="02020603050405020304" pitchFamily="18" charset="0"/>
                <a:cs typeface="Times New Roman" panose="02020603050405020304" pitchFamily="18" charset="0"/>
              </a:rPr>
              <a:t>API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giữa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ứng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giúp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truyền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lệnh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phải</a:t>
            </a:r>
            <a:r>
              <a:rPr lang="en-US" sz="2400" dirty="0">
                <a:latin typeface="Times New Roman" panose="02020603050405020304" pitchFamily="18" charset="0"/>
                <a:cs typeface="Times New Roman" panose="02020603050405020304" pitchFamily="18" charset="0"/>
              </a:rPr>
              <a:t> chia </a:t>
            </a:r>
            <a:r>
              <a:rPr lang="en-US" sz="2400" dirty="0" err="1">
                <a:latin typeface="Times New Roman" panose="02020603050405020304" pitchFamily="18" charset="0"/>
                <a:cs typeface="Times New Roman" panose="02020603050405020304" pitchFamily="18" charset="0"/>
              </a:rPr>
              <a:t>sẻ</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toàn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nguồn</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3252597" y="4492496"/>
            <a:ext cx="4519802" cy="1842423"/>
          </a:xfrm>
          <a:prstGeom prst="rect">
            <a:avLst/>
          </a:prstGeom>
        </p:spPr>
      </p:pic>
    </p:spTree>
    <p:extLst>
      <p:ext uri="{BB962C8B-B14F-4D97-AF65-F5344CB8AC3E}">
        <p14:creationId xmlns:p14="http://schemas.microsoft.com/office/powerpoint/2010/main" val="1193575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1.2) </a:t>
            </a:r>
            <a:r>
              <a:rPr lang="en-US" sz="2800" b="1" dirty="0" err="1">
                <a:latin typeface="Times New Roman" panose="02020603050405020304" pitchFamily="18" charset="0"/>
                <a:cs typeface="Times New Roman" panose="02020603050405020304" pitchFamily="18" charset="0"/>
              </a:rPr>
              <a:t>Các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Loại</a:t>
            </a:r>
            <a:r>
              <a:rPr lang="en-US" sz="2800" b="1" dirty="0">
                <a:latin typeface="Times New Roman" panose="02020603050405020304" pitchFamily="18" charset="0"/>
                <a:cs typeface="Times New Roman" panose="02020603050405020304" pitchFamily="18" charset="0"/>
              </a:rPr>
              <a:t> API</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pPr marL="114300" indent="0">
              <a:buNone/>
            </a:pPr>
            <a:r>
              <a:rPr lang="vi-VN" sz="2400" b="1" dirty="0">
                <a:latin typeface="Times New Roman" panose="02020603050405020304" pitchFamily="18" charset="0"/>
                <a:cs typeface="Times New Roman" panose="02020603050405020304" pitchFamily="18" charset="0"/>
              </a:rPr>
              <a:t>RESTful </a:t>
            </a:r>
            <a:r>
              <a:rPr lang="vi-VN" sz="2400" b="1" dirty="0" smtClean="0">
                <a:latin typeface="Times New Roman" panose="02020603050405020304" pitchFamily="18" charset="0"/>
                <a:cs typeface="Times New Roman" panose="02020603050405020304" pitchFamily="18" charset="0"/>
              </a:rPr>
              <a:t>API</a:t>
            </a:r>
          </a:p>
          <a:p>
            <a:r>
              <a:rPr lang="vi-VN" sz="2400" b="1" dirty="0" smtClean="0">
                <a:latin typeface="Times New Roman" panose="02020603050405020304" pitchFamily="18" charset="0"/>
                <a:cs typeface="Times New Roman" panose="02020603050405020304" pitchFamily="18" charset="0"/>
              </a:rPr>
              <a:t>REST </a:t>
            </a:r>
            <a:r>
              <a:rPr lang="vi-VN" sz="2400" b="1" dirty="0">
                <a:latin typeface="Times New Roman" panose="02020603050405020304" pitchFamily="18" charset="0"/>
                <a:cs typeface="Times New Roman" panose="02020603050405020304" pitchFamily="18" charset="0"/>
              </a:rPr>
              <a:t>(Representational State Transfer) </a:t>
            </a:r>
            <a:r>
              <a:rPr lang="vi-VN" sz="2400" dirty="0">
                <a:latin typeface="Times New Roman" panose="02020603050405020304" pitchFamily="18" charset="0"/>
                <a:cs typeface="Times New Roman" panose="02020603050405020304" pitchFamily="18" charset="0"/>
              </a:rPr>
              <a:t>là một phong cách kiến trúc cho các hệ thống phân tán, trong đó tài nguyên được mô tả thông qua các URL. Các phương thức HTTP (GET, POST, PUT, DELETE) được sử dụng để thao tác với các tài nguyên</a:t>
            </a:r>
            <a:r>
              <a:rPr lang="vi-VN" sz="2400" dirty="0" smtClean="0">
                <a:latin typeface="Times New Roman" panose="02020603050405020304" pitchFamily="18" charset="0"/>
                <a:cs typeface="Times New Roman" panose="02020603050405020304" pitchFamily="18" charset="0"/>
              </a:rPr>
              <a:t>.</a:t>
            </a:r>
          </a:p>
          <a:p>
            <a:r>
              <a:rPr lang="vi-VN" sz="2400" b="1" dirty="0" smtClean="0">
                <a:latin typeface="Times New Roman" panose="02020603050405020304" pitchFamily="18" charset="0"/>
                <a:cs typeface="Times New Roman" panose="02020603050405020304" pitchFamily="18" charset="0"/>
              </a:rPr>
              <a:t>Ưu </a:t>
            </a:r>
            <a:r>
              <a:rPr lang="vi-VN" sz="2400" b="1" dirty="0">
                <a:latin typeface="Times New Roman" panose="02020603050405020304" pitchFamily="18" charset="0"/>
                <a:cs typeface="Times New Roman" panose="02020603050405020304" pitchFamily="18" charset="0"/>
              </a:rPr>
              <a:t>điểm: </a:t>
            </a:r>
            <a:r>
              <a:rPr lang="vi-VN" sz="2400" dirty="0">
                <a:latin typeface="Times New Roman" panose="02020603050405020304" pitchFamily="18" charset="0"/>
                <a:cs typeface="Times New Roman" panose="02020603050405020304" pitchFamily="18" charset="0"/>
              </a:rPr>
              <a:t>RESTful API dễ sử dụng, có thể mở rộng, và dễ dàng duy trì. Nó là sự lựa chọn phổ biến cho các ứng dụng web và di động</a:t>
            </a:r>
            <a:r>
              <a:rPr lang="vi-VN" sz="2400" dirty="0" smtClean="0">
                <a:latin typeface="Times New Roman" panose="02020603050405020304" pitchFamily="18" charset="0"/>
                <a:cs typeface="Times New Roman" panose="02020603050405020304" pitchFamily="18" charset="0"/>
              </a:rPr>
              <a:t>.</a:t>
            </a:r>
          </a:p>
          <a:p>
            <a:r>
              <a:rPr lang="vi-VN" sz="2400" b="1" dirty="0" smtClean="0">
                <a:latin typeface="Times New Roman" panose="02020603050405020304" pitchFamily="18" charset="0"/>
                <a:cs typeface="Times New Roman" panose="02020603050405020304" pitchFamily="18" charset="0"/>
              </a:rPr>
              <a:t>Dữ </a:t>
            </a:r>
            <a:r>
              <a:rPr lang="vi-VN" sz="2400" b="1" dirty="0">
                <a:latin typeface="Times New Roman" panose="02020603050405020304" pitchFamily="18" charset="0"/>
                <a:cs typeface="Times New Roman" panose="02020603050405020304" pitchFamily="18" charset="0"/>
              </a:rPr>
              <a:t>liệu trả về: </a:t>
            </a:r>
            <a:r>
              <a:rPr lang="vi-VN" sz="2400" dirty="0">
                <a:latin typeface="Times New Roman" panose="02020603050405020304" pitchFamily="18" charset="0"/>
                <a:cs typeface="Times New Roman" panose="02020603050405020304" pitchFamily="18" charset="0"/>
              </a:rPr>
              <a:t>Thường sử dụng JSON để trao đổi dữ liệu, mặc dù cũng có thể sử dụng XML</a:t>
            </a:r>
            <a:r>
              <a:rPr lang="vi-VN" sz="2400" dirty="0" smtClean="0">
                <a:latin typeface="Times New Roman" panose="02020603050405020304" pitchFamily="18" charset="0"/>
                <a:cs typeface="Times New Roman" panose="02020603050405020304" pitchFamily="18" charset="0"/>
              </a:rPr>
              <a:t>.</a:t>
            </a:r>
          </a:p>
          <a:p>
            <a:r>
              <a:rPr lang="vi-VN" sz="2400" dirty="0">
                <a:latin typeface="Times New Roman" panose="02020603050405020304" pitchFamily="18" charset="0"/>
                <a:cs typeface="Times New Roman" panose="02020603050405020304" pitchFamily="18" charset="0"/>
              </a:rPr>
              <a:t>JSON (JavaScript Object Notation) là một định dạng dữ liệu nhẹ, dễ đọc và dễ viết, được sử dụng phổ biến trong các API để truyền tải dữ liệu.</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spTree>
    <p:extLst>
      <p:ext uri="{BB962C8B-B14F-4D97-AF65-F5344CB8AC3E}">
        <p14:creationId xmlns:p14="http://schemas.microsoft.com/office/powerpoint/2010/main" val="63029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vi-VN" sz="2800" b="1" dirty="0">
                <a:latin typeface="Times New Roman" panose="02020603050405020304" pitchFamily="18" charset="0"/>
                <a:cs typeface="Times New Roman" panose="02020603050405020304" pitchFamily="18" charset="0"/>
              </a:rPr>
              <a:t>RESTful </a:t>
            </a:r>
            <a:r>
              <a:rPr lang="vi-VN" sz="2800" b="1" dirty="0" smtClean="0">
                <a:latin typeface="Times New Roman" panose="02020603050405020304" pitchFamily="18" charset="0"/>
                <a:cs typeface="Times New Roman" panose="02020603050405020304" pitchFamily="18" charset="0"/>
              </a:rPr>
              <a:t>API</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2345871" cy="1848614"/>
          </a:xfrm>
        </p:spPr>
        <p:txBody>
          <a:bodyPr>
            <a:normAutofit/>
          </a:bodyPr>
          <a:lstStyle/>
          <a:p>
            <a:r>
              <a:rPr lang="vi-VN" sz="2400" smtClean="0">
                <a:latin typeface="Times New Roman" panose="02020603050405020304" pitchFamily="18" charset="0"/>
                <a:cs typeface="Times New Roman" panose="02020603050405020304" pitchFamily="18" charset="0"/>
              </a:rPr>
              <a:t>Ví dụ về json trong RESTful API</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6" name="Picture 5"/>
          <p:cNvPicPr>
            <a:picLocks noChangeAspect="1"/>
          </p:cNvPicPr>
          <p:nvPr/>
        </p:nvPicPr>
        <p:blipFill>
          <a:blip r:embed="rId5"/>
          <a:stretch>
            <a:fillRect/>
          </a:stretch>
        </p:blipFill>
        <p:spPr>
          <a:xfrm>
            <a:off x="3297375" y="1798156"/>
            <a:ext cx="6596638" cy="3996114"/>
          </a:xfrm>
          <a:prstGeom prst="rect">
            <a:avLst/>
          </a:prstGeom>
        </p:spPr>
      </p:pic>
    </p:spTree>
    <p:extLst>
      <p:ext uri="{BB962C8B-B14F-4D97-AF65-F5344CB8AC3E}">
        <p14:creationId xmlns:p14="http://schemas.microsoft.com/office/powerpoint/2010/main" val="1223074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1.2) </a:t>
            </a:r>
            <a:r>
              <a:rPr lang="en-US" sz="2800" b="1" dirty="0" err="1">
                <a:latin typeface="Times New Roman" panose="02020603050405020304" pitchFamily="18" charset="0"/>
                <a:cs typeface="Times New Roman" panose="02020603050405020304" pitchFamily="18" charset="0"/>
              </a:rPr>
              <a:t>Các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Loại</a:t>
            </a:r>
            <a:r>
              <a:rPr lang="en-US" sz="2800" b="1" dirty="0">
                <a:latin typeface="Times New Roman" panose="02020603050405020304" pitchFamily="18" charset="0"/>
                <a:cs typeface="Times New Roman" panose="02020603050405020304" pitchFamily="18" charset="0"/>
              </a:rPr>
              <a:t> API</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pPr marL="114300" indent="0">
              <a:buNone/>
            </a:pPr>
            <a:r>
              <a:rPr lang="vi-VN" sz="2400" b="1" dirty="0">
                <a:latin typeface="Times New Roman" panose="02020603050405020304" pitchFamily="18" charset="0"/>
                <a:cs typeface="Times New Roman" panose="02020603050405020304" pitchFamily="18" charset="0"/>
              </a:rPr>
              <a:t>SOAP </a:t>
            </a:r>
            <a:r>
              <a:rPr lang="vi-VN" sz="2400" b="1" dirty="0" smtClean="0">
                <a:latin typeface="Times New Roman" panose="02020603050405020304" pitchFamily="18" charset="0"/>
                <a:cs typeface="Times New Roman" panose="02020603050405020304" pitchFamily="18" charset="0"/>
              </a:rPr>
              <a:t>API</a:t>
            </a:r>
          </a:p>
          <a:p>
            <a:r>
              <a:rPr lang="vi-VN" sz="2400" b="1" dirty="0" smtClean="0">
                <a:latin typeface="Times New Roman" panose="02020603050405020304" pitchFamily="18" charset="0"/>
                <a:cs typeface="Times New Roman" panose="02020603050405020304" pitchFamily="18" charset="0"/>
              </a:rPr>
              <a:t>SOAP </a:t>
            </a:r>
            <a:r>
              <a:rPr lang="vi-VN" sz="2400" b="1" dirty="0">
                <a:latin typeface="Times New Roman" panose="02020603050405020304" pitchFamily="18" charset="0"/>
                <a:cs typeface="Times New Roman" panose="02020603050405020304" pitchFamily="18" charset="0"/>
              </a:rPr>
              <a:t>(Simple Object Access Protocol) </a:t>
            </a:r>
            <a:r>
              <a:rPr lang="vi-VN" sz="2400" dirty="0">
                <a:latin typeface="Times New Roman" panose="02020603050405020304" pitchFamily="18" charset="0"/>
                <a:cs typeface="Times New Roman" panose="02020603050405020304" pitchFamily="18" charset="0"/>
              </a:rPr>
              <a:t>là một giao thức truyền tải dữ liệu được sử dụng trong các hệ thống phức tạp hơn, yêu cầu tính bảo mật và độ tin cậy cao</a:t>
            </a:r>
            <a:r>
              <a:rPr lang="vi-VN" sz="2400" dirty="0" smtClean="0">
                <a:latin typeface="Times New Roman" panose="02020603050405020304" pitchFamily="18" charset="0"/>
                <a:cs typeface="Times New Roman" panose="02020603050405020304" pitchFamily="18" charset="0"/>
              </a:rPr>
              <a:t>.</a:t>
            </a:r>
          </a:p>
          <a:p>
            <a:r>
              <a:rPr lang="vi-VN" sz="2400" b="1" dirty="0" smtClean="0">
                <a:latin typeface="Times New Roman" panose="02020603050405020304" pitchFamily="18" charset="0"/>
                <a:cs typeface="Times New Roman" panose="02020603050405020304" pitchFamily="18" charset="0"/>
              </a:rPr>
              <a:t>Ưu </a:t>
            </a:r>
            <a:r>
              <a:rPr lang="vi-VN" sz="2400" b="1" dirty="0">
                <a:latin typeface="Times New Roman" panose="02020603050405020304" pitchFamily="18" charset="0"/>
                <a:cs typeface="Times New Roman" panose="02020603050405020304" pitchFamily="18" charset="0"/>
              </a:rPr>
              <a:t>điểm: </a:t>
            </a:r>
            <a:r>
              <a:rPr lang="vi-VN" sz="2400" dirty="0">
                <a:latin typeface="Times New Roman" panose="02020603050405020304" pitchFamily="18" charset="0"/>
                <a:cs typeface="Times New Roman" panose="02020603050405020304" pitchFamily="18" charset="0"/>
              </a:rPr>
              <a:t>SOAP hỗ trợ bảo mật, giao tiếp qua nhiều giao thức khác nhau, bao gồm HTTP và SMTP</a:t>
            </a:r>
            <a:r>
              <a:rPr lang="vi-VN" sz="2400" dirty="0" smtClean="0">
                <a:latin typeface="Times New Roman" panose="02020603050405020304" pitchFamily="18" charset="0"/>
                <a:cs typeface="Times New Roman" panose="02020603050405020304" pitchFamily="18" charset="0"/>
              </a:rPr>
              <a:t>.</a:t>
            </a:r>
          </a:p>
          <a:p>
            <a:r>
              <a:rPr lang="vi-VN" sz="2400" b="1" dirty="0" smtClean="0">
                <a:latin typeface="Times New Roman" panose="02020603050405020304" pitchFamily="18" charset="0"/>
                <a:cs typeface="Times New Roman" panose="02020603050405020304" pitchFamily="18" charset="0"/>
              </a:rPr>
              <a:t>Dữ </a:t>
            </a:r>
            <a:r>
              <a:rPr lang="vi-VN" sz="2400" b="1" dirty="0">
                <a:latin typeface="Times New Roman" panose="02020603050405020304" pitchFamily="18" charset="0"/>
                <a:cs typeface="Times New Roman" panose="02020603050405020304" pitchFamily="18" charset="0"/>
              </a:rPr>
              <a:t>liệu trả về: </a:t>
            </a:r>
            <a:r>
              <a:rPr lang="vi-VN" sz="2400" dirty="0">
                <a:latin typeface="Times New Roman" panose="02020603050405020304" pitchFamily="18" charset="0"/>
                <a:cs typeface="Times New Roman" panose="02020603050405020304" pitchFamily="18" charset="0"/>
              </a:rPr>
              <a:t>XML</a:t>
            </a:r>
            <a:r>
              <a:rPr lang="vi-VN" sz="2400" dirty="0" smtClean="0">
                <a:latin typeface="Times New Roman" panose="02020603050405020304" pitchFamily="18" charset="0"/>
                <a:cs typeface="Times New Roman" panose="02020603050405020304" pitchFamily="18" charset="0"/>
              </a:rPr>
              <a:t>.</a:t>
            </a:r>
          </a:p>
          <a:p>
            <a:r>
              <a:rPr lang="vi-VN" sz="2400" b="1" dirty="0">
                <a:latin typeface="Times New Roman" panose="02020603050405020304" pitchFamily="18" charset="0"/>
                <a:cs typeface="Times New Roman" panose="02020603050405020304" pitchFamily="18" charset="0"/>
              </a:rPr>
              <a:t>XML (Extensible Markup Language) </a:t>
            </a:r>
            <a:r>
              <a:rPr lang="vi-VN" sz="2400" dirty="0">
                <a:latin typeface="Times New Roman" panose="02020603050405020304" pitchFamily="18" charset="0"/>
                <a:cs typeface="Times New Roman" panose="02020603050405020304" pitchFamily="18" charset="0"/>
              </a:rPr>
              <a:t>là một định dạng dữ liệu được sử dụng trong các hệ thống yêu cầu tính cấu trúc cao</a:t>
            </a:r>
            <a:r>
              <a:rPr lang="vi-VN" sz="2400" dirty="0" smtClean="0">
                <a:latin typeface="Times New Roman" panose="02020603050405020304" pitchFamily="18" charset="0"/>
                <a:cs typeface="Times New Roman" panose="02020603050405020304" pitchFamily="18" charset="0"/>
              </a:rPr>
              <a:t>.</a:t>
            </a:r>
          </a:p>
          <a:p>
            <a:r>
              <a:rPr lang="vi-VN" sz="2400" dirty="0" smtClean="0">
                <a:latin typeface="Times New Roman" panose="02020603050405020304" pitchFamily="18" charset="0"/>
                <a:cs typeface="Times New Roman" panose="02020603050405020304" pitchFamily="18" charset="0"/>
              </a:rPr>
              <a:t>SOAP </a:t>
            </a:r>
            <a:r>
              <a:rPr lang="vi-VN" sz="2400" dirty="0">
                <a:latin typeface="Times New Roman" panose="02020603050405020304" pitchFamily="18" charset="0"/>
                <a:cs typeface="Times New Roman" panose="02020603050405020304" pitchFamily="18" charset="0"/>
              </a:rPr>
              <a:t>API sử dụng XML để đóng gói các thông điệp.</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spTree>
    <p:extLst>
      <p:ext uri="{BB962C8B-B14F-4D97-AF65-F5344CB8AC3E}">
        <p14:creationId xmlns:p14="http://schemas.microsoft.com/office/powerpoint/2010/main" val="2367335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vi-VN" sz="2800" b="1" dirty="0">
                <a:latin typeface="Times New Roman" panose="02020603050405020304" pitchFamily="18" charset="0"/>
                <a:cs typeface="Times New Roman" panose="02020603050405020304" pitchFamily="18" charset="0"/>
              </a:rPr>
              <a:t>SOAP </a:t>
            </a:r>
            <a:r>
              <a:rPr lang="vi-VN" sz="2800" b="1" dirty="0" smtClean="0">
                <a:latin typeface="Times New Roman" panose="02020603050405020304" pitchFamily="18" charset="0"/>
                <a:cs typeface="Times New Roman" panose="02020603050405020304" pitchFamily="18" charset="0"/>
              </a:rPr>
              <a:t>API</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2051957" cy="1097500"/>
          </a:xfrm>
        </p:spPr>
        <p:txBody>
          <a:bodyPr>
            <a:normAutofit/>
          </a:bodyPr>
          <a:lstStyle/>
          <a:p>
            <a:r>
              <a:rPr lang="vi-VN" sz="2400" dirty="0" smtClean="0">
                <a:latin typeface="Times New Roman" panose="02020603050405020304" pitchFamily="18" charset="0"/>
                <a:cs typeface="Times New Roman" panose="02020603050405020304" pitchFamily="18" charset="0"/>
              </a:rPr>
              <a:t>Ví dụ về kiểu XML</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3284957" y="1736029"/>
            <a:ext cx="8388234" cy="4188340"/>
          </a:xfrm>
          <a:prstGeom prst="rect">
            <a:avLst/>
          </a:prstGeom>
        </p:spPr>
      </p:pic>
    </p:spTree>
    <p:extLst>
      <p:ext uri="{BB962C8B-B14F-4D97-AF65-F5344CB8AC3E}">
        <p14:creationId xmlns:p14="http://schemas.microsoft.com/office/powerpoint/2010/main" val="26688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1.3) </a:t>
            </a:r>
            <a:r>
              <a:rPr lang="en-US" sz="2800" b="1" dirty="0" err="1">
                <a:latin typeface="Times New Roman" panose="02020603050405020304" pitchFamily="18" charset="0"/>
                <a:cs typeface="Times New Roman" panose="02020603050405020304" pitchFamily="18" charset="0"/>
              </a:rPr>
              <a:t>Ví</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Dụ</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Thực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Tế</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4419169" cy="4690480"/>
          </a:xfrm>
        </p:spPr>
        <p:txBody>
          <a:bodyPr>
            <a:normAutofit lnSpcReduction="10000"/>
          </a:bodyPr>
          <a:lstStyle/>
          <a:p>
            <a:r>
              <a:rPr lang="vi-VN" sz="2400" dirty="0">
                <a:latin typeface="Times New Roman" panose="02020603050405020304" pitchFamily="18" charset="0"/>
                <a:cs typeface="Times New Roman" panose="02020603050405020304" pitchFamily="18" charset="0"/>
              </a:rPr>
              <a:t>Trong một hệ thống thương mại điện tử (e-commerce system), các API có thể được sử dụng để xử lý các thao tác như</a:t>
            </a:r>
            <a:r>
              <a:rPr lang="vi-VN" sz="2400" dirty="0" smtClean="0">
                <a:latin typeface="Times New Roman" panose="02020603050405020304" pitchFamily="18" charset="0"/>
                <a:cs typeface="Times New Roman" panose="02020603050405020304" pitchFamily="18" charset="0"/>
              </a:rPr>
              <a:t>:</a:t>
            </a:r>
          </a:p>
          <a:p>
            <a:pPr lvl="1">
              <a:buFont typeface="Wingdings" panose="05000000000000000000" pitchFamily="2" charset="2"/>
              <a:buChar char="q"/>
            </a:pPr>
            <a:r>
              <a:rPr lang="vi-VN" sz="2000" b="1" dirty="0" smtClean="0">
                <a:latin typeface="Times New Roman" panose="02020603050405020304" pitchFamily="18" charset="0"/>
                <a:cs typeface="Times New Roman" panose="02020603050405020304" pitchFamily="18" charset="0"/>
              </a:rPr>
              <a:t>RESTful </a:t>
            </a:r>
            <a:r>
              <a:rPr lang="vi-VN" sz="2000" b="1" dirty="0">
                <a:latin typeface="Times New Roman" panose="02020603050405020304" pitchFamily="18" charset="0"/>
                <a:cs typeface="Times New Roman" panose="02020603050405020304" pitchFamily="18" charset="0"/>
              </a:rPr>
              <a:t>API </a:t>
            </a:r>
            <a:r>
              <a:rPr lang="vi-VN" sz="2000" dirty="0">
                <a:latin typeface="Times New Roman" panose="02020603050405020304" pitchFamily="18" charset="0"/>
                <a:cs typeface="Times New Roman" panose="02020603050405020304" pitchFamily="18" charset="0"/>
              </a:rPr>
              <a:t>để quản lý sản phẩm, tìm kiếm sản phẩm, tạo đơn hàng, xử lý thanh toán, và cập nhật trạng thái đơn hàng</a:t>
            </a:r>
            <a:r>
              <a:rPr lang="vi-VN" sz="2000" dirty="0" smtClean="0">
                <a:latin typeface="Times New Roman" panose="02020603050405020304" pitchFamily="18" charset="0"/>
                <a:cs typeface="Times New Roman" panose="02020603050405020304" pitchFamily="18" charset="0"/>
              </a:rPr>
              <a:t>.</a:t>
            </a:r>
          </a:p>
          <a:p>
            <a:pPr lvl="1">
              <a:buFont typeface="Wingdings" panose="05000000000000000000" pitchFamily="2" charset="2"/>
              <a:buChar char="q"/>
            </a:pPr>
            <a:r>
              <a:rPr lang="vi-VN" sz="2000" b="1" dirty="0" smtClean="0">
                <a:latin typeface="Times New Roman" panose="02020603050405020304" pitchFamily="18" charset="0"/>
                <a:cs typeface="Times New Roman" panose="02020603050405020304" pitchFamily="18" charset="0"/>
              </a:rPr>
              <a:t>SOAP </a:t>
            </a:r>
            <a:r>
              <a:rPr lang="vi-VN" sz="2000" b="1" dirty="0">
                <a:latin typeface="Times New Roman" panose="02020603050405020304" pitchFamily="18" charset="0"/>
                <a:cs typeface="Times New Roman" panose="02020603050405020304" pitchFamily="18" charset="0"/>
              </a:rPr>
              <a:t>API </a:t>
            </a:r>
            <a:r>
              <a:rPr lang="vi-VN" sz="2000" dirty="0">
                <a:latin typeface="Times New Roman" panose="02020603050405020304" pitchFamily="18" charset="0"/>
                <a:cs typeface="Times New Roman" panose="02020603050405020304" pitchFamily="18" charset="0"/>
              </a:rPr>
              <a:t>có thể được sử dụng cho các yêu cầu bảo mật cao hơn, ví dụ như giao tiếp với hệ thống ngân hàng để xử lý thanh toán hoặc giao tiếp với các đối tác để kiểm tra tính hợp lệ của đơn hàng.</a:t>
            </a:r>
            <a:endParaRPr lang="en-US" sz="20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5366106" y="1613043"/>
            <a:ext cx="6182359" cy="3820558"/>
          </a:xfrm>
          <a:prstGeom prst="rect">
            <a:avLst/>
          </a:prstGeom>
        </p:spPr>
      </p:pic>
    </p:spTree>
    <p:extLst>
      <p:ext uri="{BB962C8B-B14F-4D97-AF65-F5344CB8AC3E}">
        <p14:creationId xmlns:p14="http://schemas.microsoft.com/office/powerpoint/2010/main" val="3492061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1.4) </a:t>
            </a:r>
            <a:r>
              <a:rPr lang="en-US" sz="2800" b="1" dirty="0" err="1">
                <a:latin typeface="Times New Roman" panose="02020603050405020304" pitchFamily="18" charset="0"/>
                <a:cs typeface="Times New Roman" panose="02020603050405020304" pitchFamily="18" charset="0"/>
              </a:rPr>
              <a:t>Các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Công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Nghệ</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Để</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Làm</a:t>
            </a:r>
            <a:r>
              <a:rPr lang="en-US" sz="2800" b="1" dirty="0">
                <a:latin typeface="Times New Roman" panose="02020603050405020304" pitchFamily="18" charset="0"/>
                <a:cs typeface="Times New Roman" panose="02020603050405020304" pitchFamily="18" charset="0"/>
              </a:rPr>
              <a:t> API </a:t>
            </a:r>
            <a:r>
              <a:rPr lang="en-US" sz="2800" b="1" dirty="0" err="1">
                <a:latin typeface="Times New Roman" panose="02020603050405020304" pitchFamily="18" charset="0"/>
                <a:cs typeface="Times New Roman" panose="02020603050405020304" pitchFamily="18" charset="0"/>
              </a:rPr>
              <a:t>Hiện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Tại</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r>
              <a:rPr lang="vi-VN" sz="2400" b="1" dirty="0">
                <a:latin typeface="Times New Roman" panose="02020603050405020304" pitchFamily="18" charset="0"/>
                <a:cs typeface="Times New Roman" panose="02020603050405020304" pitchFamily="18" charset="0"/>
              </a:rPr>
              <a:t>Spring MVC (Java): </a:t>
            </a:r>
            <a:r>
              <a:rPr lang="vi-VN" sz="2400" dirty="0">
                <a:latin typeface="Times New Roman" panose="02020603050405020304" pitchFamily="18" charset="0"/>
                <a:cs typeface="Times New Roman" panose="02020603050405020304" pitchFamily="18" charset="0"/>
              </a:rPr>
              <a:t>Framework mạnh mẽ và phổ biến để xây dựng API RESTful trong các ứng dụng Java</a:t>
            </a:r>
            <a:r>
              <a:rPr lang="vi-VN" sz="2400" dirty="0" smtClean="0">
                <a:latin typeface="Times New Roman" panose="02020603050405020304" pitchFamily="18" charset="0"/>
                <a:cs typeface="Times New Roman" panose="02020603050405020304" pitchFamily="18" charset="0"/>
              </a:rPr>
              <a:t>.</a:t>
            </a:r>
          </a:p>
          <a:p>
            <a:r>
              <a:rPr lang="vi-VN" sz="2400" b="1" dirty="0" smtClean="0">
                <a:latin typeface="Times New Roman" panose="02020603050405020304" pitchFamily="18" charset="0"/>
                <a:cs typeface="Times New Roman" panose="02020603050405020304" pitchFamily="18" charset="0"/>
              </a:rPr>
              <a:t>Node.js/Express </a:t>
            </a:r>
            <a:r>
              <a:rPr lang="vi-VN" sz="2400" b="1" dirty="0">
                <a:latin typeface="Times New Roman" panose="02020603050405020304" pitchFamily="18" charset="0"/>
                <a:cs typeface="Times New Roman" panose="02020603050405020304" pitchFamily="18" charset="0"/>
              </a:rPr>
              <a:t>(JavaScript): </a:t>
            </a:r>
            <a:r>
              <a:rPr lang="vi-VN" sz="2400" dirty="0">
                <a:latin typeface="Times New Roman" panose="02020603050405020304" pitchFamily="18" charset="0"/>
                <a:cs typeface="Times New Roman" panose="02020603050405020304" pitchFamily="18" charset="0"/>
              </a:rPr>
              <a:t>Framework nhẹ, dễ sử dụng để xây dựng API RESTful với JavaScript</a:t>
            </a:r>
            <a:r>
              <a:rPr lang="vi-VN" sz="2400" dirty="0" smtClean="0">
                <a:latin typeface="Times New Roman" panose="02020603050405020304" pitchFamily="18" charset="0"/>
                <a:cs typeface="Times New Roman" panose="02020603050405020304" pitchFamily="18" charset="0"/>
              </a:rPr>
              <a:t>.</a:t>
            </a:r>
          </a:p>
          <a:p>
            <a:r>
              <a:rPr lang="vi-VN" sz="2400" b="1" dirty="0" smtClean="0">
                <a:latin typeface="Times New Roman" panose="02020603050405020304" pitchFamily="18" charset="0"/>
                <a:cs typeface="Times New Roman" panose="02020603050405020304" pitchFamily="18" charset="0"/>
              </a:rPr>
              <a:t>Django </a:t>
            </a:r>
            <a:r>
              <a:rPr lang="vi-VN" sz="2400" b="1" dirty="0">
                <a:latin typeface="Times New Roman" panose="02020603050405020304" pitchFamily="18" charset="0"/>
                <a:cs typeface="Times New Roman" panose="02020603050405020304" pitchFamily="18" charset="0"/>
              </a:rPr>
              <a:t>(Python): </a:t>
            </a:r>
            <a:r>
              <a:rPr lang="vi-VN" sz="2400" dirty="0">
                <a:latin typeface="Times New Roman" panose="02020603050405020304" pitchFamily="18" charset="0"/>
                <a:cs typeface="Times New Roman" panose="02020603050405020304" pitchFamily="18" charset="0"/>
              </a:rPr>
              <a:t>Framework dễ sử dụng để xây dựng các API RESTful với Python</a:t>
            </a:r>
            <a:r>
              <a:rPr lang="vi-VN" sz="2400" dirty="0" smtClean="0">
                <a:latin typeface="Times New Roman" panose="02020603050405020304" pitchFamily="18" charset="0"/>
                <a:cs typeface="Times New Roman" panose="02020603050405020304" pitchFamily="18" charset="0"/>
              </a:rPr>
              <a:t>.</a:t>
            </a:r>
          </a:p>
          <a:p>
            <a:r>
              <a:rPr lang="vi-VN" sz="2400" b="1" dirty="0" smtClean="0">
                <a:latin typeface="Times New Roman" panose="02020603050405020304" pitchFamily="18" charset="0"/>
                <a:cs typeface="Times New Roman" panose="02020603050405020304" pitchFamily="18" charset="0"/>
              </a:rPr>
              <a:t>Ruby </a:t>
            </a:r>
            <a:r>
              <a:rPr lang="vi-VN" sz="2400" b="1" dirty="0">
                <a:latin typeface="Times New Roman" panose="02020603050405020304" pitchFamily="18" charset="0"/>
                <a:cs typeface="Times New Roman" panose="02020603050405020304" pitchFamily="18" charset="0"/>
              </a:rPr>
              <a:t>on Rails (Ruby): </a:t>
            </a:r>
            <a:r>
              <a:rPr lang="vi-VN" sz="2400" dirty="0">
                <a:latin typeface="Times New Roman" panose="02020603050405020304" pitchFamily="18" charset="0"/>
                <a:cs typeface="Times New Roman" panose="02020603050405020304" pitchFamily="18" charset="0"/>
              </a:rPr>
              <a:t>Framework mạnh mẽ cho việc phát triển API với Ruby</a:t>
            </a:r>
            <a:r>
              <a:rPr lang="vi-VN" sz="2400" dirty="0" smtClean="0">
                <a:latin typeface="Times New Roman" panose="02020603050405020304" pitchFamily="18" charset="0"/>
                <a:cs typeface="Times New Roman" panose="02020603050405020304" pitchFamily="18" charset="0"/>
              </a:rPr>
              <a:t>.</a:t>
            </a:r>
          </a:p>
          <a:p>
            <a:r>
              <a:rPr lang="vi-VN" sz="2400" b="1" dirty="0" smtClean="0">
                <a:latin typeface="Times New Roman" panose="02020603050405020304" pitchFamily="18" charset="0"/>
                <a:cs typeface="Times New Roman" panose="02020603050405020304" pitchFamily="18" charset="0"/>
              </a:rPr>
              <a:t>GraphQL</a:t>
            </a:r>
            <a:r>
              <a:rPr lang="vi-VN" sz="2400" b="1"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Một công nghệ mới cho phép người dùng yêu cầu dữ liệu theo cách linh hoạt hơn so với REST.</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spTree>
    <p:extLst>
      <p:ext uri="{BB962C8B-B14F-4D97-AF65-F5344CB8AC3E}">
        <p14:creationId xmlns:p14="http://schemas.microsoft.com/office/powerpoint/2010/main" val="1249330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2) RESTful API</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pPr marL="571500" indent="-457200">
              <a:buFont typeface="+mj-lt"/>
              <a:buAutoNum type="arabicPeriod"/>
            </a:pP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Nghĩa</a:t>
            </a:r>
            <a:endParaRPr lang="vi-VN" sz="2400" dirty="0" smtClean="0">
              <a:latin typeface="Times New Roman" panose="02020603050405020304" pitchFamily="18" charset="0"/>
              <a:cs typeface="Times New Roman" panose="02020603050405020304" pitchFamily="18" charset="0"/>
            </a:endParaRPr>
          </a:p>
          <a:p>
            <a:pPr marL="571500" indent="-457200">
              <a:buFont typeface="+mj-lt"/>
              <a:buAutoNum type="arabicPeriod"/>
            </a:pP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Thức</a:t>
            </a:r>
            <a:r>
              <a:rPr lang="en-US" sz="2400" dirty="0">
                <a:latin typeface="Times New Roman" panose="02020603050405020304" pitchFamily="18" charset="0"/>
                <a:cs typeface="Times New Roman" panose="02020603050405020304" pitchFamily="18" charset="0"/>
              </a:rPr>
              <a:t> HTTP, </a:t>
            </a:r>
            <a:r>
              <a:rPr lang="en-US" sz="2400" dirty="0" smtClean="0">
                <a:latin typeface="Times New Roman" panose="02020603050405020304" pitchFamily="18" charset="0"/>
                <a:cs typeface="Times New Roman" panose="02020603050405020304" pitchFamily="18" charset="0"/>
              </a:rPr>
              <a:t>HTTPS</a:t>
            </a:r>
            <a:endParaRPr lang="vi-VN" sz="2400" dirty="0" smtClean="0">
              <a:latin typeface="Times New Roman" panose="02020603050405020304" pitchFamily="18" charset="0"/>
              <a:cs typeface="Times New Roman" panose="02020603050405020304" pitchFamily="18" charset="0"/>
            </a:endParaRPr>
          </a:p>
          <a:p>
            <a:pPr marL="571500" indent="-457200">
              <a:buFont typeface="+mj-lt"/>
              <a:buAutoNum type="arabicPeriod"/>
            </a:pPr>
            <a:r>
              <a:rPr lang="vi-VN" sz="2400" dirty="0">
                <a:latin typeface="Times New Roman" panose="02020603050405020304" pitchFamily="18" charset="0"/>
                <a:cs typeface="Times New Roman" panose="02020603050405020304" pitchFamily="18" charset="0"/>
              </a:rPr>
              <a:t>Các method GET, POST, PUT, </a:t>
            </a:r>
            <a:r>
              <a:rPr lang="vi-VN" sz="2400" dirty="0" smtClean="0">
                <a:latin typeface="Times New Roman" panose="02020603050405020304" pitchFamily="18" charset="0"/>
                <a:cs typeface="Times New Roman" panose="02020603050405020304" pitchFamily="18" charset="0"/>
              </a:rPr>
              <a:t>DELETE</a:t>
            </a:r>
          </a:p>
          <a:p>
            <a:pPr marL="571500" indent="-457200">
              <a:buFont typeface="+mj-lt"/>
              <a:buAutoNum type="arabicPeriod"/>
            </a:pP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Chuẩn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Tạo</a:t>
            </a:r>
            <a:r>
              <a:rPr lang="en-US" sz="2400" dirty="0">
                <a:latin typeface="Times New Roman" panose="02020603050405020304" pitchFamily="18" charset="0"/>
                <a:cs typeface="Times New Roman" panose="02020603050405020304" pitchFamily="18" charset="0"/>
              </a:rPr>
              <a:t> RESTful API</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spTree>
    <p:extLst>
      <p:ext uri="{BB962C8B-B14F-4D97-AF65-F5344CB8AC3E}">
        <p14:creationId xmlns:p14="http://schemas.microsoft.com/office/powerpoint/2010/main" val="1723453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vi-VN" sz="2800" b="1" dirty="0" smtClean="0">
                <a:latin typeface="Times New Roman" panose="02020603050405020304" pitchFamily="18" charset="0"/>
                <a:cs typeface="Times New Roman" panose="02020603050405020304" pitchFamily="18" charset="0"/>
              </a:rPr>
              <a:t>2.1) Định nghĩa</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r>
              <a:rPr lang="en-US" sz="2400" dirty="0">
                <a:latin typeface="Times New Roman" panose="02020603050405020304" pitchFamily="18" charset="0"/>
                <a:cs typeface="Times New Roman" panose="02020603050405020304" pitchFamily="18" charset="0"/>
              </a:rPr>
              <a:t>RESTful API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kiến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trúc</a:t>
            </a:r>
            <a:r>
              <a:rPr lang="en-US" sz="2400" dirty="0">
                <a:latin typeface="Times New Roman" panose="02020603050405020304" pitchFamily="18" charset="0"/>
                <a:cs typeface="Times New Roman" panose="02020603050405020304" pitchFamily="18" charset="0"/>
              </a:rPr>
              <a:t> web </a:t>
            </a:r>
            <a:r>
              <a:rPr lang="en-US" sz="2400" dirty="0" err="1">
                <a:latin typeface="Times New Roman" panose="02020603050405020304" pitchFamily="18" charset="0"/>
                <a:cs typeface="Times New Roman" panose="02020603050405020304" pitchFamily="18" charset="0"/>
              </a:rPr>
              <a:t>dùng</a:t>
            </a:r>
            <a:r>
              <a:rPr lang="en-US" sz="2400" dirty="0">
                <a:latin typeface="Times New Roman" panose="02020603050405020304" pitchFamily="18" charset="0"/>
                <a:cs typeface="Times New Roman" panose="02020603050405020304" pitchFamily="18" charset="0"/>
              </a:rPr>
              <a:t> HTTP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nguyên</a:t>
            </a:r>
            <a:r>
              <a:rPr lang="en-US" sz="2400" dirty="0">
                <a:latin typeface="Times New Roman" panose="02020603050405020304" pitchFamily="18" charset="0"/>
                <a:cs typeface="Times New Roman" panose="02020603050405020304" pitchFamily="18" charset="0"/>
              </a:rPr>
              <a:t>. </a:t>
            </a:r>
            <a:endParaRPr lang="vi-VN" sz="2400" dirty="0" smtClean="0">
              <a:latin typeface="Times New Roman" panose="02020603050405020304" pitchFamily="18" charset="0"/>
              <a:cs typeface="Times New Roman" panose="02020603050405020304" pitchFamily="18" charset="0"/>
            </a:endParaRPr>
          </a:p>
          <a:p>
            <a:r>
              <a:rPr lang="en-US" sz="2400" b="1" dirty="0" err="1" smtClean="0">
                <a:latin typeface="Times New Roman" panose="02020603050405020304" pitchFamily="18" charset="0"/>
                <a:cs typeface="Times New Roman" panose="02020603050405020304" pitchFamily="18" charset="0"/>
              </a:rPr>
              <a:t>Trong</a:t>
            </a:r>
            <a:r>
              <a:rPr lang="en-US" sz="2400" b="1" dirty="0" smtClean="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RESTful API</a:t>
            </a:r>
            <a:r>
              <a:rPr lang="en-US" sz="2400" b="1" dirty="0" smtClean="0">
                <a:latin typeface="Times New Roman" panose="02020603050405020304" pitchFamily="18" charset="0"/>
                <a:cs typeface="Times New Roman" panose="02020603050405020304" pitchFamily="18" charset="0"/>
              </a:rPr>
              <a:t>:</a:t>
            </a:r>
            <a:endParaRPr lang="vi-VN" sz="2400" b="1"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q"/>
            </a:pPr>
            <a:r>
              <a:rPr lang="vi-VN" sz="2000" dirty="0">
                <a:latin typeface="Times New Roman" panose="02020603050405020304" pitchFamily="18" charset="0"/>
                <a:cs typeface="Times New Roman" panose="02020603050405020304" pitchFamily="18" charset="0"/>
              </a:rPr>
              <a:t>Mỗi tài nguyên được xác định bởi một URL duy nhất</a:t>
            </a:r>
            <a:r>
              <a:rPr lang="vi-VN" sz="2000" dirty="0" smtClean="0">
                <a:latin typeface="Times New Roman" panose="02020603050405020304" pitchFamily="18" charset="0"/>
                <a:cs typeface="Times New Roman" panose="02020603050405020304" pitchFamily="18" charset="0"/>
              </a:rPr>
              <a:t>.</a:t>
            </a:r>
          </a:p>
          <a:p>
            <a:pPr lvl="1">
              <a:buFont typeface="Wingdings" panose="05000000000000000000" pitchFamily="2" charset="2"/>
              <a:buChar char="q"/>
            </a:pPr>
            <a:r>
              <a:rPr lang="vi-VN" sz="2000" dirty="0" smtClean="0">
                <a:latin typeface="Times New Roman" panose="02020603050405020304" pitchFamily="18" charset="0"/>
                <a:cs typeface="Times New Roman" panose="02020603050405020304" pitchFamily="18" charset="0"/>
              </a:rPr>
              <a:t>Các </a:t>
            </a:r>
            <a:r>
              <a:rPr lang="vi-VN" sz="2000" dirty="0">
                <a:latin typeface="Times New Roman" panose="02020603050405020304" pitchFamily="18" charset="0"/>
                <a:cs typeface="Times New Roman" panose="02020603050405020304" pitchFamily="18" charset="0"/>
              </a:rPr>
              <a:t>thao tác CRUD (Create, Read, Update, Delete) được thực hiện qua các phương thức HTTP (POST, GET, PUT, DELETE).</a:t>
            </a:r>
            <a:endParaRPr lang="en-US" sz="20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3512164" y="3933857"/>
            <a:ext cx="4269964" cy="2924143"/>
          </a:xfrm>
          <a:prstGeom prst="rect">
            <a:avLst/>
          </a:prstGeom>
        </p:spPr>
      </p:pic>
    </p:spTree>
    <p:extLst>
      <p:ext uri="{BB962C8B-B14F-4D97-AF65-F5344CB8AC3E}">
        <p14:creationId xmlns:p14="http://schemas.microsoft.com/office/powerpoint/2010/main" val="3610354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vi-VN" sz="2800" b="1" dirty="0">
                <a:latin typeface="Times New Roman" panose="02020603050405020304" pitchFamily="18" charset="0"/>
                <a:cs typeface="Times New Roman" panose="02020603050405020304" pitchFamily="18" charset="0"/>
              </a:rPr>
              <a:t>2.1) Định nghĩa</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r>
              <a:rPr lang="vi-VN" sz="2400" dirty="0">
                <a:latin typeface="Times New Roman" panose="02020603050405020304" pitchFamily="18" charset="0"/>
                <a:cs typeface="Times New Roman" panose="02020603050405020304" pitchFamily="18" charset="0"/>
              </a:rPr>
              <a:t>Ví </a:t>
            </a:r>
            <a:r>
              <a:rPr lang="vi-VN" sz="2400" dirty="0" smtClean="0">
                <a:latin typeface="Times New Roman" panose="02020603050405020304" pitchFamily="18" charset="0"/>
                <a:cs typeface="Times New Roman" panose="02020603050405020304" pitchFamily="18" charset="0"/>
              </a:rPr>
              <a:t>dụ: </a:t>
            </a:r>
            <a:r>
              <a:rPr lang="vi-VN" sz="2400" dirty="0">
                <a:latin typeface="Times New Roman" panose="02020603050405020304" pitchFamily="18" charset="0"/>
                <a:cs typeface="Times New Roman" panose="02020603050405020304" pitchFamily="18" charset="0"/>
              </a:rPr>
              <a:t>Giả sử bạn có một cửa hàng trực tuyến bán sách và muốn xây dựng các API để thao tác với sản phẩm. Bạn có thể có các API như</a:t>
            </a:r>
            <a:r>
              <a:rPr lang="vi-VN" sz="2400" dirty="0" smtClean="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GET /</a:t>
            </a:r>
            <a:r>
              <a:rPr lang="en-US" sz="2400" dirty="0" err="1">
                <a:latin typeface="Times New Roman" panose="02020603050405020304" pitchFamily="18" charset="0"/>
                <a:cs typeface="Times New Roman" panose="02020603050405020304" pitchFamily="18" charset="0"/>
              </a:rPr>
              <a:t>api</a:t>
            </a:r>
            <a:r>
              <a:rPr lang="en-US" sz="2400" dirty="0">
                <a:latin typeface="Times New Roman" panose="02020603050405020304" pitchFamily="18" charset="0"/>
                <a:cs typeface="Times New Roman" panose="02020603050405020304" pitchFamily="18" charset="0"/>
              </a:rPr>
              <a:t>/products: </a:t>
            </a:r>
            <a:r>
              <a:rPr lang="en-US" sz="2400" dirty="0" err="1">
                <a:latin typeface="Times New Roman" panose="02020603050405020304" pitchFamily="18" charset="0"/>
                <a:cs typeface="Times New Roman" panose="02020603050405020304" pitchFamily="18" charset="0"/>
              </a:rPr>
              <a:t>Trả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về</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danh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phẩm</a:t>
            </a:r>
            <a:r>
              <a:rPr lang="en-US" sz="2400" dirty="0" smtClean="0">
                <a:latin typeface="Times New Roman" panose="02020603050405020304" pitchFamily="18" charset="0"/>
                <a:cs typeface="Times New Roman" panose="02020603050405020304" pitchFamily="18" charset="0"/>
              </a:rPr>
              <a:t>.</a:t>
            </a:r>
            <a:endParaRPr lang="vi-VN"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GET </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api</a:t>
            </a:r>
            <a:r>
              <a:rPr lang="en-US" sz="2400" dirty="0">
                <a:latin typeface="Times New Roman" panose="02020603050405020304" pitchFamily="18" charset="0"/>
                <a:cs typeface="Times New Roman" panose="02020603050405020304" pitchFamily="18" charset="0"/>
              </a:rPr>
              <a:t>/products/{id}: </a:t>
            </a:r>
            <a:r>
              <a:rPr lang="en-US" sz="2400" dirty="0" err="1">
                <a:latin typeface="Times New Roman" panose="02020603050405020304" pitchFamily="18" charset="0"/>
                <a:cs typeface="Times New Roman" panose="02020603050405020304" pitchFamily="18" charset="0"/>
              </a:rPr>
              <a:t>Trả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về</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thông</a:t>
            </a:r>
            <a:r>
              <a:rPr lang="en-US" sz="2400" dirty="0">
                <a:latin typeface="Times New Roman" panose="02020603050405020304" pitchFamily="18" charset="0"/>
                <a:cs typeface="Times New Roman" panose="02020603050405020304" pitchFamily="18" charset="0"/>
              </a:rPr>
              <a:t> tin chi </a:t>
            </a:r>
            <a:r>
              <a:rPr lang="en-US" sz="2400" dirty="0" err="1">
                <a:latin typeface="Times New Roman" panose="02020603050405020304" pitchFamily="18" charset="0"/>
                <a:cs typeface="Times New Roman" panose="02020603050405020304" pitchFamily="18" charset="0"/>
              </a:rPr>
              <a:t>tiết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phẩm</a:t>
            </a:r>
            <a:r>
              <a:rPr lang="en-US" sz="2400" dirty="0" smtClean="0">
                <a:latin typeface="Times New Roman" panose="02020603050405020304" pitchFamily="18" charset="0"/>
                <a:cs typeface="Times New Roman" panose="02020603050405020304" pitchFamily="18" charset="0"/>
              </a:rPr>
              <a:t>.</a:t>
            </a:r>
            <a:endParaRPr lang="vi-VN"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POST </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api</a:t>
            </a:r>
            <a:r>
              <a:rPr lang="en-US" sz="2400" dirty="0">
                <a:latin typeface="Times New Roman" panose="02020603050405020304" pitchFamily="18" charset="0"/>
                <a:cs typeface="Times New Roman" panose="02020603050405020304" pitchFamily="18" charset="0"/>
              </a:rPr>
              <a:t>/products: </a:t>
            </a:r>
            <a:r>
              <a:rPr lang="en-US" sz="2400" dirty="0" err="1">
                <a:latin typeface="Times New Roman" panose="02020603050405020304" pitchFamily="18" charset="0"/>
                <a:cs typeface="Times New Roman" panose="02020603050405020304" pitchFamily="18" charset="0"/>
              </a:rPr>
              <a:t>Tạo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phẩm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mới</a:t>
            </a:r>
            <a:r>
              <a:rPr lang="en-US" sz="2400" dirty="0" smtClean="0">
                <a:latin typeface="Times New Roman" panose="02020603050405020304" pitchFamily="18" charset="0"/>
                <a:cs typeface="Times New Roman" panose="02020603050405020304" pitchFamily="18" charset="0"/>
              </a:rPr>
              <a:t>.</a:t>
            </a:r>
            <a:endParaRPr lang="vi-VN"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PUT </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api</a:t>
            </a:r>
            <a:r>
              <a:rPr lang="en-US" sz="2400" dirty="0">
                <a:latin typeface="Times New Roman" panose="02020603050405020304" pitchFamily="18" charset="0"/>
                <a:cs typeface="Times New Roman" panose="02020603050405020304" pitchFamily="18" charset="0"/>
              </a:rPr>
              <a:t>/products/{id}: </a:t>
            </a:r>
            <a:r>
              <a:rPr lang="en-US" sz="2400" dirty="0" err="1">
                <a:latin typeface="Times New Roman" panose="02020603050405020304" pitchFamily="18" charset="0"/>
                <a:cs typeface="Times New Roman" panose="02020603050405020304" pitchFamily="18" charset="0"/>
              </a:rPr>
              <a:t>Cập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nhật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thông</a:t>
            </a:r>
            <a:r>
              <a:rPr lang="en-US" sz="2400" dirty="0">
                <a:latin typeface="Times New Roman" panose="02020603050405020304" pitchFamily="18" charset="0"/>
                <a:cs typeface="Times New Roman" panose="02020603050405020304" pitchFamily="18" charset="0"/>
              </a:rPr>
              <a:t> tin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phẩm</a:t>
            </a:r>
            <a:r>
              <a:rPr lang="en-US" sz="2400" dirty="0" smtClean="0">
                <a:latin typeface="Times New Roman" panose="02020603050405020304" pitchFamily="18" charset="0"/>
                <a:cs typeface="Times New Roman" panose="02020603050405020304" pitchFamily="18" charset="0"/>
              </a:rPr>
              <a:t>.</a:t>
            </a:r>
            <a:endParaRPr lang="vi-VN"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DELETE </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api</a:t>
            </a:r>
            <a:r>
              <a:rPr lang="en-US" sz="2400" dirty="0">
                <a:latin typeface="Times New Roman" panose="02020603050405020304" pitchFamily="18" charset="0"/>
                <a:cs typeface="Times New Roman" panose="02020603050405020304" pitchFamily="18" charset="0"/>
              </a:rPr>
              <a:t>/products/{id}: </a:t>
            </a:r>
            <a:r>
              <a:rPr lang="en-US" sz="2400" dirty="0" err="1">
                <a:latin typeface="Times New Roman" panose="02020603050405020304" pitchFamily="18" charset="0"/>
                <a:cs typeface="Times New Roman" panose="02020603050405020304" pitchFamily="18" charset="0"/>
              </a:rPr>
              <a:t>Xóa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phẩm</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spTree>
    <p:extLst>
      <p:ext uri="{BB962C8B-B14F-4D97-AF65-F5344CB8AC3E}">
        <p14:creationId xmlns:p14="http://schemas.microsoft.com/office/powerpoint/2010/main" val="1642014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10309698" cy="657546"/>
          </a:xfrm>
        </p:spPr>
        <p:txBody>
          <a:bodyPr>
            <a:normAutofit fontScale="90000"/>
          </a:bodyPr>
          <a:lstStyle/>
          <a:p>
            <a:r>
              <a:rPr lang="en-US" sz="2800" b="1" dirty="0">
                <a:latin typeface="Times New Roman" panose="02020603050405020304" pitchFamily="18" charset="0"/>
                <a:cs typeface="Times New Roman" panose="02020603050405020304" pitchFamily="18" charset="0"/>
              </a:rPr>
              <a:t>2.2) </a:t>
            </a:r>
            <a:r>
              <a:rPr lang="en-US" sz="2800" b="1" dirty="0" err="1">
                <a:latin typeface="Times New Roman" panose="02020603050405020304" pitchFamily="18" charset="0"/>
                <a:cs typeface="Times New Roman" panose="02020603050405020304" pitchFamily="18" charset="0"/>
              </a:rPr>
              <a:t>Giao</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Thức</a:t>
            </a:r>
            <a:r>
              <a:rPr lang="en-US" sz="2800" b="1" dirty="0">
                <a:latin typeface="Times New Roman" panose="02020603050405020304" pitchFamily="18" charset="0"/>
                <a:cs typeface="Times New Roman" panose="02020603050405020304" pitchFamily="18" charset="0"/>
              </a:rPr>
              <a:t> HTTP, HTTPS </a:t>
            </a:r>
            <a:r>
              <a:rPr lang="en-US" sz="2800" b="1" dirty="0" err="1">
                <a:latin typeface="Times New Roman" panose="02020603050405020304" pitchFamily="18" charset="0"/>
                <a:cs typeface="Times New Roman" panose="02020603050405020304" pitchFamily="18" charset="0"/>
              </a:rPr>
              <a:t>và</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Sự</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Khác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Nhau</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Giữa</a:t>
            </a:r>
            <a:r>
              <a:rPr lang="en-US" sz="2800" b="1" dirty="0">
                <a:latin typeface="Times New Roman" panose="02020603050405020304" pitchFamily="18" charset="0"/>
                <a:cs typeface="Times New Roman" panose="02020603050405020304" pitchFamily="18" charset="0"/>
              </a:rPr>
              <a:t> HTTP </a:t>
            </a:r>
            <a:r>
              <a:rPr lang="en-US" sz="2800" b="1" dirty="0" err="1">
                <a:latin typeface="Times New Roman" panose="02020603050405020304" pitchFamily="18" charset="0"/>
                <a:cs typeface="Times New Roman" panose="02020603050405020304" pitchFamily="18" charset="0"/>
              </a:rPr>
              <a:t>và</a:t>
            </a:r>
            <a:r>
              <a:rPr lang="en-US" sz="2800" b="1" dirty="0">
                <a:latin typeface="Times New Roman" panose="02020603050405020304" pitchFamily="18" charset="0"/>
                <a:cs typeface="Times New Roman" panose="02020603050405020304" pitchFamily="18" charset="0"/>
              </a:rPr>
              <a:t> HTTPS</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2102923"/>
          </a:xfrm>
        </p:spPr>
        <p:txBody>
          <a:bodyPr>
            <a:normAutofit/>
          </a:bodyPr>
          <a:lstStyle/>
          <a:p>
            <a:pPr marL="114300" indent="0">
              <a:buNone/>
            </a:pPr>
            <a:r>
              <a:rPr lang="vi-VN" sz="2400" b="1" dirty="0">
                <a:latin typeface="Times New Roman" panose="02020603050405020304" pitchFamily="18" charset="0"/>
                <a:cs typeface="Times New Roman" panose="02020603050405020304" pitchFamily="18" charset="0"/>
              </a:rPr>
              <a:t>HTTP (Hypertext Transfer Protocol): </a:t>
            </a:r>
            <a:endParaRPr lang="vi-VN" sz="2400" b="1" dirty="0" smtClean="0">
              <a:latin typeface="Times New Roman" panose="02020603050405020304" pitchFamily="18" charset="0"/>
              <a:cs typeface="Times New Roman" panose="02020603050405020304" pitchFamily="18" charset="0"/>
            </a:endParaRPr>
          </a:p>
          <a:p>
            <a:r>
              <a:rPr lang="vi-VN" sz="2400" dirty="0" smtClean="0">
                <a:latin typeface="Times New Roman" panose="02020603050405020304" pitchFamily="18" charset="0"/>
                <a:cs typeface="Times New Roman" panose="02020603050405020304" pitchFamily="18" charset="0"/>
              </a:rPr>
              <a:t>Là </a:t>
            </a:r>
            <a:r>
              <a:rPr lang="vi-VN" sz="2400" dirty="0">
                <a:latin typeface="Times New Roman" panose="02020603050405020304" pitchFamily="18" charset="0"/>
                <a:cs typeface="Times New Roman" panose="02020603050405020304" pitchFamily="18" charset="0"/>
              </a:rPr>
              <a:t>giao thức nền tảng của World Wide Web (WWW), cho phép truyền tải các tài nguyên như HTML, ảnh, và dữ liệu từ server đến client. Tuy nhiên, HTTP không mã hóa dữ liệu, khiến thông tin có thể bị tấn công trong quá trình truyền tải.</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1655774" y="3573632"/>
            <a:ext cx="8478826" cy="2519845"/>
          </a:xfrm>
          <a:prstGeom prst="rect">
            <a:avLst/>
          </a:prstGeom>
        </p:spPr>
      </p:pic>
    </p:spTree>
    <p:extLst>
      <p:ext uri="{BB962C8B-B14F-4D97-AF65-F5344CB8AC3E}">
        <p14:creationId xmlns:p14="http://schemas.microsoft.com/office/powerpoint/2010/main" val="4129386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10192966" cy="657546"/>
          </a:xfrm>
        </p:spPr>
        <p:txBody>
          <a:bodyPr>
            <a:normAutofit fontScale="90000"/>
          </a:bodyPr>
          <a:lstStyle/>
          <a:p>
            <a:r>
              <a:rPr lang="en-US" sz="2800" b="1" dirty="0">
                <a:latin typeface="Times New Roman" panose="02020603050405020304" pitchFamily="18" charset="0"/>
                <a:cs typeface="Times New Roman" panose="02020603050405020304" pitchFamily="18" charset="0"/>
              </a:rPr>
              <a:t>2.2) </a:t>
            </a:r>
            <a:r>
              <a:rPr lang="en-US" sz="2800" b="1" dirty="0" err="1">
                <a:latin typeface="Times New Roman" panose="02020603050405020304" pitchFamily="18" charset="0"/>
                <a:cs typeface="Times New Roman" panose="02020603050405020304" pitchFamily="18" charset="0"/>
              </a:rPr>
              <a:t>Giao</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Thức</a:t>
            </a:r>
            <a:r>
              <a:rPr lang="en-US" sz="2800" b="1" dirty="0">
                <a:latin typeface="Times New Roman" panose="02020603050405020304" pitchFamily="18" charset="0"/>
                <a:cs typeface="Times New Roman" panose="02020603050405020304" pitchFamily="18" charset="0"/>
              </a:rPr>
              <a:t> HTTP, HTTPS </a:t>
            </a:r>
            <a:r>
              <a:rPr lang="en-US" sz="2800" b="1" dirty="0" err="1">
                <a:latin typeface="Times New Roman" panose="02020603050405020304" pitchFamily="18" charset="0"/>
                <a:cs typeface="Times New Roman" panose="02020603050405020304" pitchFamily="18" charset="0"/>
              </a:rPr>
              <a:t>và</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Sự</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Khác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Nhau</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Giữa</a:t>
            </a:r>
            <a:r>
              <a:rPr lang="en-US" sz="2800" b="1" dirty="0">
                <a:latin typeface="Times New Roman" panose="02020603050405020304" pitchFamily="18" charset="0"/>
                <a:cs typeface="Times New Roman" panose="02020603050405020304" pitchFamily="18" charset="0"/>
              </a:rPr>
              <a:t> HTTP </a:t>
            </a:r>
            <a:r>
              <a:rPr lang="en-US" sz="2800" b="1" dirty="0" err="1">
                <a:latin typeface="Times New Roman" panose="02020603050405020304" pitchFamily="18" charset="0"/>
                <a:cs typeface="Times New Roman" panose="02020603050405020304" pitchFamily="18" charset="0"/>
              </a:rPr>
              <a:t>và</a:t>
            </a:r>
            <a:r>
              <a:rPr lang="en-US" sz="2800" b="1" dirty="0">
                <a:latin typeface="Times New Roman" panose="02020603050405020304" pitchFamily="18" charset="0"/>
                <a:cs typeface="Times New Roman" panose="02020603050405020304" pitchFamily="18" charset="0"/>
              </a:rPr>
              <a:t> HTTPS</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r>
              <a:rPr lang="en-US" sz="2400" b="1" dirty="0">
                <a:latin typeface="Times New Roman" panose="02020603050405020304" pitchFamily="18" charset="0"/>
                <a:cs typeface="Times New Roman" panose="02020603050405020304" pitchFamily="18" charset="0"/>
              </a:rPr>
              <a:t>HTTPS (Hypertext Transfer Protocol Secure):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phiên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bảo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mật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HTTP,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SSL/TLS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hóa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truyền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đảm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bảo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toàn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vẹn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bảo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mật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050" name="Picture 2" descr="HTTPS (HyperText Transfer Protocol Secure)"/>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2661326" y="3052357"/>
            <a:ext cx="6249211" cy="31246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6789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2.3) </a:t>
            </a:r>
            <a:r>
              <a:rPr lang="en-US" sz="2800" b="1" dirty="0" err="1">
                <a:latin typeface="Times New Roman" panose="02020603050405020304" pitchFamily="18" charset="0"/>
                <a:cs typeface="Times New Roman" panose="02020603050405020304" pitchFamily="18" charset="0"/>
              </a:rPr>
              <a:t>Các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Giao</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Thức</a:t>
            </a:r>
            <a:r>
              <a:rPr lang="en-US" sz="2800" b="1" dirty="0">
                <a:latin typeface="Times New Roman" panose="02020603050405020304" pitchFamily="18" charset="0"/>
                <a:cs typeface="Times New Roman" panose="02020603050405020304" pitchFamily="18" charset="0"/>
              </a:rPr>
              <a:t> GET, POST, PUT, DELETE</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r>
              <a:rPr lang="en-US" sz="2400" b="1" dirty="0">
                <a:latin typeface="Times New Roman" panose="02020603050405020304" pitchFamily="18" charset="0"/>
                <a:cs typeface="Times New Roman" panose="02020603050405020304" pitchFamily="18" charset="0"/>
              </a:rPr>
              <a:t>GET: </a:t>
            </a:r>
            <a:r>
              <a:rPr lang="en-US" sz="2400" dirty="0" err="1">
                <a:latin typeface="Times New Roman" panose="02020603050405020304" pitchFamily="18" charset="0"/>
                <a:cs typeface="Times New Roman" panose="02020603050405020304" pitchFamily="18" charset="0"/>
              </a:rPr>
              <a:t>Dùng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lấy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a:t>
            </a:r>
            <a:r>
              <a:rPr lang="en-US" sz="2400" dirty="0">
                <a:latin typeface="Times New Roman" panose="02020603050405020304" pitchFamily="18" charset="0"/>
                <a:cs typeface="Times New Roman" panose="02020603050405020304" pitchFamily="18" charset="0"/>
              </a:rPr>
              <a:t> server. </a:t>
            </a:r>
            <a:r>
              <a:rPr lang="en-US" sz="2400" dirty="0" err="1">
                <a:latin typeface="Times New Roman" panose="02020603050405020304" pitchFamily="18" charset="0"/>
                <a:cs typeface="Times New Roman" panose="02020603050405020304" pitchFamily="18" charset="0"/>
              </a:rPr>
              <a:t>Ví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Lấy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danh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phẩm</a:t>
            </a:r>
            <a:r>
              <a:rPr lang="en-US" sz="2400" dirty="0" smtClean="0">
                <a:latin typeface="Times New Roman" panose="02020603050405020304" pitchFamily="18" charset="0"/>
                <a:cs typeface="Times New Roman" panose="02020603050405020304" pitchFamily="18" charset="0"/>
              </a:rPr>
              <a:t>.</a:t>
            </a:r>
            <a:endParaRPr lang="vi-VN" sz="2400" dirty="0" smtClean="0">
              <a:latin typeface="Times New Roman" panose="02020603050405020304" pitchFamily="18" charset="0"/>
              <a:cs typeface="Times New Roman" panose="02020603050405020304" pitchFamily="18" charset="0"/>
            </a:endParaRPr>
          </a:p>
          <a:p>
            <a:r>
              <a:rPr lang="en-US" sz="2400" b="1" dirty="0" smtClean="0">
                <a:latin typeface="Times New Roman" panose="02020603050405020304" pitchFamily="18" charset="0"/>
                <a:cs typeface="Times New Roman" panose="02020603050405020304" pitchFamily="18" charset="0"/>
              </a:rPr>
              <a:t>POST</a:t>
            </a:r>
            <a:r>
              <a:rPr lang="en-US" sz="2400" b="1"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Dùng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gửi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đến</a:t>
            </a:r>
            <a:r>
              <a:rPr lang="en-US" sz="2400" dirty="0">
                <a:latin typeface="Times New Roman" panose="02020603050405020304" pitchFamily="18" charset="0"/>
                <a:cs typeface="Times New Roman" panose="02020603050405020304" pitchFamily="18" charset="0"/>
              </a:rPr>
              <a:t> server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nguyên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Thêm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phẩm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mới</a:t>
            </a:r>
            <a:r>
              <a:rPr lang="en-US" sz="2400" dirty="0" smtClean="0">
                <a:latin typeface="Times New Roman" panose="02020603050405020304" pitchFamily="18" charset="0"/>
                <a:cs typeface="Times New Roman" panose="02020603050405020304" pitchFamily="18" charset="0"/>
              </a:rPr>
              <a:t>.</a:t>
            </a:r>
            <a:endParaRPr lang="vi-VN" sz="2400" dirty="0" smtClean="0">
              <a:latin typeface="Times New Roman" panose="02020603050405020304" pitchFamily="18" charset="0"/>
              <a:cs typeface="Times New Roman" panose="02020603050405020304" pitchFamily="18" charset="0"/>
            </a:endParaRPr>
          </a:p>
          <a:p>
            <a:r>
              <a:rPr lang="en-US" sz="2400" b="1" dirty="0" smtClean="0">
                <a:latin typeface="Times New Roman" panose="02020603050405020304" pitchFamily="18" charset="0"/>
                <a:cs typeface="Times New Roman" panose="02020603050405020304" pitchFamily="18" charset="0"/>
              </a:rPr>
              <a:t>PUT</a:t>
            </a:r>
            <a:r>
              <a:rPr lang="en-US" sz="2400" b="1"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Dùng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nhật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nguyên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trên</a:t>
            </a:r>
            <a:r>
              <a:rPr lang="en-US" sz="2400" dirty="0">
                <a:latin typeface="Times New Roman" panose="02020603050405020304" pitchFamily="18" charset="0"/>
                <a:cs typeface="Times New Roman" panose="02020603050405020304" pitchFamily="18" charset="0"/>
              </a:rPr>
              <a:t> server. </a:t>
            </a:r>
            <a:r>
              <a:rPr lang="en-US" sz="2400" dirty="0" err="1">
                <a:latin typeface="Times New Roman" panose="02020603050405020304" pitchFamily="18" charset="0"/>
                <a:cs typeface="Times New Roman" panose="02020603050405020304" pitchFamily="18" charset="0"/>
              </a:rPr>
              <a:t>Ví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nhật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thông</a:t>
            </a:r>
            <a:r>
              <a:rPr lang="en-US" sz="2400" dirty="0">
                <a:latin typeface="Times New Roman" panose="02020603050405020304" pitchFamily="18" charset="0"/>
                <a:cs typeface="Times New Roman" panose="02020603050405020304" pitchFamily="18" charset="0"/>
              </a:rPr>
              <a:t> tin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phẩm</a:t>
            </a:r>
            <a:r>
              <a:rPr lang="en-US" sz="2400" dirty="0" smtClean="0">
                <a:latin typeface="Times New Roman" panose="02020603050405020304" pitchFamily="18" charset="0"/>
                <a:cs typeface="Times New Roman" panose="02020603050405020304" pitchFamily="18" charset="0"/>
              </a:rPr>
              <a:t>.</a:t>
            </a:r>
            <a:endParaRPr lang="vi-VN" sz="2400" dirty="0" smtClean="0">
              <a:latin typeface="Times New Roman" panose="02020603050405020304" pitchFamily="18" charset="0"/>
              <a:cs typeface="Times New Roman" panose="02020603050405020304" pitchFamily="18" charset="0"/>
            </a:endParaRPr>
          </a:p>
          <a:p>
            <a:r>
              <a:rPr lang="en-US" sz="2400" b="1" dirty="0" smtClean="0">
                <a:latin typeface="Times New Roman" panose="02020603050405020304" pitchFamily="18" charset="0"/>
                <a:cs typeface="Times New Roman" panose="02020603050405020304" pitchFamily="18" charset="0"/>
              </a:rPr>
              <a:t>DELETE</a:t>
            </a:r>
            <a:r>
              <a:rPr lang="en-US" sz="2400" b="1"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Dùng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xóa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tài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nguyên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khỏi</a:t>
            </a:r>
            <a:r>
              <a:rPr lang="en-US" sz="2400" dirty="0">
                <a:latin typeface="Times New Roman" panose="02020603050405020304" pitchFamily="18" charset="0"/>
                <a:cs typeface="Times New Roman" panose="02020603050405020304" pitchFamily="18" charset="0"/>
              </a:rPr>
              <a:t> server. </a:t>
            </a:r>
            <a:r>
              <a:rPr lang="en-US" sz="2400" dirty="0" err="1">
                <a:latin typeface="Times New Roman" panose="02020603050405020304" pitchFamily="18" charset="0"/>
                <a:cs typeface="Times New Roman" panose="02020603050405020304" pitchFamily="18" charset="0"/>
              </a:rPr>
              <a:t>Ví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Xóa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phẩm</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spTree>
    <p:extLst>
      <p:ext uri="{BB962C8B-B14F-4D97-AF65-F5344CB8AC3E}">
        <p14:creationId xmlns:p14="http://schemas.microsoft.com/office/powerpoint/2010/main" val="4098295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2.4) </a:t>
            </a:r>
            <a:r>
              <a:rPr lang="en-US" sz="2800" b="1" dirty="0" err="1">
                <a:latin typeface="Times New Roman" panose="02020603050405020304" pitchFamily="18" charset="0"/>
                <a:cs typeface="Times New Roman" panose="02020603050405020304" pitchFamily="18" charset="0"/>
              </a:rPr>
              <a:t>Các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Quy</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Chuẩn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Để</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Tạo</a:t>
            </a:r>
            <a:r>
              <a:rPr lang="en-US" sz="2800" b="1" dirty="0">
                <a:latin typeface="Times New Roman" panose="02020603050405020304" pitchFamily="18" charset="0"/>
                <a:cs typeface="Times New Roman" panose="02020603050405020304" pitchFamily="18" charset="0"/>
              </a:rPr>
              <a:t> RESTful API</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pPr marL="114300" indent="0">
              <a:buNone/>
            </a:pPr>
            <a:r>
              <a:rPr lang="vi-VN" sz="2400" b="1" dirty="0">
                <a:latin typeface="Times New Roman" panose="02020603050405020304" pitchFamily="18" charset="0"/>
                <a:cs typeface="Times New Roman" panose="02020603050405020304" pitchFamily="18" charset="0"/>
              </a:rPr>
              <a:t>Khi thiết kế RESTful API, bạn cần tuân thủ một số quy chuẩn sau</a:t>
            </a:r>
            <a:r>
              <a:rPr lang="vi-VN" sz="2400" b="1" dirty="0" smtClean="0">
                <a:latin typeface="Times New Roman" panose="02020603050405020304" pitchFamily="18" charset="0"/>
                <a:cs typeface="Times New Roman" panose="02020603050405020304" pitchFamily="18" charset="0"/>
              </a:rPr>
              <a:t>:</a:t>
            </a:r>
          </a:p>
          <a:p>
            <a:pPr marL="571500" indent="-457200">
              <a:buFont typeface="+mj-lt"/>
              <a:buAutoNum type="arabicPeriod"/>
            </a:pPr>
            <a:r>
              <a:rPr lang="vi-VN" sz="2400" dirty="0" smtClean="0">
                <a:latin typeface="Times New Roman" panose="02020603050405020304" pitchFamily="18" charset="0"/>
                <a:cs typeface="Times New Roman" panose="02020603050405020304" pitchFamily="18" charset="0"/>
              </a:rPr>
              <a:t>Phương </a:t>
            </a:r>
            <a:r>
              <a:rPr lang="vi-VN" sz="2400" dirty="0">
                <a:latin typeface="Times New Roman" panose="02020603050405020304" pitchFamily="18" charset="0"/>
                <a:cs typeface="Times New Roman" panose="02020603050405020304" pitchFamily="18" charset="0"/>
              </a:rPr>
              <a:t>thức HTTP: Sử dụng đúng phương thức </a:t>
            </a:r>
            <a:r>
              <a:rPr lang="vi-VN" sz="2400" dirty="0" smtClean="0">
                <a:latin typeface="Times New Roman" panose="02020603050405020304" pitchFamily="18" charset="0"/>
                <a:cs typeface="Times New Roman" panose="02020603050405020304" pitchFamily="18" charset="0"/>
              </a:rPr>
              <a:t>HTTP/HTTPS </a:t>
            </a:r>
            <a:r>
              <a:rPr lang="vi-VN" sz="2400" dirty="0">
                <a:latin typeface="Times New Roman" panose="02020603050405020304" pitchFamily="18" charset="0"/>
                <a:cs typeface="Times New Roman" panose="02020603050405020304" pitchFamily="18" charset="0"/>
              </a:rPr>
              <a:t>cho các thao tác CRUD</a:t>
            </a:r>
            <a:r>
              <a:rPr lang="vi-VN" sz="2400" dirty="0" smtClean="0">
                <a:latin typeface="Times New Roman" panose="02020603050405020304" pitchFamily="18" charset="0"/>
                <a:cs typeface="Times New Roman" panose="02020603050405020304" pitchFamily="18" charset="0"/>
              </a:rPr>
              <a:t>.</a:t>
            </a:r>
          </a:p>
          <a:p>
            <a:pPr marL="571500" indent="-457200">
              <a:buFont typeface="+mj-lt"/>
              <a:buAutoNum type="arabicPeriod"/>
            </a:pPr>
            <a:r>
              <a:rPr lang="vi-VN" sz="2400" dirty="0" smtClean="0">
                <a:latin typeface="Times New Roman" panose="02020603050405020304" pitchFamily="18" charset="0"/>
                <a:cs typeface="Times New Roman" panose="02020603050405020304" pitchFamily="18" charset="0"/>
              </a:rPr>
              <a:t>Các </a:t>
            </a:r>
            <a:r>
              <a:rPr lang="vi-VN" sz="2400" dirty="0">
                <a:latin typeface="Times New Roman" panose="02020603050405020304" pitchFamily="18" charset="0"/>
                <a:cs typeface="Times New Roman" panose="02020603050405020304" pitchFamily="18" charset="0"/>
              </a:rPr>
              <a:t>URL phải rõ ràng và dễ hiểu</a:t>
            </a:r>
            <a:r>
              <a:rPr lang="vi-VN" sz="2400" dirty="0" smtClean="0">
                <a:latin typeface="Times New Roman" panose="02020603050405020304" pitchFamily="18" charset="0"/>
                <a:cs typeface="Times New Roman" panose="02020603050405020304" pitchFamily="18" charset="0"/>
              </a:rPr>
              <a:t>:</a:t>
            </a:r>
          </a:p>
          <a:p>
            <a:pPr lvl="1">
              <a:buFont typeface="Wingdings" panose="05000000000000000000" pitchFamily="2" charset="2"/>
              <a:buChar char="q"/>
            </a:pPr>
            <a:r>
              <a:rPr lang="vi-VN" sz="2000" dirty="0" smtClean="0">
                <a:latin typeface="Times New Roman" panose="02020603050405020304" pitchFamily="18" charset="0"/>
                <a:cs typeface="Times New Roman" panose="02020603050405020304" pitchFamily="18" charset="0"/>
              </a:rPr>
              <a:t>GET </a:t>
            </a:r>
            <a:r>
              <a:rPr lang="vi-VN" sz="2000" dirty="0">
                <a:latin typeface="Times New Roman" panose="02020603050405020304" pitchFamily="18" charset="0"/>
                <a:cs typeface="Times New Roman" panose="02020603050405020304" pitchFamily="18" charset="0"/>
              </a:rPr>
              <a:t>/api/products: Trả về danh sách sản phẩm</a:t>
            </a:r>
            <a:r>
              <a:rPr lang="vi-VN" sz="2000" dirty="0" smtClean="0">
                <a:latin typeface="Times New Roman" panose="02020603050405020304" pitchFamily="18" charset="0"/>
                <a:cs typeface="Times New Roman" panose="02020603050405020304" pitchFamily="18" charset="0"/>
              </a:rPr>
              <a:t>.</a:t>
            </a:r>
          </a:p>
          <a:p>
            <a:pPr lvl="1">
              <a:buFont typeface="Wingdings" panose="05000000000000000000" pitchFamily="2" charset="2"/>
              <a:buChar char="q"/>
            </a:pPr>
            <a:r>
              <a:rPr lang="vi-VN" sz="2000" dirty="0" smtClean="0">
                <a:latin typeface="Times New Roman" panose="02020603050405020304" pitchFamily="18" charset="0"/>
                <a:cs typeface="Times New Roman" panose="02020603050405020304" pitchFamily="18" charset="0"/>
              </a:rPr>
              <a:t>GET </a:t>
            </a:r>
            <a:r>
              <a:rPr lang="vi-VN" sz="2000" dirty="0">
                <a:latin typeface="Times New Roman" panose="02020603050405020304" pitchFamily="18" charset="0"/>
                <a:cs typeface="Times New Roman" panose="02020603050405020304" pitchFamily="18" charset="0"/>
              </a:rPr>
              <a:t>/api/products/{id}: Trả về chi tiết sản phẩm</a:t>
            </a:r>
            <a:r>
              <a:rPr lang="vi-VN" sz="2000" dirty="0" smtClean="0">
                <a:latin typeface="Times New Roman" panose="02020603050405020304" pitchFamily="18" charset="0"/>
                <a:cs typeface="Times New Roman" panose="02020603050405020304" pitchFamily="18" charset="0"/>
              </a:rPr>
              <a:t>.</a:t>
            </a:r>
          </a:p>
          <a:p>
            <a:pPr lvl="1">
              <a:buFont typeface="Wingdings" panose="05000000000000000000" pitchFamily="2" charset="2"/>
              <a:buChar char="q"/>
            </a:pPr>
            <a:r>
              <a:rPr lang="vi-VN" sz="2000" dirty="0" smtClean="0">
                <a:latin typeface="Times New Roman" panose="02020603050405020304" pitchFamily="18" charset="0"/>
                <a:cs typeface="Times New Roman" panose="02020603050405020304" pitchFamily="18" charset="0"/>
              </a:rPr>
              <a:t>POST </a:t>
            </a:r>
            <a:r>
              <a:rPr lang="vi-VN" sz="2000" dirty="0">
                <a:latin typeface="Times New Roman" panose="02020603050405020304" pitchFamily="18" charset="0"/>
                <a:cs typeface="Times New Roman" panose="02020603050405020304" pitchFamily="18" charset="0"/>
              </a:rPr>
              <a:t>/api/products: Tạo mới một sản phẩm</a:t>
            </a:r>
            <a:r>
              <a:rPr lang="vi-VN" sz="2000" dirty="0" smtClean="0">
                <a:latin typeface="Times New Roman" panose="02020603050405020304" pitchFamily="18" charset="0"/>
                <a:cs typeface="Times New Roman" panose="02020603050405020304" pitchFamily="18" charset="0"/>
              </a:rPr>
              <a:t>.</a:t>
            </a:r>
          </a:p>
          <a:p>
            <a:pPr lvl="1">
              <a:buFont typeface="Wingdings" panose="05000000000000000000" pitchFamily="2" charset="2"/>
              <a:buChar char="q"/>
            </a:pPr>
            <a:r>
              <a:rPr lang="vi-VN" sz="2000" dirty="0" smtClean="0">
                <a:latin typeface="Times New Roman" panose="02020603050405020304" pitchFamily="18" charset="0"/>
                <a:cs typeface="Times New Roman" panose="02020603050405020304" pitchFamily="18" charset="0"/>
              </a:rPr>
              <a:t>PUT </a:t>
            </a:r>
            <a:r>
              <a:rPr lang="vi-VN" sz="2000" dirty="0">
                <a:latin typeface="Times New Roman" panose="02020603050405020304" pitchFamily="18" charset="0"/>
                <a:cs typeface="Times New Roman" panose="02020603050405020304" pitchFamily="18" charset="0"/>
              </a:rPr>
              <a:t>/api/products/{id}: Cập nhật sản phẩm</a:t>
            </a:r>
            <a:r>
              <a:rPr lang="vi-VN" sz="2000" dirty="0" smtClean="0">
                <a:latin typeface="Times New Roman" panose="02020603050405020304" pitchFamily="18" charset="0"/>
                <a:cs typeface="Times New Roman" panose="02020603050405020304" pitchFamily="18" charset="0"/>
              </a:rPr>
              <a:t>.</a:t>
            </a:r>
          </a:p>
          <a:p>
            <a:pPr lvl="1">
              <a:buFont typeface="Wingdings" panose="05000000000000000000" pitchFamily="2" charset="2"/>
              <a:buChar char="q"/>
            </a:pPr>
            <a:r>
              <a:rPr lang="vi-VN" sz="2000" dirty="0" smtClean="0">
                <a:latin typeface="Times New Roman" panose="02020603050405020304" pitchFamily="18" charset="0"/>
                <a:cs typeface="Times New Roman" panose="02020603050405020304" pitchFamily="18" charset="0"/>
              </a:rPr>
              <a:t>DELETE </a:t>
            </a:r>
            <a:r>
              <a:rPr lang="vi-VN" sz="2000" dirty="0">
                <a:latin typeface="Times New Roman" panose="02020603050405020304" pitchFamily="18" charset="0"/>
                <a:cs typeface="Times New Roman" panose="02020603050405020304" pitchFamily="18" charset="0"/>
              </a:rPr>
              <a:t>/api/products/{id}: Xóa sản phẩm.</a:t>
            </a:r>
            <a:endParaRPr lang="en-US" sz="20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spTree>
    <p:extLst>
      <p:ext uri="{BB962C8B-B14F-4D97-AF65-F5344CB8AC3E}">
        <p14:creationId xmlns:p14="http://schemas.microsoft.com/office/powerpoint/2010/main" val="141935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2.4) </a:t>
            </a:r>
            <a:r>
              <a:rPr lang="en-US" sz="2800" b="1" dirty="0" err="1">
                <a:latin typeface="Times New Roman" panose="02020603050405020304" pitchFamily="18" charset="0"/>
                <a:cs typeface="Times New Roman" panose="02020603050405020304" pitchFamily="18" charset="0"/>
              </a:rPr>
              <a:t>Các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Quy</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Chuẩn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Để</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Tạo</a:t>
            </a:r>
            <a:r>
              <a:rPr lang="en-US" sz="2800" b="1" dirty="0">
                <a:latin typeface="Times New Roman" panose="02020603050405020304" pitchFamily="18" charset="0"/>
                <a:cs typeface="Times New Roman" panose="02020603050405020304" pitchFamily="18" charset="0"/>
              </a:rPr>
              <a:t> RESTful API</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pPr marL="114300" indent="0">
              <a:buNone/>
            </a:pPr>
            <a:r>
              <a:rPr lang="vi-VN" sz="2400" b="1" dirty="0" smtClean="0">
                <a:latin typeface="Times New Roman" panose="02020603050405020304" pitchFamily="18" charset="0"/>
                <a:cs typeface="Times New Roman" panose="02020603050405020304" pitchFamily="18" charset="0"/>
              </a:rPr>
              <a:t>3. </a:t>
            </a:r>
            <a:r>
              <a:rPr lang="en-US" sz="2400" b="1" dirty="0" smtClean="0">
                <a:latin typeface="Times New Roman" panose="02020603050405020304" pitchFamily="18" charset="0"/>
                <a:cs typeface="Times New Roman" panose="02020603050405020304" pitchFamily="18" charset="0"/>
              </a:rPr>
              <a:t>HTTP </a:t>
            </a:r>
            <a:r>
              <a:rPr lang="en-US" sz="2400" b="1" dirty="0">
                <a:latin typeface="Times New Roman" panose="02020603050405020304" pitchFamily="18" charset="0"/>
                <a:cs typeface="Times New Roman" panose="02020603050405020304" pitchFamily="18" charset="0"/>
              </a:rPr>
              <a:t>Status Codes</a:t>
            </a:r>
            <a:r>
              <a:rPr lang="en-US" sz="2400" b="1" dirty="0" smtClean="0">
                <a:latin typeface="Times New Roman" panose="02020603050405020304" pitchFamily="18" charset="0"/>
                <a:cs typeface="Times New Roman" panose="02020603050405020304" pitchFamily="18" charset="0"/>
              </a:rPr>
              <a:t>:</a:t>
            </a:r>
            <a:endParaRPr lang="vi-VN" sz="2400" b="1"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200 OK: </a:t>
            </a:r>
            <a:r>
              <a:rPr lang="en-US" sz="2000" dirty="0" err="1">
                <a:latin typeface="Times New Roman" panose="02020603050405020304" pitchFamily="18" charset="0"/>
                <a:cs typeface="Times New Roman" panose="02020603050405020304" pitchFamily="18" charset="0"/>
              </a:rPr>
              <a:t>Thực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hiện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thành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công</a:t>
            </a:r>
            <a:r>
              <a:rPr lang="en-US" sz="2000" dirty="0" smtClean="0">
                <a:latin typeface="Times New Roman" panose="02020603050405020304" pitchFamily="18" charset="0"/>
                <a:cs typeface="Times New Roman" panose="02020603050405020304" pitchFamily="18" charset="0"/>
              </a:rPr>
              <a:t>.</a:t>
            </a:r>
            <a:endParaRPr lang="vi-VN" sz="20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q"/>
            </a:pPr>
            <a:r>
              <a:rPr lang="en-US" sz="2000" dirty="0" smtClean="0">
                <a:latin typeface="Times New Roman" panose="02020603050405020304" pitchFamily="18" charset="0"/>
                <a:cs typeface="Times New Roman" panose="02020603050405020304" pitchFamily="18" charset="0"/>
              </a:rPr>
              <a:t>201 </a:t>
            </a:r>
            <a:r>
              <a:rPr lang="en-US" sz="2000" dirty="0">
                <a:latin typeface="Times New Roman" panose="02020603050405020304" pitchFamily="18" charset="0"/>
                <a:cs typeface="Times New Roman" panose="02020603050405020304" pitchFamily="18" charset="0"/>
              </a:rPr>
              <a:t>Created: </a:t>
            </a:r>
            <a:r>
              <a:rPr lang="en-US" sz="2000" dirty="0" err="1">
                <a:latin typeface="Times New Roman" panose="02020603050405020304" pitchFamily="18" charset="0"/>
                <a:cs typeface="Times New Roman" panose="02020603050405020304" pitchFamily="18" charset="0"/>
              </a:rPr>
              <a:t>Tạo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tài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nguyên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thành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công</a:t>
            </a:r>
            <a:r>
              <a:rPr lang="en-US" sz="2000" dirty="0" smtClean="0">
                <a:latin typeface="Times New Roman" panose="02020603050405020304" pitchFamily="18" charset="0"/>
                <a:cs typeface="Times New Roman" panose="02020603050405020304" pitchFamily="18" charset="0"/>
              </a:rPr>
              <a:t>.</a:t>
            </a:r>
            <a:endParaRPr lang="vi-VN" sz="20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q"/>
            </a:pPr>
            <a:r>
              <a:rPr lang="en-US" sz="2000" dirty="0" smtClean="0">
                <a:latin typeface="Times New Roman" panose="02020603050405020304" pitchFamily="18" charset="0"/>
                <a:cs typeface="Times New Roman" panose="02020603050405020304" pitchFamily="18" charset="0"/>
              </a:rPr>
              <a:t>400 </a:t>
            </a:r>
            <a:r>
              <a:rPr lang="en-US" sz="2000" dirty="0">
                <a:latin typeface="Times New Roman" panose="02020603050405020304" pitchFamily="18" charset="0"/>
                <a:cs typeface="Times New Roman" panose="02020603050405020304" pitchFamily="18" charset="0"/>
              </a:rPr>
              <a:t>Bad Request: </a:t>
            </a:r>
            <a:r>
              <a:rPr lang="en-US" sz="2000" dirty="0" err="1">
                <a:latin typeface="Times New Roman" panose="02020603050405020304" pitchFamily="18" charset="0"/>
                <a:cs typeface="Times New Roman" panose="02020603050405020304" pitchFamily="18" charset="0"/>
              </a:rPr>
              <a:t>Yêu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cầu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không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hợp</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lệ</a:t>
            </a:r>
            <a:r>
              <a:rPr lang="en-US" sz="2000" dirty="0" smtClean="0">
                <a:latin typeface="Times New Roman" panose="02020603050405020304" pitchFamily="18" charset="0"/>
                <a:cs typeface="Times New Roman" panose="02020603050405020304" pitchFamily="18" charset="0"/>
              </a:rPr>
              <a:t>.</a:t>
            </a:r>
            <a:endParaRPr lang="vi-VN" sz="20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q"/>
            </a:pPr>
            <a:r>
              <a:rPr lang="en-US" sz="2000" dirty="0" smtClean="0">
                <a:latin typeface="Times New Roman" panose="02020603050405020304" pitchFamily="18" charset="0"/>
                <a:cs typeface="Times New Roman" panose="02020603050405020304" pitchFamily="18" charset="0"/>
              </a:rPr>
              <a:t>404 </a:t>
            </a:r>
            <a:r>
              <a:rPr lang="en-US" sz="2000" dirty="0">
                <a:latin typeface="Times New Roman" panose="02020603050405020304" pitchFamily="18" charset="0"/>
                <a:cs typeface="Times New Roman" panose="02020603050405020304" pitchFamily="18" charset="0"/>
              </a:rPr>
              <a:t>Not Found: </a:t>
            </a:r>
            <a:r>
              <a:rPr lang="en-US" sz="2000" dirty="0" err="1">
                <a:latin typeface="Times New Roman" panose="02020603050405020304" pitchFamily="18" charset="0"/>
                <a:cs typeface="Times New Roman" panose="02020603050405020304" pitchFamily="18" charset="0"/>
              </a:rPr>
              <a:t>Không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tìm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thấy</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tài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nguyên</a:t>
            </a:r>
            <a:r>
              <a:rPr lang="en-US" sz="2000" dirty="0" smtClean="0">
                <a:latin typeface="Times New Roman" panose="02020603050405020304" pitchFamily="18" charset="0"/>
                <a:cs typeface="Times New Roman" panose="02020603050405020304" pitchFamily="18" charset="0"/>
              </a:rPr>
              <a:t>.</a:t>
            </a:r>
            <a:endParaRPr lang="vi-VN" sz="20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q"/>
            </a:pPr>
            <a:r>
              <a:rPr lang="en-US" sz="2000" dirty="0" smtClean="0">
                <a:latin typeface="Times New Roman" panose="02020603050405020304" pitchFamily="18" charset="0"/>
                <a:cs typeface="Times New Roman" panose="02020603050405020304" pitchFamily="18" charset="0"/>
              </a:rPr>
              <a:t>500 </a:t>
            </a:r>
            <a:r>
              <a:rPr lang="en-US" sz="2000" dirty="0">
                <a:latin typeface="Times New Roman" panose="02020603050405020304" pitchFamily="18" charset="0"/>
                <a:cs typeface="Times New Roman" panose="02020603050405020304" pitchFamily="18" charset="0"/>
              </a:rPr>
              <a:t>Internal Server Error: </a:t>
            </a:r>
            <a:r>
              <a:rPr lang="en-US" sz="2000" dirty="0" err="1">
                <a:latin typeface="Times New Roman" panose="02020603050405020304" pitchFamily="18" charset="0"/>
                <a:cs typeface="Times New Roman" panose="02020603050405020304" pitchFamily="18" charset="0"/>
              </a:rPr>
              <a:t>Lỗi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từ</a:t>
            </a:r>
            <a:r>
              <a:rPr lang="en-US" sz="2000" dirty="0">
                <a:latin typeface="Times New Roman" panose="02020603050405020304" pitchFamily="18" charset="0"/>
                <a:cs typeface="Times New Roman" panose="02020603050405020304" pitchFamily="18" charset="0"/>
              </a:rPr>
              <a:t> </a:t>
            </a:r>
            <a:r>
              <a:rPr lang="vi-VN" sz="2000" dirty="0" smtClean="0">
                <a:latin typeface="Times New Roman" panose="02020603050405020304" pitchFamily="18" charset="0"/>
                <a:cs typeface="Times New Roman" panose="02020603050405020304" pitchFamily="18" charset="0"/>
              </a:rPr>
              <a:t>server.</a:t>
            </a:r>
          </a:p>
          <a:p>
            <a:pPr marL="114300" indent="0">
              <a:buNone/>
            </a:pPr>
            <a:r>
              <a:rPr lang="vi-VN" sz="2400" b="1" dirty="0">
                <a:latin typeface="Times New Roman" panose="02020603050405020304" pitchFamily="18" charset="0"/>
                <a:cs typeface="Times New Roman" panose="02020603050405020304" pitchFamily="18" charset="0"/>
              </a:rPr>
              <a:t>4. Dữ liệu trả về: Trả về dữ liệu trong định dạng JSON hoặc XML.</a:t>
            </a:r>
            <a:endParaRPr lang="en-US" sz="2400" b="1"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spTree>
    <p:extLst>
      <p:ext uri="{BB962C8B-B14F-4D97-AF65-F5344CB8AC3E}">
        <p14:creationId xmlns:p14="http://schemas.microsoft.com/office/powerpoint/2010/main" val="1074164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3) </a:t>
            </a:r>
            <a:r>
              <a:rPr lang="en-US" sz="2800" b="1" dirty="0" err="1">
                <a:latin typeface="Times New Roman" panose="02020603050405020304" pitchFamily="18" charset="0"/>
                <a:cs typeface="Times New Roman" panose="02020603050405020304" pitchFamily="18" charset="0"/>
              </a:rPr>
              <a:t>Truyền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Tham</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Số</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Trong</a:t>
            </a:r>
            <a:r>
              <a:rPr lang="en-US" sz="2800" b="1" dirty="0">
                <a:latin typeface="Times New Roman" panose="02020603050405020304" pitchFamily="18" charset="0"/>
                <a:cs typeface="Times New Roman" panose="02020603050405020304" pitchFamily="18" charset="0"/>
              </a:rPr>
              <a:t> API</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r>
              <a:rPr lang="vi-VN" sz="2400" dirty="0">
                <a:latin typeface="Times New Roman" panose="02020603050405020304" pitchFamily="18" charset="0"/>
                <a:cs typeface="Times New Roman" panose="02020603050405020304" pitchFamily="18" charset="0"/>
              </a:rPr>
              <a:t>Khi xây dựng các RESTful API, bạn có thể truyền tham số từ client đến server theo các cách khác nhau. Các cách truyền tham số phổ biến nhất bao gồm </a:t>
            </a:r>
            <a:r>
              <a:rPr lang="vi-VN" sz="2400" b="1" dirty="0">
                <a:latin typeface="Times New Roman" panose="02020603050405020304" pitchFamily="18" charset="0"/>
                <a:cs typeface="Times New Roman" panose="02020603050405020304" pitchFamily="18" charset="0"/>
              </a:rPr>
              <a:t>Request Param, Request Body, và Path Variable</a:t>
            </a:r>
            <a:r>
              <a:rPr lang="vi-VN" sz="2400" dirty="0">
                <a:latin typeface="Times New Roman" panose="02020603050405020304" pitchFamily="18" charset="0"/>
                <a:cs typeface="Times New Roman" panose="02020603050405020304" pitchFamily="18" charset="0"/>
              </a:rPr>
              <a:t>. Mỗi loại tham số có cách sử dụng và mục đích khác nhau. Dưới đây là sự giải thích chi tiết về từng loại tham số và cách sử dụng trong Spring MVC</a:t>
            </a:r>
            <a:r>
              <a:rPr lang="vi-VN" sz="2400" dirty="0" smtClean="0">
                <a:latin typeface="Times New Roman" panose="02020603050405020304" pitchFamily="18" charset="0"/>
                <a:cs typeface="Times New Roman" panose="02020603050405020304" pitchFamily="18" charset="0"/>
              </a:rPr>
              <a:t>.</a:t>
            </a:r>
            <a:endParaRPr lang="vi-VN" sz="2400" dirty="0">
              <a:latin typeface="Times New Roman" panose="02020603050405020304" pitchFamily="18" charset="0"/>
              <a:cs typeface="Times New Roman" panose="02020603050405020304" pitchFamily="18" charset="0"/>
            </a:endParaRPr>
          </a:p>
          <a:p>
            <a:pPr marL="571500" indent="-457200">
              <a:buFont typeface="+mj-lt"/>
              <a:buAutoNum type="arabicPeriod"/>
            </a:pPr>
            <a:r>
              <a:rPr lang="en-US" sz="2400" dirty="0" smtClean="0">
                <a:latin typeface="Times New Roman" panose="02020603050405020304" pitchFamily="18" charset="0"/>
                <a:cs typeface="Times New Roman" panose="02020603050405020304" pitchFamily="18" charset="0"/>
              </a:rPr>
              <a:t>Request </a:t>
            </a:r>
            <a:r>
              <a:rPr lang="en-US" sz="2400" dirty="0" err="1">
                <a:latin typeface="Times New Roman" panose="02020603050405020304" pitchFamily="18" charset="0"/>
                <a:cs typeface="Times New Roman" panose="02020603050405020304" pitchFamily="18" charset="0"/>
              </a:rPr>
              <a:t>Param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vấn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URL</a:t>
            </a:r>
            <a:r>
              <a:rPr lang="en-US" sz="2400" dirty="0" smtClean="0">
                <a:latin typeface="Times New Roman" panose="02020603050405020304" pitchFamily="18" charset="0"/>
                <a:cs typeface="Times New Roman" panose="02020603050405020304" pitchFamily="18" charset="0"/>
              </a:rPr>
              <a:t>)</a:t>
            </a:r>
            <a:endParaRPr lang="vi-VN" sz="2400" dirty="0" smtClean="0">
              <a:latin typeface="Times New Roman" panose="02020603050405020304" pitchFamily="18" charset="0"/>
              <a:cs typeface="Times New Roman" panose="02020603050405020304" pitchFamily="18" charset="0"/>
            </a:endParaRPr>
          </a:p>
          <a:p>
            <a:pPr marL="571500" indent="-457200">
              <a:buFont typeface="+mj-lt"/>
              <a:buAutoNum type="arabicPeriod"/>
            </a:pPr>
            <a:r>
              <a:rPr lang="en-US" sz="2400" dirty="0" smtClean="0">
                <a:latin typeface="Times New Roman" panose="02020603050405020304" pitchFamily="18" charset="0"/>
                <a:cs typeface="Times New Roman" panose="02020603050405020304" pitchFamily="18" charset="0"/>
              </a:rPr>
              <a:t>Request </a:t>
            </a:r>
            <a:r>
              <a:rPr lang="en-US" sz="2400" dirty="0">
                <a:latin typeface="Times New Roman" panose="02020603050405020304" pitchFamily="18" charset="0"/>
                <a:cs typeface="Times New Roman" panose="02020603050405020304" pitchFamily="18" charset="0"/>
              </a:rPr>
              <a:t>Body (</a:t>
            </a:r>
            <a:r>
              <a:rPr lang="en-US" sz="2400" dirty="0" err="1">
                <a:latin typeface="Times New Roman" panose="02020603050405020304" pitchFamily="18" charset="0"/>
                <a:cs typeface="Times New Roman" panose="02020603050405020304" pitchFamily="18" charset="0"/>
              </a:rPr>
              <a:t>Thân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yêu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cầu</a:t>
            </a:r>
            <a:r>
              <a:rPr lang="en-US" sz="2400" dirty="0" smtClean="0">
                <a:latin typeface="Times New Roman" panose="02020603050405020304" pitchFamily="18" charset="0"/>
                <a:cs typeface="Times New Roman" panose="02020603050405020304" pitchFamily="18" charset="0"/>
              </a:rPr>
              <a:t>)</a:t>
            </a:r>
            <a:endParaRPr lang="vi-VN" sz="2400" dirty="0" smtClean="0">
              <a:latin typeface="Times New Roman" panose="02020603050405020304" pitchFamily="18" charset="0"/>
              <a:cs typeface="Times New Roman" panose="02020603050405020304" pitchFamily="18" charset="0"/>
            </a:endParaRPr>
          </a:p>
          <a:p>
            <a:pPr marL="571500" indent="-457200">
              <a:buFont typeface="+mj-lt"/>
              <a:buAutoNum type="arabicPeriod"/>
            </a:pPr>
            <a:r>
              <a:rPr lang="vi-VN" sz="2400" dirty="0" smtClean="0">
                <a:latin typeface="Times New Roman" panose="02020603050405020304" pitchFamily="18" charset="0"/>
                <a:cs typeface="Times New Roman" panose="02020603050405020304" pitchFamily="18" charset="0"/>
              </a:rPr>
              <a:t>Path </a:t>
            </a:r>
            <a:r>
              <a:rPr lang="vi-VN" sz="2400" dirty="0">
                <a:latin typeface="Times New Roman" panose="02020603050405020304" pitchFamily="18" charset="0"/>
                <a:cs typeface="Times New Roman" panose="02020603050405020304" pitchFamily="18" charset="0"/>
              </a:rPr>
              <a:t>Variable (Biến trong Đường dẫn URL)</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spTree>
    <p:extLst>
      <p:ext uri="{BB962C8B-B14F-4D97-AF65-F5344CB8AC3E}">
        <p14:creationId xmlns:p14="http://schemas.microsoft.com/office/powerpoint/2010/main" val="560495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3.1) Request </a:t>
            </a:r>
            <a:r>
              <a:rPr lang="en-US" sz="2800" b="1" dirty="0" err="1">
                <a:latin typeface="Times New Roman" panose="02020603050405020304" pitchFamily="18" charset="0"/>
                <a:cs typeface="Times New Roman" panose="02020603050405020304" pitchFamily="18" charset="0"/>
              </a:rPr>
              <a:t>Param</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Tham</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số</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truy</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vấn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trong</a:t>
            </a:r>
            <a:r>
              <a:rPr lang="en-US" sz="2800" b="1" dirty="0">
                <a:latin typeface="Times New Roman" panose="02020603050405020304" pitchFamily="18" charset="0"/>
                <a:cs typeface="Times New Roman" panose="02020603050405020304" pitchFamily="18" charset="0"/>
              </a:rPr>
              <a:t> URL)</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lnSpcReduction="10000"/>
          </a:bodyPr>
          <a:lstStyle/>
          <a:p>
            <a:r>
              <a:rPr lang="vi-VN" sz="2400" dirty="0">
                <a:latin typeface="Times New Roman" panose="02020603050405020304" pitchFamily="18" charset="0"/>
                <a:cs typeface="Times New Roman" panose="02020603050405020304" pitchFamily="18" charset="0"/>
              </a:rPr>
              <a:t>Request Param là một phương thức phổ biến để truyền tham số trong URL của yêu cầu. </a:t>
            </a:r>
            <a:endParaRPr lang="vi-VN" sz="2400" dirty="0" smtClean="0">
              <a:latin typeface="Times New Roman" panose="02020603050405020304" pitchFamily="18" charset="0"/>
              <a:cs typeface="Times New Roman" panose="02020603050405020304" pitchFamily="18" charset="0"/>
            </a:endParaRPr>
          </a:p>
          <a:p>
            <a:r>
              <a:rPr lang="vi-VN" sz="2400" dirty="0" smtClean="0">
                <a:latin typeface="Times New Roman" panose="02020603050405020304" pitchFamily="18" charset="0"/>
                <a:cs typeface="Times New Roman" panose="02020603050405020304" pitchFamily="18" charset="0"/>
              </a:rPr>
              <a:t>Các </a:t>
            </a:r>
            <a:r>
              <a:rPr lang="vi-VN" sz="2400" dirty="0">
                <a:latin typeface="Times New Roman" panose="02020603050405020304" pitchFamily="18" charset="0"/>
                <a:cs typeface="Times New Roman" panose="02020603050405020304" pitchFamily="18" charset="0"/>
              </a:rPr>
              <a:t>tham số này được nối vào URL dưới dạng cặp khóa-giá trị trong phần query string của URL. </a:t>
            </a:r>
            <a:endParaRPr lang="vi-VN" sz="2400" dirty="0" smtClean="0">
              <a:latin typeface="Times New Roman" panose="02020603050405020304" pitchFamily="18" charset="0"/>
              <a:cs typeface="Times New Roman" panose="02020603050405020304" pitchFamily="18" charset="0"/>
            </a:endParaRPr>
          </a:p>
          <a:p>
            <a:r>
              <a:rPr lang="vi-VN" sz="2400" dirty="0" smtClean="0">
                <a:latin typeface="Times New Roman" panose="02020603050405020304" pitchFamily="18" charset="0"/>
                <a:cs typeface="Times New Roman" panose="02020603050405020304" pitchFamily="18" charset="0"/>
              </a:rPr>
              <a:t>Đặc </a:t>
            </a:r>
            <a:r>
              <a:rPr lang="vi-VN" sz="2400" dirty="0">
                <a:latin typeface="Times New Roman" panose="02020603050405020304" pitchFamily="18" charset="0"/>
                <a:cs typeface="Times New Roman" panose="02020603050405020304" pitchFamily="18" charset="0"/>
              </a:rPr>
              <a:t>biệt, tham số này được sử dụng trong các phương thức GET và DELETE, nơi bạn truyền tham số tìm kiếm hoặc lọc</a:t>
            </a:r>
            <a:r>
              <a:rPr lang="vi-VN" sz="2400" dirty="0" smtClean="0">
                <a:latin typeface="Times New Roman" panose="02020603050405020304" pitchFamily="18" charset="0"/>
                <a:cs typeface="Times New Roman" panose="02020603050405020304" pitchFamily="18" charset="0"/>
              </a:rPr>
              <a:t>.</a:t>
            </a:r>
          </a:p>
          <a:p>
            <a:r>
              <a:rPr lang="vi-VN" sz="2400" dirty="0">
                <a:latin typeface="Times New Roman" panose="02020603050405020304" pitchFamily="18" charset="0"/>
                <a:cs typeface="Times New Roman" panose="02020603050405020304" pitchFamily="18" charset="0"/>
              </a:rPr>
              <a:t>Ví dụ: </a:t>
            </a:r>
            <a:r>
              <a:rPr lang="vi-VN" sz="2400" dirty="0">
                <a:latin typeface="Times New Roman" panose="02020603050405020304" pitchFamily="18" charset="0"/>
                <a:cs typeface="Times New Roman" panose="02020603050405020304" pitchFamily="18" charset="0"/>
                <a:hlinkClick r:id="rId5"/>
              </a:rPr>
              <a:t>http://</a:t>
            </a:r>
            <a:r>
              <a:rPr lang="vi-VN" sz="2400" dirty="0" smtClean="0">
                <a:latin typeface="Times New Roman" panose="02020603050405020304" pitchFamily="18" charset="0"/>
                <a:cs typeface="Times New Roman" panose="02020603050405020304" pitchFamily="18" charset="0"/>
                <a:hlinkClick r:id="rId5"/>
              </a:rPr>
              <a:t>localhost:8080/api/products?price=150.75&amp;bookTitle=Java%20Programming&amp;publisher=O'Reilly</a:t>
            </a:r>
            <a:endParaRPr lang="vi-VN" sz="24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q"/>
            </a:pPr>
            <a:r>
              <a:rPr lang="vi-VN" sz="2000" dirty="0">
                <a:latin typeface="Times New Roman" panose="02020603050405020304" pitchFamily="18" charset="0"/>
                <a:cs typeface="Times New Roman" panose="02020603050405020304" pitchFamily="18" charset="0"/>
              </a:rPr>
              <a:t>Trong URL trên, các tham số được truyền qua query string</a:t>
            </a:r>
            <a:r>
              <a:rPr lang="vi-VN" sz="2000" dirty="0" smtClean="0">
                <a:latin typeface="Times New Roman" panose="02020603050405020304" pitchFamily="18" charset="0"/>
                <a:cs typeface="Times New Roman" panose="02020603050405020304" pitchFamily="18" charset="0"/>
              </a:rPr>
              <a:t>:</a:t>
            </a:r>
          </a:p>
          <a:p>
            <a:pPr lvl="1">
              <a:buFont typeface="Arial" panose="020B0604020202020204" pitchFamily="34" charset="0"/>
              <a:buChar char="•"/>
            </a:pPr>
            <a:r>
              <a:rPr lang="vi-VN" sz="2000" dirty="0" smtClean="0">
                <a:latin typeface="Times New Roman" panose="02020603050405020304" pitchFamily="18" charset="0"/>
                <a:cs typeface="Times New Roman" panose="02020603050405020304" pitchFamily="18" charset="0"/>
              </a:rPr>
              <a:t>price=150.75</a:t>
            </a:r>
          </a:p>
          <a:p>
            <a:pPr lvl="1">
              <a:buFont typeface="Arial" panose="020B0604020202020204" pitchFamily="34" charset="0"/>
              <a:buChar char="•"/>
            </a:pPr>
            <a:r>
              <a:rPr lang="vi-VN" sz="2000" dirty="0" smtClean="0">
                <a:latin typeface="Times New Roman" panose="02020603050405020304" pitchFamily="18" charset="0"/>
                <a:cs typeface="Times New Roman" panose="02020603050405020304" pitchFamily="18" charset="0"/>
              </a:rPr>
              <a:t>bookTitle=Java Programming</a:t>
            </a:r>
          </a:p>
          <a:p>
            <a:pPr lvl="1">
              <a:buFont typeface="Arial" panose="020B0604020202020204" pitchFamily="34" charset="0"/>
              <a:buChar char="•"/>
            </a:pPr>
            <a:r>
              <a:rPr lang="vi-VN" sz="2000" dirty="0" smtClean="0">
                <a:latin typeface="Times New Roman" panose="02020603050405020304" pitchFamily="18" charset="0"/>
                <a:cs typeface="Times New Roman" panose="02020603050405020304" pitchFamily="18" charset="0"/>
              </a:rPr>
              <a:t>publisher=O'Reilly</a:t>
            </a:r>
            <a:endParaRPr lang="en-US" sz="20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spTree>
    <p:extLst>
      <p:ext uri="{BB962C8B-B14F-4D97-AF65-F5344CB8AC3E}">
        <p14:creationId xmlns:p14="http://schemas.microsoft.com/office/powerpoint/2010/main" val="1775844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3.1) Request </a:t>
            </a:r>
            <a:r>
              <a:rPr lang="en-US" sz="2800" b="1" dirty="0" err="1">
                <a:latin typeface="Times New Roman" panose="02020603050405020304" pitchFamily="18" charset="0"/>
                <a:cs typeface="Times New Roman" panose="02020603050405020304" pitchFamily="18" charset="0"/>
              </a:rPr>
              <a:t>Param</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Tham</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số</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truy</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vấn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trong</a:t>
            </a:r>
            <a:r>
              <a:rPr lang="en-US" sz="2800" b="1" dirty="0">
                <a:latin typeface="Times New Roman" panose="02020603050405020304" pitchFamily="18" charset="0"/>
                <a:cs typeface="Times New Roman" panose="02020603050405020304" pitchFamily="18" charset="0"/>
              </a:rPr>
              <a:t> URL)</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304800" y="1613043"/>
            <a:ext cx="10337260" cy="572784"/>
          </a:xfrm>
        </p:spPr>
        <p:txBody>
          <a:bodyPr>
            <a:normAutofit/>
          </a:bodyPr>
          <a:lstStyle/>
          <a:p>
            <a:r>
              <a:rPr lang="nn-NO" sz="2400" dirty="0">
                <a:latin typeface="Times New Roman" panose="02020603050405020304" pitchFamily="18" charset="0"/>
                <a:cs typeface="Times New Roman" panose="02020603050405020304" pitchFamily="18" charset="0"/>
              </a:rPr>
              <a:t>Ví dụ trong Spring MVC</a:t>
            </a:r>
            <a:r>
              <a:rPr lang="nn-NO" sz="2400" dirty="0" smtClean="0">
                <a:latin typeface="Times New Roman" panose="02020603050405020304" pitchFamily="18" charset="0"/>
                <a:cs typeface="Times New Roman" panose="02020603050405020304" pitchFamily="18" charset="0"/>
              </a:rPr>
              <a:t>:</a:t>
            </a:r>
            <a:endParaRPr lang="vi-VN" sz="2400" dirty="0" smtClean="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547911" y="2185827"/>
            <a:ext cx="11407463" cy="3062003"/>
          </a:xfrm>
          <a:prstGeom prst="rect">
            <a:avLst/>
          </a:prstGeom>
        </p:spPr>
      </p:pic>
    </p:spTree>
    <p:extLst>
      <p:ext uri="{BB962C8B-B14F-4D97-AF65-F5344CB8AC3E}">
        <p14:creationId xmlns:p14="http://schemas.microsoft.com/office/powerpoint/2010/main" val="53215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3.2) Request Body (</a:t>
            </a:r>
            <a:r>
              <a:rPr lang="en-US" sz="2800" b="1" dirty="0" err="1">
                <a:latin typeface="Times New Roman" panose="02020603050405020304" pitchFamily="18" charset="0"/>
                <a:cs typeface="Times New Roman" panose="02020603050405020304" pitchFamily="18" charset="0"/>
              </a:rPr>
              <a:t>Thân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yêu</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cầu</a:t>
            </a:r>
            <a:r>
              <a:rPr lang="en-US" sz="2800" b="1" dirty="0">
                <a:latin typeface="Times New Roman" panose="02020603050405020304" pitchFamily="18" charset="0"/>
                <a:cs typeface="Times New Roman" panose="02020603050405020304" pitchFamily="18" charset="0"/>
              </a:rPr>
              <a:t>)</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r>
              <a:rPr lang="vi-VN" sz="2400" dirty="0">
                <a:latin typeface="Times New Roman" panose="02020603050405020304" pitchFamily="18" charset="0"/>
                <a:cs typeface="Times New Roman" panose="02020603050405020304" pitchFamily="18" charset="0"/>
              </a:rPr>
              <a:t>Request Body dùng để truyền dữ liệu dưới dạng JSON hoặc XML trong thân của HTTP request. Đây là cách truyền tham số phổ biến trong các yêu cầu POST, PUT, hoặc PATCH. Phương thức này đặc biệt hữu ích khi bạn muốn gửi các đối tượng phức tạp (ví dụ: đối tượng JSON) thay vì các tham số đơn giản</a:t>
            </a:r>
            <a:r>
              <a:rPr lang="vi-VN" sz="2400" dirty="0" smtClean="0">
                <a:latin typeface="Times New Roman" panose="02020603050405020304" pitchFamily="18" charset="0"/>
                <a:cs typeface="Times New Roman" panose="02020603050405020304" pitchFamily="18" charset="0"/>
              </a:rPr>
              <a:t>.</a:t>
            </a:r>
          </a:p>
          <a:p>
            <a:r>
              <a:rPr lang="vi-VN" sz="2400" b="1" dirty="0">
                <a:latin typeface="Times New Roman" panose="02020603050405020304" pitchFamily="18" charset="0"/>
                <a:cs typeface="Times New Roman" panose="02020603050405020304" pitchFamily="18" charset="0"/>
              </a:rPr>
              <a:t>Cấu trúc</a:t>
            </a:r>
            <a:r>
              <a:rPr lang="vi-VN" sz="2400" b="1" dirty="0" smtClean="0">
                <a:latin typeface="Times New Roman" panose="02020603050405020304" pitchFamily="18" charset="0"/>
                <a:cs typeface="Times New Roman" panose="02020603050405020304" pitchFamily="18" charset="0"/>
              </a:rPr>
              <a:t>: </a:t>
            </a:r>
            <a:r>
              <a:rPr lang="vi-VN" sz="2400" dirty="0" smtClean="0">
                <a:latin typeface="Times New Roman" panose="02020603050405020304" pitchFamily="18" charset="0"/>
                <a:cs typeface="Times New Roman" panose="02020603050405020304" pitchFamily="18" charset="0"/>
              </a:rPr>
              <a:t>Tham </a:t>
            </a:r>
            <a:r>
              <a:rPr lang="vi-VN" sz="2400" dirty="0">
                <a:latin typeface="Times New Roman" panose="02020603050405020304" pitchFamily="18" charset="0"/>
                <a:cs typeface="Times New Roman" panose="02020603050405020304" pitchFamily="18" charset="0"/>
              </a:rPr>
              <a:t>số được truyền dưới dạng JSON hoặc XML trong phần thân của yêu cầu HTTP</a:t>
            </a:r>
            <a:r>
              <a:rPr lang="vi-VN" sz="2400" dirty="0" smtClean="0">
                <a:latin typeface="Times New Roman" panose="02020603050405020304" pitchFamily="18" charset="0"/>
                <a:cs typeface="Times New Roman" panose="02020603050405020304" pitchFamily="18" charset="0"/>
              </a:rPr>
              <a:t>.</a:t>
            </a:r>
          </a:p>
          <a:p>
            <a:r>
              <a:rPr lang="nn-NO" sz="2400" dirty="0">
                <a:latin typeface="Times New Roman" panose="02020603050405020304" pitchFamily="18" charset="0"/>
                <a:cs typeface="Times New Roman" panose="02020603050405020304" pitchFamily="18" charset="0"/>
              </a:rPr>
              <a:t>Ví dụ trong Spring MVC:</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1104204" y="4410601"/>
            <a:ext cx="9557312" cy="1842154"/>
          </a:xfrm>
          <a:prstGeom prst="rect">
            <a:avLst/>
          </a:prstGeom>
        </p:spPr>
      </p:pic>
    </p:spTree>
    <p:extLst>
      <p:ext uri="{BB962C8B-B14F-4D97-AF65-F5344CB8AC3E}">
        <p14:creationId xmlns:p14="http://schemas.microsoft.com/office/powerpoint/2010/main" val="2035241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3.2) Request Body (</a:t>
            </a:r>
            <a:r>
              <a:rPr lang="en-US" sz="2800" b="1" dirty="0" err="1">
                <a:latin typeface="Times New Roman" panose="02020603050405020304" pitchFamily="18" charset="0"/>
                <a:cs typeface="Times New Roman" panose="02020603050405020304" pitchFamily="18" charset="0"/>
              </a:rPr>
              <a:t>Thân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yêu</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cầu</a:t>
            </a:r>
            <a:r>
              <a:rPr lang="en-US" sz="2800" b="1" dirty="0">
                <a:latin typeface="Times New Roman" panose="02020603050405020304" pitchFamily="18" charset="0"/>
                <a:cs typeface="Times New Roman" panose="02020603050405020304" pitchFamily="18" charset="0"/>
              </a:rPr>
              <a:t>)</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9336932" cy="801384"/>
          </a:xfrm>
        </p:spPr>
        <p:txBody>
          <a:bodyPr>
            <a:normAutofit/>
          </a:bodyPr>
          <a:lstStyle/>
          <a:p>
            <a:r>
              <a:rPr lang="vi-VN" sz="2400" smtClean="0">
                <a:latin typeface="Times New Roman" panose="02020603050405020304" pitchFamily="18" charset="0"/>
                <a:cs typeface="Times New Roman" panose="02020603050405020304" pitchFamily="18" charset="0"/>
              </a:rPr>
              <a:t>Ví dụ trên postman để call api</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1447800" y="2185827"/>
            <a:ext cx="8564973" cy="4339230"/>
          </a:xfrm>
          <a:prstGeom prst="rect">
            <a:avLst/>
          </a:prstGeom>
        </p:spPr>
      </p:pic>
    </p:spTree>
    <p:extLst>
      <p:ext uri="{BB962C8B-B14F-4D97-AF65-F5344CB8AC3E}">
        <p14:creationId xmlns:p14="http://schemas.microsoft.com/office/powerpoint/2010/main" val="3425651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3.2) Request Body (</a:t>
            </a:r>
            <a:r>
              <a:rPr lang="en-US" sz="2800" b="1" dirty="0" err="1">
                <a:latin typeface="Times New Roman" panose="02020603050405020304" pitchFamily="18" charset="0"/>
                <a:cs typeface="Times New Roman" panose="02020603050405020304" pitchFamily="18" charset="0"/>
              </a:rPr>
              <a:t>Thân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yêu</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cầu</a:t>
            </a:r>
            <a:r>
              <a:rPr lang="en-US" sz="2800" b="1" dirty="0">
                <a:latin typeface="Times New Roman" panose="02020603050405020304" pitchFamily="18" charset="0"/>
                <a:cs typeface="Times New Roman" panose="02020603050405020304" pitchFamily="18" charset="0"/>
              </a:rPr>
              <a:t>)</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r>
              <a:rPr lang="vi-VN" sz="2400" dirty="0">
                <a:latin typeface="Times New Roman" panose="02020603050405020304" pitchFamily="18" charset="0"/>
                <a:cs typeface="Times New Roman" panose="02020603050405020304" pitchFamily="18" charset="0"/>
              </a:rPr>
              <a:t>Giải thích</a:t>
            </a:r>
            <a:r>
              <a:rPr lang="vi-VN" sz="2400" dirty="0" smtClean="0">
                <a:latin typeface="Times New Roman" panose="02020603050405020304" pitchFamily="18" charset="0"/>
                <a:cs typeface="Times New Roman" panose="02020603050405020304" pitchFamily="18" charset="0"/>
              </a:rPr>
              <a:t>:</a:t>
            </a:r>
          </a:p>
          <a:p>
            <a:r>
              <a:rPr lang="vi-VN" sz="2400" dirty="0" smtClean="0">
                <a:latin typeface="Times New Roman" panose="02020603050405020304" pitchFamily="18" charset="0"/>
                <a:cs typeface="Times New Roman" panose="02020603050405020304" pitchFamily="18" charset="0"/>
              </a:rPr>
              <a:t>@</a:t>
            </a:r>
            <a:r>
              <a:rPr lang="vi-VN" sz="2400" dirty="0">
                <a:latin typeface="Times New Roman" panose="02020603050405020304" pitchFamily="18" charset="0"/>
                <a:cs typeface="Times New Roman" panose="02020603050405020304" pitchFamily="18" charset="0"/>
              </a:rPr>
              <a:t>RequestBody là annotation dùng để nhận dữ liệu từ thân của yêu cầu (request body) dưới dạng JSON (hoặc XML nếu cấu hình khác</a:t>
            </a:r>
            <a:r>
              <a:rPr lang="vi-VN" sz="2400" dirty="0" smtClean="0">
                <a:latin typeface="Times New Roman" panose="02020603050405020304" pitchFamily="18" charset="0"/>
                <a:cs typeface="Times New Roman" panose="02020603050405020304" pitchFamily="18" charset="0"/>
              </a:rPr>
              <a:t>).</a:t>
            </a:r>
          </a:p>
          <a:p>
            <a:r>
              <a:rPr lang="vi-VN" sz="2400" dirty="0" smtClean="0">
                <a:latin typeface="Times New Roman" panose="02020603050405020304" pitchFamily="18" charset="0"/>
                <a:cs typeface="Times New Roman" panose="02020603050405020304" pitchFamily="18" charset="0"/>
              </a:rPr>
              <a:t>Trong </a:t>
            </a:r>
            <a:r>
              <a:rPr lang="vi-VN" sz="2400" dirty="0">
                <a:latin typeface="Times New Roman" panose="02020603050405020304" pitchFamily="18" charset="0"/>
                <a:cs typeface="Times New Roman" panose="02020603050405020304" pitchFamily="18" charset="0"/>
              </a:rPr>
              <a:t>ví dụ trên, chúng ta truyền một đối tượng ProductDTO trong thân yêu cầu và Spring sẽ tự động chuyển đổi từ JSON sang đối tượng Java.</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spTree>
    <p:extLst>
      <p:ext uri="{BB962C8B-B14F-4D97-AF65-F5344CB8AC3E}">
        <p14:creationId xmlns:p14="http://schemas.microsoft.com/office/powerpoint/2010/main" val="1285801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vi-VN" sz="2800" b="1" dirty="0">
                <a:latin typeface="Times New Roman" panose="02020603050405020304" pitchFamily="18" charset="0"/>
                <a:cs typeface="Times New Roman" panose="02020603050405020304" pitchFamily="18" charset="0"/>
              </a:rPr>
              <a:t>3.3) Path Variable (Biến trong Đường dẫn URL)</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r>
              <a:rPr lang="vi-VN" sz="2400" b="1" dirty="0">
                <a:latin typeface="Times New Roman" panose="02020603050405020304" pitchFamily="18" charset="0"/>
                <a:cs typeface="Times New Roman" panose="02020603050405020304" pitchFamily="18" charset="0"/>
              </a:rPr>
              <a:t>Path Variable </a:t>
            </a:r>
            <a:r>
              <a:rPr lang="vi-VN" sz="2400" dirty="0">
                <a:latin typeface="Times New Roman" panose="02020603050405020304" pitchFamily="18" charset="0"/>
                <a:cs typeface="Times New Roman" panose="02020603050405020304" pitchFamily="18" charset="0"/>
              </a:rPr>
              <a:t>là cách để truyền tham số trực tiếp trong URL, làm một phần của đường dẫn URL. Điều này hữu ích khi bạn muốn truy cập một tài nguyên cụ thể, ví dụ như ID của một đối tượng hoặc tham số đặc biệt. Các tham số này được định nghĩa trực tiếp trong URL thay vì là phần của query string</a:t>
            </a:r>
            <a:r>
              <a:rPr lang="vi-VN" sz="2400" dirty="0" smtClean="0">
                <a:latin typeface="Times New Roman" panose="02020603050405020304" pitchFamily="18" charset="0"/>
                <a:cs typeface="Times New Roman" panose="02020603050405020304" pitchFamily="18" charset="0"/>
              </a:rPr>
              <a:t>.\</a:t>
            </a:r>
          </a:p>
          <a:p>
            <a:r>
              <a:rPr lang="en-US" sz="2400" dirty="0" err="1">
                <a:latin typeface="Times New Roman" panose="02020603050405020304" pitchFamily="18" charset="0"/>
                <a:cs typeface="Times New Roman" panose="02020603050405020304" pitchFamily="18" charset="0"/>
              </a:rPr>
              <a:t>Cấu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trúc</a:t>
            </a:r>
            <a:r>
              <a:rPr lang="en-US" sz="2400" dirty="0" smtClean="0">
                <a:latin typeface="Times New Roman" panose="02020603050405020304" pitchFamily="18" charset="0"/>
                <a:cs typeface="Times New Roman" panose="02020603050405020304" pitchFamily="18" charset="0"/>
              </a:rPr>
              <a:t>:</a:t>
            </a:r>
            <a:r>
              <a:rPr lang="vi-VN"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hlinkClick r:id="rId5"/>
              </a:rPr>
              <a:t>http://</a:t>
            </a:r>
            <a:r>
              <a:rPr lang="vi-VN" sz="2400" dirty="0" smtClean="0">
                <a:latin typeface="Times New Roman" panose="02020603050405020304" pitchFamily="18" charset="0"/>
                <a:cs typeface="Times New Roman" panose="02020603050405020304" pitchFamily="18" charset="0"/>
                <a:hlinkClick r:id="rId5"/>
              </a:rPr>
              <a:t>localhost:8080/api/products/123</a:t>
            </a:r>
            <a:endParaRPr lang="vi-VN" sz="2400" dirty="0" smtClean="0">
              <a:latin typeface="Times New Roman" panose="02020603050405020304" pitchFamily="18" charset="0"/>
              <a:cs typeface="Times New Roman" panose="02020603050405020304" pitchFamily="18" charset="0"/>
            </a:endParaRPr>
          </a:p>
          <a:p>
            <a:r>
              <a:rPr lang="vi-VN" sz="2400" dirty="0">
                <a:latin typeface="Times New Roman" panose="02020603050405020304" pitchFamily="18" charset="0"/>
                <a:cs typeface="Times New Roman" panose="02020603050405020304" pitchFamily="18" charset="0"/>
              </a:rPr>
              <a:t>Trong URL trên, 123 có thể là ID của một sản phẩm. Tham số này sẽ được truy xuất từ URL thông qua Path Variable.</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spTree>
    <p:extLst>
      <p:ext uri="{BB962C8B-B14F-4D97-AF65-F5344CB8AC3E}">
        <p14:creationId xmlns:p14="http://schemas.microsoft.com/office/powerpoint/2010/main" val="4021659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vi-VN" sz="2800" b="1" dirty="0">
                <a:latin typeface="Times New Roman" panose="02020603050405020304" pitchFamily="18" charset="0"/>
                <a:cs typeface="Times New Roman" panose="02020603050405020304" pitchFamily="18" charset="0"/>
              </a:rPr>
              <a:t>3.3) Path Variable (Biến trong Đường dẫn URL)</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651570"/>
          </a:xfrm>
        </p:spPr>
        <p:txBody>
          <a:bodyPr>
            <a:normAutofit lnSpcReduction="10000"/>
          </a:bodyPr>
          <a:lstStyle/>
          <a:p>
            <a:r>
              <a:rPr lang="nn-NO" sz="2400" dirty="0">
                <a:latin typeface="Times New Roman" panose="02020603050405020304" pitchFamily="18" charset="0"/>
                <a:cs typeface="Times New Roman" panose="02020603050405020304" pitchFamily="18" charset="0"/>
              </a:rPr>
              <a:t>Ví dụ trong Spring MVC</a:t>
            </a:r>
            <a:r>
              <a:rPr lang="nn-NO" sz="2400" dirty="0" smtClean="0">
                <a:latin typeface="Times New Roman" panose="02020603050405020304" pitchFamily="18" charset="0"/>
                <a:cs typeface="Times New Roman" panose="02020603050405020304" pitchFamily="18" charset="0"/>
              </a:rPr>
              <a:t>:</a:t>
            </a:r>
            <a:endParaRPr lang="vi-VN" sz="2400" dirty="0" smtClean="0">
              <a:latin typeface="Times New Roman" panose="02020603050405020304" pitchFamily="18" charset="0"/>
              <a:cs typeface="Times New Roman" panose="02020603050405020304" pitchFamily="18" charset="0"/>
            </a:endParaRPr>
          </a:p>
          <a:p>
            <a:endParaRPr lang="vi-VN" sz="2400" dirty="0">
              <a:latin typeface="Times New Roman" panose="02020603050405020304" pitchFamily="18" charset="0"/>
              <a:cs typeface="Times New Roman" panose="02020603050405020304" pitchFamily="18" charset="0"/>
            </a:endParaRPr>
          </a:p>
          <a:p>
            <a:endParaRPr lang="vi-VN" sz="2400" dirty="0" smtClean="0">
              <a:latin typeface="Times New Roman" panose="02020603050405020304" pitchFamily="18" charset="0"/>
              <a:cs typeface="Times New Roman" panose="02020603050405020304" pitchFamily="18" charset="0"/>
            </a:endParaRPr>
          </a:p>
          <a:p>
            <a:endParaRPr lang="vi-VN" sz="2400" dirty="0">
              <a:latin typeface="Times New Roman" panose="02020603050405020304" pitchFamily="18" charset="0"/>
              <a:cs typeface="Times New Roman" panose="02020603050405020304" pitchFamily="18" charset="0"/>
            </a:endParaRPr>
          </a:p>
          <a:p>
            <a:endParaRPr lang="vi-VN" sz="2400" dirty="0" smtClean="0">
              <a:latin typeface="Times New Roman" panose="02020603050405020304" pitchFamily="18" charset="0"/>
              <a:cs typeface="Times New Roman" panose="02020603050405020304" pitchFamily="18" charset="0"/>
            </a:endParaRPr>
          </a:p>
          <a:p>
            <a:endParaRPr lang="vi-VN" sz="2400" dirty="0">
              <a:latin typeface="Times New Roman" panose="02020603050405020304" pitchFamily="18" charset="0"/>
              <a:cs typeface="Times New Roman" panose="02020603050405020304" pitchFamily="18" charset="0"/>
            </a:endParaRPr>
          </a:p>
          <a:p>
            <a:endParaRPr lang="vi-VN" sz="2400" dirty="0" smtClean="0">
              <a:latin typeface="Times New Roman" panose="02020603050405020304" pitchFamily="18" charset="0"/>
              <a:cs typeface="Times New Roman" panose="02020603050405020304" pitchFamily="18" charset="0"/>
            </a:endParaRPr>
          </a:p>
          <a:p>
            <a:r>
              <a:rPr lang="vi-VN" sz="2400" b="1" dirty="0">
                <a:latin typeface="Times New Roman" panose="02020603050405020304" pitchFamily="18" charset="0"/>
                <a:cs typeface="Times New Roman" panose="02020603050405020304" pitchFamily="18" charset="0"/>
              </a:rPr>
              <a:t>Giải thích</a:t>
            </a:r>
            <a:r>
              <a:rPr lang="vi-VN" sz="2400" b="1" dirty="0" smtClean="0">
                <a:latin typeface="Times New Roman" panose="02020603050405020304" pitchFamily="18" charset="0"/>
                <a:cs typeface="Times New Roman" panose="02020603050405020304" pitchFamily="18" charset="0"/>
              </a:rPr>
              <a:t>: </a:t>
            </a:r>
          </a:p>
          <a:p>
            <a:pPr lvl="1">
              <a:buFont typeface="Wingdings" panose="05000000000000000000" pitchFamily="2" charset="2"/>
              <a:buChar char="q"/>
            </a:pPr>
            <a:r>
              <a:rPr lang="vi-VN" sz="2000" dirty="0" smtClean="0">
                <a:latin typeface="Times New Roman" panose="02020603050405020304" pitchFamily="18" charset="0"/>
                <a:cs typeface="Times New Roman" panose="02020603050405020304" pitchFamily="18" charset="0"/>
              </a:rPr>
              <a:t>@</a:t>
            </a:r>
            <a:r>
              <a:rPr lang="vi-VN" sz="2000" dirty="0">
                <a:latin typeface="Times New Roman" panose="02020603050405020304" pitchFamily="18" charset="0"/>
                <a:cs typeface="Times New Roman" panose="02020603050405020304" pitchFamily="18" charset="0"/>
              </a:rPr>
              <a:t>PathVariable dùng để lấy các giá trị từ phần đường dẫn URL. </a:t>
            </a:r>
            <a:endParaRPr lang="vi-VN" sz="20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q"/>
            </a:pPr>
            <a:r>
              <a:rPr lang="vi-VN" sz="2000" dirty="0" smtClean="0">
                <a:latin typeface="Times New Roman" panose="02020603050405020304" pitchFamily="18" charset="0"/>
                <a:cs typeface="Times New Roman" panose="02020603050405020304" pitchFamily="18" charset="0"/>
              </a:rPr>
              <a:t>Trong </a:t>
            </a:r>
            <a:r>
              <a:rPr lang="vi-VN" sz="2000" dirty="0">
                <a:latin typeface="Times New Roman" panose="02020603050405020304" pitchFamily="18" charset="0"/>
                <a:cs typeface="Times New Roman" panose="02020603050405020304" pitchFamily="18" charset="0"/>
              </a:rPr>
              <a:t>ví dụ trên, id là một tham số động, được thay thế bởi giá trị thực tế trong URL.Ví dụ URL: GET /api/products/123 sẽ gọi API với id = 123.</a:t>
            </a:r>
            <a:endParaRPr lang="en-US" sz="20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1075061" y="2185827"/>
            <a:ext cx="9059539" cy="2305372"/>
          </a:xfrm>
          <a:prstGeom prst="rect">
            <a:avLst/>
          </a:prstGeom>
        </p:spPr>
      </p:pic>
    </p:spTree>
    <p:extLst>
      <p:ext uri="{BB962C8B-B14F-4D97-AF65-F5344CB8AC3E}">
        <p14:creationId xmlns:p14="http://schemas.microsoft.com/office/powerpoint/2010/main" val="3435555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3.4) </a:t>
            </a:r>
            <a:r>
              <a:rPr lang="en-US" sz="2800" b="1" dirty="0" err="1">
                <a:latin typeface="Times New Roman" panose="02020603050405020304" pitchFamily="18" charset="0"/>
                <a:cs typeface="Times New Roman" panose="02020603050405020304" pitchFamily="18" charset="0"/>
              </a:rPr>
              <a:t>Tổng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Hợp</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Cách</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Truyền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Tham</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Số</a:t>
            </a:r>
            <a:endParaRPr lang="en-US" sz="2800" b="1"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876300" y="1458930"/>
            <a:ext cx="8446213" cy="4289815"/>
          </a:xfrm>
          <a:prstGeom prst="rect">
            <a:avLst/>
          </a:prstGeom>
        </p:spPr>
      </p:pic>
    </p:spTree>
    <p:extLst>
      <p:ext uri="{BB962C8B-B14F-4D97-AF65-F5344CB8AC3E}">
        <p14:creationId xmlns:p14="http://schemas.microsoft.com/office/powerpoint/2010/main" val="3685763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vi-VN" sz="2800" b="1" dirty="0">
                <a:latin typeface="Times New Roman" panose="02020603050405020304" pitchFamily="18" charset="0"/>
                <a:cs typeface="Times New Roman" panose="02020603050405020304" pitchFamily="18" charset="0"/>
              </a:rPr>
              <a:t>4) Cách Tạo API Trong Spring MVC</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pPr marL="571500" indent="-457200">
              <a:buFont typeface="+mj-lt"/>
              <a:buAutoNum type="arabicPeriod"/>
            </a:pPr>
            <a:r>
              <a:rPr lang="vi-VN" sz="2400" dirty="0">
                <a:latin typeface="Times New Roman" panose="02020603050405020304" pitchFamily="18" charset="0"/>
                <a:cs typeface="Times New Roman" panose="02020603050405020304" pitchFamily="18" charset="0"/>
              </a:rPr>
              <a:t>Các Bước Tạo </a:t>
            </a:r>
            <a:r>
              <a:rPr lang="vi-VN" sz="2400" dirty="0" smtClean="0">
                <a:latin typeface="Times New Roman" panose="02020603050405020304" pitchFamily="18" charset="0"/>
                <a:cs typeface="Times New Roman" panose="02020603050405020304" pitchFamily="18" charset="0"/>
              </a:rPr>
              <a:t>API</a:t>
            </a:r>
          </a:p>
          <a:p>
            <a:pPr marL="571500" indent="-457200">
              <a:buFont typeface="+mj-lt"/>
              <a:buAutoNum type="arabicPeriod"/>
            </a:pPr>
            <a:r>
              <a:rPr lang="en-US" sz="2400" dirty="0" err="1">
                <a:latin typeface="Times New Roman" panose="02020603050405020304" pitchFamily="18" charset="0"/>
                <a:cs typeface="Times New Roman" panose="02020603050405020304" pitchFamily="18" charset="0"/>
              </a:rPr>
              <a:t>Ví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Về</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Tạo</a:t>
            </a:r>
            <a:r>
              <a:rPr lang="en-US" sz="2400" dirty="0">
                <a:latin typeface="Times New Roman" panose="02020603050405020304" pitchFamily="18" charset="0"/>
                <a:cs typeface="Times New Roman" panose="02020603050405020304" pitchFamily="18" charset="0"/>
              </a:rPr>
              <a:t> API - GET </a:t>
            </a:r>
            <a:r>
              <a:rPr lang="en-US" sz="2400" dirty="0" smtClean="0">
                <a:latin typeface="Times New Roman" panose="02020603050405020304" pitchFamily="18" charset="0"/>
                <a:cs typeface="Times New Roman" panose="02020603050405020304" pitchFamily="18" charset="0"/>
              </a:rPr>
              <a:t>Request</a:t>
            </a:r>
            <a:endParaRPr lang="vi-VN" sz="2400" dirty="0" smtClean="0">
              <a:latin typeface="Times New Roman" panose="02020603050405020304" pitchFamily="18" charset="0"/>
              <a:cs typeface="Times New Roman" panose="02020603050405020304" pitchFamily="18" charset="0"/>
            </a:endParaRPr>
          </a:p>
          <a:p>
            <a:pPr marL="571500" indent="-457200">
              <a:buFont typeface="+mj-lt"/>
              <a:buAutoNum type="arabicPeriod"/>
            </a:pPr>
            <a:r>
              <a:rPr lang="en-US" sz="2400" dirty="0" err="1">
                <a:latin typeface="Times New Roman" panose="02020603050405020304" pitchFamily="18" charset="0"/>
                <a:cs typeface="Times New Roman" panose="02020603050405020304" pitchFamily="18" charset="0"/>
              </a:rPr>
              <a:t>Ví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Về</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Tạo</a:t>
            </a:r>
            <a:r>
              <a:rPr lang="en-US" sz="2400" dirty="0">
                <a:latin typeface="Times New Roman" panose="02020603050405020304" pitchFamily="18" charset="0"/>
                <a:cs typeface="Times New Roman" panose="02020603050405020304" pitchFamily="18" charset="0"/>
              </a:rPr>
              <a:t> API - POST Request</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spTree>
    <p:extLst>
      <p:ext uri="{BB962C8B-B14F-4D97-AF65-F5344CB8AC3E}">
        <p14:creationId xmlns:p14="http://schemas.microsoft.com/office/powerpoint/2010/main" val="2595845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vi-VN" sz="2800" b="1" dirty="0">
                <a:latin typeface="Times New Roman" panose="02020603050405020304" pitchFamily="18" charset="0"/>
                <a:cs typeface="Times New Roman" panose="02020603050405020304" pitchFamily="18" charset="0"/>
              </a:rPr>
              <a:t>4.1) Các Bước Tạo </a:t>
            </a:r>
            <a:r>
              <a:rPr lang="vi-VN" sz="2800" b="1" dirty="0" smtClean="0">
                <a:latin typeface="Times New Roman" panose="02020603050405020304" pitchFamily="18" charset="0"/>
                <a:cs typeface="Times New Roman" panose="02020603050405020304" pitchFamily="18" charset="0"/>
              </a:rPr>
              <a:t>API</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pPr marL="114300" indent="0">
              <a:buNone/>
            </a:pPr>
            <a:r>
              <a:rPr lang="vi-VN" sz="2400" b="1" dirty="0">
                <a:latin typeface="Times New Roman" panose="02020603050405020304" pitchFamily="18" charset="0"/>
                <a:cs typeface="Times New Roman" panose="02020603050405020304" pitchFamily="18" charset="0"/>
              </a:rPr>
              <a:t>Để tạo API trong Spring MVC, bạn cần thực hiện các bước sau</a:t>
            </a:r>
            <a:r>
              <a:rPr lang="vi-VN" sz="2400" b="1" dirty="0" smtClean="0">
                <a:latin typeface="Times New Roman" panose="02020603050405020304" pitchFamily="18" charset="0"/>
                <a:cs typeface="Times New Roman" panose="02020603050405020304" pitchFamily="18" charset="0"/>
              </a:rPr>
              <a:t>:</a:t>
            </a:r>
          </a:p>
          <a:p>
            <a:pPr marL="571500" indent="-457200">
              <a:buFont typeface="+mj-lt"/>
              <a:buAutoNum type="arabicPeriod"/>
            </a:pPr>
            <a:r>
              <a:rPr lang="vi-VN" sz="2400" dirty="0" smtClean="0">
                <a:latin typeface="Times New Roman" panose="02020603050405020304" pitchFamily="18" charset="0"/>
                <a:cs typeface="Times New Roman" panose="02020603050405020304" pitchFamily="18" charset="0"/>
              </a:rPr>
              <a:t>Cài </a:t>
            </a:r>
            <a:r>
              <a:rPr lang="vi-VN" sz="2400" dirty="0">
                <a:latin typeface="Times New Roman" panose="02020603050405020304" pitchFamily="18" charset="0"/>
                <a:cs typeface="Times New Roman" panose="02020603050405020304" pitchFamily="18" charset="0"/>
              </a:rPr>
              <a:t>đặt dự án Spring MVC: Sử dụng Spring Boot hoặc Spring MVC để khởi tạo ứng dụng</a:t>
            </a:r>
            <a:r>
              <a:rPr lang="vi-VN" sz="2400" dirty="0" smtClean="0">
                <a:latin typeface="Times New Roman" panose="02020603050405020304" pitchFamily="18" charset="0"/>
                <a:cs typeface="Times New Roman" panose="02020603050405020304" pitchFamily="18" charset="0"/>
              </a:rPr>
              <a:t>.( ở bước này sử dụng luôn project shop-book)</a:t>
            </a:r>
          </a:p>
          <a:p>
            <a:pPr marL="571500" indent="-457200">
              <a:buFont typeface="+mj-lt"/>
              <a:buAutoNum type="arabicPeriod"/>
            </a:pPr>
            <a:r>
              <a:rPr lang="vi-VN" sz="2400" dirty="0" smtClean="0">
                <a:latin typeface="Times New Roman" panose="02020603050405020304" pitchFamily="18" charset="0"/>
                <a:cs typeface="Times New Roman" panose="02020603050405020304" pitchFamily="18" charset="0"/>
              </a:rPr>
              <a:t>Tạo </a:t>
            </a:r>
            <a:r>
              <a:rPr lang="vi-VN" sz="2400" dirty="0">
                <a:latin typeface="Times New Roman" panose="02020603050405020304" pitchFamily="18" charset="0"/>
                <a:cs typeface="Times New Roman" panose="02020603050405020304" pitchFamily="18" charset="0"/>
              </a:rPr>
              <a:t>Controller: Định nghĩa các API endpoint trong các lớp Controller</a:t>
            </a:r>
            <a:r>
              <a:rPr lang="vi-VN" sz="2400" dirty="0" smtClean="0">
                <a:latin typeface="Times New Roman" panose="02020603050405020304" pitchFamily="18" charset="0"/>
                <a:cs typeface="Times New Roman" panose="02020603050405020304" pitchFamily="18" charset="0"/>
              </a:rPr>
              <a:t>.</a:t>
            </a:r>
          </a:p>
          <a:p>
            <a:pPr marL="571500" indent="-457200">
              <a:buFont typeface="+mj-lt"/>
              <a:buAutoNum type="arabicPeriod"/>
            </a:pPr>
            <a:r>
              <a:rPr lang="vi-VN" sz="2400" dirty="0" smtClean="0">
                <a:latin typeface="Times New Roman" panose="02020603050405020304" pitchFamily="18" charset="0"/>
                <a:cs typeface="Times New Roman" panose="02020603050405020304" pitchFamily="18" charset="0"/>
              </a:rPr>
              <a:t>Tạo </a:t>
            </a:r>
            <a:r>
              <a:rPr lang="vi-VN" sz="2400" dirty="0">
                <a:latin typeface="Times New Roman" panose="02020603050405020304" pitchFamily="18" charset="0"/>
                <a:cs typeface="Times New Roman" panose="02020603050405020304" pitchFamily="18" charset="0"/>
              </a:rPr>
              <a:t>Service: Viết các logic nghiệp vụ trong lớp Service</a:t>
            </a:r>
            <a:r>
              <a:rPr lang="vi-VN" sz="2400" dirty="0" smtClean="0">
                <a:latin typeface="Times New Roman" panose="02020603050405020304" pitchFamily="18" charset="0"/>
                <a:cs typeface="Times New Roman" panose="02020603050405020304" pitchFamily="18" charset="0"/>
              </a:rPr>
              <a:t>.</a:t>
            </a:r>
          </a:p>
          <a:p>
            <a:pPr marL="571500" indent="-457200">
              <a:buFont typeface="+mj-lt"/>
              <a:buAutoNum type="arabicPeriod"/>
            </a:pPr>
            <a:r>
              <a:rPr lang="vi-VN" sz="2400" dirty="0" smtClean="0">
                <a:latin typeface="Times New Roman" panose="02020603050405020304" pitchFamily="18" charset="0"/>
                <a:cs typeface="Times New Roman" panose="02020603050405020304" pitchFamily="18" charset="0"/>
              </a:rPr>
              <a:t>Cấu </a:t>
            </a:r>
            <a:r>
              <a:rPr lang="vi-VN" sz="2400" dirty="0">
                <a:latin typeface="Times New Roman" panose="02020603050405020304" pitchFamily="18" charset="0"/>
                <a:cs typeface="Times New Roman" panose="02020603050405020304" pitchFamily="18" charset="0"/>
              </a:rPr>
              <a:t>hình URL và phương thức HTTP: Sử dụng @RequestMapping, @GetMapping, @PostMapping, etc., để định nghĩa các endpoint</a:t>
            </a:r>
            <a:r>
              <a:rPr lang="vi-VN" sz="2400" dirty="0" smtClean="0">
                <a:latin typeface="Times New Roman" panose="02020603050405020304" pitchFamily="18" charset="0"/>
                <a:cs typeface="Times New Roman" panose="02020603050405020304" pitchFamily="18" charset="0"/>
              </a:rPr>
              <a:t>.</a:t>
            </a:r>
          </a:p>
          <a:p>
            <a:pPr marL="571500" indent="-457200">
              <a:buFont typeface="+mj-lt"/>
              <a:buAutoNum type="arabicPeriod"/>
            </a:pPr>
            <a:r>
              <a:rPr lang="vi-VN" sz="2400" dirty="0" smtClean="0">
                <a:latin typeface="Times New Roman" panose="02020603050405020304" pitchFamily="18" charset="0"/>
                <a:cs typeface="Times New Roman" panose="02020603050405020304" pitchFamily="18" charset="0"/>
              </a:rPr>
              <a:t>Test </a:t>
            </a:r>
            <a:r>
              <a:rPr lang="vi-VN" sz="2400" dirty="0">
                <a:latin typeface="Times New Roman" panose="02020603050405020304" pitchFamily="18" charset="0"/>
                <a:cs typeface="Times New Roman" panose="02020603050405020304" pitchFamily="18" charset="0"/>
              </a:rPr>
              <a:t>API: Sử dụng công cụ như Postman hoặc curl để kiểm tra các API đã xây dựng.</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spTree>
    <p:extLst>
      <p:ext uri="{BB962C8B-B14F-4D97-AF65-F5344CB8AC3E}">
        <p14:creationId xmlns:p14="http://schemas.microsoft.com/office/powerpoint/2010/main" val="3084398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vi-VN" sz="2800" b="1" dirty="0">
                <a:latin typeface="Times New Roman" panose="02020603050405020304" pitchFamily="18" charset="0"/>
                <a:cs typeface="Times New Roman" panose="02020603050405020304" pitchFamily="18" charset="0"/>
              </a:rPr>
              <a:t>4.2) Ví Dụ Về Cách Tạo API - GET Request</a:t>
            </a:r>
            <a:endParaRPr lang="en-US" sz="2800" b="1"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876300" y="1652832"/>
            <a:ext cx="10307928" cy="4430957"/>
          </a:xfrm>
          <a:prstGeom prst="rect">
            <a:avLst/>
          </a:prstGeom>
        </p:spPr>
      </p:pic>
    </p:spTree>
    <p:extLst>
      <p:ext uri="{BB962C8B-B14F-4D97-AF65-F5344CB8AC3E}">
        <p14:creationId xmlns:p14="http://schemas.microsoft.com/office/powerpoint/2010/main" val="528580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vi-VN" sz="2800" b="1" dirty="0">
                <a:latin typeface="Times New Roman" panose="02020603050405020304" pitchFamily="18" charset="0"/>
                <a:cs typeface="Times New Roman" panose="02020603050405020304" pitchFamily="18" charset="0"/>
              </a:rPr>
              <a:t>4.2) Ví Dụ Về Cách Tạo API - GET Request</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r>
              <a:rPr lang="vi-VN" sz="2400" dirty="0">
                <a:latin typeface="Times New Roman" panose="02020603050405020304" pitchFamily="18" charset="0"/>
                <a:cs typeface="Times New Roman" panose="02020603050405020304" pitchFamily="18" charset="0"/>
              </a:rPr>
              <a:t>Trong ví dụ trên, API GET /search cho phép tìm kiếm sản phẩm theo các tham số như price, bookTitle, publisher, và categoryName. Nó sẽ trả về danh sách các sản phẩm thỏa mãn các tiêu chí này.</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spTree>
    <p:extLst>
      <p:ext uri="{BB962C8B-B14F-4D97-AF65-F5344CB8AC3E}">
        <p14:creationId xmlns:p14="http://schemas.microsoft.com/office/powerpoint/2010/main" val="2581726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vi-VN" sz="2800" b="1" dirty="0">
                <a:latin typeface="Times New Roman" panose="02020603050405020304" pitchFamily="18" charset="0"/>
                <a:cs typeface="Times New Roman" panose="02020603050405020304" pitchFamily="18" charset="0"/>
              </a:rPr>
              <a:t>4.3) Ví Dụ Về Cách Tạo API - POST Request</a:t>
            </a:r>
            <a:endParaRPr lang="en-US" sz="2800" b="1"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5"/>
          <a:stretch>
            <a:fillRect/>
          </a:stretch>
        </p:blipFill>
        <p:spPr>
          <a:xfrm>
            <a:off x="941522" y="2208068"/>
            <a:ext cx="10412278" cy="2076740"/>
          </a:xfrm>
          <a:prstGeom prst="rect">
            <a:avLst/>
          </a:prstGeom>
        </p:spPr>
      </p:pic>
      <p:sp>
        <p:nvSpPr>
          <p:cNvPr id="4" name="Text Placeholder 3"/>
          <p:cNvSpPr>
            <a:spLocks noGrp="1"/>
          </p:cNvSpPr>
          <p:nvPr>
            <p:ph type="body" idx="1"/>
          </p:nvPr>
        </p:nvSpPr>
        <p:spPr>
          <a:xfrm>
            <a:off x="838200" y="1613043"/>
            <a:ext cx="10515600" cy="4563920"/>
          </a:xfrm>
        </p:spPr>
        <p:txBody>
          <a:bodyPr>
            <a:normAutofit/>
          </a:bodyPr>
          <a:lstStyle/>
          <a:p>
            <a:r>
              <a:rPr lang="vi-VN" sz="2400" dirty="0" smtClean="0">
                <a:latin typeface="Times New Roman" panose="02020603050405020304" pitchFamily="18" charset="0"/>
                <a:cs typeface="Times New Roman" panose="02020603050405020304" pitchFamily="18" charset="0"/>
              </a:rPr>
              <a:t>Code ví dụ</a:t>
            </a:r>
          </a:p>
          <a:p>
            <a:endParaRPr lang="vi-VN" sz="2400" dirty="0">
              <a:latin typeface="Times New Roman" panose="02020603050405020304" pitchFamily="18" charset="0"/>
              <a:cs typeface="Times New Roman" panose="02020603050405020304" pitchFamily="18" charset="0"/>
            </a:endParaRPr>
          </a:p>
          <a:p>
            <a:endParaRPr lang="vi-VN" sz="2400" dirty="0" smtClean="0">
              <a:latin typeface="Times New Roman" panose="02020603050405020304" pitchFamily="18" charset="0"/>
              <a:cs typeface="Times New Roman" panose="02020603050405020304" pitchFamily="18" charset="0"/>
            </a:endParaRPr>
          </a:p>
          <a:p>
            <a:endParaRPr lang="vi-VN" sz="2400" dirty="0">
              <a:latin typeface="Times New Roman" panose="02020603050405020304" pitchFamily="18" charset="0"/>
              <a:cs typeface="Times New Roman" panose="02020603050405020304" pitchFamily="18" charset="0"/>
            </a:endParaRPr>
          </a:p>
          <a:p>
            <a:endParaRPr lang="vi-VN" sz="2400" dirty="0" smtClean="0">
              <a:latin typeface="Times New Roman" panose="02020603050405020304" pitchFamily="18" charset="0"/>
              <a:cs typeface="Times New Roman" panose="02020603050405020304" pitchFamily="18" charset="0"/>
            </a:endParaRPr>
          </a:p>
          <a:p>
            <a:endParaRPr lang="vi-VN" sz="2400" dirty="0">
              <a:latin typeface="Times New Roman" panose="02020603050405020304" pitchFamily="18" charset="0"/>
              <a:cs typeface="Times New Roman" panose="02020603050405020304" pitchFamily="18" charset="0"/>
            </a:endParaRPr>
          </a:p>
          <a:p>
            <a:r>
              <a:rPr lang="vi-VN" sz="2400" dirty="0">
                <a:latin typeface="Times New Roman" panose="02020603050405020304" pitchFamily="18" charset="0"/>
                <a:cs typeface="Times New Roman" panose="02020603050405020304" pitchFamily="18" charset="0"/>
              </a:rPr>
              <a:t>Trong ví dụ này, API POST /create nhận một đối tượng ProductDTO trong thân yêu cầu và tạo một sản phẩm mới trong cơ sở dữ liệu.</a:t>
            </a: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spTree>
    <p:extLst>
      <p:ext uri="{BB962C8B-B14F-4D97-AF65-F5344CB8AC3E}">
        <p14:creationId xmlns:p14="http://schemas.microsoft.com/office/powerpoint/2010/main" val="1822565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vi-VN" sz="2800" b="1" dirty="0" smtClean="0">
                <a:latin typeface="Times New Roman" panose="02020603050405020304" pitchFamily="18" charset="0"/>
                <a:cs typeface="Times New Roman" panose="02020603050405020304" pitchFamily="18" charset="0"/>
              </a:rPr>
              <a:t>Ghi chú</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r>
              <a:rPr lang="vi-VN" sz="2400" dirty="0" smtClean="0">
                <a:latin typeface="Times New Roman" panose="02020603050405020304" pitchFamily="18" charset="0"/>
                <a:cs typeface="Times New Roman" panose="02020603050405020304" pitchFamily="18" charset="0"/>
              </a:rPr>
              <a:t>Code demo tại </a:t>
            </a:r>
          </a:p>
          <a:p>
            <a:r>
              <a:rPr lang="en-US" sz="2400" dirty="0">
                <a:latin typeface="Times New Roman" panose="02020603050405020304" pitchFamily="18" charset="0"/>
                <a:cs typeface="Times New Roman" panose="02020603050405020304" pitchFamily="18" charset="0"/>
              </a:rPr>
              <a:t>https://github.com/ndkien98/LJava2411/tree/develop2/LJava2411/spring-mvc/book-shop/book-shop</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spTree>
    <p:extLst>
      <p:ext uri="{BB962C8B-B14F-4D97-AF65-F5344CB8AC3E}">
        <p14:creationId xmlns:p14="http://schemas.microsoft.com/office/powerpoint/2010/main" val="2376403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47800" y="1307628"/>
            <a:ext cx="9031014" cy="4658711"/>
          </a:xfrm>
          <a:prstGeom prst="rect">
            <a:avLst/>
          </a:prstGeom>
        </p:spPr>
      </p:pic>
    </p:spTree>
    <p:extLst>
      <p:ext uri="{BB962C8B-B14F-4D97-AF65-F5344CB8AC3E}">
        <p14:creationId xmlns:p14="http://schemas.microsoft.com/office/powerpoint/2010/main" val="108930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theme/theme1.xml><?xml version="1.0" encoding="utf-8"?>
<a:theme xmlns:a="http://schemas.openxmlformats.org/drawingml/2006/main" name="Office Theme">
  <a:themeElements>
    <a:clrScheme name="9Slide - 2019">
      <a:dk1>
        <a:srgbClr val="000000"/>
      </a:dk1>
      <a:lt1>
        <a:srgbClr val="FFFFFF"/>
      </a:lt1>
      <a:dk2>
        <a:srgbClr val="092D6C"/>
      </a:dk2>
      <a:lt2>
        <a:srgbClr val="FCECD0"/>
      </a:lt2>
      <a:accent1>
        <a:srgbClr val="4FC1E9"/>
      </a:accent1>
      <a:accent2>
        <a:srgbClr val="48CFAD"/>
      </a:accent2>
      <a:accent3>
        <a:srgbClr val="A0D468"/>
      </a:accent3>
      <a:accent4>
        <a:srgbClr val="FFCE54"/>
      </a:accent4>
      <a:accent5>
        <a:srgbClr val="FC6E51"/>
      </a:accent5>
      <a:accent6>
        <a:srgbClr val="ED5565"/>
      </a:accent6>
      <a:hlink>
        <a:srgbClr val="5D9CEC"/>
      </a:hlink>
      <a:folHlink>
        <a:srgbClr val="AC92E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TotalTime>
  <Words>2449</Words>
  <Application>Microsoft Office PowerPoint</Application>
  <PresentationFormat>Widescreen</PresentationFormat>
  <Paragraphs>191</Paragraphs>
  <Slides>35</Slides>
  <Notes>35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Times New Roman</vt:lpstr>
      <vt:lpstr>Arial</vt:lpstr>
      <vt:lpstr>Oi</vt:lpstr>
      <vt:lpstr>Wingdings</vt:lpstr>
      <vt:lpstr>Office Theme</vt:lpstr>
      <vt:lpstr>PowerPoint Presentation</vt:lpstr>
      <vt:lpstr>Nội dung bài học</vt:lpstr>
      <vt:lpstr>1) Giới thiệu</vt:lpstr>
      <vt:lpstr>1.1) API là gì</vt:lpstr>
      <vt:lpstr>1.1) API là gì</vt:lpstr>
      <vt:lpstr>1.2) Các Loại API</vt:lpstr>
      <vt:lpstr>RESTful API</vt:lpstr>
      <vt:lpstr>1.2) Các Loại API</vt:lpstr>
      <vt:lpstr>SOAP API</vt:lpstr>
      <vt:lpstr>1.3) Ví Dụ Thực Tế</vt:lpstr>
      <vt:lpstr>1.4) Các Công Nghệ Để Làm API Hiện Tại</vt:lpstr>
      <vt:lpstr>2) RESTful API</vt:lpstr>
      <vt:lpstr>2.1) Định nghĩa</vt:lpstr>
      <vt:lpstr>2.1) Định nghĩa</vt:lpstr>
      <vt:lpstr>2.2) Giao Thức HTTP, HTTPS và Sự Khác Nhau Giữa HTTP và HTTPS</vt:lpstr>
      <vt:lpstr>2.2) Giao Thức HTTP, HTTPS và Sự Khác Nhau Giữa HTTP và HTTPS</vt:lpstr>
      <vt:lpstr>2.3) Các Giao Thức GET, POST, PUT, DELETE</vt:lpstr>
      <vt:lpstr>2.4) Các Quy Chuẩn Để Tạo RESTful API</vt:lpstr>
      <vt:lpstr>2.4) Các Quy Chuẩn Để Tạo RESTful API</vt:lpstr>
      <vt:lpstr>3) Truyền Tham Số Trong API</vt:lpstr>
      <vt:lpstr>3.1) Request Param (Tham số truy vấn trong URL)</vt:lpstr>
      <vt:lpstr>3.1) Request Param (Tham số truy vấn trong URL)</vt:lpstr>
      <vt:lpstr>3.2) Request Body (Thân yêu cầu)</vt:lpstr>
      <vt:lpstr>3.2) Request Body (Thân yêu cầu)</vt:lpstr>
      <vt:lpstr>3.2) Request Body (Thân yêu cầu)</vt:lpstr>
      <vt:lpstr>3.3) Path Variable (Biến trong Đường dẫn URL)</vt:lpstr>
      <vt:lpstr>3.3) Path Variable (Biến trong Đường dẫn URL)</vt:lpstr>
      <vt:lpstr>3.4) Tổng Hợp Cách Truyền Tham Số</vt:lpstr>
      <vt:lpstr>4) Cách Tạo API Trong Spring MVC</vt:lpstr>
      <vt:lpstr>4.1) Các Bước Tạo API</vt:lpstr>
      <vt:lpstr>4.2) Ví Dụ Về Cách Tạo API - GET Request</vt:lpstr>
      <vt:lpstr>4.2) Ví Dụ Về Cách Tạo API - GET Request</vt:lpstr>
      <vt:lpstr>4.3) Ví Dụ Về Cách Tạo API - POST Request</vt:lpstr>
      <vt:lpstr>Ghi chú</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7390</cp:lastModifiedBy>
  <cp:revision>10</cp:revision>
  <dcterms:created xsi:type="dcterms:W3CDTF">2020-08-07T13:14:06Z</dcterms:created>
  <dcterms:modified xsi:type="dcterms:W3CDTF">2025-03-05T16:21:06Z</dcterms:modified>
</cp:coreProperties>
</file>