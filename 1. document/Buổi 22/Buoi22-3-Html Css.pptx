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9"/>
  </p:notesMasterIdLst>
  <p:sldIdLst>
    <p:sldId id="263" r:id="rId2"/>
    <p:sldId id="259" r:id="rId3"/>
    <p:sldId id="264" r:id="rId4"/>
    <p:sldId id="265" r:id="rId5"/>
    <p:sldId id="266" r:id="rId6"/>
    <p:sldId id="267" r:id="rId7"/>
    <p:sldId id="268" r:id="rId8"/>
    <p:sldId id="269" r:id="rId9"/>
    <p:sldId id="270" r:id="rId10"/>
    <p:sldId id="271" r:id="rId11"/>
    <p:sldId id="272" r:id="rId12"/>
    <p:sldId id="273" r:id="rId13"/>
    <p:sldId id="274" r:id="rId14"/>
    <p:sldId id="275" r:id="rId15"/>
    <p:sldId id="276" r:id="rId16"/>
    <p:sldId id="277" r:id="rId17"/>
    <p:sldId id="278" r:id="rId18"/>
    <p:sldId id="279" r:id="rId19"/>
    <p:sldId id="280" r:id="rId20"/>
    <p:sldId id="281" r:id="rId21"/>
    <p:sldId id="282" r:id="rId22"/>
    <p:sldId id="283" r:id="rId23"/>
    <p:sldId id="284" r:id="rId24"/>
    <p:sldId id="285" r:id="rId25"/>
    <p:sldId id="286" r:id="rId26"/>
    <p:sldId id="287" r:id="rId27"/>
    <p:sldId id="262" r:id="rId28"/>
  </p:sldIdLst>
  <p:sldSz cx="12192000" cy="6858000"/>
  <p:notesSz cx="6858000" cy="9144000"/>
  <p:embeddedFontLst>
    <p:embeddedFont>
      <p:font typeface="Oi" panose="020B0604020202020204" charset="0"/>
      <p:regular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1" roundtripDataSignature="AMtx7mhtyW5ytG2QzhO0bomHZxkHQZwEe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0" d="100"/>
          <a:sy n="50" d="100"/>
        </p:scale>
        <p:origin x="1092" y="20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 name="Google Shape;5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45266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41711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433698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961847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327219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649895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109091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45734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067076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109501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35189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598596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345750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370608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582764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858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972225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62673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335625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456149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57005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569497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601359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25923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84922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651631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501382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
        <p:cNvGrpSpPr/>
        <p:nvPr/>
      </p:nvGrpSpPr>
      <p:grpSpPr>
        <a:xfrm>
          <a:off x="0" y="0"/>
          <a:ext cx="0" cy="0"/>
          <a:chOff x="0" y="0"/>
          <a:chExt cx="0" cy="0"/>
        </a:xfrm>
      </p:grpSpPr>
      <p:sp>
        <p:nvSpPr>
          <p:cNvPr id="25" name="Google Shape;25;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9"/>
        <p:cNvGrpSpPr/>
        <p:nvPr/>
      </p:nvGrpSpPr>
      <p:grpSpPr>
        <a:xfrm>
          <a:off x="0" y="0"/>
          <a:ext cx="0" cy="0"/>
          <a:chOff x="0" y="0"/>
          <a:chExt cx="0" cy="0"/>
        </a:xfrm>
      </p:grpSpPr>
      <p:sp>
        <p:nvSpPr>
          <p:cNvPr id="30" name="Google Shape;30;p1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1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2" name="Google Shape;32;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5"/>
        <p:cNvGrpSpPr/>
        <p:nvPr/>
      </p:nvGrpSpPr>
      <p:grpSpPr>
        <a:xfrm>
          <a:off x="0" y="0"/>
          <a:ext cx="0" cy="0"/>
          <a:chOff x="0" y="0"/>
          <a:chExt cx="0" cy="0"/>
        </a:xfrm>
      </p:grpSpPr>
      <p:sp>
        <p:nvSpPr>
          <p:cNvPr id="36" name="Google Shape;36;p1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12"/>
          <p:cNvSpPr>
            <a:spLocks noGrp="1"/>
          </p:cNvSpPr>
          <p:nvPr>
            <p:ph type="pic" idx="2"/>
          </p:nvPr>
        </p:nvSpPr>
        <p:spPr>
          <a:xfrm>
            <a:off x="5183188" y="987425"/>
            <a:ext cx="6172200" cy="4873625"/>
          </a:xfrm>
          <a:prstGeom prst="rect">
            <a:avLst/>
          </a:prstGeom>
          <a:noFill/>
          <a:ln>
            <a:noFill/>
          </a:ln>
        </p:spPr>
      </p:sp>
      <p:sp>
        <p:nvSpPr>
          <p:cNvPr id="38" name="Google Shape;38;p1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39" name="Google Shape;39;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2"/>
        <p:cNvGrpSpPr/>
        <p:nvPr/>
      </p:nvGrpSpPr>
      <p:grpSpPr>
        <a:xfrm>
          <a:off x="0" y="0"/>
          <a:ext cx="0" cy="0"/>
          <a:chOff x="0" y="0"/>
          <a:chExt cx="0" cy="0"/>
        </a:xfrm>
      </p:grpSpPr>
      <p:sp>
        <p:nvSpPr>
          <p:cNvPr id="43" name="Google Shape;43;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8"/>
        <p:cNvGrpSpPr/>
        <p:nvPr/>
      </p:nvGrpSpPr>
      <p:grpSpPr>
        <a:xfrm>
          <a:off x="0" y="0"/>
          <a:ext cx="0" cy="0"/>
          <a:chOff x="0" y="0"/>
          <a:chExt cx="0" cy="0"/>
        </a:xfrm>
      </p:grpSpPr>
      <p:sp>
        <p:nvSpPr>
          <p:cNvPr id="49" name="Google Shape;49;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1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0"/>
        <p:cNvGrpSpPr/>
        <p:nvPr/>
      </p:nvGrpSpPr>
      <p:grpSpPr>
        <a:xfrm>
          <a:off x="0" y="0"/>
          <a:ext cx="0" cy="0"/>
          <a:chOff x="0" y="0"/>
          <a:chExt cx="0" cy="0"/>
        </a:xfrm>
      </p:grpSpPr>
      <p:sp>
        <p:nvSpPr>
          <p:cNvPr id="21" name="Google Shape;21;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620365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8"/>
          <p:cNvSpPr txBox="1"/>
          <p:nvPr/>
        </p:nvSpPr>
        <p:spPr>
          <a:xfrm>
            <a:off x="0" y="-712232"/>
            <a:ext cx="12192000" cy="3693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0" i="0" u="none" strike="noStrike" cap="none">
                <a:solidFill>
                  <a:srgbClr val="D7D7D7"/>
                </a:solidFill>
                <a:latin typeface="Oi"/>
                <a:ea typeface="Oi"/>
                <a:cs typeface="Oi"/>
                <a:sym typeface="Oi"/>
              </a:rPr>
              <a:t>www.9slide.vn</a:t>
            </a:r>
            <a:endParaRPr/>
          </a:p>
        </p:txBody>
      </p:sp>
      <p:sp>
        <p:nvSpPr>
          <p:cNvPr id="7" name="Google Shape;7;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 name="Google Shape;8;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Oi"/>
                <a:ea typeface="Oi"/>
                <a:cs typeface="Oi"/>
                <a:sym typeface="O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Oi"/>
                <a:ea typeface="Oi"/>
                <a:cs typeface="Oi"/>
                <a:sym typeface="O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Oi"/>
                <a:ea typeface="Oi"/>
                <a:cs typeface="Oi"/>
                <a:sym typeface="O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i"/>
                <a:ea typeface="Oi"/>
                <a:cs typeface="Oi"/>
                <a:sym typeface="O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i"/>
                <a:ea typeface="Oi"/>
                <a:cs typeface="Oi"/>
                <a:sym typeface="O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i"/>
                <a:ea typeface="Oi"/>
                <a:cs typeface="Oi"/>
                <a:sym typeface="O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i"/>
                <a:ea typeface="Oi"/>
                <a:cs typeface="Oi"/>
                <a:sym typeface="O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i"/>
                <a:ea typeface="Oi"/>
                <a:cs typeface="Oi"/>
                <a:sym typeface="O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i"/>
                <a:ea typeface="Oi"/>
                <a:cs typeface="Oi"/>
                <a:sym typeface="Oi"/>
              </a:defRPr>
            </a:lvl9pPr>
          </a:lstStyle>
          <a:p>
            <a:endParaRPr/>
          </a:p>
        </p:txBody>
      </p:sp>
      <p:sp>
        <p:nvSpPr>
          <p:cNvPr id="9" name="Google Shape;9;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Oi"/>
                <a:ea typeface="Oi"/>
                <a:cs typeface="Oi"/>
                <a:sym typeface="Oi"/>
              </a:defRPr>
            </a:lvl1pPr>
            <a:lvl2pPr marR="0" lvl="1" algn="l" rtl="0">
              <a:spcBef>
                <a:spcPts val="0"/>
              </a:spcBef>
              <a:spcAft>
                <a:spcPts val="0"/>
              </a:spcAft>
              <a:buSzPts val="1400"/>
              <a:buNone/>
              <a:defRPr sz="1800" b="0" i="0" u="none" strike="noStrike" cap="none">
                <a:solidFill>
                  <a:schemeClr val="dk1"/>
                </a:solidFill>
                <a:latin typeface="Oi"/>
                <a:ea typeface="Oi"/>
                <a:cs typeface="Oi"/>
                <a:sym typeface="Oi"/>
              </a:defRPr>
            </a:lvl2pPr>
            <a:lvl3pPr marR="0" lvl="2" algn="l" rtl="0">
              <a:spcBef>
                <a:spcPts val="0"/>
              </a:spcBef>
              <a:spcAft>
                <a:spcPts val="0"/>
              </a:spcAft>
              <a:buSzPts val="1400"/>
              <a:buNone/>
              <a:defRPr sz="1800" b="0" i="0" u="none" strike="noStrike" cap="none">
                <a:solidFill>
                  <a:schemeClr val="dk1"/>
                </a:solidFill>
                <a:latin typeface="Oi"/>
                <a:ea typeface="Oi"/>
                <a:cs typeface="Oi"/>
                <a:sym typeface="Oi"/>
              </a:defRPr>
            </a:lvl3pPr>
            <a:lvl4pPr marR="0" lvl="3" algn="l" rtl="0">
              <a:spcBef>
                <a:spcPts val="0"/>
              </a:spcBef>
              <a:spcAft>
                <a:spcPts val="0"/>
              </a:spcAft>
              <a:buSzPts val="1400"/>
              <a:buNone/>
              <a:defRPr sz="1800" b="0" i="0" u="none" strike="noStrike" cap="none">
                <a:solidFill>
                  <a:schemeClr val="dk1"/>
                </a:solidFill>
                <a:latin typeface="Oi"/>
                <a:ea typeface="Oi"/>
                <a:cs typeface="Oi"/>
                <a:sym typeface="Oi"/>
              </a:defRPr>
            </a:lvl4pPr>
            <a:lvl5pPr marR="0" lvl="4" algn="l" rtl="0">
              <a:spcBef>
                <a:spcPts val="0"/>
              </a:spcBef>
              <a:spcAft>
                <a:spcPts val="0"/>
              </a:spcAft>
              <a:buSzPts val="1400"/>
              <a:buNone/>
              <a:defRPr sz="1800" b="0" i="0" u="none" strike="noStrike" cap="none">
                <a:solidFill>
                  <a:schemeClr val="dk1"/>
                </a:solidFill>
                <a:latin typeface="Oi"/>
                <a:ea typeface="Oi"/>
                <a:cs typeface="Oi"/>
                <a:sym typeface="Oi"/>
              </a:defRPr>
            </a:lvl5pPr>
            <a:lvl6pPr marR="0" lvl="5" algn="l" rtl="0">
              <a:spcBef>
                <a:spcPts val="0"/>
              </a:spcBef>
              <a:spcAft>
                <a:spcPts val="0"/>
              </a:spcAft>
              <a:buSzPts val="1400"/>
              <a:buNone/>
              <a:defRPr sz="1800" b="0" i="0" u="none" strike="noStrike" cap="none">
                <a:solidFill>
                  <a:schemeClr val="dk1"/>
                </a:solidFill>
                <a:latin typeface="Oi"/>
                <a:ea typeface="Oi"/>
                <a:cs typeface="Oi"/>
                <a:sym typeface="Oi"/>
              </a:defRPr>
            </a:lvl6pPr>
            <a:lvl7pPr marR="0" lvl="6" algn="l" rtl="0">
              <a:spcBef>
                <a:spcPts val="0"/>
              </a:spcBef>
              <a:spcAft>
                <a:spcPts val="0"/>
              </a:spcAft>
              <a:buSzPts val="1400"/>
              <a:buNone/>
              <a:defRPr sz="1800" b="0" i="0" u="none" strike="noStrike" cap="none">
                <a:solidFill>
                  <a:schemeClr val="dk1"/>
                </a:solidFill>
                <a:latin typeface="Oi"/>
                <a:ea typeface="Oi"/>
                <a:cs typeface="Oi"/>
                <a:sym typeface="Oi"/>
              </a:defRPr>
            </a:lvl7pPr>
            <a:lvl8pPr marR="0" lvl="7" algn="l" rtl="0">
              <a:spcBef>
                <a:spcPts val="0"/>
              </a:spcBef>
              <a:spcAft>
                <a:spcPts val="0"/>
              </a:spcAft>
              <a:buSzPts val="1400"/>
              <a:buNone/>
              <a:defRPr sz="1800" b="0" i="0" u="none" strike="noStrike" cap="none">
                <a:solidFill>
                  <a:schemeClr val="dk1"/>
                </a:solidFill>
                <a:latin typeface="Oi"/>
                <a:ea typeface="Oi"/>
                <a:cs typeface="Oi"/>
                <a:sym typeface="Oi"/>
              </a:defRPr>
            </a:lvl8pPr>
            <a:lvl9pPr marR="0" lvl="8" algn="l" rtl="0">
              <a:spcBef>
                <a:spcPts val="0"/>
              </a:spcBef>
              <a:spcAft>
                <a:spcPts val="0"/>
              </a:spcAft>
              <a:buSzPts val="1400"/>
              <a:buNone/>
              <a:defRPr sz="1800" b="0" i="0" u="none" strike="noStrike" cap="none">
                <a:solidFill>
                  <a:schemeClr val="dk1"/>
                </a:solidFill>
                <a:latin typeface="Oi"/>
                <a:ea typeface="Oi"/>
                <a:cs typeface="Oi"/>
                <a:sym typeface="Oi"/>
              </a:defRPr>
            </a:lvl9pPr>
          </a:lstStyle>
          <a:p>
            <a:endParaRPr/>
          </a:p>
        </p:txBody>
      </p:sp>
      <p:sp>
        <p:nvSpPr>
          <p:cNvPr id="10" name="Google Shape;10;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Oi"/>
                <a:ea typeface="Oi"/>
                <a:cs typeface="Oi"/>
                <a:sym typeface="Oi"/>
              </a:defRPr>
            </a:lvl1pPr>
            <a:lvl2pPr marR="0" lvl="1" algn="l" rtl="0">
              <a:spcBef>
                <a:spcPts val="0"/>
              </a:spcBef>
              <a:spcAft>
                <a:spcPts val="0"/>
              </a:spcAft>
              <a:buSzPts val="1400"/>
              <a:buNone/>
              <a:defRPr sz="1800" b="0" i="0" u="none" strike="noStrike" cap="none">
                <a:solidFill>
                  <a:schemeClr val="dk1"/>
                </a:solidFill>
                <a:latin typeface="Oi"/>
                <a:ea typeface="Oi"/>
                <a:cs typeface="Oi"/>
                <a:sym typeface="Oi"/>
              </a:defRPr>
            </a:lvl2pPr>
            <a:lvl3pPr marR="0" lvl="2" algn="l" rtl="0">
              <a:spcBef>
                <a:spcPts val="0"/>
              </a:spcBef>
              <a:spcAft>
                <a:spcPts val="0"/>
              </a:spcAft>
              <a:buSzPts val="1400"/>
              <a:buNone/>
              <a:defRPr sz="1800" b="0" i="0" u="none" strike="noStrike" cap="none">
                <a:solidFill>
                  <a:schemeClr val="dk1"/>
                </a:solidFill>
                <a:latin typeface="Oi"/>
                <a:ea typeface="Oi"/>
                <a:cs typeface="Oi"/>
                <a:sym typeface="Oi"/>
              </a:defRPr>
            </a:lvl3pPr>
            <a:lvl4pPr marR="0" lvl="3" algn="l" rtl="0">
              <a:spcBef>
                <a:spcPts val="0"/>
              </a:spcBef>
              <a:spcAft>
                <a:spcPts val="0"/>
              </a:spcAft>
              <a:buSzPts val="1400"/>
              <a:buNone/>
              <a:defRPr sz="1800" b="0" i="0" u="none" strike="noStrike" cap="none">
                <a:solidFill>
                  <a:schemeClr val="dk1"/>
                </a:solidFill>
                <a:latin typeface="Oi"/>
                <a:ea typeface="Oi"/>
                <a:cs typeface="Oi"/>
                <a:sym typeface="Oi"/>
              </a:defRPr>
            </a:lvl4pPr>
            <a:lvl5pPr marR="0" lvl="4" algn="l" rtl="0">
              <a:spcBef>
                <a:spcPts val="0"/>
              </a:spcBef>
              <a:spcAft>
                <a:spcPts val="0"/>
              </a:spcAft>
              <a:buSzPts val="1400"/>
              <a:buNone/>
              <a:defRPr sz="1800" b="0" i="0" u="none" strike="noStrike" cap="none">
                <a:solidFill>
                  <a:schemeClr val="dk1"/>
                </a:solidFill>
                <a:latin typeface="Oi"/>
                <a:ea typeface="Oi"/>
                <a:cs typeface="Oi"/>
                <a:sym typeface="Oi"/>
              </a:defRPr>
            </a:lvl5pPr>
            <a:lvl6pPr marR="0" lvl="5" algn="l" rtl="0">
              <a:spcBef>
                <a:spcPts val="0"/>
              </a:spcBef>
              <a:spcAft>
                <a:spcPts val="0"/>
              </a:spcAft>
              <a:buSzPts val="1400"/>
              <a:buNone/>
              <a:defRPr sz="1800" b="0" i="0" u="none" strike="noStrike" cap="none">
                <a:solidFill>
                  <a:schemeClr val="dk1"/>
                </a:solidFill>
                <a:latin typeface="Oi"/>
                <a:ea typeface="Oi"/>
                <a:cs typeface="Oi"/>
                <a:sym typeface="Oi"/>
              </a:defRPr>
            </a:lvl6pPr>
            <a:lvl7pPr marR="0" lvl="6" algn="l" rtl="0">
              <a:spcBef>
                <a:spcPts val="0"/>
              </a:spcBef>
              <a:spcAft>
                <a:spcPts val="0"/>
              </a:spcAft>
              <a:buSzPts val="1400"/>
              <a:buNone/>
              <a:defRPr sz="1800" b="0" i="0" u="none" strike="noStrike" cap="none">
                <a:solidFill>
                  <a:schemeClr val="dk1"/>
                </a:solidFill>
                <a:latin typeface="Oi"/>
                <a:ea typeface="Oi"/>
                <a:cs typeface="Oi"/>
                <a:sym typeface="Oi"/>
              </a:defRPr>
            </a:lvl7pPr>
            <a:lvl8pPr marR="0" lvl="7" algn="l" rtl="0">
              <a:spcBef>
                <a:spcPts val="0"/>
              </a:spcBef>
              <a:spcAft>
                <a:spcPts val="0"/>
              </a:spcAft>
              <a:buSzPts val="1400"/>
              <a:buNone/>
              <a:defRPr sz="1800" b="0" i="0" u="none" strike="noStrike" cap="none">
                <a:solidFill>
                  <a:schemeClr val="dk1"/>
                </a:solidFill>
                <a:latin typeface="Oi"/>
                <a:ea typeface="Oi"/>
                <a:cs typeface="Oi"/>
                <a:sym typeface="Oi"/>
              </a:defRPr>
            </a:lvl8pPr>
            <a:lvl9pPr marR="0" lvl="8" algn="l" rtl="0">
              <a:spcBef>
                <a:spcPts val="0"/>
              </a:spcBef>
              <a:spcAft>
                <a:spcPts val="0"/>
              </a:spcAft>
              <a:buSzPts val="1400"/>
              <a:buNone/>
              <a:defRPr sz="1800" b="0" i="0" u="none" strike="noStrike" cap="none">
                <a:solidFill>
                  <a:schemeClr val="dk1"/>
                </a:solidFill>
                <a:latin typeface="Oi"/>
                <a:ea typeface="Oi"/>
                <a:cs typeface="Oi"/>
                <a:sym typeface="Oi"/>
              </a:defRPr>
            </a:lvl9pPr>
          </a:lstStyle>
          <a:p>
            <a:endParaRPr/>
          </a:p>
        </p:txBody>
      </p:sp>
      <p:sp>
        <p:nvSpPr>
          <p:cNvPr id="11" name="Google Shape;11;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Oi"/>
                <a:ea typeface="Oi"/>
                <a:cs typeface="Oi"/>
                <a:sym typeface="Oi"/>
              </a:defRPr>
            </a:lvl1pPr>
            <a:lvl2pPr marL="0" marR="0" lvl="1" indent="0" algn="r" rtl="0">
              <a:spcBef>
                <a:spcPts val="0"/>
              </a:spcBef>
              <a:buNone/>
              <a:defRPr sz="1200" b="0" i="0" u="none" strike="noStrike" cap="none">
                <a:solidFill>
                  <a:srgbClr val="888888"/>
                </a:solidFill>
                <a:latin typeface="Oi"/>
                <a:ea typeface="Oi"/>
                <a:cs typeface="Oi"/>
                <a:sym typeface="Oi"/>
              </a:defRPr>
            </a:lvl2pPr>
            <a:lvl3pPr marL="0" marR="0" lvl="2" indent="0" algn="r" rtl="0">
              <a:spcBef>
                <a:spcPts val="0"/>
              </a:spcBef>
              <a:buNone/>
              <a:defRPr sz="1200" b="0" i="0" u="none" strike="noStrike" cap="none">
                <a:solidFill>
                  <a:srgbClr val="888888"/>
                </a:solidFill>
                <a:latin typeface="Oi"/>
                <a:ea typeface="Oi"/>
                <a:cs typeface="Oi"/>
                <a:sym typeface="Oi"/>
              </a:defRPr>
            </a:lvl3pPr>
            <a:lvl4pPr marL="0" marR="0" lvl="3" indent="0" algn="r" rtl="0">
              <a:spcBef>
                <a:spcPts val="0"/>
              </a:spcBef>
              <a:buNone/>
              <a:defRPr sz="1200" b="0" i="0" u="none" strike="noStrike" cap="none">
                <a:solidFill>
                  <a:srgbClr val="888888"/>
                </a:solidFill>
                <a:latin typeface="Oi"/>
                <a:ea typeface="Oi"/>
                <a:cs typeface="Oi"/>
                <a:sym typeface="Oi"/>
              </a:defRPr>
            </a:lvl4pPr>
            <a:lvl5pPr marL="0" marR="0" lvl="4" indent="0" algn="r" rtl="0">
              <a:spcBef>
                <a:spcPts val="0"/>
              </a:spcBef>
              <a:buNone/>
              <a:defRPr sz="1200" b="0" i="0" u="none" strike="noStrike" cap="none">
                <a:solidFill>
                  <a:srgbClr val="888888"/>
                </a:solidFill>
                <a:latin typeface="Oi"/>
                <a:ea typeface="Oi"/>
                <a:cs typeface="Oi"/>
                <a:sym typeface="Oi"/>
              </a:defRPr>
            </a:lvl5pPr>
            <a:lvl6pPr marL="0" marR="0" lvl="5" indent="0" algn="r" rtl="0">
              <a:spcBef>
                <a:spcPts val="0"/>
              </a:spcBef>
              <a:buNone/>
              <a:defRPr sz="1200" b="0" i="0" u="none" strike="noStrike" cap="none">
                <a:solidFill>
                  <a:srgbClr val="888888"/>
                </a:solidFill>
                <a:latin typeface="Oi"/>
                <a:ea typeface="Oi"/>
                <a:cs typeface="Oi"/>
                <a:sym typeface="Oi"/>
              </a:defRPr>
            </a:lvl6pPr>
            <a:lvl7pPr marL="0" marR="0" lvl="6" indent="0" algn="r" rtl="0">
              <a:spcBef>
                <a:spcPts val="0"/>
              </a:spcBef>
              <a:buNone/>
              <a:defRPr sz="1200" b="0" i="0" u="none" strike="noStrike" cap="none">
                <a:solidFill>
                  <a:srgbClr val="888888"/>
                </a:solidFill>
                <a:latin typeface="Oi"/>
                <a:ea typeface="Oi"/>
                <a:cs typeface="Oi"/>
                <a:sym typeface="Oi"/>
              </a:defRPr>
            </a:lvl7pPr>
            <a:lvl8pPr marL="0" marR="0" lvl="7" indent="0" algn="r" rtl="0">
              <a:spcBef>
                <a:spcPts val="0"/>
              </a:spcBef>
              <a:buNone/>
              <a:defRPr sz="1200" b="0" i="0" u="none" strike="noStrike" cap="none">
                <a:solidFill>
                  <a:srgbClr val="888888"/>
                </a:solidFill>
                <a:latin typeface="Oi"/>
                <a:ea typeface="Oi"/>
                <a:cs typeface="Oi"/>
                <a:sym typeface="Oi"/>
              </a:defRPr>
            </a:lvl8pPr>
            <a:lvl9pPr marL="0" marR="0" lvl="8" indent="0" algn="r" rtl="0">
              <a:spcBef>
                <a:spcPts val="0"/>
              </a:spcBef>
              <a:buNone/>
              <a:defRPr sz="1200" b="0" i="0" u="none" strike="noStrike" cap="none">
                <a:solidFill>
                  <a:srgbClr val="888888"/>
                </a:solidFill>
                <a:latin typeface="Oi"/>
                <a:ea typeface="Oi"/>
                <a:cs typeface="Oi"/>
                <a:sym typeface="Oi"/>
              </a:defRPr>
            </a:lvl9pPr>
          </a:lstStyle>
          <a:p>
            <a:pPr marL="0" lvl="0" indent="0" algn="r" rtl="0">
              <a:spcBef>
                <a:spcPts val="0"/>
              </a:spcBef>
              <a:spcAft>
                <a:spcPts val="0"/>
              </a:spcAft>
              <a:buNone/>
            </a:pPr>
            <a:fld id="{00000000-1234-1234-1234-123412341234}" type="slidenum">
              <a:rPr lang="en-US"/>
              <a:t>‹#›</a:t>
            </a:fld>
            <a:endParaRPr/>
          </a:p>
        </p:txBody>
      </p:sp>
      <p:sp>
        <p:nvSpPr>
          <p:cNvPr id="12" name="Google Shape;12;p8"/>
          <p:cNvSpPr/>
          <p:nvPr/>
        </p:nvSpPr>
        <p:spPr>
          <a:xfrm>
            <a:off x="-23164800" y="-13030200"/>
            <a:ext cx="395021" cy="395021"/>
          </a:xfrm>
          <a:prstGeom prst="ellipse">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Oi"/>
              <a:ea typeface="Oi"/>
              <a:cs typeface="Oi"/>
              <a:sym typeface="Oi"/>
            </a:endParaRPr>
          </a:p>
        </p:txBody>
      </p:sp>
      <p:sp>
        <p:nvSpPr>
          <p:cNvPr id="13" name="Google Shape;13;p8"/>
          <p:cNvSpPr/>
          <p:nvPr/>
        </p:nvSpPr>
        <p:spPr>
          <a:xfrm>
            <a:off x="34961778" y="-13030200"/>
            <a:ext cx="395021" cy="395021"/>
          </a:xfrm>
          <a:prstGeom prst="ellipse">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Oi"/>
              <a:ea typeface="Oi"/>
              <a:cs typeface="Oi"/>
              <a:sym typeface="Oi"/>
            </a:endParaRPr>
          </a:p>
        </p:txBody>
      </p:sp>
      <p:sp>
        <p:nvSpPr>
          <p:cNvPr id="14" name="Google Shape;14;p8"/>
          <p:cNvSpPr/>
          <p:nvPr/>
        </p:nvSpPr>
        <p:spPr>
          <a:xfrm>
            <a:off x="34961778" y="19493180"/>
            <a:ext cx="395021" cy="395021"/>
          </a:xfrm>
          <a:prstGeom prst="ellipse">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Oi"/>
              <a:ea typeface="Oi"/>
              <a:cs typeface="Oi"/>
              <a:sym typeface="Oi"/>
            </a:endParaRPr>
          </a:p>
        </p:txBody>
      </p:sp>
      <p:sp>
        <p:nvSpPr>
          <p:cNvPr id="15" name="Google Shape;15;p8"/>
          <p:cNvSpPr/>
          <p:nvPr/>
        </p:nvSpPr>
        <p:spPr>
          <a:xfrm>
            <a:off x="-23164800" y="19493180"/>
            <a:ext cx="395021" cy="395021"/>
          </a:xfrm>
          <a:prstGeom prst="ellipse">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Oi"/>
              <a:ea typeface="Oi"/>
              <a:cs typeface="Oi"/>
              <a:sym typeface="Oi"/>
            </a:endParaRPr>
          </a:p>
        </p:txBody>
      </p:sp>
      <p:grpSp>
        <p:nvGrpSpPr>
          <p:cNvPr id="16" name="Google Shape;16;p8"/>
          <p:cNvGrpSpPr/>
          <p:nvPr/>
        </p:nvGrpSpPr>
        <p:grpSpPr>
          <a:xfrm>
            <a:off x="-2202100" y="-2224223"/>
            <a:ext cx="16596200" cy="11284323"/>
            <a:chOff x="-2202100" y="-2224223"/>
            <a:chExt cx="16596200" cy="11284323"/>
          </a:xfrm>
        </p:grpSpPr>
        <p:sp>
          <p:nvSpPr>
            <p:cNvPr id="17" name="Google Shape;17;p8"/>
            <p:cNvSpPr/>
            <p:nvPr/>
          </p:nvSpPr>
          <p:spPr>
            <a:xfrm>
              <a:off x="4851540" y="8494776"/>
              <a:ext cx="2488920" cy="565324"/>
            </a:xfrm>
            <a:prstGeom prst="rect">
              <a:avLst/>
            </a:prstGeom>
            <a:noFill/>
            <a:ln w="21575"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Oi"/>
                <a:ea typeface="Oi"/>
                <a:cs typeface="Oi"/>
                <a:sym typeface="Oi"/>
              </a:endParaRPr>
            </a:p>
          </p:txBody>
        </p:sp>
        <p:sp>
          <p:nvSpPr>
            <p:cNvPr id="18" name="Google Shape;18;p8"/>
            <p:cNvSpPr/>
            <p:nvPr/>
          </p:nvSpPr>
          <p:spPr>
            <a:xfrm>
              <a:off x="5006988" y="8647176"/>
              <a:ext cx="2178025" cy="260524"/>
            </a:xfrm>
            <a:custGeom>
              <a:avLst/>
              <a:gdLst/>
              <a:ahLst/>
              <a:cxnLst/>
              <a:rect l="l" t="t" r="r" b="b"/>
              <a:pathLst>
                <a:path w="2178025" h="260524" extrusionOk="0">
                  <a:moveTo>
                    <a:pt x="1807648" y="222182"/>
                  </a:moveTo>
                  <a:cubicBezTo>
                    <a:pt x="1814010" y="222182"/>
                    <a:pt x="1818838" y="223968"/>
                    <a:pt x="1822130" y="227540"/>
                  </a:cubicBezTo>
                  <a:cubicBezTo>
                    <a:pt x="1825423" y="231111"/>
                    <a:pt x="1827070" y="235576"/>
                    <a:pt x="1827070" y="240934"/>
                  </a:cubicBezTo>
                  <a:cubicBezTo>
                    <a:pt x="1827070" y="246069"/>
                    <a:pt x="1825423" y="250366"/>
                    <a:pt x="1822130" y="253826"/>
                  </a:cubicBezTo>
                  <a:cubicBezTo>
                    <a:pt x="1818838" y="257287"/>
                    <a:pt x="1814010" y="259017"/>
                    <a:pt x="1807648" y="259017"/>
                  </a:cubicBezTo>
                  <a:cubicBezTo>
                    <a:pt x="1801285" y="259017"/>
                    <a:pt x="1796513" y="257287"/>
                    <a:pt x="1793332" y="253826"/>
                  </a:cubicBezTo>
                  <a:cubicBezTo>
                    <a:pt x="1790151" y="250366"/>
                    <a:pt x="1788560" y="246069"/>
                    <a:pt x="1788560" y="240934"/>
                  </a:cubicBezTo>
                  <a:cubicBezTo>
                    <a:pt x="1788560" y="235576"/>
                    <a:pt x="1790151" y="231111"/>
                    <a:pt x="1793332" y="227540"/>
                  </a:cubicBezTo>
                  <a:cubicBezTo>
                    <a:pt x="1796513" y="223968"/>
                    <a:pt x="1801285" y="222182"/>
                    <a:pt x="1807648" y="222182"/>
                  </a:cubicBezTo>
                  <a:close/>
                  <a:moveTo>
                    <a:pt x="807523" y="222182"/>
                  </a:moveTo>
                  <a:cubicBezTo>
                    <a:pt x="813885" y="222182"/>
                    <a:pt x="818713" y="223968"/>
                    <a:pt x="822005" y="227540"/>
                  </a:cubicBezTo>
                  <a:cubicBezTo>
                    <a:pt x="825298" y="231111"/>
                    <a:pt x="826945" y="235576"/>
                    <a:pt x="826945" y="240934"/>
                  </a:cubicBezTo>
                  <a:cubicBezTo>
                    <a:pt x="826945" y="246069"/>
                    <a:pt x="825298" y="250366"/>
                    <a:pt x="822005" y="253826"/>
                  </a:cubicBezTo>
                  <a:cubicBezTo>
                    <a:pt x="818713" y="257287"/>
                    <a:pt x="813885" y="259017"/>
                    <a:pt x="807523" y="259017"/>
                  </a:cubicBezTo>
                  <a:cubicBezTo>
                    <a:pt x="801160" y="259017"/>
                    <a:pt x="796388" y="257287"/>
                    <a:pt x="793207" y="253826"/>
                  </a:cubicBezTo>
                  <a:cubicBezTo>
                    <a:pt x="790026" y="250366"/>
                    <a:pt x="788435" y="246069"/>
                    <a:pt x="788435" y="240934"/>
                  </a:cubicBezTo>
                  <a:cubicBezTo>
                    <a:pt x="788435" y="235576"/>
                    <a:pt x="790026" y="231111"/>
                    <a:pt x="793207" y="227540"/>
                  </a:cubicBezTo>
                  <a:cubicBezTo>
                    <a:pt x="796388" y="223968"/>
                    <a:pt x="801160" y="222182"/>
                    <a:pt x="807523" y="222182"/>
                  </a:cubicBezTo>
                  <a:close/>
                  <a:moveTo>
                    <a:pt x="1488076" y="98952"/>
                  </a:moveTo>
                  <a:cubicBezTo>
                    <a:pt x="1472896" y="98952"/>
                    <a:pt x="1461064" y="104812"/>
                    <a:pt x="1452581" y="116532"/>
                  </a:cubicBezTo>
                  <a:cubicBezTo>
                    <a:pt x="1444098" y="128253"/>
                    <a:pt x="1439856" y="145610"/>
                    <a:pt x="1439856" y="168604"/>
                  </a:cubicBezTo>
                  <a:cubicBezTo>
                    <a:pt x="1439856" y="189142"/>
                    <a:pt x="1444098" y="205215"/>
                    <a:pt x="1452581" y="216824"/>
                  </a:cubicBezTo>
                  <a:cubicBezTo>
                    <a:pt x="1461064" y="228433"/>
                    <a:pt x="1472784" y="234237"/>
                    <a:pt x="1487741" y="234237"/>
                  </a:cubicBezTo>
                  <a:cubicBezTo>
                    <a:pt x="1507387" y="234237"/>
                    <a:pt x="1521730" y="225419"/>
                    <a:pt x="1530771" y="207783"/>
                  </a:cubicBezTo>
                  <a:lnTo>
                    <a:pt x="1530771" y="124569"/>
                  </a:lnTo>
                  <a:cubicBezTo>
                    <a:pt x="1521507" y="107491"/>
                    <a:pt x="1507275" y="98952"/>
                    <a:pt x="1488076" y="98952"/>
                  </a:cubicBezTo>
                  <a:close/>
                  <a:moveTo>
                    <a:pt x="1678241" y="98115"/>
                  </a:moveTo>
                  <a:cubicBezTo>
                    <a:pt x="1665740" y="98115"/>
                    <a:pt x="1655248" y="102663"/>
                    <a:pt x="1646764" y="111761"/>
                  </a:cubicBezTo>
                  <a:cubicBezTo>
                    <a:pt x="1638281" y="120858"/>
                    <a:pt x="1633035" y="133610"/>
                    <a:pt x="1631026" y="150019"/>
                  </a:cubicBezTo>
                  <a:lnTo>
                    <a:pt x="1721774" y="150019"/>
                  </a:lnTo>
                  <a:lnTo>
                    <a:pt x="1721774" y="147675"/>
                  </a:lnTo>
                  <a:cubicBezTo>
                    <a:pt x="1720881" y="131936"/>
                    <a:pt x="1716639" y="119742"/>
                    <a:pt x="1709049" y="111091"/>
                  </a:cubicBezTo>
                  <a:cubicBezTo>
                    <a:pt x="1701459" y="102440"/>
                    <a:pt x="1691190" y="98115"/>
                    <a:pt x="1678241" y="98115"/>
                  </a:cubicBezTo>
                  <a:close/>
                  <a:moveTo>
                    <a:pt x="1855700" y="76014"/>
                  </a:moveTo>
                  <a:lnTo>
                    <a:pt x="1887345" y="76014"/>
                  </a:lnTo>
                  <a:lnTo>
                    <a:pt x="1933389" y="215150"/>
                  </a:lnTo>
                  <a:lnTo>
                    <a:pt x="1978260" y="76014"/>
                  </a:lnTo>
                  <a:lnTo>
                    <a:pt x="2009905" y="76014"/>
                  </a:lnTo>
                  <a:lnTo>
                    <a:pt x="1944941" y="257175"/>
                  </a:lnTo>
                  <a:lnTo>
                    <a:pt x="1921334" y="257175"/>
                  </a:lnTo>
                  <a:close/>
                  <a:moveTo>
                    <a:pt x="1333370" y="76014"/>
                  </a:moveTo>
                  <a:lnTo>
                    <a:pt x="1364344" y="76014"/>
                  </a:lnTo>
                  <a:lnTo>
                    <a:pt x="1364344" y="257175"/>
                  </a:lnTo>
                  <a:lnTo>
                    <a:pt x="1333370" y="257175"/>
                  </a:lnTo>
                  <a:close/>
                  <a:moveTo>
                    <a:pt x="514350" y="76014"/>
                  </a:moveTo>
                  <a:lnTo>
                    <a:pt x="545157" y="76014"/>
                  </a:lnTo>
                  <a:lnTo>
                    <a:pt x="580820" y="211634"/>
                  </a:lnTo>
                  <a:lnTo>
                    <a:pt x="623013" y="76014"/>
                  </a:lnTo>
                  <a:lnTo>
                    <a:pt x="647960" y="76014"/>
                  </a:lnTo>
                  <a:lnTo>
                    <a:pt x="690990" y="214480"/>
                  </a:lnTo>
                  <a:lnTo>
                    <a:pt x="725816" y="76014"/>
                  </a:lnTo>
                  <a:lnTo>
                    <a:pt x="756791" y="76014"/>
                  </a:lnTo>
                  <a:lnTo>
                    <a:pt x="704050" y="257175"/>
                  </a:lnTo>
                  <a:lnTo>
                    <a:pt x="678935" y="257175"/>
                  </a:lnTo>
                  <a:lnTo>
                    <a:pt x="634901" y="119881"/>
                  </a:lnTo>
                  <a:lnTo>
                    <a:pt x="592038" y="257175"/>
                  </a:lnTo>
                  <a:lnTo>
                    <a:pt x="566923" y="257175"/>
                  </a:lnTo>
                  <a:close/>
                  <a:moveTo>
                    <a:pt x="257175" y="76014"/>
                  </a:moveTo>
                  <a:lnTo>
                    <a:pt x="287982" y="76014"/>
                  </a:lnTo>
                  <a:lnTo>
                    <a:pt x="323645" y="211634"/>
                  </a:lnTo>
                  <a:lnTo>
                    <a:pt x="365838" y="76014"/>
                  </a:lnTo>
                  <a:lnTo>
                    <a:pt x="390785" y="76014"/>
                  </a:lnTo>
                  <a:lnTo>
                    <a:pt x="433815" y="214480"/>
                  </a:lnTo>
                  <a:lnTo>
                    <a:pt x="468641" y="76014"/>
                  </a:lnTo>
                  <a:lnTo>
                    <a:pt x="499616" y="76014"/>
                  </a:lnTo>
                  <a:lnTo>
                    <a:pt x="446875" y="257175"/>
                  </a:lnTo>
                  <a:lnTo>
                    <a:pt x="421760" y="257175"/>
                  </a:lnTo>
                  <a:lnTo>
                    <a:pt x="377726" y="119881"/>
                  </a:lnTo>
                  <a:lnTo>
                    <a:pt x="334863" y="257175"/>
                  </a:lnTo>
                  <a:lnTo>
                    <a:pt x="309748" y="257175"/>
                  </a:lnTo>
                  <a:close/>
                  <a:moveTo>
                    <a:pt x="0" y="76014"/>
                  </a:moveTo>
                  <a:lnTo>
                    <a:pt x="30807" y="76014"/>
                  </a:lnTo>
                  <a:lnTo>
                    <a:pt x="66470" y="211634"/>
                  </a:lnTo>
                  <a:lnTo>
                    <a:pt x="108663" y="76014"/>
                  </a:lnTo>
                  <a:lnTo>
                    <a:pt x="133610" y="76014"/>
                  </a:lnTo>
                  <a:lnTo>
                    <a:pt x="176640" y="214480"/>
                  </a:lnTo>
                  <a:lnTo>
                    <a:pt x="211466" y="76014"/>
                  </a:lnTo>
                  <a:lnTo>
                    <a:pt x="242441" y="76014"/>
                  </a:lnTo>
                  <a:lnTo>
                    <a:pt x="189700" y="257175"/>
                  </a:lnTo>
                  <a:lnTo>
                    <a:pt x="164585" y="257175"/>
                  </a:lnTo>
                  <a:lnTo>
                    <a:pt x="120551" y="119881"/>
                  </a:lnTo>
                  <a:lnTo>
                    <a:pt x="77688" y="257175"/>
                  </a:lnTo>
                  <a:lnTo>
                    <a:pt x="52573" y="257175"/>
                  </a:lnTo>
                  <a:close/>
                  <a:moveTo>
                    <a:pt x="2120094" y="72666"/>
                  </a:moveTo>
                  <a:cubicBezTo>
                    <a:pt x="2158380" y="72666"/>
                    <a:pt x="2177690" y="94264"/>
                    <a:pt x="2178025" y="137461"/>
                  </a:cubicBezTo>
                  <a:lnTo>
                    <a:pt x="2178025" y="257175"/>
                  </a:lnTo>
                  <a:lnTo>
                    <a:pt x="2147050" y="257175"/>
                  </a:lnTo>
                  <a:lnTo>
                    <a:pt x="2147050" y="137294"/>
                  </a:lnTo>
                  <a:cubicBezTo>
                    <a:pt x="2146938" y="124234"/>
                    <a:pt x="2143953" y="114579"/>
                    <a:pt x="2138092" y="108328"/>
                  </a:cubicBezTo>
                  <a:cubicBezTo>
                    <a:pt x="2132232" y="102077"/>
                    <a:pt x="2123107" y="98952"/>
                    <a:pt x="2110717" y="98952"/>
                  </a:cubicBezTo>
                  <a:cubicBezTo>
                    <a:pt x="2100671" y="98952"/>
                    <a:pt x="2091853" y="101631"/>
                    <a:pt x="2084263" y="106989"/>
                  </a:cubicBezTo>
                  <a:cubicBezTo>
                    <a:pt x="2076673" y="112347"/>
                    <a:pt x="2070757" y="119379"/>
                    <a:pt x="2066515" y="128085"/>
                  </a:cubicBezTo>
                  <a:lnTo>
                    <a:pt x="2066515" y="257175"/>
                  </a:lnTo>
                  <a:lnTo>
                    <a:pt x="2035541" y="257175"/>
                  </a:lnTo>
                  <a:lnTo>
                    <a:pt x="2035541" y="76014"/>
                  </a:lnTo>
                  <a:lnTo>
                    <a:pt x="2064841" y="76014"/>
                  </a:lnTo>
                  <a:lnTo>
                    <a:pt x="2065846" y="98785"/>
                  </a:lnTo>
                  <a:cubicBezTo>
                    <a:pt x="2079687" y="81372"/>
                    <a:pt x="2097769" y="72666"/>
                    <a:pt x="2120094" y="72666"/>
                  </a:cubicBezTo>
                  <a:close/>
                  <a:moveTo>
                    <a:pt x="1678241" y="72666"/>
                  </a:moveTo>
                  <a:cubicBezTo>
                    <a:pt x="1701794" y="72666"/>
                    <a:pt x="1720099" y="80423"/>
                    <a:pt x="1733159" y="95938"/>
                  </a:cubicBezTo>
                  <a:cubicBezTo>
                    <a:pt x="1746219" y="111454"/>
                    <a:pt x="1752749" y="133666"/>
                    <a:pt x="1752749" y="162576"/>
                  </a:cubicBezTo>
                  <a:lnTo>
                    <a:pt x="1752749" y="175468"/>
                  </a:lnTo>
                  <a:lnTo>
                    <a:pt x="1630021" y="175468"/>
                  </a:lnTo>
                  <a:cubicBezTo>
                    <a:pt x="1630468" y="193328"/>
                    <a:pt x="1635686" y="207755"/>
                    <a:pt x="1645676" y="218749"/>
                  </a:cubicBezTo>
                  <a:cubicBezTo>
                    <a:pt x="1655666" y="229744"/>
                    <a:pt x="1668363" y="235241"/>
                    <a:pt x="1683767" y="235241"/>
                  </a:cubicBezTo>
                  <a:cubicBezTo>
                    <a:pt x="1694706" y="235241"/>
                    <a:pt x="1703970" y="233009"/>
                    <a:pt x="1711560" y="228544"/>
                  </a:cubicBezTo>
                  <a:cubicBezTo>
                    <a:pt x="1719151" y="224079"/>
                    <a:pt x="1725792" y="218163"/>
                    <a:pt x="1731485" y="210796"/>
                  </a:cubicBezTo>
                  <a:lnTo>
                    <a:pt x="1750405" y="225530"/>
                  </a:lnTo>
                  <a:cubicBezTo>
                    <a:pt x="1735224" y="248859"/>
                    <a:pt x="1712453" y="260524"/>
                    <a:pt x="1682092" y="260524"/>
                  </a:cubicBezTo>
                  <a:cubicBezTo>
                    <a:pt x="1657536" y="260524"/>
                    <a:pt x="1637556" y="252459"/>
                    <a:pt x="1622152" y="236330"/>
                  </a:cubicBezTo>
                  <a:cubicBezTo>
                    <a:pt x="1606748" y="220201"/>
                    <a:pt x="1599046" y="198630"/>
                    <a:pt x="1599046" y="171617"/>
                  </a:cubicBezTo>
                  <a:lnTo>
                    <a:pt x="1599046" y="165925"/>
                  </a:lnTo>
                  <a:cubicBezTo>
                    <a:pt x="1599046" y="147954"/>
                    <a:pt x="1602479" y="131908"/>
                    <a:pt x="1609343" y="117788"/>
                  </a:cubicBezTo>
                  <a:cubicBezTo>
                    <a:pt x="1616208" y="103668"/>
                    <a:pt x="1625807" y="92618"/>
                    <a:pt x="1638142" y="84637"/>
                  </a:cubicBezTo>
                  <a:cubicBezTo>
                    <a:pt x="1650476" y="76656"/>
                    <a:pt x="1663842" y="72666"/>
                    <a:pt x="1678241" y="72666"/>
                  </a:cubicBezTo>
                  <a:close/>
                  <a:moveTo>
                    <a:pt x="1129624" y="72666"/>
                  </a:moveTo>
                  <a:cubicBezTo>
                    <a:pt x="1150162" y="72666"/>
                    <a:pt x="1166822" y="77968"/>
                    <a:pt x="1179602" y="88572"/>
                  </a:cubicBezTo>
                  <a:cubicBezTo>
                    <a:pt x="1192383" y="99175"/>
                    <a:pt x="1198773" y="112737"/>
                    <a:pt x="1198773" y="129257"/>
                  </a:cubicBezTo>
                  <a:lnTo>
                    <a:pt x="1167631" y="129257"/>
                  </a:lnTo>
                  <a:cubicBezTo>
                    <a:pt x="1167631" y="120774"/>
                    <a:pt x="1164031" y="113463"/>
                    <a:pt x="1156831" y="107324"/>
                  </a:cubicBezTo>
                  <a:cubicBezTo>
                    <a:pt x="1149632" y="101185"/>
                    <a:pt x="1140563" y="98115"/>
                    <a:pt x="1129624" y="98115"/>
                  </a:cubicBezTo>
                  <a:cubicBezTo>
                    <a:pt x="1118350" y="98115"/>
                    <a:pt x="1109532" y="100571"/>
                    <a:pt x="1103170" y="105482"/>
                  </a:cubicBezTo>
                  <a:cubicBezTo>
                    <a:pt x="1096807" y="110393"/>
                    <a:pt x="1093626" y="116811"/>
                    <a:pt x="1093626" y="124737"/>
                  </a:cubicBezTo>
                  <a:cubicBezTo>
                    <a:pt x="1093626" y="132215"/>
                    <a:pt x="1096584" y="137852"/>
                    <a:pt x="1102500" y="141647"/>
                  </a:cubicBezTo>
                  <a:cubicBezTo>
                    <a:pt x="1108416" y="145442"/>
                    <a:pt x="1119104" y="149070"/>
                    <a:pt x="1134563" y="152530"/>
                  </a:cubicBezTo>
                  <a:cubicBezTo>
                    <a:pt x="1150023" y="155990"/>
                    <a:pt x="1162552" y="160120"/>
                    <a:pt x="1172151" y="164920"/>
                  </a:cubicBezTo>
                  <a:cubicBezTo>
                    <a:pt x="1181751" y="169720"/>
                    <a:pt x="1188867" y="175496"/>
                    <a:pt x="1193499" y="182249"/>
                  </a:cubicBezTo>
                  <a:cubicBezTo>
                    <a:pt x="1198131" y="189002"/>
                    <a:pt x="1200447" y="197234"/>
                    <a:pt x="1200447" y="206945"/>
                  </a:cubicBezTo>
                  <a:cubicBezTo>
                    <a:pt x="1200447" y="223131"/>
                    <a:pt x="1193973" y="236107"/>
                    <a:pt x="1181025" y="245873"/>
                  </a:cubicBezTo>
                  <a:cubicBezTo>
                    <a:pt x="1168077" y="255640"/>
                    <a:pt x="1151278" y="260524"/>
                    <a:pt x="1130628" y="260524"/>
                  </a:cubicBezTo>
                  <a:cubicBezTo>
                    <a:pt x="1116118" y="260524"/>
                    <a:pt x="1103281" y="257956"/>
                    <a:pt x="1092119" y="252822"/>
                  </a:cubicBezTo>
                  <a:cubicBezTo>
                    <a:pt x="1080957" y="247687"/>
                    <a:pt x="1072223" y="240516"/>
                    <a:pt x="1065916" y="231307"/>
                  </a:cubicBezTo>
                  <a:cubicBezTo>
                    <a:pt x="1059610" y="222098"/>
                    <a:pt x="1056456" y="212136"/>
                    <a:pt x="1056456" y="201420"/>
                  </a:cubicBezTo>
                  <a:lnTo>
                    <a:pt x="1087431" y="201420"/>
                  </a:lnTo>
                  <a:cubicBezTo>
                    <a:pt x="1087989" y="211801"/>
                    <a:pt x="1092147" y="220033"/>
                    <a:pt x="1099905" y="226116"/>
                  </a:cubicBezTo>
                  <a:cubicBezTo>
                    <a:pt x="1107662" y="232200"/>
                    <a:pt x="1117904" y="235241"/>
                    <a:pt x="1130628" y="235241"/>
                  </a:cubicBezTo>
                  <a:cubicBezTo>
                    <a:pt x="1142349" y="235241"/>
                    <a:pt x="1151753" y="232869"/>
                    <a:pt x="1158841" y="228126"/>
                  </a:cubicBezTo>
                  <a:cubicBezTo>
                    <a:pt x="1165929" y="223382"/>
                    <a:pt x="1169473" y="217047"/>
                    <a:pt x="1169473" y="209122"/>
                  </a:cubicBezTo>
                  <a:cubicBezTo>
                    <a:pt x="1169473" y="200751"/>
                    <a:pt x="1166319" y="194249"/>
                    <a:pt x="1160013" y="189616"/>
                  </a:cubicBezTo>
                  <a:cubicBezTo>
                    <a:pt x="1153706" y="184984"/>
                    <a:pt x="1142711" y="180994"/>
                    <a:pt x="1127029" y="177645"/>
                  </a:cubicBezTo>
                  <a:cubicBezTo>
                    <a:pt x="1111346" y="174296"/>
                    <a:pt x="1098900" y="170278"/>
                    <a:pt x="1089691" y="165590"/>
                  </a:cubicBezTo>
                  <a:cubicBezTo>
                    <a:pt x="1080483" y="160902"/>
                    <a:pt x="1073674" y="155321"/>
                    <a:pt x="1069265" y="148847"/>
                  </a:cubicBezTo>
                  <a:cubicBezTo>
                    <a:pt x="1064856" y="142373"/>
                    <a:pt x="1062651" y="134671"/>
                    <a:pt x="1062651" y="125741"/>
                  </a:cubicBezTo>
                  <a:cubicBezTo>
                    <a:pt x="1062651" y="110896"/>
                    <a:pt x="1068930" y="98338"/>
                    <a:pt x="1081487" y="88069"/>
                  </a:cubicBezTo>
                  <a:cubicBezTo>
                    <a:pt x="1094045" y="77800"/>
                    <a:pt x="1110090" y="72666"/>
                    <a:pt x="1129624" y="72666"/>
                  </a:cubicBezTo>
                  <a:close/>
                  <a:moveTo>
                    <a:pt x="942472" y="35831"/>
                  </a:moveTo>
                  <a:cubicBezTo>
                    <a:pt x="928855" y="35831"/>
                    <a:pt x="917916" y="41049"/>
                    <a:pt x="909656" y="51485"/>
                  </a:cubicBezTo>
                  <a:cubicBezTo>
                    <a:pt x="901396" y="61922"/>
                    <a:pt x="897266" y="75679"/>
                    <a:pt x="897266" y="92757"/>
                  </a:cubicBezTo>
                  <a:cubicBezTo>
                    <a:pt x="897266" y="109389"/>
                    <a:pt x="901256" y="123090"/>
                    <a:pt x="909237" y="133862"/>
                  </a:cubicBezTo>
                  <a:cubicBezTo>
                    <a:pt x="917218" y="144633"/>
                    <a:pt x="927906" y="150019"/>
                    <a:pt x="941300" y="150019"/>
                  </a:cubicBezTo>
                  <a:cubicBezTo>
                    <a:pt x="951681" y="150019"/>
                    <a:pt x="961253" y="146838"/>
                    <a:pt x="970015" y="140475"/>
                  </a:cubicBezTo>
                  <a:cubicBezTo>
                    <a:pt x="978777" y="134113"/>
                    <a:pt x="985168" y="126243"/>
                    <a:pt x="989186" y="116867"/>
                  </a:cubicBezTo>
                  <a:lnTo>
                    <a:pt x="989186" y="104477"/>
                  </a:lnTo>
                  <a:cubicBezTo>
                    <a:pt x="989186" y="84163"/>
                    <a:pt x="984777" y="67643"/>
                    <a:pt x="975959" y="54918"/>
                  </a:cubicBezTo>
                  <a:cubicBezTo>
                    <a:pt x="967141" y="42193"/>
                    <a:pt x="955979" y="35831"/>
                    <a:pt x="942472" y="35831"/>
                  </a:cubicBezTo>
                  <a:close/>
                  <a:moveTo>
                    <a:pt x="1349108" y="10046"/>
                  </a:moveTo>
                  <a:cubicBezTo>
                    <a:pt x="1355136" y="10046"/>
                    <a:pt x="1359712" y="11776"/>
                    <a:pt x="1362837" y="15237"/>
                  </a:cubicBezTo>
                  <a:cubicBezTo>
                    <a:pt x="1365963" y="18697"/>
                    <a:pt x="1367526" y="22938"/>
                    <a:pt x="1367526" y="27961"/>
                  </a:cubicBezTo>
                  <a:cubicBezTo>
                    <a:pt x="1367526" y="32984"/>
                    <a:pt x="1365963" y="37170"/>
                    <a:pt x="1362837" y="40519"/>
                  </a:cubicBezTo>
                  <a:cubicBezTo>
                    <a:pt x="1359712" y="43867"/>
                    <a:pt x="1355136" y="45542"/>
                    <a:pt x="1349108" y="45542"/>
                  </a:cubicBezTo>
                  <a:cubicBezTo>
                    <a:pt x="1343081" y="45542"/>
                    <a:pt x="1338532" y="43867"/>
                    <a:pt x="1335462" y="40519"/>
                  </a:cubicBezTo>
                  <a:cubicBezTo>
                    <a:pt x="1332393" y="37170"/>
                    <a:pt x="1330858" y="32984"/>
                    <a:pt x="1330858" y="27961"/>
                  </a:cubicBezTo>
                  <a:cubicBezTo>
                    <a:pt x="1330858" y="22938"/>
                    <a:pt x="1332393" y="18697"/>
                    <a:pt x="1335462" y="15237"/>
                  </a:cubicBezTo>
                  <a:cubicBezTo>
                    <a:pt x="1338532" y="11776"/>
                    <a:pt x="1343081" y="10046"/>
                    <a:pt x="1349108" y="10046"/>
                  </a:cubicBezTo>
                  <a:close/>
                  <a:moveTo>
                    <a:pt x="942305" y="10046"/>
                  </a:moveTo>
                  <a:cubicBezTo>
                    <a:pt x="966415" y="10046"/>
                    <a:pt x="985419" y="19060"/>
                    <a:pt x="999316" y="37086"/>
                  </a:cubicBezTo>
                  <a:cubicBezTo>
                    <a:pt x="1013212" y="55113"/>
                    <a:pt x="1020161" y="79698"/>
                    <a:pt x="1020161" y="110840"/>
                  </a:cubicBezTo>
                  <a:lnTo>
                    <a:pt x="1020161" y="119881"/>
                  </a:lnTo>
                  <a:cubicBezTo>
                    <a:pt x="1020161" y="167320"/>
                    <a:pt x="1010785" y="201950"/>
                    <a:pt x="992032" y="223772"/>
                  </a:cubicBezTo>
                  <a:cubicBezTo>
                    <a:pt x="973280" y="245594"/>
                    <a:pt x="944984" y="256784"/>
                    <a:pt x="907144" y="257342"/>
                  </a:cubicBezTo>
                  <a:lnTo>
                    <a:pt x="901117" y="257342"/>
                  </a:lnTo>
                  <a:lnTo>
                    <a:pt x="901117" y="231056"/>
                  </a:lnTo>
                  <a:lnTo>
                    <a:pt x="907647" y="231056"/>
                  </a:lnTo>
                  <a:cubicBezTo>
                    <a:pt x="933208" y="230611"/>
                    <a:pt x="952853" y="223956"/>
                    <a:pt x="966583" y="211089"/>
                  </a:cubicBezTo>
                  <a:cubicBezTo>
                    <a:pt x="980312" y="198223"/>
                    <a:pt x="987791" y="177866"/>
                    <a:pt x="989018" y="150019"/>
                  </a:cubicBezTo>
                  <a:cubicBezTo>
                    <a:pt x="982545" y="157721"/>
                    <a:pt x="974815" y="163916"/>
                    <a:pt x="965829" y="168604"/>
                  </a:cubicBezTo>
                  <a:cubicBezTo>
                    <a:pt x="956844" y="173292"/>
                    <a:pt x="946993" y="175636"/>
                    <a:pt x="936278" y="175636"/>
                  </a:cubicBezTo>
                  <a:cubicBezTo>
                    <a:pt x="922213" y="175636"/>
                    <a:pt x="909963" y="172176"/>
                    <a:pt x="899526" y="165255"/>
                  </a:cubicBezTo>
                  <a:cubicBezTo>
                    <a:pt x="889090" y="158335"/>
                    <a:pt x="881025" y="148596"/>
                    <a:pt x="875332" y="136038"/>
                  </a:cubicBezTo>
                  <a:cubicBezTo>
                    <a:pt x="869640" y="123481"/>
                    <a:pt x="866793" y="109612"/>
                    <a:pt x="866793" y="94431"/>
                  </a:cubicBezTo>
                  <a:cubicBezTo>
                    <a:pt x="866793" y="78135"/>
                    <a:pt x="869891" y="63457"/>
                    <a:pt x="876086" y="50397"/>
                  </a:cubicBezTo>
                  <a:cubicBezTo>
                    <a:pt x="882281" y="37338"/>
                    <a:pt x="891071" y="27347"/>
                    <a:pt x="902456" y="20427"/>
                  </a:cubicBezTo>
                  <a:cubicBezTo>
                    <a:pt x="913842" y="13506"/>
                    <a:pt x="927125" y="10046"/>
                    <a:pt x="942305" y="10046"/>
                  </a:cubicBezTo>
                  <a:close/>
                  <a:moveTo>
                    <a:pt x="1530771" y="0"/>
                  </a:moveTo>
                  <a:lnTo>
                    <a:pt x="1561746" y="0"/>
                  </a:lnTo>
                  <a:lnTo>
                    <a:pt x="1561746" y="257175"/>
                  </a:lnTo>
                  <a:lnTo>
                    <a:pt x="1533283" y="257175"/>
                  </a:lnTo>
                  <a:lnTo>
                    <a:pt x="1531776" y="237753"/>
                  </a:lnTo>
                  <a:cubicBezTo>
                    <a:pt x="1519386" y="252933"/>
                    <a:pt x="1502141" y="260524"/>
                    <a:pt x="1480040" y="260524"/>
                  </a:cubicBezTo>
                  <a:cubicBezTo>
                    <a:pt x="1459055" y="260524"/>
                    <a:pt x="1441949" y="251929"/>
                    <a:pt x="1428722" y="234739"/>
                  </a:cubicBezTo>
                  <a:cubicBezTo>
                    <a:pt x="1415495" y="217549"/>
                    <a:pt x="1408881" y="195114"/>
                    <a:pt x="1408881" y="167432"/>
                  </a:cubicBezTo>
                  <a:lnTo>
                    <a:pt x="1408881" y="165088"/>
                  </a:lnTo>
                  <a:cubicBezTo>
                    <a:pt x="1408881" y="137294"/>
                    <a:pt x="1415467" y="114942"/>
                    <a:pt x="1428638" y="98031"/>
                  </a:cubicBezTo>
                  <a:cubicBezTo>
                    <a:pt x="1441809" y="81121"/>
                    <a:pt x="1459055" y="72666"/>
                    <a:pt x="1480375" y="72666"/>
                  </a:cubicBezTo>
                  <a:cubicBezTo>
                    <a:pt x="1501583" y="72666"/>
                    <a:pt x="1518381" y="79921"/>
                    <a:pt x="1530771" y="94431"/>
                  </a:cubicBezTo>
                  <a:close/>
                  <a:moveTo>
                    <a:pt x="1247645" y="0"/>
                  </a:moveTo>
                  <a:lnTo>
                    <a:pt x="1278619" y="0"/>
                  </a:lnTo>
                  <a:lnTo>
                    <a:pt x="1278619" y="257175"/>
                  </a:lnTo>
                  <a:lnTo>
                    <a:pt x="1247645" y="257175"/>
                  </a:lnTo>
                  <a:close/>
                </a:path>
              </a:pathLst>
            </a:custGeom>
            <a:solidFill>
              <a:srgbClr val="BFBFB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700" b="0" i="0" u="none" strike="noStrike" cap="none">
                <a:solidFill>
                  <a:srgbClr val="BFBFBF"/>
                </a:solidFill>
                <a:latin typeface="Oi"/>
                <a:ea typeface="Oi"/>
                <a:cs typeface="Oi"/>
                <a:sym typeface="Oi"/>
              </a:endParaRPr>
            </a:p>
          </p:txBody>
        </p:sp>
        <p:sp>
          <p:nvSpPr>
            <p:cNvPr id="19" name="Google Shape;19;p8"/>
            <p:cNvSpPr/>
            <p:nvPr/>
          </p:nvSpPr>
          <p:spPr>
            <a:xfrm>
              <a:off x="-2202100" y="-2224223"/>
              <a:ext cx="16596200" cy="11284323"/>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Oi"/>
                <a:ea typeface="Oi"/>
                <a:cs typeface="Oi"/>
                <a:sym typeface="Oi"/>
              </a:endParaRPr>
            </a:p>
          </p:txBody>
        </p:sp>
      </p:gr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Lst>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jpg"/><Relationship Id="rId7"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16.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17.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openxmlformats.org/officeDocument/2006/relationships/image" Target="../media/image18.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4.xml"/><Relationship Id="rId5" Type="http://schemas.openxmlformats.org/officeDocument/2006/relationships/image" Target="../media/image22.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4.xml"/><Relationship Id="rId5" Type="http://schemas.openxmlformats.org/officeDocument/2006/relationships/image" Target="../media/image23.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9.xml"/><Relationship Id="rId1" Type="http://schemas.openxmlformats.org/officeDocument/2006/relationships/slideLayout" Target="../slideLayouts/slideLayout4.xml"/><Relationship Id="rId5" Type="http://schemas.openxmlformats.org/officeDocument/2006/relationships/image" Target="../media/image2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0.xml"/><Relationship Id="rId1" Type="http://schemas.openxmlformats.org/officeDocument/2006/relationships/slideLayout" Target="../slideLayouts/slideLayout4.xml"/><Relationship Id="rId5" Type="http://schemas.openxmlformats.org/officeDocument/2006/relationships/image" Target="../media/image25.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1.xml"/><Relationship Id="rId1" Type="http://schemas.openxmlformats.org/officeDocument/2006/relationships/slideLayout" Target="../slideLayouts/slideLayout4.xml"/><Relationship Id="rId5" Type="http://schemas.openxmlformats.org/officeDocument/2006/relationships/hyperlink" Target="https://www.w3schools.com/cssref/css_selectors.php" TargetMode="Externa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2.xml"/><Relationship Id="rId1" Type="http://schemas.openxmlformats.org/officeDocument/2006/relationships/slideLayout" Target="../slideLayouts/slideLayout4.xml"/><Relationship Id="rId5" Type="http://schemas.openxmlformats.org/officeDocument/2006/relationships/image" Target="../media/image26.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3.xml"/><Relationship Id="rId1" Type="http://schemas.openxmlformats.org/officeDocument/2006/relationships/slideLayout" Target="../slideLayouts/slideLayout4.xml"/><Relationship Id="rId5" Type="http://schemas.openxmlformats.org/officeDocument/2006/relationships/image" Target="../media/image27.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4.xml"/><Relationship Id="rId1" Type="http://schemas.openxmlformats.org/officeDocument/2006/relationships/slideLayout" Target="../slideLayouts/slideLayout4.xml"/><Relationship Id="rId5" Type="http://schemas.openxmlformats.org/officeDocument/2006/relationships/image" Target="../media/image28.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5.xml"/><Relationship Id="rId1" Type="http://schemas.openxmlformats.org/officeDocument/2006/relationships/slideLayout" Target="../slideLayouts/slideLayout4.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32.png"/><Relationship Id="rId2" Type="http://schemas.openxmlformats.org/officeDocument/2006/relationships/notesSlide" Target="../notesSlides/notesSlide26.xml"/><Relationship Id="rId1" Type="http://schemas.openxmlformats.org/officeDocument/2006/relationships/slideLayout" Target="../slideLayouts/slideLayout4.xml"/><Relationship Id="rId6" Type="http://schemas.openxmlformats.org/officeDocument/2006/relationships/image" Target="../media/image31.png"/><Relationship Id="rId5" Type="http://schemas.openxmlformats.org/officeDocument/2006/relationships/hyperlink" Target="https://www.w3schools.com/css/" TargetMode="Externa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7.xml"/><Relationship Id="rId1" Type="http://schemas.openxmlformats.org/officeDocument/2006/relationships/slideLayout" Target="../slideLayouts/slideLayout4.xml"/><Relationship Id="rId5" Type="http://schemas.openxmlformats.org/officeDocument/2006/relationships/image" Target="../media/image33.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pic>
        <p:nvPicPr>
          <p:cNvPr id="59" name="Google Shape;59;p1"/>
          <p:cNvPicPr preferRelativeResize="0"/>
          <p:nvPr/>
        </p:nvPicPr>
        <p:blipFill rotWithShape="1">
          <a:blip r:embed="rId3">
            <a:alphaModFix/>
          </a:blip>
          <a:srcRect/>
          <a:stretch/>
        </p:blipFill>
        <p:spPr>
          <a:xfrm>
            <a:off x="-263300" y="-147937"/>
            <a:ext cx="12192000" cy="6858000"/>
          </a:xfrm>
          <a:prstGeom prst="rect">
            <a:avLst/>
          </a:prstGeom>
          <a:noFill/>
          <a:ln>
            <a:noFill/>
          </a:ln>
        </p:spPr>
      </p:pic>
      <p:sp>
        <p:nvSpPr>
          <p:cNvPr id="61" name="Google Shape;61;p1"/>
          <p:cNvSpPr txBox="1"/>
          <p:nvPr/>
        </p:nvSpPr>
        <p:spPr>
          <a:xfrm>
            <a:off x="304800" y="1773588"/>
            <a:ext cx="4626428" cy="615553"/>
          </a:xfrm>
          <a:prstGeom prst="rect">
            <a:avLst/>
          </a:prstGeom>
          <a:noFill/>
          <a:ln>
            <a:noFill/>
          </a:ln>
        </p:spPr>
        <p:txBody>
          <a:bodyPr spcFirstLastPara="1" wrap="square" lIns="0" tIns="0" rIns="0" bIns="0" anchor="t" anchorCtr="0">
            <a:spAutoFit/>
          </a:bodyPr>
          <a:lstStyle/>
          <a:p>
            <a:pPr lvl="0"/>
            <a:r>
              <a:rPr lang="vi-VN" sz="4000" b="1" dirty="0">
                <a:solidFill>
                  <a:srgbClr val="154A8D"/>
                </a:solidFill>
                <a:latin typeface="+mj-lt"/>
              </a:rPr>
              <a:t>Lập trình Java</a:t>
            </a:r>
          </a:p>
        </p:txBody>
      </p:sp>
      <p:pic>
        <p:nvPicPr>
          <p:cNvPr id="63" name="Google Shape;63;p1"/>
          <p:cNvPicPr preferRelativeResize="0"/>
          <p:nvPr/>
        </p:nvPicPr>
        <p:blipFill rotWithShape="1">
          <a:blip r:embed="rId4">
            <a:alphaModFix/>
          </a:blip>
          <a:srcRect/>
          <a:stretch/>
        </p:blipFill>
        <p:spPr>
          <a:xfrm>
            <a:off x="4681850" y="914400"/>
            <a:ext cx="7445124" cy="5029200"/>
          </a:xfrm>
          <a:prstGeom prst="rect">
            <a:avLst/>
          </a:prstGeom>
          <a:noFill/>
          <a:ln>
            <a:noFill/>
          </a:ln>
        </p:spPr>
      </p:pic>
      <p:pic>
        <p:nvPicPr>
          <p:cNvPr id="64" name="Google Shape;64;p1"/>
          <p:cNvPicPr preferRelativeResize="0"/>
          <p:nvPr/>
        </p:nvPicPr>
        <p:blipFill rotWithShape="1">
          <a:blip r:embed="rId5">
            <a:alphaModFix/>
          </a:blip>
          <a:srcRect/>
          <a:stretch/>
        </p:blipFill>
        <p:spPr>
          <a:xfrm>
            <a:off x="304800" y="228600"/>
            <a:ext cx="1143000" cy="821245"/>
          </a:xfrm>
          <a:prstGeom prst="rect">
            <a:avLst/>
          </a:prstGeom>
          <a:noFill/>
          <a:ln>
            <a:noFill/>
          </a:ln>
        </p:spPr>
      </p:pic>
      <p:sp>
        <p:nvSpPr>
          <p:cNvPr id="10" name="object 393"/>
          <p:cNvSpPr/>
          <p:nvPr/>
        </p:nvSpPr>
        <p:spPr>
          <a:xfrm>
            <a:off x="-266700" y="4067031"/>
            <a:ext cx="2753046" cy="237641"/>
          </a:xfrm>
          <a:custGeom>
            <a:avLst/>
            <a:gdLst/>
            <a:ahLst/>
            <a:cxnLst/>
            <a:rect l="l" t="t" r="r" b="b"/>
            <a:pathLst>
              <a:path w="3429000" h="247014">
                <a:moveTo>
                  <a:pt x="3429000" y="0"/>
                </a:moveTo>
                <a:lnTo>
                  <a:pt x="0" y="0"/>
                </a:lnTo>
                <a:lnTo>
                  <a:pt x="0" y="246887"/>
                </a:lnTo>
                <a:lnTo>
                  <a:pt x="3429000" y="246887"/>
                </a:lnTo>
                <a:lnTo>
                  <a:pt x="3429000" y="0"/>
                </a:lnTo>
                <a:close/>
              </a:path>
            </a:pathLst>
          </a:custGeom>
          <a:solidFill>
            <a:srgbClr val="36365C"/>
          </a:solidFill>
        </p:spPr>
        <p:txBody>
          <a:bodyPr wrap="square" lIns="0" tIns="0" rIns="0" bIns="0" rtlCol="0"/>
          <a:lstStyle/>
          <a:p>
            <a:endParaRPr/>
          </a:p>
        </p:txBody>
      </p:sp>
      <p:sp>
        <p:nvSpPr>
          <p:cNvPr id="12" name="object 403"/>
          <p:cNvSpPr txBox="1"/>
          <p:nvPr/>
        </p:nvSpPr>
        <p:spPr>
          <a:xfrm>
            <a:off x="304800" y="4067031"/>
            <a:ext cx="2479401" cy="228268"/>
          </a:xfrm>
          <a:prstGeom prst="rect">
            <a:avLst/>
          </a:prstGeom>
        </p:spPr>
        <p:txBody>
          <a:bodyPr vert="horz" wrap="square" lIns="0" tIns="12700" rIns="0" bIns="0" rtlCol="0">
            <a:spAutoFit/>
          </a:bodyPr>
          <a:lstStyle/>
          <a:p>
            <a:pPr marL="12700">
              <a:lnSpc>
                <a:spcPct val="100000"/>
              </a:lnSpc>
              <a:spcBef>
                <a:spcPts val="100"/>
              </a:spcBef>
            </a:pPr>
            <a:r>
              <a:rPr lang="vi-VN" dirty="0" smtClean="0">
                <a:solidFill>
                  <a:schemeClr val="bg1"/>
                </a:solidFill>
                <a:latin typeface="+mn-lt"/>
                <a:cs typeface="Times New Roman"/>
              </a:rPr>
              <a:t>GV Nguyễn Đắc Kiên</a:t>
            </a:r>
            <a:endParaRPr dirty="0">
              <a:solidFill>
                <a:schemeClr val="bg1"/>
              </a:solidFill>
              <a:latin typeface="+mn-lt"/>
              <a:cs typeface="Times New Roman"/>
            </a:endParaRPr>
          </a:p>
        </p:txBody>
      </p:sp>
      <p:sp>
        <p:nvSpPr>
          <p:cNvPr id="8" name="Google Shape;61;p1"/>
          <p:cNvSpPr txBox="1"/>
          <p:nvPr/>
        </p:nvSpPr>
        <p:spPr>
          <a:xfrm>
            <a:off x="1270884" y="2612533"/>
            <a:ext cx="4626428" cy="615553"/>
          </a:xfrm>
          <a:prstGeom prst="rect">
            <a:avLst/>
          </a:prstGeom>
          <a:noFill/>
          <a:ln>
            <a:noFill/>
          </a:ln>
        </p:spPr>
        <p:txBody>
          <a:bodyPr spcFirstLastPara="1" wrap="square" lIns="0" tIns="0" rIns="0" bIns="0" anchor="t" anchorCtr="0">
            <a:spAutoFit/>
          </a:bodyPr>
          <a:lstStyle/>
          <a:p>
            <a:pPr lvl="0"/>
            <a:r>
              <a:rPr lang="en-US" sz="4000" b="1" dirty="0" smtClean="0">
                <a:solidFill>
                  <a:srgbClr val="154A8D"/>
                </a:solidFill>
                <a:latin typeface="Times New Roman" panose="02020603050405020304" pitchFamily="18" charset="0"/>
                <a:cs typeface="Times New Roman" panose="02020603050405020304" pitchFamily="18" charset="0"/>
              </a:rPr>
              <a:t>HTML, CSS</a:t>
            </a:r>
            <a:endParaRPr lang="vi-VN" sz="4000" b="1" dirty="0">
              <a:solidFill>
                <a:srgbClr val="154A8D"/>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2489889"/>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err="1" smtClean="0">
                <a:latin typeface="Times New Roman" panose="02020603050405020304" pitchFamily="18" charset="0"/>
                <a:cs typeface="Times New Roman" panose="02020603050405020304" pitchFamily="18" charset="0"/>
              </a:rPr>
              <a:t>Nội</a:t>
            </a:r>
            <a:r>
              <a:rPr lang="en-US" sz="2800" b="1" dirty="0" smtClean="0">
                <a:latin typeface="Times New Roman" panose="02020603050405020304" pitchFamily="18" charset="0"/>
                <a:cs typeface="Times New Roman" panose="02020603050405020304" pitchFamily="18" charset="0"/>
              </a:rPr>
              <a:t> dung</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4563920"/>
          </a:xfrm>
        </p:spPr>
        <p:txBody>
          <a:bodyPr>
            <a:normAutofit/>
          </a:bodyPr>
          <a:lstStyle/>
          <a:p>
            <a:pPr marL="571500" indent="-457200">
              <a:buFont typeface="+mj-lt"/>
              <a:buAutoNum type="arabicPeriod"/>
            </a:pPr>
            <a:r>
              <a:rPr lang="en-US" sz="2400" dirty="0" smtClean="0">
                <a:latin typeface="Times New Roman" panose="02020603050405020304" pitchFamily="18" charset="0"/>
                <a:cs typeface="Times New Roman" panose="02020603050405020304" pitchFamily="18" charset="0"/>
              </a:rPr>
              <a:t>Font end</a:t>
            </a:r>
          </a:p>
          <a:p>
            <a:pPr marL="571500" indent="-457200">
              <a:buFont typeface="+mj-lt"/>
              <a:buAutoNum type="arabicPeriod"/>
            </a:pPr>
            <a:r>
              <a:rPr lang="en-US" sz="2400" dirty="0" smtClean="0">
                <a:latin typeface="Times New Roman" panose="02020603050405020304" pitchFamily="18" charset="0"/>
                <a:cs typeface="Times New Roman" panose="02020603050405020304" pitchFamily="18" charset="0"/>
              </a:rPr>
              <a:t>HTML</a:t>
            </a:r>
          </a:p>
          <a:p>
            <a:pPr marL="571500" indent="-457200">
              <a:buFont typeface="+mj-lt"/>
              <a:buAutoNum type="arabicPeriod"/>
            </a:pPr>
            <a:r>
              <a:rPr lang="en-US" sz="2400" dirty="0" smtClean="0">
                <a:latin typeface="Times New Roman" panose="02020603050405020304" pitchFamily="18" charset="0"/>
                <a:cs typeface="Times New Roman" panose="02020603050405020304" pitchFamily="18" charset="0"/>
              </a:rPr>
              <a:t>CSS</a:t>
            </a:r>
          </a:p>
          <a:p>
            <a:pPr marL="571500" indent="-457200">
              <a:buFont typeface="+mj-lt"/>
              <a:buAutoNum type="arabicPeriod"/>
            </a:pPr>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spTree>
    <p:extLst>
      <p:ext uri="{BB962C8B-B14F-4D97-AF65-F5344CB8AC3E}">
        <p14:creationId xmlns:p14="http://schemas.microsoft.com/office/powerpoint/2010/main" val="1093093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a:latin typeface="Times New Roman" panose="02020603050405020304" pitchFamily="18" charset="0"/>
                <a:cs typeface="Times New Roman" panose="02020603050405020304" pitchFamily="18" charset="0"/>
              </a:rPr>
              <a:t>1. Front-end</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4563920"/>
          </a:xfrm>
        </p:spPr>
        <p:txBody>
          <a:bodyPr>
            <a:normAutofit/>
          </a:bodyPr>
          <a:lstStyle/>
          <a:p>
            <a:r>
              <a:rPr lang="vi-VN" sz="2400" dirty="0">
                <a:latin typeface="Times New Roman" panose="02020603050405020304" pitchFamily="18" charset="0"/>
                <a:cs typeface="Times New Roman" panose="02020603050405020304" pitchFamily="18" charset="0"/>
              </a:rPr>
              <a:t>Front-end là phần giao diện người dùng (UI) của một trang web hoặc ứng dụng, là những gì người dùng có thể nhìn thấy và tương tác trực tiếp. Nó bao gồm tất cả những yếu tố mà người dùng thấy và sử dụng khi truy cập vào một trang web như màu sắc, hình ảnh, bố cục, phông chữ, nút, menu, và các yếu tố đồ họa khác</a:t>
            </a:r>
            <a:r>
              <a:rPr lang="vi-VN"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r>
              <a:rPr lang="en-US" sz="2400" dirty="0" err="1" smtClean="0">
                <a:latin typeface="Times New Roman" panose="02020603050405020304" pitchFamily="18" charset="0"/>
                <a:cs typeface="Times New Roman" panose="02020603050405020304" pitchFamily="18" charset="0"/>
              </a:rPr>
              <a:t>Ví</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dụ</a:t>
            </a:r>
            <a:r>
              <a:rPr lang="en-US" sz="2400" dirty="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về</a:t>
            </a:r>
            <a:r>
              <a:rPr lang="en-US" sz="2400" dirty="0" smtClean="0">
                <a:latin typeface="Times New Roman" panose="02020603050405020304" pitchFamily="18" charset="0"/>
                <a:cs typeface="Times New Roman" panose="02020603050405020304" pitchFamily="18" charset="0"/>
              </a:rPr>
              <a:t> font-end </a:t>
            </a:r>
            <a:r>
              <a:rPr lang="en-US" sz="2400" dirty="0" err="1" smtClean="0">
                <a:latin typeface="Times New Roman" panose="02020603050405020304" pitchFamily="18" charset="0"/>
                <a:cs typeface="Times New Roman" panose="02020603050405020304" pitchFamily="18" charset="0"/>
              </a:rPr>
              <a:t>của</a:t>
            </a:r>
            <a:r>
              <a:rPr lang="en-US" sz="2400" dirty="0" smtClean="0">
                <a:latin typeface="Times New Roman" panose="02020603050405020304" pitchFamily="18" charset="0"/>
                <a:cs typeface="Times New Roman" panose="02020603050405020304" pitchFamily="18" charset="0"/>
              </a:rPr>
              <a:t> 1 </a:t>
            </a:r>
            <a:r>
              <a:rPr lang="en-US" sz="2400" dirty="0" err="1" smtClean="0">
                <a:latin typeface="Times New Roman" panose="02020603050405020304" pitchFamily="18" charset="0"/>
                <a:cs typeface="Times New Roman" panose="02020603050405020304" pitchFamily="18" charset="0"/>
              </a:rPr>
              <a:t>trang</a:t>
            </a:r>
            <a:r>
              <a:rPr lang="en-US" sz="2400" dirty="0" smtClean="0">
                <a:latin typeface="Times New Roman" panose="02020603050405020304" pitchFamily="18" charset="0"/>
                <a:cs typeface="Times New Roman" panose="02020603050405020304" pitchFamily="18" charset="0"/>
              </a:rPr>
              <a:t> web:</a:t>
            </a:r>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pic>
        <p:nvPicPr>
          <p:cNvPr id="2" name="Picture 1"/>
          <p:cNvPicPr>
            <a:picLocks noChangeAspect="1"/>
          </p:cNvPicPr>
          <p:nvPr/>
        </p:nvPicPr>
        <p:blipFill>
          <a:blip r:embed="rId5"/>
          <a:stretch>
            <a:fillRect/>
          </a:stretch>
        </p:blipFill>
        <p:spPr>
          <a:xfrm>
            <a:off x="2945650" y="3894220"/>
            <a:ext cx="5202433" cy="2623261"/>
          </a:xfrm>
          <a:prstGeom prst="rect">
            <a:avLst/>
          </a:prstGeom>
        </p:spPr>
      </p:pic>
    </p:spTree>
    <p:extLst>
      <p:ext uri="{BB962C8B-B14F-4D97-AF65-F5344CB8AC3E}">
        <p14:creationId xmlns:p14="http://schemas.microsoft.com/office/powerpoint/2010/main" val="3640318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a:latin typeface="Times New Roman" panose="02020603050405020304" pitchFamily="18" charset="0"/>
                <a:cs typeface="Times New Roman" panose="02020603050405020304" pitchFamily="18" charset="0"/>
              </a:rPr>
              <a:t>1. Front-end</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6438900" cy="4563920"/>
          </a:xfrm>
        </p:spPr>
        <p:txBody>
          <a:bodyPr>
            <a:normAutofit/>
          </a:bodyPr>
          <a:lstStyle/>
          <a:p>
            <a:pPr marL="114300" indent="0">
              <a:buNone/>
            </a:pPr>
            <a:r>
              <a:rPr lang="vi-VN" sz="2400" dirty="0">
                <a:latin typeface="Times New Roman" panose="02020603050405020304" pitchFamily="18" charset="0"/>
                <a:cs typeface="Times New Roman" panose="02020603050405020304" pitchFamily="18" charset="0"/>
              </a:rPr>
              <a:t>Front-end được xây dựng chủ yếu bằng ba công nghệ chính</a:t>
            </a:r>
            <a:r>
              <a:rPr lang="vi-VN"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pPr marL="1028700" lvl="1" indent="-457200">
              <a:buFont typeface="+mj-lt"/>
              <a:buAutoNum type="arabicPeriod"/>
            </a:pPr>
            <a:r>
              <a:rPr lang="vi-VN" sz="2000" b="1" dirty="0">
                <a:latin typeface="Times New Roman" panose="02020603050405020304" pitchFamily="18" charset="0"/>
                <a:cs typeface="Times New Roman" panose="02020603050405020304" pitchFamily="18" charset="0"/>
              </a:rPr>
              <a:t>HTML (HyperText Markup Language): </a:t>
            </a:r>
            <a:r>
              <a:rPr lang="vi-VN" sz="2000" dirty="0">
                <a:latin typeface="Times New Roman" panose="02020603050405020304" pitchFamily="18" charset="0"/>
                <a:cs typeface="Times New Roman" panose="02020603050405020304" pitchFamily="18" charset="0"/>
              </a:rPr>
              <a:t>Được sử dụng để tạo cấu trúc của trang web (ví dụ như tiêu đề, đoạn văn, bảng, danh sách, hình ảnh</a:t>
            </a:r>
            <a:r>
              <a:rPr lang="vi-VN"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marL="1028700" lvl="1" indent="-457200">
              <a:buFont typeface="+mj-lt"/>
              <a:buAutoNum type="arabicPeriod"/>
            </a:pPr>
            <a:r>
              <a:rPr lang="vi-VN" sz="2000" b="1" dirty="0" smtClean="0">
                <a:latin typeface="Times New Roman" panose="02020603050405020304" pitchFamily="18" charset="0"/>
                <a:cs typeface="Times New Roman" panose="02020603050405020304" pitchFamily="18" charset="0"/>
              </a:rPr>
              <a:t>CSS </a:t>
            </a:r>
            <a:r>
              <a:rPr lang="vi-VN" sz="2000" b="1" dirty="0">
                <a:latin typeface="Times New Roman" panose="02020603050405020304" pitchFamily="18" charset="0"/>
                <a:cs typeface="Times New Roman" panose="02020603050405020304" pitchFamily="18" charset="0"/>
              </a:rPr>
              <a:t>(Cascading Style Sheets): </a:t>
            </a:r>
            <a:r>
              <a:rPr lang="vi-VN" sz="2000" dirty="0">
                <a:latin typeface="Times New Roman" panose="02020603050405020304" pitchFamily="18" charset="0"/>
                <a:cs typeface="Times New Roman" panose="02020603050405020304" pitchFamily="18" charset="0"/>
              </a:rPr>
              <a:t>Được sử dụng để thiết kế và định dạng giao diện của trang web (ví dụ như màu sắc, font chữ, khoảng cách giữa các phần tử</a:t>
            </a:r>
            <a:r>
              <a:rPr lang="vi-VN"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pPr marL="1028700" lvl="1" indent="-457200">
              <a:buFont typeface="+mj-lt"/>
              <a:buAutoNum type="arabicPeriod"/>
            </a:pPr>
            <a:r>
              <a:rPr lang="vi-VN" sz="2000" b="1" dirty="0" smtClean="0">
                <a:latin typeface="Times New Roman" panose="02020603050405020304" pitchFamily="18" charset="0"/>
                <a:cs typeface="Times New Roman" panose="02020603050405020304" pitchFamily="18" charset="0"/>
              </a:rPr>
              <a:t>JavaScript</a:t>
            </a:r>
            <a:r>
              <a:rPr lang="vi-VN" sz="2000" b="1" dirty="0">
                <a:latin typeface="Times New Roman" panose="02020603050405020304" pitchFamily="18" charset="0"/>
                <a:cs typeface="Times New Roman" panose="02020603050405020304" pitchFamily="18" charset="0"/>
              </a:rPr>
              <a:t>: </a:t>
            </a:r>
            <a:r>
              <a:rPr lang="vi-VN" sz="2000" dirty="0">
                <a:latin typeface="Times New Roman" panose="02020603050405020304" pitchFamily="18" charset="0"/>
                <a:cs typeface="Times New Roman" panose="02020603050405020304" pitchFamily="18" charset="0"/>
              </a:rPr>
              <a:t>Được sử dụng để tạo các tương tác động, như hiệu ứng, validation form, và xử lý các sự kiện người dùng (ví dụ như nhấn nút, kéo thả, thay đổi nội dung mà không cần tải lại trang).</a:t>
            </a:r>
            <a:endParaRPr lang="en-US" sz="20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pic>
        <p:nvPicPr>
          <p:cNvPr id="2" name="Picture 1"/>
          <p:cNvPicPr>
            <a:picLocks noChangeAspect="1"/>
          </p:cNvPicPr>
          <p:nvPr/>
        </p:nvPicPr>
        <p:blipFill>
          <a:blip r:embed="rId5"/>
          <a:stretch>
            <a:fillRect/>
          </a:stretch>
        </p:blipFill>
        <p:spPr>
          <a:xfrm>
            <a:off x="7277100" y="1613043"/>
            <a:ext cx="4232045" cy="4289820"/>
          </a:xfrm>
          <a:prstGeom prst="rect">
            <a:avLst/>
          </a:prstGeom>
        </p:spPr>
      </p:pic>
    </p:spTree>
    <p:extLst>
      <p:ext uri="{BB962C8B-B14F-4D97-AF65-F5344CB8AC3E}">
        <p14:creationId xmlns:p14="http://schemas.microsoft.com/office/powerpoint/2010/main" val="226976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smtClean="0">
                <a:latin typeface="Times New Roman" panose="02020603050405020304" pitchFamily="18" charset="0"/>
                <a:cs typeface="Times New Roman" panose="02020603050405020304" pitchFamily="18" charset="0"/>
              </a:rPr>
              <a:t>2. HTML</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4563920"/>
          </a:xfrm>
        </p:spPr>
        <p:txBody>
          <a:bodyPr>
            <a:normAutofit/>
          </a:bodyPr>
          <a:lstStyle/>
          <a:p>
            <a:pPr marL="571500" indent="-457200">
              <a:buFont typeface="+mj-lt"/>
              <a:buAutoNum type="arabicPeriod"/>
            </a:pPr>
            <a:r>
              <a:rPr lang="en-US" sz="2400" dirty="0" err="1" smtClean="0">
                <a:latin typeface="Times New Roman" panose="02020603050405020304" pitchFamily="18" charset="0"/>
                <a:cs typeface="Times New Roman" panose="02020603050405020304" pitchFamily="18" charset="0"/>
              </a:rPr>
              <a:t>Định</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nghĩa</a:t>
            </a:r>
            <a:endParaRPr lang="en-US" sz="2400" dirty="0" smtClean="0">
              <a:latin typeface="Times New Roman" panose="02020603050405020304" pitchFamily="18" charset="0"/>
              <a:cs typeface="Times New Roman" panose="02020603050405020304" pitchFamily="18" charset="0"/>
            </a:endParaRPr>
          </a:p>
          <a:p>
            <a:pPr marL="571500" indent="-457200">
              <a:buFont typeface="+mj-lt"/>
              <a:buAutoNum type="arabicPeriod"/>
            </a:pPr>
            <a:r>
              <a:rPr lang="en-US" sz="2400" dirty="0" err="1" smtClean="0">
                <a:latin typeface="Times New Roman" panose="02020603050405020304" pitchFamily="18" charset="0"/>
                <a:cs typeface="Times New Roman" panose="02020603050405020304" pitchFamily="18" charset="0"/>
              </a:rPr>
              <a:t>Thuộc</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tính</a:t>
            </a:r>
            <a:endParaRPr lang="en-US" sz="2400" dirty="0" smtClean="0">
              <a:latin typeface="Times New Roman" panose="02020603050405020304" pitchFamily="18" charset="0"/>
              <a:cs typeface="Times New Roman" panose="02020603050405020304" pitchFamily="18" charset="0"/>
            </a:endParaRPr>
          </a:p>
          <a:p>
            <a:pPr marL="571500" indent="-457200">
              <a:buFont typeface="+mj-lt"/>
              <a:buAutoNum type="arabicPeriod"/>
            </a:pPr>
            <a:r>
              <a:rPr lang="en-US" sz="2400" dirty="0" err="1" smtClean="0">
                <a:latin typeface="Times New Roman" panose="02020603050405020304" pitchFamily="18" charset="0"/>
                <a:cs typeface="Times New Roman" panose="02020603050405020304" pitchFamily="18" charset="0"/>
              </a:rPr>
              <a:t>Các</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thuộc</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tính</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cơ</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bản</a:t>
            </a:r>
            <a:endParaRPr lang="en-US" sz="2400" dirty="0" smtClean="0">
              <a:latin typeface="Times New Roman" panose="02020603050405020304" pitchFamily="18" charset="0"/>
              <a:cs typeface="Times New Roman" panose="02020603050405020304" pitchFamily="18" charset="0"/>
            </a:endParaRPr>
          </a:p>
          <a:p>
            <a:pPr marL="571500" indent="-457200">
              <a:buFont typeface="+mj-lt"/>
              <a:buAutoNum type="arabicPeriod"/>
            </a:pPr>
            <a:r>
              <a:rPr lang="en-US" sz="2400" dirty="0" err="1" smtClean="0">
                <a:latin typeface="Times New Roman" panose="02020603050405020304" pitchFamily="18" charset="0"/>
                <a:cs typeface="Times New Roman" panose="02020603050405020304" pitchFamily="18" charset="0"/>
              </a:rPr>
              <a:t>Các</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thẻ</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phổ</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biến</a:t>
            </a:r>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spTree>
    <p:extLst>
      <p:ext uri="{BB962C8B-B14F-4D97-AF65-F5344CB8AC3E}">
        <p14:creationId xmlns:p14="http://schemas.microsoft.com/office/powerpoint/2010/main" val="56622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smtClean="0">
                <a:latin typeface="Times New Roman" panose="02020603050405020304" pitchFamily="18" charset="0"/>
                <a:cs typeface="Times New Roman" panose="02020603050405020304" pitchFamily="18" charset="0"/>
              </a:rPr>
              <a:t>2.1 </a:t>
            </a:r>
            <a:r>
              <a:rPr lang="en-US" sz="2800" b="1" dirty="0" err="1" smtClean="0">
                <a:latin typeface="Times New Roman" panose="02020603050405020304" pitchFamily="18" charset="0"/>
                <a:cs typeface="Times New Roman" panose="02020603050405020304" pitchFamily="18" charset="0"/>
              </a:rPr>
              <a:t>Định</a:t>
            </a:r>
            <a:r>
              <a:rPr lang="en-US" sz="2800" b="1" dirty="0" smtClean="0">
                <a:latin typeface="Times New Roman" panose="02020603050405020304" pitchFamily="18" charset="0"/>
                <a:cs typeface="Times New Roman" panose="02020603050405020304" pitchFamily="18" charset="0"/>
              </a:rPr>
              <a:t> </a:t>
            </a:r>
            <a:r>
              <a:rPr lang="en-US" sz="2800" b="1" dirty="0" err="1" smtClean="0">
                <a:latin typeface="Times New Roman" panose="02020603050405020304" pitchFamily="18" charset="0"/>
                <a:cs typeface="Times New Roman" panose="02020603050405020304" pitchFamily="18" charset="0"/>
              </a:rPr>
              <a:t>nghĩa</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4563920"/>
          </a:xfrm>
        </p:spPr>
        <p:txBody>
          <a:bodyPr>
            <a:normAutofit/>
          </a:bodyPr>
          <a:lstStyle/>
          <a:p>
            <a:r>
              <a:rPr lang="vi-VN" sz="2400" dirty="0">
                <a:latin typeface="Times New Roman" panose="02020603050405020304" pitchFamily="18" charset="0"/>
                <a:cs typeface="Times New Roman" panose="02020603050405020304" pitchFamily="18" charset="0"/>
              </a:rPr>
              <a:t>HTML (HyperText Markup Language) là ngôn ngữ đánh dấu siêu văn bản, được sử dụng để xây dựng cấu trúc cơ bản của các trang web. HTML không phải là một ngôn ngữ lập trình mà là một ngôn ngữ đánh dấu, giúp định nghĩa cách các phần tử trên trang web (chẳng hạn như văn bản, hình ảnh, video, liên kết, bảng biểu...) được hiển thị</a:t>
            </a:r>
            <a:r>
              <a:rPr lang="vi-VN"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r>
              <a:rPr lang="vi-VN" sz="2400" dirty="0">
                <a:latin typeface="Times New Roman" panose="02020603050405020304" pitchFamily="18" charset="0"/>
                <a:cs typeface="Times New Roman" panose="02020603050405020304" pitchFamily="18" charset="0"/>
              </a:rPr>
              <a:t>HTML sử dụng các thẻ (tags) để đánh dấu các phần tử. Mỗi thẻ có thể bao gồm nội dung và thuộc tính, giúp xác định rõ các yếu tố như tiêu đề, đoạn văn, hình ảnh, liên kết, và nhiều thành phần khác.</a:t>
            </a:r>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spTree>
    <p:extLst>
      <p:ext uri="{BB962C8B-B14F-4D97-AF65-F5344CB8AC3E}">
        <p14:creationId xmlns:p14="http://schemas.microsoft.com/office/powerpoint/2010/main" val="4250415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a:latin typeface="Times New Roman" panose="02020603050405020304" pitchFamily="18" charset="0"/>
                <a:cs typeface="Times New Roman" panose="02020603050405020304" pitchFamily="18" charset="0"/>
              </a:rPr>
              <a:t>2.1 </a:t>
            </a:r>
            <a:r>
              <a:rPr lang="en-US" sz="2800" b="1" dirty="0" err="1">
                <a:latin typeface="Times New Roman" panose="02020603050405020304" pitchFamily="18" charset="0"/>
                <a:cs typeface="Times New Roman" panose="02020603050405020304" pitchFamily="18" charset="0"/>
              </a:rPr>
              <a:t>Định</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nghĩa</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4730254" cy="4563920"/>
          </a:xfrm>
        </p:spPr>
        <p:txBody>
          <a:bodyPr>
            <a:normAutofit fontScale="92500" lnSpcReduction="10000"/>
          </a:bodyPr>
          <a:lstStyle/>
          <a:p>
            <a:r>
              <a:rPr lang="en-US" sz="2400" dirty="0" err="1" smtClean="0">
                <a:latin typeface="Times New Roman" panose="02020603050405020304" pitchFamily="18" charset="0"/>
                <a:cs typeface="Times New Roman" panose="02020603050405020304" pitchFamily="18" charset="0"/>
              </a:rPr>
              <a:t>Ví</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dụ</a:t>
            </a:r>
            <a:r>
              <a:rPr lang="en-US" sz="2400" dirty="0" smtClean="0">
                <a:latin typeface="Times New Roman" panose="02020603050405020304" pitchFamily="18" charset="0"/>
                <a:cs typeface="Times New Roman" panose="02020603050405020304" pitchFamily="18" charset="0"/>
              </a:rPr>
              <a:t>:</a:t>
            </a:r>
          </a:p>
          <a:p>
            <a:pPr lvl="1">
              <a:buFont typeface="Wingdings" panose="05000000000000000000" pitchFamily="2" charset="2"/>
              <a:buChar char="q"/>
            </a:pPr>
            <a:r>
              <a:rPr lang="vi-VN" sz="2000" b="1" dirty="0">
                <a:latin typeface="Times New Roman" panose="02020603050405020304" pitchFamily="18" charset="0"/>
                <a:cs typeface="Times New Roman" panose="02020603050405020304" pitchFamily="18" charset="0"/>
              </a:rPr>
              <a:t>&lt;html&gt;: </a:t>
            </a:r>
            <a:r>
              <a:rPr lang="vi-VN" sz="2000" dirty="0">
                <a:latin typeface="Times New Roman" panose="02020603050405020304" pitchFamily="18" charset="0"/>
                <a:cs typeface="Times New Roman" panose="02020603050405020304" pitchFamily="18" charset="0"/>
              </a:rPr>
              <a:t>Thẻ chứa toàn bộ nội dung của trang web</a:t>
            </a:r>
            <a:r>
              <a:rPr lang="vi-VN"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q"/>
            </a:pPr>
            <a:r>
              <a:rPr lang="vi-VN" sz="2000" b="1" dirty="0" smtClean="0">
                <a:latin typeface="Times New Roman" panose="02020603050405020304" pitchFamily="18" charset="0"/>
                <a:cs typeface="Times New Roman" panose="02020603050405020304" pitchFamily="18" charset="0"/>
              </a:rPr>
              <a:t>&lt;</a:t>
            </a:r>
            <a:r>
              <a:rPr lang="vi-VN" sz="2000" b="1" dirty="0">
                <a:latin typeface="Times New Roman" panose="02020603050405020304" pitchFamily="18" charset="0"/>
                <a:cs typeface="Times New Roman" panose="02020603050405020304" pitchFamily="18" charset="0"/>
              </a:rPr>
              <a:t>head&gt;: </a:t>
            </a:r>
            <a:r>
              <a:rPr lang="vi-VN" sz="2000" dirty="0">
                <a:latin typeface="Times New Roman" panose="02020603050405020304" pitchFamily="18" charset="0"/>
                <a:cs typeface="Times New Roman" panose="02020603050405020304" pitchFamily="18" charset="0"/>
              </a:rPr>
              <a:t>Phần đầu trang, chứa các thông tin như tiêu đề và các liên kết đến tài nguyên bên ngoài</a:t>
            </a:r>
            <a:r>
              <a:rPr lang="vi-VN"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q"/>
            </a:pPr>
            <a:r>
              <a:rPr lang="vi-VN" sz="2000" b="1" dirty="0" smtClean="0">
                <a:latin typeface="Times New Roman" panose="02020603050405020304" pitchFamily="18" charset="0"/>
                <a:cs typeface="Times New Roman" panose="02020603050405020304" pitchFamily="18" charset="0"/>
              </a:rPr>
              <a:t>&lt;</a:t>
            </a:r>
            <a:r>
              <a:rPr lang="vi-VN" sz="2000" b="1" dirty="0">
                <a:latin typeface="Times New Roman" panose="02020603050405020304" pitchFamily="18" charset="0"/>
                <a:cs typeface="Times New Roman" panose="02020603050405020304" pitchFamily="18" charset="0"/>
              </a:rPr>
              <a:t>title&gt;: </a:t>
            </a:r>
            <a:r>
              <a:rPr lang="vi-VN" sz="2000" dirty="0">
                <a:latin typeface="Times New Roman" panose="02020603050405020304" pitchFamily="18" charset="0"/>
                <a:cs typeface="Times New Roman" panose="02020603050405020304" pitchFamily="18" charset="0"/>
              </a:rPr>
              <a:t>Tiêu đề của trang web, hiển thị trên thanh tab của trình duyệt</a:t>
            </a:r>
            <a:r>
              <a:rPr lang="vi-VN"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q"/>
            </a:pPr>
            <a:r>
              <a:rPr lang="vi-VN" sz="2000" b="1" dirty="0" smtClean="0">
                <a:latin typeface="Times New Roman" panose="02020603050405020304" pitchFamily="18" charset="0"/>
                <a:cs typeface="Times New Roman" panose="02020603050405020304" pitchFamily="18" charset="0"/>
              </a:rPr>
              <a:t>&lt;</a:t>
            </a:r>
            <a:r>
              <a:rPr lang="vi-VN" sz="2000" b="1" dirty="0">
                <a:latin typeface="Times New Roman" panose="02020603050405020304" pitchFamily="18" charset="0"/>
                <a:cs typeface="Times New Roman" panose="02020603050405020304" pitchFamily="18" charset="0"/>
              </a:rPr>
              <a:t>body&gt;: </a:t>
            </a:r>
            <a:r>
              <a:rPr lang="vi-VN" sz="2000" dirty="0">
                <a:latin typeface="Times New Roman" panose="02020603050405020304" pitchFamily="18" charset="0"/>
                <a:cs typeface="Times New Roman" panose="02020603050405020304" pitchFamily="18" charset="0"/>
              </a:rPr>
              <a:t>Phần thân trang, nơi hiển thị các nội dung chính</a:t>
            </a:r>
            <a:r>
              <a:rPr lang="vi-VN"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q"/>
            </a:pPr>
            <a:r>
              <a:rPr lang="vi-VN" sz="2000" b="1" dirty="0" smtClean="0">
                <a:latin typeface="Times New Roman" panose="02020603050405020304" pitchFamily="18" charset="0"/>
                <a:cs typeface="Times New Roman" panose="02020603050405020304" pitchFamily="18" charset="0"/>
              </a:rPr>
              <a:t>&lt;</a:t>
            </a:r>
            <a:r>
              <a:rPr lang="vi-VN" sz="2000" b="1" dirty="0">
                <a:latin typeface="Times New Roman" panose="02020603050405020304" pitchFamily="18" charset="0"/>
                <a:cs typeface="Times New Roman" panose="02020603050405020304" pitchFamily="18" charset="0"/>
              </a:rPr>
              <a:t>h1&gt;: </a:t>
            </a:r>
            <a:r>
              <a:rPr lang="vi-VN" sz="2000" dirty="0">
                <a:latin typeface="Times New Roman" panose="02020603050405020304" pitchFamily="18" charset="0"/>
                <a:cs typeface="Times New Roman" panose="02020603050405020304" pitchFamily="18" charset="0"/>
              </a:rPr>
              <a:t>Thẻ tiêu đề, thường dùng để thể hiện tiêu đề lớn nhất</a:t>
            </a:r>
            <a:r>
              <a:rPr lang="vi-VN"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q"/>
            </a:pPr>
            <a:r>
              <a:rPr lang="vi-VN" sz="2000" b="1" dirty="0" smtClean="0">
                <a:latin typeface="Times New Roman" panose="02020603050405020304" pitchFamily="18" charset="0"/>
                <a:cs typeface="Times New Roman" panose="02020603050405020304" pitchFamily="18" charset="0"/>
              </a:rPr>
              <a:t>&lt;</a:t>
            </a:r>
            <a:r>
              <a:rPr lang="vi-VN" sz="2000" b="1" dirty="0">
                <a:latin typeface="Times New Roman" panose="02020603050405020304" pitchFamily="18" charset="0"/>
                <a:cs typeface="Times New Roman" panose="02020603050405020304" pitchFamily="18" charset="0"/>
              </a:rPr>
              <a:t>p&gt;: </a:t>
            </a:r>
            <a:r>
              <a:rPr lang="vi-VN" sz="2000" dirty="0">
                <a:latin typeface="Times New Roman" panose="02020603050405020304" pitchFamily="18" charset="0"/>
                <a:cs typeface="Times New Roman" panose="02020603050405020304" pitchFamily="18" charset="0"/>
              </a:rPr>
              <a:t>Thẻ đoạn văn</a:t>
            </a:r>
            <a:r>
              <a:rPr lang="vi-VN"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q"/>
            </a:pPr>
            <a:r>
              <a:rPr lang="vi-VN" sz="2000" b="1" dirty="0" smtClean="0">
                <a:latin typeface="Times New Roman" panose="02020603050405020304" pitchFamily="18" charset="0"/>
                <a:cs typeface="Times New Roman" panose="02020603050405020304" pitchFamily="18" charset="0"/>
              </a:rPr>
              <a:t>&lt;</a:t>
            </a:r>
            <a:r>
              <a:rPr lang="vi-VN" sz="2000" b="1" dirty="0">
                <a:latin typeface="Times New Roman" panose="02020603050405020304" pitchFamily="18" charset="0"/>
                <a:cs typeface="Times New Roman" panose="02020603050405020304" pitchFamily="18" charset="0"/>
              </a:rPr>
              <a:t>a&gt;: </a:t>
            </a:r>
            <a:r>
              <a:rPr lang="vi-VN" sz="2000" dirty="0">
                <a:latin typeface="Times New Roman" panose="02020603050405020304" pitchFamily="18" charset="0"/>
                <a:cs typeface="Times New Roman" panose="02020603050405020304" pitchFamily="18" charset="0"/>
              </a:rPr>
              <a:t>Thẻ liên kết, dùng để tạo các liên kết đến các trang khác.</a:t>
            </a:r>
            <a:endParaRPr lang="en-US" sz="20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pic>
        <p:nvPicPr>
          <p:cNvPr id="2" name="Picture 1"/>
          <p:cNvPicPr>
            <a:picLocks noChangeAspect="1"/>
          </p:cNvPicPr>
          <p:nvPr/>
        </p:nvPicPr>
        <p:blipFill>
          <a:blip r:embed="rId5"/>
          <a:stretch>
            <a:fillRect/>
          </a:stretch>
        </p:blipFill>
        <p:spPr>
          <a:xfrm>
            <a:off x="5568454" y="1747388"/>
            <a:ext cx="6623546" cy="3634087"/>
          </a:xfrm>
          <a:prstGeom prst="rect">
            <a:avLst/>
          </a:prstGeom>
        </p:spPr>
      </p:pic>
    </p:spTree>
    <p:extLst>
      <p:ext uri="{BB962C8B-B14F-4D97-AF65-F5344CB8AC3E}">
        <p14:creationId xmlns:p14="http://schemas.microsoft.com/office/powerpoint/2010/main" val="2821148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a:latin typeface="Times New Roman" panose="02020603050405020304" pitchFamily="18" charset="0"/>
                <a:cs typeface="Times New Roman" panose="02020603050405020304" pitchFamily="18" charset="0"/>
              </a:rPr>
              <a:t>2.2 </a:t>
            </a:r>
            <a:r>
              <a:rPr lang="en-US" sz="2800" b="1" dirty="0" err="1">
                <a:latin typeface="Times New Roman" panose="02020603050405020304" pitchFamily="18" charset="0"/>
                <a:cs typeface="Times New Roman" panose="02020603050405020304" pitchFamily="18" charset="0"/>
              </a:rPr>
              <a:t>Thuộc</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tính</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trong</a:t>
            </a:r>
            <a:r>
              <a:rPr lang="en-US" sz="2800" b="1" dirty="0">
                <a:latin typeface="Times New Roman" panose="02020603050405020304" pitchFamily="18" charset="0"/>
                <a:cs typeface="Times New Roman" panose="02020603050405020304" pitchFamily="18" charset="0"/>
              </a:rPr>
              <a:t> HTML</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4563920"/>
          </a:xfrm>
        </p:spPr>
        <p:txBody>
          <a:bodyPr>
            <a:normAutofit/>
          </a:bodyPr>
          <a:lstStyle/>
          <a:p>
            <a:r>
              <a:rPr lang="vi-VN" sz="2400" dirty="0">
                <a:latin typeface="Times New Roman" panose="02020603050405020304" pitchFamily="18" charset="0"/>
                <a:cs typeface="Times New Roman" panose="02020603050405020304" pitchFamily="18" charset="0"/>
              </a:rPr>
              <a:t>Thuộc tính trong HTML là các đặc điểm hoặc tính chất bổ sung cho các thẻ HTML, giúp định nghĩa hoặc điều chỉnh hành vi và cách thức hiển thị của các phần tử trên trang web. </a:t>
            </a:r>
            <a:endParaRPr lang="en-US" sz="2400" dirty="0" smtClean="0">
              <a:latin typeface="Times New Roman" panose="02020603050405020304" pitchFamily="18" charset="0"/>
              <a:cs typeface="Times New Roman" panose="02020603050405020304" pitchFamily="18" charset="0"/>
            </a:endParaRPr>
          </a:p>
          <a:p>
            <a:r>
              <a:rPr lang="vi-VN" sz="2400" dirty="0" smtClean="0">
                <a:latin typeface="Times New Roman" panose="02020603050405020304" pitchFamily="18" charset="0"/>
                <a:cs typeface="Times New Roman" panose="02020603050405020304" pitchFamily="18" charset="0"/>
              </a:rPr>
              <a:t>Thuộc </a:t>
            </a:r>
            <a:r>
              <a:rPr lang="vi-VN" sz="2400" dirty="0">
                <a:latin typeface="Times New Roman" panose="02020603050405020304" pitchFamily="18" charset="0"/>
                <a:cs typeface="Times New Roman" panose="02020603050405020304" pitchFamily="18" charset="0"/>
              </a:rPr>
              <a:t>tính được đặt trong dấu ngoặc đơn hoặc kép sau tên thẻ và thường bao gồm một tên thuộc tính và giá trị của thuộc tính đó</a:t>
            </a:r>
            <a:r>
              <a:rPr lang="vi-VN"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r>
              <a:rPr lang="en-US" sz="2400" dirty="0" err="1" smtClean="0">
                <a:latin typeface="Times New Roman" panose="02020603050405020304" pitchFamily="18" charset="0"/>
                <a:cs typeface="Times New Roman" panose="02020603050405020304" pitchFamily="18" charset="0"/>
              </a:rPr>
              <a:t>Ví</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dụ</a:t>
            </a:r>
            <a:r>
              <a:rPr lang="en-US" sz="2400" dirty="0" smtClean="0">
                <a:latin typeface="Times New Roman" panose="02020603050405020304" pitchFamily="18" charset="0"/>
                <a:cs typeface="Times New Roman" panose="02020603050405020304" pitchFamily="18" charset="0"/>
              </a:rPr>
              <a:t>:</a:t>
            </a:r>
          </a:p>
          <a:p>
            <a:r>
              <a:rPr lang="en-US" sz="2400" dirty="0" err="1" smtClean="0">
                <a:latin typeface="Times New Roman" panose="02020603050405020304" pitchFamily="18" charset="0"/>
                <a:cs typeface="Times New Roman" panose="02020603050405020304" pitchFamily="18" charset="0"/>
              </a:rPr>
              <a:t>Giải</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thích</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ví</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dụ</a:t>
            </a:r>
            <a:r>
              <a:rPr lang="vi-VN"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q"/>
            </a:pPr>
            <a:r>
              <a:rPr lang="vi-VN" sz="2000" b="1" dirty="0" smtClean="0">
                <a:latin typeface="Times New Roman" panose="02020603050405020304" pitchFamily="18" charset="0"/>
                <a:cs typeface="Times New Roman" panose="02020603050405020304" pitchFamily="18" charset="0"/>
              </a:rPr>
              <a:t>href </a:t>
            </a:r>
            <a:r>
              <a:rPr lang="vi-VN" sz="2000" b="1" dirty="0">
                <a:latin typeface="Times New Roman" panose="02020603050405020304" pitchFamily="18" charset="0"/>
                <a:cs typeface="Times New Roman" panose="02020603050405020304" pitchFamily="18" charset="0"/>
              </a:rPr>
              <a:t>là thuộc tính của thẻ &lt;a&gt; (thẻ liên kết), </a:t>
            </a:r>
            <a:r>
              <a:rPr lang="vi-VN" sz="2000" dirty="0">
                <a:latin typeface="Times New Roman" panose="02020603050405020304" pitchFamily="18" charset="0"/>
                <a:cs typeface="Times New Roman" panose="02020603050405020304" pitchFamily="18" charset="0"/>
              </a:rPr>
              <a:t>dùng để chỉ ra địa chỉ URL mà liên kết sẽ trỏ đến</a:t>
            </a:r>
            <a:r>
              <a:rPr lang="vi-VN"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q"/>
            </a:pPr>
            <a:r>
              <a:rPr lang="vi-VN" sz="2000" b="1" dirty="0" smtClean="0">
                <a:latin typeface="Times New Roman" panose="02020603050405020304" pitchFamily="18" charset="0"/>
                <a:cs typeface="Times New Roman" panose="02020603050405020304" pitchFamily="18" charset="0"/>
              </a:rPr>
              <a:t>"</a:t>
            </a:r>
            <a:r>
              <a:rPr lang="vi-VN" sz="2000" b="1" dirty="0">
                <a:latin typeface="Times New Roman" panose="02020603050405020304" pitchFamily="18" charset="0"/>
                <a:cs typeface="Times New Roman" panose="02020603050405020304" pitchFamily="18" charset="0"/>
              </a:rPr>
              <a:t>https://www.example.com" </a:t>
            </a:r>
            <a:r>
              <a:rPr lang="vi-VN" sz="2000" dirty="0">
                <a:latin typeface="Times New Roman" panose="02020603050405020304" pitchFamily="18" charset="0"/>
                <a:cs typeface="Times New Roman" panose="02020603050405020304" pitchFamily="18" charset="0"/>
              </a:rPr>
              <a:t>là giá trị của thuộc tính href, cho biết liên kết sẽ đưa người dùng đến trang web này.</a:t>
            </a:r>
            <a:endParaRPr lang="en-US" sz="20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pic>
        <p:nvPicPr>
          <p:cNvPr id="2" name="Picture 1"/>
          <p:cNvPicPr>
            <a:picLocks noChangeAspect="1"/>
          </p:cNvPicPr>
          <p:nvPr/>
        </p:nvPicPr>
        <p:blipFill>
          <a:blip r:embed="rId5"/>
          <a:stretch>
            <a:fillRect/>
          </a:stretch>
        </p:blipFill>
        <p:spPr>
          <a:xfrm>
            <a:off x="2299789" y="3642555"/>
            <a:ext cx="7135221" cy="504895"/>
          </a:xfrm>
          <a:prstGeom prst="rect">
            <a:avLst/>
          </a:prstGeom>
        </p:spPr>
      </p:pic>
    </p:spTree>
    <p:extLst>
      <p:ext uri="{BB962C8B-B14F-4D97-AF65-F5344CB8AC3E}">
        <p14:creationId xmlns:p14="http://schemas.microsoft.com/office/powerpoint/2010/main" val="2504433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a:latin typeface="Times New Roman" panose="02020603050405020304" pitchFamily="18" charset="0"/>
                <a:cs typeface="Times New Roman" panose="02020603050405020304" pitchFamily="18" charset="0"/>
              </a:rPr>
              <a:t>2.3 </a:t>
            </a:r>
            <a:r>
              <a:rPr lang="en-US" sz="2800" b="1" dirty="0" err="1">
                <a:latin typeface="Times New Roman" panose="02020603050405020304" pitchFamily="18" charset="0"/>
                <a:cs typeface="Times New Roman" panose="02020603050405020304" pitchFamily="18" charset="0"/>
              </a:rPr>
              <a:t>Một</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số</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thuộc</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tính</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phổ</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biến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trong</a:t>
            </a:r>
            <a:r>
              <a:rPr lang="en-US" sz="2800" b="1" dirty="0">
                <a:latin typeface="Times New Roman" panose="02020603050405020304" pitchFamily="18" charset="0"/>
                <a:cs typeface="Times New Roman" panose="02020603050405020304" pitchFamily="18" charset="0"/>
              </a:rPr>
              <a:t> </a:t>
            </a:r>
            <a:r>
              <a:rPr lang="en-US" sz="2800" b="1" dirty="0" smtClean="0">
                <a:latin typeface="Times New Roman" panose="02020603050405020304" pitchFamily="18" charset="0"/>
                <a:cs typeface="Times New Roman" panose="02020603050405020304" pitchFamily="18" charset="0"/>
              </a:rPr>
              <a:t>HTML</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4563920"/>
          </a:xfrm>
        </p:spPr>
        <p:txBody>
          <a:bodyPr>
            <a:normAutofit/>
          </a:bodyPr>
          <a:lstStyle/>
          <a:p>
            <a:pPr>
              <a:buFont typeface="Wingdings" panose="05000000000000000000" pitchFamily="2" charset="2"/>
              <a:buChar char="q"/>
            </a:pPr>
            <a:r>
              <a:rPr lang="vi-VN" sz="2400" dirty="0">
                <a:latin typeface="Times New Roman" panose="02020603050405020304" pitchFamily="18" charset="0"/>
                <a:cs typeface="Times New Roman" panose="02020603050405020304" pitchFamily="18" charset="0"/>
              </a:rPr>
              <a:t>href: Được sử dụng trong thẻ &lt;a&gt; để chỉ ra địa chỉ URL mà liên kết trỏ đến</a:t>
            </a:r>
            <a:r>
              <a:rPr lang="vi-VN"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vi-VN" sz="2400" dirty="0">
                <a:latin typeface="Times New Roman" panose="02020603050405020304" pitchFamily="18" charset="0"/>
                <a:cs typeface="Times New Roman" panose="02020603050405020304" pitchFamily="18" charset="0"/>
              </a:rPr>
              <a:t>src: Được sử dụng trong thẻ &lt;img&gt; để chỉ ra nguồn (địa chỉ) của hình ảnh</a:t>
            </a:r>
            <a:r>
              <a:rPr lang="vi-VN"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vi-VN" sz="2400" dirty="0">
                <a:latin typeface="Times New Roman" panose="02020603050405020304" pitchFamily="18" charset="0"/>
                <a:cs typeface="Times New Roman" panose="02020603050405020304" pitchFamily="18" charset="0"/>
              </a:rPr>
              <a:t>alt: Cung cấp mô tả thay thế cho hình ảnh khi hình ảnh không thể tải được</a:t>
            </a:r>
            <a:r>
              <a:rPr lang="vi-VN"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sz="2000" dirty="0" err="1" smtClean="0">
                <a:latin typeface="Times New Roman" panose="02020603050405020304" pitchFamily="18" charset="0"/>
                <a:cs typeface="Times New Roman" panose="02020603050405020304" pitchFamily="18" charset="0"/>
              </a:rPr>
              <a:t>Ví</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dụ</a:t>
            </a:r>
            <a:r>
              <a:rPr lang="en-US" sz="2000"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q"/>
            </a:pP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400" dirty="0" smtClean="0">
                <a:latin typeface="Times New Roman" panose="02020603050405020304" pitchFamily="18" charset="0"/>
                <a:cs typeface="Times New Roman" panose="02020603050405020304" pitchFamily="18" charset="0"/>
              </a:rPr>
              <a:t>id</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nhất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phần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tử</a:t>
            </a:r>
            <a:r>
              <a:rPr lang="en-US" sz="2400" dirty="0">
                <a:latin typeface="Times New Roman" panose="02020603050405020304" pitchFamily="18" charset="0"/>
                <a:cs typeface="Times New Roman" panose="02020603050405020304" pitchFamily="18" charset="0"/>
              </a:rPr>
              <a:t> HTML, </a:t>
            </a:r>
            <a:r>
              <a:rPr lang="en-US" sz="2400" dirty="0" err="1">
                <a:latin typeface="Times New Roman" panose="02020603050405020304" pitchFamily="18" charset="0"/>
                <a:cs typeface="Times New Roman" panose="02020603050405020304" pitchFamily="18" charset="0"/>
              </a:rPr>
              <a:t>giúp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dễ</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dàng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tham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chiếu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hoặc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CSS </a:t>
            </a:r>
            <a:r>
              <a:rPr lang="en-US" sz="2400" dirty="0" err="1">
                <a:latin typeface="Times New Roman" panose="02020603050405020304" pitchFamily="18" charset="0"/>
                <a:cs typeface="Times New Roman" panose="02020603050405020304" pitchFamily="18" charset="0"/>
              </a:rPr>
              <a:t>hoặc</a:t>
            </a:r>
            <a:r>
              <a:rPr lang="en-US" sz="2400" dirty="0">
                <a:latin typeface="Times New Roman" panose="02020603050405020304" pitchFamily="18" charset="0"/>
                <a:cs typeface="Times New Roman" panose="02020603050405020304" pitchFamily="18" charset="0"/>
              </a:rPr>
              <a:t> JavaScript</a:t>
            </a:r>
            <a:r>
              <a:rPr lang="en-US" sz="2400"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endParaRPr lang="en-US" sz="2400" dirty="0" smtClean="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pic>
        <p:nvPicPr>
          <p:cNvPr id="2" name="Picture 1"/>
          <p:cNvPicPr>
            <a:picLocks noChangeAspect="1"/>
          </p:cNvPicPr>
          <p:nvPr/>
        </p:nvPicPr>
        <p:blipFill>
          <a:blip r:embed="rId5"/>
          <a:stretch>
            <a:fillRect/>
          </a:stretch>
        </p:blipFill>
        <p:spPr>
          <a:xfrm>
            <a:off x="2603470" y="3132902"/>
            <a:ext cx="5525271" cy="724001"/>
          </a:xfrm>
          <a:prstGeom prst="rect">
            <a:avLst/>
          </a:prstGeom>
        </p:spPr>
      </p:pic>
      <p:pic>
        <p:nvPicPr>
          <p:cNvPr id="6" name="Picture 5"/>
          <p:cNvPicPr>
            <a:picLocks noChangeAspect="1"/>
          </p:cNvPicPr>
          <p:nvPr/>
        </p:nvPicPr>
        <p:blipFill>
          <a:blip r:embed="rId6"/>
          <a:stretch>
            <a:fillRect/>
          </a:stretch>
        </p:blipFill>
        <p:spPr>
          <a:xfrm>
            <a:off x="2593944" y="4754959"/>
            <a:ext cx="5534797" cy="523948"/>
          </a:xfrm>
          <a:prstGeom prst="rect">
            <a:avLst/>
          </a:prstGeom>
        </p:spPr>
      </p:pic>
    </p:spTree>
    <p:extLst>
      <p:ext uri="{BB962C8B-B14F-4D97-AF65-F5344CB8AC3E}">
        <p14:creationId xmlns:p14="http://schemas.microsoft.com/office/powerpoint/2010/main" val="176052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a:latin typeface="Times New Roman" panose="02020603050405020304" pitchFamily="18" charset="0"/>
                <a:cs typeface="Times New Roman" panose="02020603050405020304" pitchFamily="18" charset="0"/>
              </a:rPr>
              <a:t>2.3 </a:t>
            </a:r>
            <a:r>
              <a:rPr lang="en-US" sz="2800" b="1" dirty="0" err="1">
                <a:latin typeface="Times New Roman" panose="02020603050405020304" pitchFamily="18" charset="0"/>
                <a:cs typeface="Times New Roman" panose="02020603050405020304" pitchFamily="18" charset="0"/>
              </a:rPr>
              <a:t>Một</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số</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thuộc</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tính</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phổ</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biến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trong</a:t>
            </a:r>
            <a:r>
              <a:rPr lang="en-US" sz="2800" b="1" dirty="0">
                <a:latin typeface="Times New Roman" panose="02020603050405020304" pitchFamily="18" charset="0"/>
                <a:cs typeface="Times New Roman" panose="02020603050405020304" pitchFamily="18" charset="0"/>
              </a:rPr>
              <a:t> HTML</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4563920"/>
          </a:xfrm>
        </p:spPr>
        <p:txBody>
          <a:bodyPr>
            <a:normAutofit/>
          </a:bodyPr>
          <a:lstStyle/>
          <a:p>
            <a:r>
              <a:rPr lang="en-US" sz="2400" dirty="0">
                <a:latin typeface="Times New Roman" panose="02020603050405020304" pitchFamily="18" charset="0"/>
                <a:cs typeface="Times New Roman" panose="02020603050405020304" pitchFamily="18" charset="0"/>
              </a:rPr>
              <a:t>class: </a:t>
            </a:r>
            <a:r>
              <a:rPr lang="en-US" sz="2400" dirty="0" err="1">
                <a:latin typeface="Times New Roman" panose="02020603050405020304" pitchFamily="18" charset="0"/>
                <a:cs typeface="Times New Roman" panose="02020603050405020304" pitchFamily="18" charset="0"/>
              </a:rPr>
              <a:t>Xác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lớp</a:t>
            </a:r>
            <a:r>
              <a:rPr lang="en-US" sz="2400" dirty="0">
                <a:latin typeface="Times New Roman" panose="02020603050405020304" pitchFamily="18" charset="0"/>
                <a:cs typeface="Times New Roman" panose="02020603050405020304" pitchFamily="18" charset="0"/>
              </a:rPr>
              <a:t> CSS </a:t>
            </a:r>
            <a:r>
              <a:rPr lang="en-US" sz="2400" dirty="0" err="1">
                <a:latin typeface="Times New Roman" panose="02020603050405020304" pitchFamily="18" charset="0"/>
                <a:cs typeface="Times New Roman" panose="02020603050405020304" pitchFamily="18" charset="0"/>
              </a:rPr>
              <a:t>để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áp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kiểu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chung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phần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tử</a:t>
            </a: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HTML</a:t>
            </a:r>
          </a:p>
          <a:p>
            <a:pPr marL="114300" indent="0">
              <a:buNone/>
            </a:pPr>
            <a:endParaRPr lang="en-US" sz="2400" dirty="0" smtClean="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style: </a:t>
            </a:r>
            <a:r>
              <a:rPr lang="en-US" sz="2400" dirty="0" err="1">
                <a:latin typeface="Times New Roman" panose="02020603050405020304" pitchFamily="18" charset="0"/>
                <a:cs typeface="Times New Roman" panose="02020603050405020304" pitchFamily="18" charset="0"/>
              </a:rPr>
              <a:t>Áp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kiểu</a:t>
            </a:r>
            <a:r>
              <a:rPr lang="en-US" sz="2400" dirty="0">
                <a:latin typeface="Times New Roman" panose="02020603050405020304" pitchFamily="18" charset="0"/>
                <a:cs typeface="Times New Roman" panose="02020603050405020304" pitchFamily="18" charset="0"/>
              </a:rPr>
              <a:t> CSS </a:t>
            </a:r>
            <a:r>
              <a:rPr lang="en-US" sz="2400" dirty="0" err="1">
                <a:latin typeface="Times New Roman" panose="02020603050405020304" pitchFamily="18" charset="0"/>
                <a:cs typeface="Times New Roman" panose="02020603050405020304" pitchFamily="18" charset="0"/>
              </a:rPr>
              <a:t>trực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tiếp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phần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tử</a:t>
            </a:r>
            <a:r>
              <a:rPr lang="en-US" sz="2400" dirty="0">
                <a:latin typeface="Times New Roman" panose="02020603050405020304" pitchFamily="18" charset="0"/>
                <a:cs typeface="Times New Roman" panose="02020603050405020304" pitchFamily="18" charset="0"/>
              </a:rPr>
              <a:t> HTML</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endParaRPr lang="en-US" sz="2400" dirty="0" smtClean="0">
              <a:latin typeface="Times New Roman" panose="02020603050405020304" pitchFamily="18" charset="0"/>
              <a:cs typeface="Times New Roman" panose="02020603050405020304" pitchFamily="18" charset="0"/>
            </a:endParaRPr>
          </a:p>
          <a:p>
            <a:endParaRPr lang="en-US" sz="2400" dirty="0" smtClean="0">
              <a:latin typeface="Times New Roman" panose="02020603050405020304" pitchFamily="18" charset="0"/>
              <a:cs typeface="Times New Roman" panose="02020603050405020304" pitchFamily="18" charset="0"/>
            </a:endParaRPr>
          </a:p>
          <a:p>
            <a:r>
              <a:rPr lang="vi-VN" sz="2400" dirty="0" smtClean="0">
                <a:latin typeface="Times New Roman" panose="02020603050405020304" pitchFamily="18" charset="0"/>
                <a:cs typeface="Times New Roman" panose="02020603050405020304" pitchFamily="18" charset="0"/>
              </a:rPr>
              <a:t>type</a:t>
            </a:r>
            <a:r>
              <a:rPr lang="vi-VN" sz="2400" dirty="0">
                <a:latin typeface="Times New Roman" panose="02020603050405020304" pitchFamily="18" charset="0"/>
                <a:cs typeface="Times New Roman" panose="02020603050405020304" pitchFamily="18" charset="0"/>
              </a:rPr>
              <a:t>: Được sử dụng trong các thẻ như &lt;input&gt; để chỉ loại trường nhập liệu</a:t>
            </a:r>
            <a:r>
              <a:rPr lang="vi-VN"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smtClean="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value: </a:t>
            </a:r>
            <a:r>
              <a:rPr lang="en-US" sz="2400" dirty="0" err="1">
                <a:latin typeface="Times New Roman" panose="02020603050405020304" pitchFamily="18" charset="0"/>
                <a:cs typeface="Times New Roman" panose="02020603050405020304" pitchFamily="18" charset="0"/>
              </a:rPr>
              <a:t>Cung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trị</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phần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liệu</a:t>
            </a:r>
            <a:r>
              <a:rPr lang="en-US" sz="2400" dirty="0">
                <a:latin typeface="Times New Roman" panose="02020603050405020304" pitchFamily="18" charset="0"/>
                <a:cs typeface="Times New Roman" panose="02020603050405020304" pitchFamily="18" charset="0"/>
              </a:rPr>
              <a:t> (input).</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pic>
        <p:nvPicPr>
          <p:cNvPr id="2" name="Picture 1"/>
          <p:cNvPicPr>
            <a:picLocks noChangeAspect="1"/>
          </p:cNvPicPr>
          <p:nvPr/>
        </p:nvPicPr>
        <p:blipFill>
          <a:blip r:embed="rId5"/>
          <a:stretch>
            <a:fillRect/>
          </a:stretch>
        </p:blipFill>
        <p:spPr>
          <a:xfrm>
            <a:off x="2604627" y="2360490"/>
            <a:ext cx="6011114" cy="590632"/>
          </a:xfrm>
          <a:prstGeom prst="rect">
            <a:avLst/>
          </a:prstGeom>
        </p:spPr>
      </p:pic>
      <p:pic>
        <p:nvPicPr>
          <p:cNvPr id="6" name="Picture 5"/>
          <p:cNvPicPr>
            <a:picLocks noChangeAspect="1"/>
          </p:cNvPicPr>
          <p:nvPr/>
        </p:nvPicPr>
        <p:blipFill>
          <a:blip r:embed="rId6"/>
          <a:stretch>
            <a:fillRect/>
          </a:stretch>
        </p:blipFill>
        <p:spPr>
          <a:xfrm>
            <a:off x="2604627" y="3537765"/>
            <a:ext cx="6601746" cy="714475"/>
          </a:xfrm>
          <a:prstGeom prst="rect">
            <a:avLst/>
          </a:prstGeom>
        </p:spPr>
      </p:pic>
      <p:pic>
        <p:nvPicPr>
          <p:cNvPr id="7" name="Picture 6"/>
          <p:cNvPicPr>
            <a:picLocks noChangeAspect="1"/>
          </p:cNvPicPr>
          <p:nvPr/>
        </p:nvPicPr>
        <p:blipFill>
          <a:blip r:embed="rId7"/>
          <a:stretch>
            <a:fillRect/>
          </a:stretch>
        </p:blipFill>
        <p:spPr>
          <a:xfrm>
            <a:off x="2604627" y="4838883"/>
            <a:ext cx="4429743" cy="724001"/>
          </a:xfrm>
          <a:prstGeom prst="rect">
            <a:avLst/>
          </a:prstGeom>
        </p:spPr>
      </p:pic>
      <p:pic>
        <p:nvPicPr>
          <p:cNvPr id="8" name="Picture 7"/>
          <p:cNvPicPr>
            <a:picLocks noChangeAspect="1"/>
          </p:cNvPicPr>
          <p:nvPr/>
        </p:nvPicPr>
        <p:blipFill>
          <a:blip r:embed="rId8"/>
          <a:stretch>
            <a:fillRect/>
          </a:stretch>
        </p:blipFill>
        <p:spPr>
          <a:xfrm>
            <a:off x="3306343" y="6176962"/>
            <a:ext cx="6011114" cy="581106"/>
          </a:xfrm>
          <a:prstGeom prst="rect">
            <a:avLst/>
          </a:prstGeom>
        </p:spPr>
      </p:pic>
    </p:spTree>
    <p:extLst>
      <p:ext uri="{BB962C8B-B14F-4D97-AF65-F5344CB8AC3E}">
        <p14:creationId xmlns:p14="http://schemas.microsoft.com/office/powerpoint/2010/main" val="2119776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smtClean="0">
                <a:latin typeface="Times New Roman" panose="02020603050405020304" pitchFamily="18" charset="0"/>
                <a:cs typeface="Times New Roman" panose="02020603050405020304" pitchFamily="18" charset="0"/>
              </a:rPr>
              <a:t>2.4 </a:t>
            </a:r>
            <a:r>
              <a:rPr lang="en-US" sz="2800" b="1" dirty="0" err="1" smtClean="0">
                <a:latin typeface="Times New Roman" panose="02020603050405020304" pitchFamily="18" charset="0"/>
                <a:cs typeface="Times New Roman" panose="02020603050405020304" pitchFamily="18" charset="0"/>
              </a:rPr>
              <a:t>Các</a:t>
            </a:r>
            <a:r>
              <a:rPr lang="en-US" sz="2800" b="1" dirty="0" smtClean="0">
                <a:latin typeface="Times New Roman" panose="02020603050405020304" pitchFamily="18" charset="0"/>
                <a:cs typeface="Times New Roman" panose="02020603050405020304" pitchFamily="18" charset="0"/>
              </a:rPr>
              <a:t> </a:t>
            </a:r>
            <a:r>
              <a:rPr lang="en-US" sz="2800" b="1" dirty="0" err="1" smtClean="0">
                <a:latin typeface="Times New Roman" panose="02020603050405020304" pitchFamily="18" charset="0"/>
                <a:cs typeface="Times New Roman" panose="02020603050405020304" pitchFamily="18" charset="0"/>
              </a:rPr>
              <a:t>thẻ</a:t>
            </a:r>
            <a:r>
              <a:rPr lang="en-US" sz="2800" b="1" dirty="0" smtClean="0">
                <a:latin typeface="Times New Roman" panose="02020603050405020304" pitchFamily="18" charset="0"/>
                <a:cs typeface="Times New Roman" panose="02020603050405020304" pitchFamily="18" charset="0"/>
              </a:rPr>
              <a:t> </a:t>
            </a:r>
            <a:r>
              <a:rPr lang="en-US" sz="2800" b="1" dirty="0" err="1" smtClean="0">
                <a:latin typeface="Times New Roman" panose="02020603050405020304" pitchFamily="18" charset="0"/>
                <a:cs typeface="Times New Roman" panose="02020603050405020304" pitchFamily="18" charset="0"/>
              </a:rPr>
              <a:t>cơ</a:t>
            </a:r>
            <a:r>
              <a:rPr lang="en-US" sz="2800" b="1" dirty="0" smtClean="0">
                <a:latin typeface="Times New Roman" panose="02020603050405020304" pitchFamily="18" charset="0"/>
                <a:cs typeface="Times New Roman" panose="02020603050405020304" pitchFamily="18" charset="0"/>
              </a:rPr>
              <a:t> </a:t>
            </a:r>
            <a:r>
              <a:rPr lang="en-US" sz="2800" b="1" dirty="0" err="1" smtClean="0">
                <a:latin typeface="Times New Roman" panose="02020603050405020304" pitchFamily="18" charset="0"/>
                <a:cs typeface="Times New Roman" panose="02020603050405020304" pitchFamily="18" charset="0"/>
              </a:rPr>
              <a:t>bản</a:t>
            </a:r>
            <a:r>
              <a:rPr lang="en-US" sz="2800" b="1" dirty="0" smtClean="0">
                <a:latin typeface="Times New Roman" panose="02020603050405020304" pitchFamily="18" charset="0"/>
                <a:cs typeface="Times New Roman" panose="02020603050405020304" pitchFamily="18" charset="0"/>
              </a:rPr>
              <a:t> </a:t>
            </a:r>
            <a:r>
              <a:rPr lang="en-US" sz="2800" b="1" dirty="0" err="1" smtClean="0">
                <a:latin typeface="Times New Roman" panose="02020603050405020304" pitchFamily="18" charset="0"/>
                <a:cs typeface="Times New Roman" panose="02020603050405020304" pitchFamily="18" charset="0"/>
              </a:rPr>
              <a:t>trong</a:t>
            </a:r>
            <a:r>
              <a:rPr lang="en-US" sz="2800" b="1" dirty="0" smtClean="0">
                <a:latin typeface="Times New Roman" panose="02020603050405020304" pitchFamily="18" charset="0"/>
                <a:cs typeface="Times New Roman" panose="02020603050405020304" pitchFamily="18" charset="0"/>
              </a:rPr>
              <a:t> HTML</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4563920"/>
          </a:xfrm>
        </p:spPr>
        <p:txBody>
          <a:bodyPr>
            <a:normAutofit/>
          </a:bodyPr>
          <a:lstStyle/>
          <a:p>
            <a:r>
              <a:rPr lang="en-US" sz="2400" dirty="0" err="1" smtClean="0">
                <a:latin typeface="Times New Roman" panose="02020603050405020304" pitchFamily="18" charset="0"/>
                <a:cs typeface="Times New Roman" panose="02020603050405020304" pitchFamily="18" charset="0"/>
              </a:rPr>
              <a:t>Thẻ</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&lt;!DOCTYPE</a:t>
            </a:r>
            <a:r>
              <a:rPr lang="en-US" sz="2400" dirty="0" smtClean="0">
                <a:latin typeface="Times New Roman" panose="02020603050405020304" pitchFamily="18" charset="0"/>
                <a:cs typeface="Times New Roman" panose="02020603050405020304" pitchFamily="18" charset="0"/>
              </a:rPr>
              <a:t>&gt;: </a:t>
            </a:r>
            <a:r>
              <a:rPr lang="vi-VN" sz="2400" dirty="0" smtClean="0">
                <a:latin typeface="Times New Roman" panose="02020603050405020304" pitchFamily="18" charset="0"/>
                <a:cs typeface="Times New Roman" panose="02020603050405020304" pitchFamily="18" charset="0"/>
              </a:rPr>
              <a:t>khai </a:t>
            </a:r>
            <a:r>
              <a:rPr lang="vi-VN" sz="2400" dirty="0">
                <a:latin typeface="Times New Roman" panose="02020603050405020304" pitchFamily="18" charset="0"/>
                <a:cs typeface="Times New Roman" panose="02020603050405020304" pitchFamily="18" charset="0"/>
              </a:rPr>
              <a:t>báo loại tài liệu là HTML5. Đây là phiên bản HTML phổ biến nhất hiện nay và là tiêu chuẩn được sử dụng trên hầu hết các trang web</a:t>
            </a:r>
            <a:r>
              <a:rPr lang="vi-VN"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smtClean="0">
              <a:latin typeface="Times New Roman" panose="02020603050405020304" pitchFamily="18" charset="0"/>
              <a:cs typeface="Times New Roman" panose="02020603050405020304" pitchFamily="18" charset="0"/>
            </a:endParaRPr>
          </a:p>
          <a:p>
            <a:r>
              <a:rPr lang="en-US" sz="2400" b="1" dirty="0" err="1" smtClean="0">
                <a:latin typeface="Times New Roman" panose="02020603050405020304" pitchFamily="18" charset="0"/>
                <a:cs typeface="Times New Roman" panose="02020603050405020304" pitchFamily="18" charset="0"/>
              </a:rPr>
              <a:t>Thẻ</a:t>
            </a:r>
            <a:r>
              <a:rPr lang="en-US" sz="2400" b="1" dirty="0" smtClean="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&lt;html&gt; </a:t>
            </a:r>
            <a:r>
              <a:rPr lang="en-US" sz="2400" dirty="0" err="1">
                <a:latin typeface="Times New Roman" panose="02020603050405020304" pitchFamily="18" charset="0"/>
                <a:cs typeface="Times New Roman" panose="02020603050405020304" pitchFamily="18" charset="0"/>
              </a:rPr>
              <a:t>bọc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toàn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bộ</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nội</a:t>
            </a:r>
            <a:r>
              <a:rPr lang="en-US" sz="2400" dirty="0">
                <a:latin typeface="Times New Roman" panose="02020603050405020304" pitchFamily="18" charset="0"/>
                <a:cs typeface="Times New Roman" panose="02020603050405020304" pitchFamily="18" charset="0"/>
              </a:rPr>
              <a:t> dung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trang</a:t>
            </a:r>
            <a:r>
              <a:rPr lang="en-US" sz="2400" dirty="0">
                <a:latin typeface="Times New Roman" panose="02020603050405020304" pitchFamily="18" charset="0"/>
                <a:cs typeface="Times New Roman" panose="02020603050405020304" pitchFamily="18" charset="0"/>
              </a:rPr>
              <a:t> web. </a:t>
            </a:r>
            <a:r>
              <a:rPr lang="en-US" sz="2400" dirty="0" err="1">
                <a:latin typeface="Times New Roman" panose="02020603050405020304" pitchFamily="18" charset="0"/>
                <a:cs typeface="Times New Roman" panose="02020603050405020304" pitchFamily="18" charset="0"/>
              </a:rPr>
              <a:t>Nó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duyệt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biết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rằng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nội</a:t>
            </a:r>
            <a:r>
              <a:rPr lang="en-US" sz="2400" dirty="0">
                <a:latin typeface="Times New Roman" panose="02020603050405020304" pitchFamily="18" charset="0"/>
                <a:cs typeface="Times New Roman" panose="02020603050405020304" pitchFamily="18" charset="0"/>
              </a:rPr>
              <a:t> dung </a:t>
            </a:r>
            <a:r>
              <a:rPr lang="en-US" sz="2400" dirty="0" err="1">
                <a:latin typeface="Times New Roman" panose="02020603050405020304" pitchFamily="18" charset="0"/>
                <a:cs typeface="Times New Roman" panose="02020603050405020304" pitchFamily="18" charset="0"/>
              </a:rPr>
              <a:t>bên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tài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liệu</a:t>
            </a:r>
            <a:r>
              <a:rPr lang="en-US" sz="2400" dirty="0">
                <a:latin typeface="Times New Roman" panose="02020603050405020304" pitchFamily="18" charset="0"/>
                <a:cs typeface="Times New Roman" panose="02020603050405020304" pitchFamily="18" charset="0"/>
              </a:rPr>
              <a:t> HTML.</a:t>
            </a:r>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pic>
        <p:nvPicPr>
          <p:cNvPr id="2" name="Picture 1"/>
          <p:cNvPicPr>
            <a:picLocks noChangeAspect="1"/>
          </p:cNvPicPr>
          <p:nvPr/>
        </p:nvPicPr>
        <p:blipFill>
          <a:blip r:embed="rId5"/>
          <a:stretch>
            <a:fillRect/>
          </a:stretch>
        </p:blipFill>
        <p:spPr>
          <a:xfrm>
            <a:off x="1447800" y="2555831"/>
            <a:ext cx="3572374" cy="628738"/>
          </a:xfrm>
          <a:prstGeom prst="rect">
            <a:avLst/>
          </a:prstGeom>
        </p:spPr>
      </p:pic>
      <p:pic>
        <p:nvPicPr>
          <p:cNvPr id="6" name="Picture 5"/>
          <p:cNvPicPr>
            <a:picLocks noChangeAspect="1"/>
          </p:cNvPicPr>
          <p:nvPr/>
        </p:nvPicPr>
        <p:blipFill>
          <a:blip r:embed="rId6"/>
          <a:stretch>
            <a:fillRect/>
          </a:stretch>
        </p:blipFill>
        <p:spPr>
          <a:xfrm>
            <a:off x="1447800" y="4233028"/>
            <a:ext cx="5306165" cy="895475"/>
          </a:xfrm>
          <a:prstGeom prst="rect">
            <a:avLst/>
          </a:prstGeom>
        </p:spPr>
      </p:pic>
    </p:spTree>
    <p:extLst>
      <p:ext uri="{BB962C8B-B14F-4D97-AF65-F5344CB8AC3E}">
        <p14:creationId xmlns:p14="http://schemas.microsoft.com/office/powerpoint/2010/main" val="1588566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a:latin typeface="Times New Roman" panose="02020603050405020304" pitchFamily="18" charset="0"/>
                <a:cs typeface="Times New Roman" panose="02020603050405020304" pitchFamily="18" charset="0"/>
              </a:rPr>
              <a:t>2.4 </a:t>
            </a:r>
            <a:r>
              <a:rPr lang="en-US" sz="2800" b="1" dirty="0" err="1">
                <a:latin typeface="Times New Roman" panose="02020603050405020304" pitchFamily="18" charset="0"/>
                <a:cs typeface="Times New Roman" panose="02020603050405020304" pitchFamily="18" charset="0"/>
              </a:rPr>
              <a:t>Các</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thẻ</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cơ</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bản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trong</a:t>
            </a:r>
            <a:r>
              <a:rPr lang="en-US" sz="2800" b="1" dirty="0">
                <a:latin typeface="Times New Roman" panose="02020603050405020304" pitchFamily="18" charset="0"/>
                <a:cs typeface="Times New Roman" panose="02020603050405020304" pitchFamily="18" charset="0"/>
              </a:rPr>
              <a:t> HTML</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4563920"/>
          </a:xfrm>
        </p:spPr>
        <p:txBody>
          <a:bodyPr>
            <a:normAutofit/>
          </a:bodyPr>
          <a:lstStyle/>
          <a:p>
            <a:r>
              <a:rPr lang="vi-VN" sz="2400" b="1" dirty="0" smtClean="0">
                <a:latin typeface="Times New Roman" panose="02020603050405020304" pitchFamily="18" charset="0"/>
                <a:cs typeface="Times New Roman" panose="02020603050405020304" pitchFamily="18" charset="0"/>
              </a:rPr>
              <a:t>Thẻ </a:t>
            </a:r>
            <a:r>
              <a:rPr lang="vi-VN" sz="2400" b="1" dirty="0">
                <a:latin typeface="Times New Roman" panose="02020603050405020304" pitchFamily="18" charset="0"/>
                <a:cs typeface="Times New Roman" panose="02020603050405020304" pitchFamily="18" charset="0"/>
              </a:rPr>
              <a:t>&lt;head&gt; </a:t>
            </a:r>
            <a:r>
              <a:rPr lang="vi-VN" sz="2400" dirty="0">
                <a:latin typeface="Times New Roman" panose="02020603050405020304" pitchFamily="18" charset="0"/>
                <a:cs typeface="Times New Roman" panose="02020603050405020304" pitchFamily="18" charset="0"/>
              </a:rPr>
              <a:t>chứa thông tin về tài liệu HTML, bao gồm tiêu đề trang, liên kết đến các tệp CSS, JavaScript và các thông tin meta (chẳng hạn như thông tin về bộ mã hóa ký tự, viewport,...).</a:t>
            </a:r>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pic>
        <p:nvPicPr>
          <p:cNvPr id="2" name="Picture 1"/>
          <p:cNvPicPr>
            <a:picLocks noChangeAspect="1"/>
          </p:cNvPicPr>
          <p:nvPr/>
        </p:nvPicPr>
        <p:blipFill>
          <a:blip r:embed="rId5"/>
          <a:stretch>
            <a:fillRect/>
          </a:stretch>
        </p:blipFill>
        <p:spPr>
          <a:xfrm>
            <a:off x="1447800" y="2949962"/>
            <a:ext cx="6595096" cy="2993920"/>
          </a:xfrm>
          <a:prstGeom prst="rect">
            <a:avLst/>
          </a:prstGeom>
        </p:spPr>
      </p:pic>
    </p:spTree>
    <p:extLst>
      <p:ext uri="{BB962C8B-B14F-4D97-AF65-F5344CB8AC3E}">
        <p14:creationId xmlns:p14="http://schemas.microsoft.com/office/powerpoint/2010/main" val="1946053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a:latin typeface="Times New Roman" panose="02020603050405020304" pitchFamily="18" charset="0"/>
                <a:cs typeface="Times New Roman" panose="02020603050405020304" pitchFamily="18" charset="0"/>
              </a:rPr>
              <a:t>2.4 </a:t>
            </a:r>
            <a:r>
              <a:rPr lang="en-US" sz="2800" b="1" dirty="0" err="1">
                <a:latin typeface="Times New Roman" panose="02020603050405020304" pitchFamily="18" charset="0"/>
                <a:cs typeface="Times New Roman" panose="02020603050405020304" pitchFamily="18" charset="0"/>
              </a:rPr>
              <a:t>Các</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thẻ</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cơ</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bản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trong</a:t>
            </a:r>
            <a:r>
              <a:rPr lang="en-US" sz="2800" b="1" dirty="0">
                <a:latin typeface="Times New Roman" panose="02020603050405020304" pitchFamily="18" charset="0"/>
                <a:cs typeface="Times New Roman" panose="02020603050405020304" pitchFamily="18" charset="0"/>
              </a:rPr>
              <a:t> HTML</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4563920"/>
          </a:xfrm>
        </p:spPr>
        <p:txBody>
          <a:bodyPr>
            <a:normAutofit/>
          </a:bodyPr>
          <a:lstStyle/>
          <a:p>
            <a:r>
              <a:rPr lang="en-US" sz="2400" b="1" dirty="0" err="1" smtClean="0">
                <a:latin typeface="Times New Roman" panose="02020603050405020304" pitchFamily="18" charset="0"/>
                <a:cs typeface="Times New Roman" panose="02020603050405020304" pitchFamily="18" charset="0"/>
              </a:rPr>
              <a:t>Thẻ</a:t>
            </a:r>
            <a:r>
              <a:rPr lang="en-US" sz="2400" b="1" dirty="0" smtClean="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&lt;body&gt; </a:t>
            </a:r>
            <a:r>
              <a:rPr lang="en-US" sz="2400" dirty="0" err="1">
                <a:latin typeface="Times New Roman" panose="02020603050405020304" pitchFamily="18" charset="0"/>
                <a:cs typeface="Times New Roman" panose="02020603050405020304" pitchFamily="18" charset="0"/>
              </a:rPr>
              <a:t>chứa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toàn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bộ</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nội</a:t>
            </a:r>
            <a:r>
              <a:rPr lang="en-US" sz="2400" dirty="0">
                <a:latin typeface="Times New Roman" panose="02020603050405020304" pitchFamily="18" charset="0"/>
                <a:cs typeface="Times New Roman" panose="02020603050405020304" pitchFamily="18" charset="0"/>
              </a:rPr>
              <a:t> dung </a:t>
            </a:r>
            <a:r>
              <a:rPr lang="en-US" sz="2400" dirty="0" err="1">
                <a:latin typeface="Times New Roman" panose="02020603050405020304" pitchFamily="18" charset="0"/>
                <a:cs typeface="Times New Roman" panose="02020603050405020304" pitchFamily="18" charset="0"/>
              </a:rPr>
              <a:t>sẽ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hiển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thị</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trang</a:t>
            </a:r>
            <a:r>
              <a:rPr lang="en-US" sz="2400" dirty="0">
                <a:latin typeface="Times New Roman" panose="02020603050405020304" pitchFamily="18" charset="0"/>
                <a:cs typeface="Times New Roman" panose="02020603050405020304" pitchFamily="18" charset="0"/>
              </a:rPr>
              <a:t> web, </a:t>
            </a:r>
            <a:r>
              <a:rPr lang="en-US" sz="2400" dirty="0" err="1">
                <a:latin typeface="Times New Roman" panose="02020603050405020304" pitchFamily="18" charset="0"/>
                <a:cs typeface="Times New Roman" panose="02020603050405020304" pitchFamily="18" charset="0"/>
              </a:rPr>
              <a:t>bao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gồm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văn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ảnh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bảng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biểu</a:t>
            </a:r>
            <a:r>
              <a:rPr lang="en-US" sz="2400" dirty="0">
                <a:latin typeface="Times New Roman" panose="02020603050405020304" pitchFamily="18" charset="0"/>
                <a:cs typeface="Times New Roman" panose="02020603050405020304" pitchFamily="18" charset="0"/>
              </a:rPr>
              <a:t>, form,...</a:t>
            </a:r>
          </a:p>
          <a:p>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pic>
        <p:nvPicPr>
          <p:cNvPr id="2" name="Picture 1"/>
          <p:cNvPicPr>
            <a:picLocks noChangeAspect="1"/>
          </p:cNvPicPr>
          <p:nvPr/>
        </p:nvPicPr>
        <p:blipFill>
          <a:blip r:embed="rId5"/>
          <a:stretch>
            <a:fillRect/>
          </a:stretch>
        </p:blipFill>
        <p:spPr>
          <a:xfrm>
            <a:off x="1291738" y="2662888"/>
            <a:ext cx="8602275" cy="3219899"/>
          </a:xfrm>
          <a:prstGeom prst="rect">
            <a:avLst/>
          </a:prstGeom>
        </p:spPr>
      </p:pic>
    </p:spTree>
    <p:extLst>
      <p:ext uri="{BB962C8B-B14F-4D97-AF65-F5344CB8AC3E}">
        <p14:creationId xmlns:p14="http://schemas.microsoft.com/office/powerpoint/2010/main" val="3724089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a:latin typeface="Times New Roman" panose="02020603050405020304" pitchFamily="18" charset="0"/>
                <a:cs typeface="Times New Roman" panose="02020603050405020304" pitchFamily="18" charset="0"/>
              </a:rPr>
              <a:t>2.4 </a:t>
            </a:r>
            <a:r>
              <a:rPr lang="en-US" sz="2800" b="1" dirty="0" err="1">
                <a:latin typeface="Times New Roman" panose="02020603050405020304" pitchFamily="18" charset="0"/>
                <a:cs typeface="Times New Roman" panose="02020603050405020304" pitchFamily="18" charset="0"/>
              </a:rPr>
              <a:t>Các</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thẻ</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cơ</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bản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trong</a:t>
            </a:r>
            <a:r>
              <a:rPr lang="en-US" sz="2800" b="1" dirty="0">
                <a:latin typeface="Times New Roman" panose="02020603050405020304" pitchFamily="18" charset="0"/>
                <a:cs typeface="Times New Roman" panose="02020603050405020304" pitchFamily="18" charset="0"/>
              </a:rPr>
              <a:t> HTML</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4563920"/>
          </a:xfrm>
        </p:spPr>
        <p:txBody>
          <a:bodyPr>
            <a:normAutofit/>
          </a:bodyPr>
          <a:lstStyle/>
          <a:p>
            <a:r>
              <a:rPr lang="en-US" sz="2400" dirty="0" err="1" smtClean="0">
                <a:latin typeface="Times New Roman" panose="02020603050405020304" pitchFamily="18" charset="0"/>
                <a:cs typeface="Times New Roman" panose="02020603050405020304" pitchFamily="18" charset="0"/>
              </a:rPr>
              <a:t>Thẻ</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&lt;h1&gt; </a:t>
            </a:r>
            <a:r>
              <a:rPr lang="en-US" sz="2400" dirty="0" err="1">
                <a:latin typeface="Times New Roman" panose="02020603050405020304" pitchFamily="18" charset="0"/>
                <a:cs typeface="Times New Roman" panose="02020603050405020304" pitchFamily="18" charset="0"/>
              </a:rPr>
              <a:t>đến</a:t>
            </a:r>
            <a:r>
              <a:rPr lang="en-US" sz="2400" dirty="0">
                <a:latin typeface="Times New Roman" panose="02020603050405020304" pitchFamily="18" charset="0"/>
                <a:cs typeface="Times New Roman" panose="02020603050405020304" pitchFamily="18" charset="0"/>
              </a:rPr>
              <a:t> &lt;h6&gt;:</a:t>
            </a:r>
          </a:p>
          <a:p>
            <a:r>
              <a:rPr lang="en-US" sz="2400" dirty="0" err="1" smtClean="0">
                <a:latin typeface="Times New Roman" panose="02020603050405020304" pitchFamily="18" charset="0"/>
                <a:cs typeface="Times New Roman" panose="02020603050405020304" pitchFamily="18" charset="0"/>
              </a:rPr>
              <a:t>Đây</a:t>
            </a:r>
            <a:r>
              <a:rPr lang="en-US" sz="2400" dirty="0" smtClean="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thẻ</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tiêu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đề</a:t>
            </a:r>
            <a:r>
              <a:rPr lang="en-US" sz="2400" dirty="0">
                <a:latin typeface="Times New Roman" panose="02020603050405020304" pitchFamily="18" charset="0"/>
                <a:cs typeface="Times New Roman" panose="02020603050405020304" pitchFamily="18" charset="0"/>
              </a:rPr>
              <a:t> (heading). </a:t>
            </a:r>
            <a:r>
              <a:rPr lang="en-US" sz="2400" dirty="0" err="1">
                <a:latin typeface="Times New Roman" panose="02020603050405020304" pitchFamily="18" charset="0"/>
                <a:cs typeface="Times New Roman" panose="02020603050405020304" pitchFamily="18" charset="0"/>
              </a:rPr>
              <a:t>Thẻ</a:t>
            </a:r>
            <a:r>
              <a:rPr lang="en-US" sz="2400" dirty="0">
                <a:latin typeface="Times New Roman" panose="02020603050405020304" pitchFamily="18" charset="0"/>
                <a:cs typeface="Times New Roman" panose="02020603050405020304" pitchFamily="18" charset="0"/>
              </a:rPr>
              <a:t> &lt;h1&gt; </a:t>
            </a:r>
            <a:r>
              <a:rPr lang="en-US" sz="2400" dirty="0" err="1">
                <a:latin typeface="Times New Roman" panose="02020603050405020304" pitchFamily="18" charset="0"/>
                <a:cs typeface="Times New Roman" panose="02020603050405020304" pitchFamily="18" charset="0"/>
              </a:rPr>
              <a:t>là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tiêu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đề</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lớn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nhất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còn</a:t>
            </a:r>
            <a:r>
              <a:rPr lang="en-US" sz="2400" dirty="0">
                <a:latin typeface="Times New Roman" panose="02020603050405020304" pitchFamily="18" charset="0"/>
                <a:cs typeface="Times New Roman" panose="02020603050405020304" pitchFamily="18" charset="0"/>
              </a:rPr>
              <a:t> &lt;h6&gt; </a:t>
            </a:r>
            <a:r>
              <a:rPr lang="en-US" sz="2400" dirty="0" err="1">
                <a:latin typeface="Times New Roman" panose="02020603050405020304" pitchFamily="18" charset="0"/>
                <a:cs typeface="Times New Roman" panose="02020603050405020304" pitchFamily="18" charset="0"/>
              </a:rPr>
              <a:t>là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tiêu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đề</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nhỏ</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nhất</a:t>
            </a:r>
            <a:r>
              <a:rPr lang="en-US" sz="2400" dirty="0">
                <a:latin typeface="Times New Roman" panose="02020603050405020304" pitchFamily="18" charset="0"/>
                <a:cs typeface="Times New Roman" panose="02020603050405020304" pitchFamily="18" charset="0"/>
              </a:rPr>
              <a:t>.</a:t>
            </a:r>
          </a:p>
          <a:p>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pic>
        <p:nvPicPr>
          <p:cNvPr id="2" name="Picture 1"/>
          <p:cNvPicPr>
            <a:picLocks noChangeAspect="1"/>
          </p:cNvPicPr>
          <p:nvPr/>
        </p:nvPicPr>
        <p:blipFill>
          <a:blip r:embed="rId5"/>
          <a:stretch>
            <a:fillRect/>
          </a:stretch>
        </p:blipFill>
        <p:spPr>
          <a:xfrm>
            <a:off x="1949054" y="2973687"/>
            <a:ext cx="7944959" cy="2362530"/>
          </a:xfrm>
          <a:prstGeom prst="rect">
            <a:avLst/>
          </a:prstGeom>
        </p:spPr>
      </p:pic>
    </p:spTree>
    <p:extLst>
      <p:ext uri="{BB962C8B-B14F-4D97-AF65-F5344CB8AC3E}">
        <p14:creationId xmlns:p14="http://schemas.microsoft.com/office/powerpoint/2010/main" val="1544139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a:latin typeface="Times New Roman" panose="02020603050405020304" pitchFamily="18" charset="0"/>
                <a:cs typeface="Times New Roman" panose="02020603050405020304" pitchFamily="18" charset="0"/>
              </a:rPr>
              <a:t>2.4 </a:t>
            </a:r>
            <a:r>
              <a:rPr lang="en-US" sz="2800" b="1" dirty="0" err="1">
                <a:latin typeface="Times New Roman" panose="02020603050405020304" pitchFamily="18" charset="0"/>
                <a:cs typeface="Times New Roman" panose="02020603050405020304" pitchFamily="18" charset="0"/>
              </a:rPr>
              <a:t>Các</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thẻ</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cơ</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bản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trong</a:t>
            </a:r>
            <a:r>
              <a:rPr lang="en-US" sz="2800" b="1" dirty="0">
                <a:latin typeface="Times New Roman" panose="02020603050405020304" pitchFamily="18" charset="0"/>
                <a:cs typeface="Times New Roman" panose="02020603050405020304" pitchFamily="18" charset="0"/>
              </a:rPr>
              <a:t> HTML</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4563920"/>
          </a:xfrm>
        </p:spPr>
        <p:txBody>
          <a:bodyPr>
            <a:normAutofit/>
          </a:bodyPr>
          <a:lstStyle/>
          <a:p>
            <a:r>
              <a:rPr lang="en-US" sz="2400" dirty="0" err="1" smtClean="0">
                <a:latin typeface="Times New Roman" panose="02020603050405020304" pitchFamily="18" charset="0"/>
                <a:cs typeface="Times New Roman" panose="02020603050405020304" pitchFamily="18" charset="0"/>
              </a:rPr>
              <a:t>Thẻ</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&lt;p&gt; </a:t>
            </a:r>
            <a:r>
              <a:rPr lang="en-US" sz="2400" dirty="0" err="1">
                <a:latin typeface="Times New Roman" panose="02020603050405020304" pitchFamily="18" charset="0"/>
                <a:cs typeface="Times New Roman" panose="02020603050405020304" pitchFamily="18" charset="0"/>
              </a:rPr>
              <a:t>dùng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nghĩa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đoạn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văn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bản</a:t>
            </a:r>
            <a:r>
              <a:rPr lang="en-US" sz="2400" dirty="0">
                <a:latin typeface="Times New Roman" panose="02020603050405020304" pitchFamily="18" charset="0"/>
                <a:cs typeface="Times New Roman" panose="02020603050405020304" pitchFamily="18" charset="0"/>
              </a:rPr>
              <a:t> (paragraph</a:t>
            </a:r>
            <a:r>
              <a:rPr lang="en-US" sz="2400" dirty="0" smtClean="0">
                <a:latin typeface="Times New Roman" panose="02020603050405020304" pitchFamily="18" charset="0"/>
                <a:cs typeface="Times New Roman" panose="02020603050405020304" pitchFamily="18" charset="0"/>
              </a:rPr>
              <a:t>).</a:t>
            </a:r>
          </a:p>
          <a:p>
            <a:endParaRPr lang="en-US" sz="2400" dirty="0">
              <a:latin typeface="Times New Roman" panose="02020603050405020304" pitchFamily="18" charset="0"/>
              <a:cs typeface="Times New Roman" panose="02020603050405020304" pitchFamily="18" charset="0"/>
            </a:endParaRPr>
          </a:p>
          <a:p>
            <a:endParaRPr lang="en-US" sz="2400" dirty="0" smtClean="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400" dirty="0" err="1" smtClean="0">
                <a:latin typeface="Times New Roman" panose="02020603050405020304" pitchFamily="18" charset="0"/>
                <a:cs typeface="Times New Roman" panose="02020603050405020304" pitchFamily="18" charset="0"/>
              </a:rPr>
              <a:t>Thẻ</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&lt;a&gt; </a:t>
            </a:r>
            <a:r>
              <a:rPr lang="en-US" sz="2400" dirty="0" err="1">
                <a:latin typeface="Times New Roman" panose="02020603050405020304" pitchFamily="18" charset="0"/>
                <a:cs typeface="Times New Roman" panose="02020603050405020304" pitchFamily="18" charset="0"/>
              </a:rPr>
              <a:t>dùng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kết</a:t>
            </a:r>
            <a:r>
              <a:rPr lang="en-US" sz="2400" dirty="0">
                <a:latin typeface="Times New Roman" panose="02020603050405020304" pitchFamily="18" charset="0"/>
                <a:cs typeface="Times New Roman" panose="02020603050405020304" pitchFamily="18" charset="0"/>
              </a:rPr>
              <a:t> (link) </a:t>
            </a:r>
            <a:r>
              <a:rPr lang="en-US" sz="2400" dirty="0" err="1">
                <a:latin typeface="Times New Roman" panose="02020603050405020304" pitchFamily="18" charset="0"/>
                <a:cs typeface="Times New Roman" panose="02020603050405020304" pitchFamily="18" charset="0"/>
              </a:rPr>
              <a:t>đến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URL </a:t>
            </a:r>
            <a:r>
              <a:rPr lang="en-US" sz="2400" dirty="0" err="1">
                <a:latin typeface="Times New Roman" panose="02020603050405020304" pitchFamily="18" charset="0"/>
                <a:cs typeface="Times New Roman" panose="02020603050405020304" pitchFamily="18" charset="0"/>
              </a:rPr>
              <a:t>khác</a:t>
            </a:r>
            <a:r>
              <a:rPr lang="en-US" sz="2400" dirty="0" smtClean="0">
                <a:latin typeface="Times New Roman" panose="02020603050405020304" pitchFamily="18" charset="0"/>
                <a:cs typeface="Times New Roman" panose="02020603050405020304" pitchFamily="18" charset="0"/>
              </a:rPr>
              <a:t>.</a:t>
            </a:r>
          </a:p>
          <a:p>
            <a:endParaRPr lang="en-US" sz="2400" dirty="0">
              <a:latin typeface="Times New Roman" panose="02020603050405020304" pitchFamily="18" charset="0"/>
              <a:cs typeface="Times New Roman" panose="02020603050405020304" pitchFamily="18" charset="0"/>
            </a:endParaRPr>
          </a:p>
          <a:p>
            <a:r>
              <a:rPr lang="vi-VN" sz="2400" dirty="0" smtClean="0">
                <a:latin typeface="Times New Roman" panose="02020603050405020304" pitchFamily="18" charset="0"/>
                <a:cs typeface="Times New Roman" panose="02020603050405020304" pitchFamily="18" charset="0"/>
              </a:rPr>
              <a:t>Thẻ </a:t>
            </a:r>
            <a:r>
              <a:rPr lang="vi-VN" sz="2400" dirty="0">
                <a:latin typeface="Times New Roman" panose="02020603050405020304" pitchFamily="18" charset="0"/>
                <a:cs typeface="Times New Roman" panose="02020603050405020304" pitchFamily="18" charset="0"/>
              </a:rPr>
              <a:t>&lt;div&gt; là một thẻ dùng để chứa các phần tử khác và thường được sử dụng để tạo bố cục (layout) cho trang web.</a:t>
            </a:r>
          </a:p>
          <a:p>
            <a:endParaRPr lang="en-US" sz="2400" dirty="0" smtClean="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pic>
        <p:nvPicPr>
          <p:cNvPr id="2" name="Picture 1"/>
          <p:cNvPicPr>
            <a:picLocks noChangeAspect="1"/>
          </p:cNvPicPr>
          <p:nvPr/>
        </p:nvPicPr>
        <p:blipFill>
          <a:blip r:embed="rId5"/>
          <a:stretch>
            <a:fillRect/>
          </a:stretch>
        </p:blipFill>
        <p:spPr>
          <a:xfrm>
            <a:off x="1340884" y="2340717"/>
            <a:ext cx="7935432" cy="1086002"/>
          </a:xfrm>
          <a:prstGeom prst="rect">
            <a:avLst/>
          </a:prstGeom>
        </p:spPr>
      </p:pic>
      <p:pic>
        <p:nvPicPr>
          <p:cNvPr id="6" name="Picture 5"/>
          <p:cNvPicPr>
            <a:picLocks noChangeAspect="1"/>
          </p:cNvPicPr>
          <p:nvPr/>
        </p:nvPicPr>
        <p:blipFill>
          <a:blip r:embed="rId6"/>
          <a:stretch>
            <a:fillRect/>
          </a:stretch>
        </p:blipFill>
        <p:spPr>
          <a:xfrm>
            <a:off x="1340884" y="4092452"/>
            <a:ext cx="8145012" cy="381053"/>
          </a:xfrm>
          <a:prstGeom prst="rect">
            <a:avLst/>
          </a:prstGeom>
        </p:spPr>
      </p:pic>
      <p:pic>
        <p:nvPicPr>
          <p:cNvPr id="7" name="Picture 6"/>
          <p:cNvPicPr>
            <a:picLocks noChangeAspect="1"/>
          </p:cNvPicPr>
          <p:nvPr/>
        </p:nvPicPr>
        <p:blipFill>
          <a:blip r:embed="rId7"/>
          <a:stretch>
            <a:fillRect/>
          </a:stretch>
        </p:blipFill>
        <p:spPr>
          <a:xfrm>
            <a:off x="1340884" y="5280027"/>
            <a:ext cx="4915586" cy="838317"/>
          </a:xfrm>
          <a:prstGeom prst="rect">
            <a:avLst/>
          </a:prstGeom>
        </p:spPr>
      </p:pic>
    </p:spTree>
    <p:extLst>
      <p:ext uri="{BB962C8B-B14F-4D97-AF65-F5344CB8AC3E}">
        <p14:creationId xmlns:p14="http://schemas.microsoft.com/office/powerpoint/2010/main" val="2066124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a:latin typeface="Times New Roman" panose="02020603050405020304" pitchFamily="18" charset="0"/>
                <a:cs typeface="Times New Roman" panose="02020603050405020304" pitchFamily="18" charset="0"/>
              </a:rPr>
              <a:t>2.4 </a:t>
            </a:r>
            <a:r>
              <a:rPr lang="en-US" sz="2800" b="1" dirty="0" err="1">
                <a:latin typeface="Times New Roman" panose="02020603050405020304" pitchFamily="18" charset="0"/>
                <a:cs typeface="Times New Roman" panose="02020603050405020304" pitchFamily="18" charset="0"/>
              </a:rPr>
              <a:t>Các</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thẻ</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cơ</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bản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trong</a:t>
            </a:r>
            <a:r>
              <a:rPr lang="en-US" sz="2800" b="1" dirty="0">
                <a:latin typeface="Times New Roman" panose="02020603050405020304" pitchFamily="18" charset="0"/>
                <a:cs typeface="Times New Roman" panose="02020603050405020304" pitchFamily="18" charset="0"/>
              </a:rPr>
              <a:t> HTML</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1917557"/>
          </a:xfrm>
        </p:spPr>
        <p:txBody>
          <a:bodyPr>
            <a:normAutofit/>
          </a:bodyPr>
          <a:lstStyle/>
          <a:p>
            <a:pPr marL="114300" indent="0">
              <a:buNone/>
            </a:pPr>
            <a:r>
              <a:rPr lang="vi-VN" sz="2400" dirty="0" smtClean="0">
                <a:latin typeface="Times New Roman" panose="02020603050405020304" pitchFamily="18" charset="0"/>
                <a:cs typeface="Times New Roman" panose="02020603050405020304" pitchFamily="18" charset="0"/>
              </a:rPr>
              <a:t>Thẻ </a:t>
            </a:r>
            <a:r>
              <a:rPr lang="vi-VN" sz="2400" dirty="0">
                <a:latin typeface="Times New Roman" panose="02020603050405020304" pitchFamily="18" charset="0"/>
                <a:cs typeface="Times New Roman" panose="02020603050405020304" pitchFamily="18" charset="0"/>
              </a:rPr>
              <a:t>&lt;input&gt; và &lt;button&gt;:</a:t>
            </a:r>
          </a:p>
          <a:p>
            <a:r>
              <a:rPr lang="vi-VN" sz="2400" b="1" dirty="0" smtClean="0">
                <a:latin typeface="Times New Roman" panose="02020603050405020304" pitchFamily="18" charset="0"/>
                <a:cs typeface="Times New Roman" panose="02020603050405020304" pitchFamily="18" charset="0"/>
              </a:rPr>
              <a:t>Thẻ </a:t>
            </a:r>
            <a:r>
              <a:rPr lang="vi-VN" sz="2400" b="1" dirty="0">
                <a:latin typeface="Times New Roman" panose="02020603050405020304" pitchFamily="18" charset="0"/>
                <a:cs typeface="Times New Roman" panose="02020603050405020304" pitchFamily="18" charset="0"/>
              </a:rPr>
              <a:t>&lt;input&gt; </a:t>
            </a:r>
            <a:r>
              <a:rPr lang="vi-VN" sz="2400" dirty="0">
                <a:latin typeface="Times New Roman" panose="02020603050405020304" pitchFamily="18" charset="0"/>
                <a:cs typeface="Times New Roman" panose="02020603050405020304" pitchFamily="18" charset="0"/>
              </a:rPr>
              <a:t>là phần tử nhập liệu của người dùng. Loại nhập liệu được xác định bằng thuộc tính type, ví dụ text, password, date, v.v.</a:t>
            </a:r>
          </a:p>
          <a:p>
            <a:r>
              <a:rPr lang="vi-VN" sz="2400" b="1" dirty="0" smtClean="0">
                <a:latin typeface="Times New Roman" panose="02020603050405020304" pitchFamily="18" charset="0"/>
                <a:cs typeface="Times New Roman" panose="02020603050405020304" pitchFamily="18" charset="0"/>
              </a:rPr>
              <a:t>Thẻ </a:t>
            </a:r>
            <a:r>
              <a:rPr lang="vi-VN" sz="2400" b="1" dirty="0">
                <a:latin typeface="Times New Roman" panose="02020603050405020304" pitchFamily="18" charset="0"/>
                <a:cs typeface="Times New Roman" panose="02020603050405020304" pitchFamily="18" charset="0"/>
              </a:rPr>
              <a:t>&lt;button&gt; </a:t>
            </a:r>
            <a:r>
              <a:rPr lang="vi-VN" sz="2400" dirty="0">
                <a:latin typeface="Times New Roman" panose="02020603050405020304" pitchFamily="18" charset="0"/>
                <a:cs typeface="Times New Roman" panose="02020603050405020304" pitchFamily="18" charset="0"/>
              </a:rPr>
              <a:t>dùng để tạo nút bấm.</a:t>
            </a:r>
          </a:p>
          <a:p>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pic>
        <p:nvPicPr>
          <p:cNvPr id="2" name="Picture 1"/>
          <p:cNvPicPr>
            <a:picLocks noChangeAspect="1"/>
          </p:cNvPicPr>
          <p:nvPr/>
        </p:nvPicPr>
        <p:blipFill>
          <a:blip r:embed="rId5"/>
          <a:stretch>
            <a:fillRect/>
          </a:stretch>
        </p:blipFill>
        <p:spPr>
          <a:xfrm>
            <a:off x="3261699" y="3354808"/>
            <a:ext cx="7622201" cy="3138067"/>
          </a:xfrm>
          <a:prstGeom prst="rect">
            <a:avLst/>
          </a:prstGeom>
        </p:spPr>
      </p:pic>
    </p:spTree>
    <p:extLst>
      <p:ext uri="{BB962C8B-B14F-4D97-AF65-F5344CB8AC3E}">
        <p14:creationId xmlns:p14="http://schemas.microsoft.com/office/powerpoint/2010/main" val="2476183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smtClean="0">
                <a:latin typeface="Times New Roman" panose="02020603050405020304" pitchFamily="18" charset="0"/>
                <a:cs typeface="Times New Roman" panose="02020603050405020304" pitchFamily="18" charset="0"/>
              </a:rPr>
              <a:t>3</a:t>
            </a:r>
            <a:r>
              <a:rPr lang="en-US" sz="2800" b="1" dirty="0">
                <a:latin typeface="Times New Roman" panose="02020603050405020304" pitchFamily="18" charset="0"/>
                <a:cs typeface="Times New Roman" panose="02020603050405020304" pitchFamily="18" charset="0"/>
              </a:rPr>
              <a:t>. CSS (Cascading Style Sheets) </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4879832"/>
          </a:xfrm>
        </p:spPr>
        <p:txBody>
          <a:bodyPr>
            <a:normAutofit/>
          </a:bodyPr>
          <a:lstStyle/>
          <a:p>
            <a:r>
              <a:rPr lang="vi-VN" sz="2400" dirty="0">
                <a:latin typeface="Times New Roman" panose="02020603050405020304" pitchFamily="18" charset="0"/>
                <a:cs typeface="Times New Roman" panose="02020603050405020304" pitchFamily="18" charset="0"/>
              </a:rPr>
              <a:t>CSS (Cascading Style Sheets) là một ngôn ngữ dùng để định dạng và trang trí giao diện của một trang web. Nó cho phép bạn kiểm soát cách các phần tử HTML được hiển thị trên trang, bao gồm màu sắc, phông chữ, bố cục, khoảng cách, kích thước, và nhiều yếu tố khác</a:t>
            </a:r>
            <a:r>
              <a:rPr lang="vi-VN"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r>
              <a:rPr lang="vi-VN" sz="2400" dirty="0">
                <a:latin typeface="Times New Roman" panose="02020603050405020304" pitchFamily="18" charset="0"/>
                <a:cs typeface="Times New Roman" panose="02020603050405020304" pitchFamily="18" charset="0"/>
              </a:rPr>
              <a:t>CSS giúp tách biệt phần nội dung (HTML) và phần giao diện (thiết kế), làm cho việc chỉnh sửa và duy trì trang web dễ dàng hơn. Thay vì phải thay đổi giao diện trực tiếp trong từng thẻ HTML, </a:t>
            </a:r>
            <a:r>
              <a:rPr lang="en-US" sz="2400" dirty="0">
                <a:latin typeface="Times New Roman" panose="02020603050405020304" pitchFamily="18" charset="0"/>
                <a:cs typeface="Times New Roman" panose="02020603050405020304" pitchFamily="18" charset="0"/>
              </a:rPr>
              <a:t>c</a:t>
            </a:r>
            <a:r>
              <a:rPr lang="vi-VN" sz="2400" dirty="0" smtClean="0">
                <a:latin typeface="Times New Roman" panose="02020603050405020304" pitchFamily="18" charset="0"/>
                <a:cs typeface="Times New Roman" panose="02020603050405020304" pitchFamily="18" charset="0"/>
              </a:rPr>
              <a:t>hỉ </a:t>
            </a:r>
            <a:r>
              <a:rPr lang="vi-VN" sz="2400" dirty="0">
                <a:latin typeface="Times New Roman" panose="02020603050405020304" pitchFamily="18" charset="0"/>
                <a:cs typeface="Times New Roman" panose="02020603050405020304" pitchFamily="18" charset="0"/>
              </a:rPr>
              <a:t>cần chỉnh sửa các quy tắc CSS, giúp bạn tái sử dụng chúng trên toàn bộ trang web</a:t>
            </a:r>
            <a:r>
              <a:rPr lang="vi-VN"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r>
              <a:rPr lang="en-US" sz="2400" dirty="0" err="1" smtClean="0">
                <a:latin typeface="Times New Roman" panose="02020603050405020304" pitchFamily="18" charset="0"/>
                <a:cs typeface="Times New Roman" panose="02020603050405020304" pitchFamily="18" charset="0"/>
              </a:rPr>
              <a:t>Có</a:t>
            </a:r>
            <a:r>
              <a:rPr lang="en-US" sz="2400" dirty="0" smtClean="0">
                <a:latin typeface="Times New Roman" panose="02020603050405020304" pitchFamily="18" charset="0"/>
                <a:cs typeface="Times New Roman" panose="02020603050405020304" pitchFamily="18" charset="0"/>
              </a:rPr>
              <a:t> 3 </a:t>
            </a:r>
            <a:r>
              <a:rPr lang="en-US" sz="2400" dirty="0" err="1" smtClean="0">
                <a:latin typeface="Times New Roman" panose="02020603050405020304" pitchFamily="18" charset="0"/>
                <a:cs typeface="Times New Roman" panose="02020603050405020304" pitchFamily="18" charset="0"/>
              </a:rPr>
              <a:t>cách</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để</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sử</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dụng</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được</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css</a:t>
            </a:r>
            <a:endParaRPr lang="en-US" sz="2400" dirty="0" smtClean="0">
              <a:latin typeface="Times New Roman" panose="02020603050405020304" pitchFamily="18" charset="0"/>
              <a:cs typeface="Times New Roman" panose="02020603050405020304" pitchFamily="18" charset="0"/>
            </a:endParaRPr>
          </a:p>
          <a:p>
            <a:pPr marL="1028700" lvl="1" indent="-457200">
              <a:buFont typeface="+mj-lt"/>
              <a:buAutoNum type="arabicPeriod"/>
            </a:pPr>
            <a:r>
              <a:rPr lang="en-US" sz="2000" dirty="0" err="1" smtClean="0">
                <a:latin typeface="Times New Roman" panose="02020603050405020304" pitchFamily="18" charset="0"/>
                <a:cs typeface="Times New Roman" panose="02020603050405020304" pitchFamily="18" charset="0"/>
              </a:rPr>
              <a:t>Nhúng</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CSS </a:t>
            </a:r>
            <a:r>
              <a:rPr lang="en-US" sz="2000" dirty="0" err="1">
                <a:latin typeface="Times New Roman" panose="02020603050405020304" pitchFamily="18" charset="0"/>
                <a:cs typeface="Times New Roman" panose="02020603050405020304" pitchFamily="18" charset="0"/>
              </a:rPr>
              <a:t>trực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tiếp</a:t>
            </a:r>
            <a:r>
              <a:rPr lang="en-US" sz="2000" dirty="0">
                <a:latin typeface="Times New Roman" panose="02020603050405020304" pitchFamily="18" charset="0"/>
                <a:cs typeface="Times New Roman" panose="02020603050405020304" pitchFamily="18" charset="0"/>
              </a:rPr>
              <a:t> (Inline CSS</a:t>
            </a:r>
            <a:r>
              <a:rPr lang="en-US" sz="2000" dirty="0" smtClean="0">
                <a:latin typeface="Times New Roman" panose="02020603050405020304" pitchFamily="18" charset="0"/>
                <a:cs typeface="Times New Roman" panose="02020603050405020304" pitchFamily="18" charset="0"/>
              </a:rPr>
              <a:t>)</a:t>
            </a:r>
          </a:p>
          <a:p>
            <a:pPr marL="1028700" lvl="1" indent="-457200">
              <a:buFont typeface="+mj-lt"/>
              <a:buAutoNum type="arabicPeriod"/>
            </a:pPr>
            <a:r>
              <a:rPr lang="en-US" sz="2000" dirty="0" err="1" smtClean="0">
                <a:latin typeface="Times New Roman" panose="02020603050405020304" pitchFamily="18" charset="0"/>
                <a:cs typeface="Times New Roman" panose="02020603050405020304" pitchFamily="18" charset="0"/>
              </a:rPr>
              <a:t>Nhúng</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CSS </a:t>
            </a:r>
            <a:r>
              <a:rPr lang="en-US" sz="2000" dirty="0" err="1">
                <a:latin typeface="Times New Roman" panose="02020603050405020304" pitchFamily="18" charset="0"/>
                <a:cs typeface="Times New Roman" panose="02020603050405020304" pitchFamily="18" charset="0"/>
              </a:rPr>
              <a:t>trong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thẻ</a:t>
            </a:r>
            <a:r>
              <a:rPr lang="en-US" sz="2000" dirty="0">
                <a:latin typeface="Times New Roman" panose="02020603050405020304" pitchFamily="18" charset="0"/>
                <a:cs typeface="Times New Roman" panose="02020603050405020304" pitchFamily="18" charset="0"/>
              </a:rPr>
              <a:t> &lt;style&gt; (Internal CSS</a:t>
            </a:r>
            <a:r>
              <a:rPr lang="en-US" sz="2000" dirty="0" smtClean="0">
                <a:latin typeface="Times New Roman" panose="02020603050405020304" pitchFamily="18" charset="0"/>
                <a:cs typeface="Times New Roman" panose="02020603050405020304" pitchFamily="18" charset="0"/>
              </a:rPr>
              <a:t>)</a:t>
            </a:r>
          </a:p>
          <a:p>
            <a:pPr marL="1028700" lvl="1" indent="-457200">
              <a:buFont typeface="+mj-lt"/>
              <a:buAutoNum type="arabicPeriod"/>
            </a:pPr>
            <a:r>
              <a:rPr lang="en-US" sz="2000" dirty="0" err="1" smtClean="0">
                <a:latin typeface="Times New Roman" panose="02020603050405020304" pitchFamily="18" charset="0"/>
                <a:cs typeface="Times New Roman" panose="02020603050405020304" pitchFamily="18" charset="0"/>
              </a:rPr>
              <a:t>Liên</a:t>
            </a:r>
            <a:r>
              <a:rPr lang="en-US" sz="2000" dirty="0" smtClean="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kết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tệp</a:t>
            </a:r>
            <a:r>
              <a:rPr lang="en-US" sz="2000" dirty="0">
                <a:latin typeface="Times New Roman" panose="02020603050405020304" pitchFamily="18" charset="0"/>
                <a:cs typeface="Times New Roman" panose="02020603050405020304" pitchFamily="18" charset="0"/>
              </a:rPr>
              <a:t> CSS </a:t>
            </a:r>
            <a:r>
              <a:rPr lang="en-US" sz="2000" dirty="0" err="1">
                <a:latin typeface="Times New Roman" panose="02020603050405020304" pitchFamily="18" charset="0"/>
                <a:cs typeface="Times New Roman" panose="02020603050405020304" pitchFamily="18" charset="0"/>
              </a:rPr>
              <a:t>bên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ngoài</a:t>
            </a:r>
            <a:r>
              <a:rPr lang="en-US" sz="2000" dirty="0">
                <a:latin typeface="Times New Roman" panose="02020603050405020304" pitchFamily="18" charset="0"/>
                <a:cs typeface="Times New Roman" panose="02020603050405020304" pitchFamily="18" charset="0"/>
              </a:rPr>
              <a:t> (External CSS</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spTree>
    <p:extLst>
      <p:ext uri="{BB962C8B-B14F-4D97-AF65-F5344CB8AC3E}">
        <p14:creationId xmlns:p14="http://schemas.microsoft.com/office/powerpoint/2010/main" val="3742692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a:latin typeface="Times New Roman" panose="02020603050405020304" pitchFamily="18" charset="0"/>
                <a:cs typeface="Times New Roman" panose="02020603050405020304" pitchFamily="18" charset="0"/>
              </a:rPr>
              <a:t>3.1 </a:t>
            </a:r>
            <a:r>
              <a:rPr lang="en-US" sz="2800" b="1" dirty="0" err="1">
                <a:latin typeface="Times New Roman" panose="02020603050405020304" pitchFamily="18" charset="0"/>
                <a:cs typeface="Times New Roman" panose="02020603050405020304" pitchFamily="18" charset="0"/>
              </a:rPr>
              <a:t>Nhúng</a:t>
            </a:r>
            <a:r>
              <a:rPr lang="en-US" sz="2800" b="1" dirty="0">
                <a:latin typeface="Times New Roman" panose="02020603050405020304" pitchFamily="18" charset="0"/>
                <a:cs typeface="Times New Roman" panose="02020603050405020304" pitchFamily="18" charset="0"/>
              </a:rPr>
              <a:t> CSS </a:t>
            </a:r>
            <a:r>
              <a:rPr lang="en-US" sz="2800" b="1" dirty="0" err="1">
                <a:latin typeface="Times New Roman" panose="02020603050405020304" pitchFamily="18" charset="0"/>
                <a:cs typeface="Times New Roman" panose="02020603050405020304" pitchFamily="18" charset="0"/>
              </a:rPr>
              <a:t>trực</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tiếp</a:t>
            </a:r>
            <a:r>
              <a:rPr lang="en-US" sz="2800" b="1" dirty="0">
                <a:latin typeface="Times New Roman" panose="02020603050405020304" pitchFamily="18" charset="0"/>
                <a:cs typeface="Times New Roman" panose="02020603050405020304" pitchFamily="18" charset="0"/>
              </a:rPr>
              <a:t> (Inline CSS</a:t>
            </a:r>
            <a:r>
              <a:rPr lang="en-US" sz="2800" b="1" dirty="0" smtClean="0">
                <a:latin typeface="Times New Roman" panose="02020603050405020304" pitchFamily="18" charset="0"/>
                <a:cs typeface="Times New Roman" panose="02020603050405020304" pitchFamily="18" charset="0"/>
              </a:rPr>
              <a:t>)</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1053957"/>
          </a:xfrm>
        </p:spPr>
        <p:txBody>
          <a:bodyPr>
            <a:normAutofit/>
          </a:bodyPr>
          <a:lstStyle/>
          <a:p>
            <a:r>
              <a:rPr lang="en-US" sz="2400" dirty="0" err="1" smtClean="0">
                <a:latin typeface="Times New Roman" panose="02020603050405020304" pitchFamily="18" charset="0"/>
                <a:cs typeface="Times New Roman" panose="02020603050405020304" pitchFamily="18" charset="0"/>
              </a:rPr>
              <a:t>Nhúng</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CSS </a:t>
            </a:r>
            <a:r>
              <a:rPr lang="en-US" sz="2400" dirty="0" err="1">
                <a:latin typeface="Times New Roman" panose="02020603050405020304" pitchFamily="18" charset="0"/>
                <a:cs typeface="Times New Roman" panose="02020603050405020304" pitchFamily="18" charset="0"/>
              </a:rPr>
              <a:t>trực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tiếp</a:t>
            </a:r>
            <a:r>
              <a:rPr lang="en-US" sz="2400" dirty="0">
                <a:latin typeface="Times New Roman" panose="02020603050405020304" pitchFamily="18" charset="0"/>
                <a:cs typeface="Times New Roman" panose="02020603050405020304" pitchFamily="18" charset="0"/>
              </a:rPr>
              <a:t> (Inline CSS): </a:t>
            </a:r>
            <a:r>
              <a:rPr lang="en-US" sz="2400" dirty="0" err="1" smtClean="0">
                <a:latin typeface="Times New Roman" panose="02020603050405020304" pitchFamily="18" charset="0"/>
                <a:cs typeface="Times New Roman" panose="02020603050405020304" pitchFamily="18" charset="0"/>
              </a:rPr>
              <a:t>là</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có</a:t>
            </a:r>
            <a:r>
              <a:rPr lang="en-US" sz="2400" dirty="0" smtClean="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nghĩa</a:t>
            </a:r>
            <a:r>
              <a:rPr lang="en-US" sz="2400" dirty="0">
                <a:latin typeface="Times New Roman" panose="02020603050405020304" pitchFamily="18" charset="0"/>
                <a:cs typeface="Times New Roman" panose="02020603050405020304" pitchFamily="18" charset="0"/>
              </a:rPr>
              <a:t> CSS </a:t>
            </a:r>
            <a:r>
              <a:rPr lang="en-US" sz="2400" dirty="0" err="1">
                <a:latin typeface="Times New Roman" panose="02020603050405020304" pitchFamily="18" charset="0"/>
                <a:cs typeface="Times New Roman" panose="02020603050405020304" pitchFamily="18" charset="0"/>
              </a:rPr>
              <a:t>ngay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thẻ</a:t>
            </a:r>
            <a:r>
              <a:rPr lang="en-US" sz="2400" dirty="0">
                <a:latin typeface="Times New Roman" panose="02020603050405020304" pitchFamily="18" charset="0"/>
                <a:cs typeface="Times New Roman" panose="02020603050405020304" pitchFamily="18" charset="0"/>
              </a:rPr>
              <a:t> HTML </a:t>
            </a:r>
            <a:r>
              <a:rPr lang="en-US" sz="2400" dirty="0" err="1">
                <a:latin typeface="Times New Roman" panose="02020603050405020304" pitchFamily="18" charset="0"/>
                <a:cs typeface="Times New Roman" panose="02020603050405020304" pitchFamily="18" charset="0"/>
              </a:rPr>
              <a:t>bằng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thuộc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tính</a:t>
            </a:r>
            <a:r>
              <a:rPr lang="en-US" sz="2400" dirty="0">
                <a:latin typeface="Times New Roman" panose="02020603050405020304" pitchFamily="18" charset="0"/>
                <a:cs typeface="Times New Roman" panose="02020603050405020304" pitchFamily="18" charset="0"/>
              </a:rPr>
              <a:t> style.</a:t>
            </a:r>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pic>
        <p:nvPicPr>
          <p:cNvPr id="2" name="Picture 1"/>
          <p:cNvPicPr>
            <a:picLocks noChangeAspect="1"/>
          </p:cNvPicPr>
          <p:nvPr/>
        </p:nvPicPr>
        <p:blipFill>
          <a:blip r:embed="rId5"/>
          <a:stretch>
            <a:fillRect/>
          </a:stretch>
        </p:blipFill>
        <p:spPr>
          <a:xfrm>
            <a:off x="1447800" y="2520396"/>
            <a:ext cx="9765514" cy="3282185"/>
          </a:xfrm>
          <a:prstGeom prst="rect">
            <a:avLst/>
          </a:prstGeom>
        </p:spPr>
      </p:pic>
    </p:spTree>
    <p:extLst>
      <p:ext uri="{BB962C8B-B14F-4D97-AF65-F5344CB8AC3E}">
        <p14:creationId xmlns:p14="http://schemas.microsoft.com/office/powerpoint/2010/main" val="3509284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a:latin typeface="Times New Roman" panose="02020603050405020304" pitchFamily="18" charset="0"/>
                <a:cs typeface="Times New Roman" panose="02020603050405020304" pitchFamily="18" charset="0"/>
              </a:rPr>
              <a:t>3.2 </a:t>
            </a:r>
            <a:r>
              <a:rPr lang="en-US" sz="2800" b="1" dirty="0" err="1" smtClean="0">
                <a:latin typeface="Times New Roman" panose="02020603050405020304" pitchFamily="18" charset="0"/>
                <a:cs typeface="Times New Roman" panose="02020603050405020304" pitchFamily="18" charset="0"/>
              </a:rPr>
              <a:t>Nhúng</a:t>
            </a:r>
            <a:r>
              <a:rPr lang="en-US" sz="2800" b="1" dirty="0" smtClean="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CSS </a:t>
            </a:r>
            <a:r>
              <a:rPr lang="en-US" sz="2800" b="1" dirty="0" err="1">
                <a:latin typeface="Times New Roman" panose="02020603050405020304" pitchFamily="18" charset="0"/>
                <a:cs typeface="Times New Roman" panose="02020603050405020304" pitchFamily="18" charset="0"/>
              </a:rPr>
              <a:t>trong</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thẻ</a:t>
            </a:r>
            <a:r>
              <a:rPr lang="en-US" sz="2800" b="1" dirty="0">
                <a:latin typeface="Times New Roman" panose="02020603050405020304" pitchFamily="18" charset="0"/>
                <a:cs typeface="Times New Roman" panose="02020603050405020304" pitchFamily="18" charset="0"/>
              </a:rPr>
              <a:t> &lt;style&gt; (Internal CSS</a:t>
            </a:r>
            <a:r>
              <a:rPr lang="en-US" sz="2800" b="1" dirty="0" smtClean="0">
                <a:latin typeface="Times New Roman" panose="02020603050405020304" pitchFamily="18" charset="0"/>
                <a:cs typeface="Times New Roman" panose="02020603050405020304" pitchFamily="18" charset="0"/>
              </a:rPr>
              <a:t>)</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1041257"/>
          </a:xfrm>
        </p:spPr>
        <p:txBody>
          <a:bodyPr>
            <a:normAutofit/>
          </a:bodyPr>
          <a:lstStyle/>
          <a:p>
            <a:r>
              <a:rPr lang="en-US" sz="2400" dirty="0" err="1" smtClean="0">
                <a:latin typeface="Times New Roman" panose="02020603050405020304" pitchFamily="18" charset="0"/>
                <a:cs typeface="Times New Roman" panose="02020603050405020304" pitchFamily="18" charset="0"/>
              </a:rPr>
              <a:t>Nhúng</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CSS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thẻ</a:t>
            </a:r>
            <a:r>
              <a:rPr lang="en-US" sz="2400" dirty="0">
                <a:latin typeface="Times New Roman" panose="02020603050405020304" pitchFamily="18" charset="0"/>
                <a:cs typeface="Times New Roman" panose="02020603050405020304" pitchFamily="18" charset="0"/>
              </a:rPr>
              <a:t> &lt;style&gt; (Internal CSS): </a:t>
            </a:r>
            <a:r>
              <a:rPr lang="en-US" sz="2400" dirty="0" err="1">
                <a:latin typeface="Times New Roman" panose="02020603050405020304" pitchFamily="18" charset="0"/>
                <a:cs typeface="Times New Roman" panose="02020603050405020304" pitchFamily="18" charset="0"/>
              </a:rPr>
              <a:t>c</a:t>
            </a:r>
            <a:r>
              <a:rPr lang="en-US" sz="2400" dirty="0" err="1" smtClean="0">
                <a:latin typeface="Times New Roman" panose="02020603050405020304" pitchFamily="18" charset="0"/>
                <a:cs typeface="Times New Roman" panose="02020603050405020304" pitchFamily="18" charset="0"/>
              </a:rPr>
              <a:t>ó</a:t>
            </a:r>
            <a:r>
              <a:rPr lang="en-US" sz="2400" dirty="0" smtClean="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đặt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nghĩa</a:t>
            </a:r>
            <a:r>
              <a:rPr lang="en-US" sz="2400" dirty="0">
                <a:latin typeface="Times New Roman" panose="02020603050405020304" pitchFamily="18" charset="0"/>
                <a:cs typeface="Times New Roman" panose="02020603050405020304" pitchFamily="18" charset="0"/>
              </a:rPr>
              <a:t> CSS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thẻ</a:t>
            </a:r>
            <a:r>
              <a:rPr lang="en-US" sz="2400" dirty="0">
                <a:latin typeface="Times New Roman" panose="02020603050405020304" pitchFamily="18" charset="0"/>
                <a:cs typeface="Times New Roman" panose="02020603050405020304" pitchFamily="18" charset="0"/>
              </a:rPr>
              <a:t> &lt;style&gt; </a:t>
            </a:r>
            <a:r>
              <a:rPr lang="en-US" sz="2400" dirty="0" err="1">
                <a:latin typeface="Times New Roman" panose="02020603050405020304" pitchFamily="18" charset="0"/>
                <a:cs typeface="Times New Roman" panose="02020603050405020304" pitchFamily="18" charset="0"/>
              </a:rPr>
              <a:t>nằm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thẻ</a:t>
            </a:r>
            <a:r>
              <a:rPr lang="en-US" sz="2400" dirty="0">
                <a:latin typeface="Times New Roman" panose="02020603050405020304" pitchFamily="18" charset="0"/>
                <a:cs typeface="Times New Roman" panose="02020603050405020304" pitchFamily="18" charset="0"/>
              </a:rPr>
              <a:t> &lt;head&gt;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tài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liệu</a:t>
            </a:r>
            <a:r>
              <a:rPr lang="en-US" sz="2400" dirty="0">
                <a:latin typeface="Times New Roman" panose="02020603050405020304" pitchFamily="18" charset="0"/>
                <a:cs typeface="Times New Roman" panose="02020603050405020304" pitchFamily="18" charset="0"/>
              </a:rPr>
              <a:t> HTML.</a:t>
            </a:r>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pic>
        <p:nvPicPr>
          <p:cNvPr id="2" name="Picture 1"/>
          <p:cNvPicPr>
            <a:picLocks noChangeAspect="1"/>
          </p:cNvPicPr>
          <p:nvPr/>
        </p:nvPicPr>
        <p:blipFill>
          <a:blip r:embed="rId5"/>
          <a:stretch>
            <a:fillRect/>
          </a:stretch>
        </p:blipFill>
        <p:spPr>
          <a:xfrm>
            <a:off x="1447800" y="2571036"/>
            <a:ext cx="7368980" cy="3635670"/>
          </a:xfrm>
          <a:prstGeom prst="rect">
            <a:avLst/>
          </a:prstGeom>
        </p:spPr>
      </p:pic>
    </p:spTree>
    <p:extLst>
      <p:ext uri="{BB962C8B-B14F-4D97-AF65-F5344CB8AC3E}">
        <p14:creationId xmlns:p14="http://schemas.microsoft.com/office/powerpoint/2010/main" val="4113886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a:latin typeface="Times New Roman" panose="02020603050405020304" pitchFamily="18" charset="0"/>
                <a:cs typeface="Times New Roman" panose="02020603050405020304" pitchFamily="18" charset="0"/>
              </a:rPr>
              <a:t>3.3 </a:t>
            </a:r>
            <a:r>
              <a:rPr lang="en-US" sz="2800" b="1" dirty="0" err="1">
                <a:latin typeface="Times New Roman" panose="02020603050405020304" pitchFamily="18" charset="0"/>
                <a:cs typeface="Times New Roman" panose="02020603050405020304" pitchFamily="18" charset="0"/>
              </a:rPr>
              <a:t>Liên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kết</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tệp</a:t>
            </a:r>
            <a:r>
              <a:rPr lang="en-US" sz="2800" b="1" dirty="0">
                <a:latin typeface="Times New Roman" panose="02020603050405020304" pitchFamily="18" charset="0"/>
                <a:cs typeface="Times New Roman" panose="02020603050405020304" pitchFamily="18" charset="0"/>
              </a:rPr>
              <a:t> CSS </a:t>
            </a:r>
            <a:r>
              <a:rPr lang="en-US" sz="2800" b="1" dirty="0" err="1">
                <a:latin typeface="Times New Roman" panose="02020603050405020304" pitchFamily="18" charset="0"/>
                <a:cs typeface="Times New Roman" panose="02020603050405020304" pitchFamily="18" charset="0"/>
              </a:rPr>
              <a:t>bên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ngoài</a:t>
            </a:r>
            <a:r>
              <a:rPr lang="en-US" sz="2800" b="1" dirty="0">
                <a:latin typeface="Times New Roman" panose="02020603050405020304" pitchFamily="18" charset="0"/>
                <a:cs typeface="Times New Roman" panose="02020603050405020304" pitchFamily="18" charset="0"/>
              </a:rPr>
              <a:t> (External CSS</a:t>
            </a:r>
            <a:r>
              <a:rPr lang="en-US" sz="2800" b="1" dirty="0" smtClean="0">
                <a:latin typeface="Times New Roman" panose="02020603050405020304" pitchFamily="18" charset="0"/>
                <a:cs typeface="Times New Roman" panose="02020603050405020304" pitchFamily="18" charset="0"/>
              </a:rPr>
              <a:t>)</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4563920"/>
          </a:xfrm>
        </p:spPr>
        <p:txBody>
          <a:bodyPr>
            <a:normAutofit/>
          </a:bodyPr>
          <a:lstStyle/>
          <a:p>
            <a:r>
              <a:rPr lang="en-US" sz="2400" dirty="0" err="1" smtClean="0">
                <a:latin typeface="Times New Roman" panose="02020603050405020304" pitchFamily="18" charset="0"/>
                <a:cs typeface="Times New Roman" panose="02020603050405020304" pitchFamily="18" charset="0"/>
              </a:rPr>
              <a:t>Liên</a:t>
            </a:r>
            <a:r>
              <a:rPr lang="en-US" sz="2400" dirty="0" smtClean="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tệp</a:t>
            </a:r>
            <a:r>
              <a:rPr lang="en-US" sz="2400" dirty="0">
                <a:latin typeface="Times New Roman" panose="02020603050405020304" pitchFamily="18" charset="0"/>
                <a:cs typeface="Times New Roman" panose="02020603050405020304" pitchFamily="18" charset="0"/>
              </a:rPr>
              <a:t> CSS </a:t>
            </a:r>
            <a:r>
              <a:rPr lang="en-US" sz="2400" dirty="0" err="1">
                <a:latin typeface="Times New Roman" panose="02020603050405020304" pitchFamily="18" charset="0"/>
                <a:cs typeface="Times New Roman" panose="02020603050405020304" pitchFamily="18" charset="0"/>
              </a:rPr>
              <a:t>bên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ngoài</a:t>
            </a:r>
            <a:r>
              <a:rPr lang="en-US" sz="2400" dirty="0">
                <a:latin typeface="Times New Roman" panose="02020603050405020304" pitchFamily="18" charset="0"/>
                <a:cs typeface="Times New Roman" panose="02020603050405020304" pitchFamily="18" charset="0"/>
              </a:rPr>
              <a:t> (External CSS): </a:t>
            </a:r>
            <a:r>
              <a:rPr lang="en-US" sz="2400" dirty="0" err="1">
                <a:latin typeface="Times New Roman" panose="02020603050405020304" pitchFamily="18" charset="0"/>
                <a:cs typeface="Times New Roman" panose="02020603050405020304" pitchFamily="18" charset="0"/>
              </a:rPr>
              <a:t>Đây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nhất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tệp</a:t>
            </a:r>
            <a:r>
              <a:rPr lang="en-US" sz="2400" dirty="0">
                <a:latin typeface="Times New Roman" panose="02020603050405020304" pitchFamily="18" charset="0"/>
                <a:cs typeface="Times New Roman" panose="02020603050405020304" pitchFamily="18" charset="0"/>
              </a:rPr>
              <a:t> CSS </a:t>
            </a:r>
            <a:r>
              <a:rPr lang="en-US" sz="2400" dirty="0" err="1">
                <a:latin typeface="Times New Roman" panose="02020603050405020304" pitchFamily="18" charset="0"/>
                <a:cs typeface="Times New Roman" panose="02020603050405020304" pitchFamily="18" charset="0"/>
              </a:rPr>
              <a:t>bên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ngoài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bằng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thẻ</a:t>
            </a:r>
            <a:r>
              <a:rPr lang="en-US" sz="2400" dirty="0">
                <a:latin typeface="Times New Roman" panose="02020603050405020304" pitchFamily="18" charset="0"/>
                <a:cs typeface="Times New Roman" panose="02020603050405020304" pitchFamily="18" charset="0"/>
              </a:rPr>
              <a:t> &lt;link&gt;.</a:t>
            </a:r>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pic>
        <p:nvPicPr>
          <p:cNvPr id="2" name="Picture 1"/>
          <p:cNvPicPr>
            <a:picLocks noChangeAspect="1"/>
          </p:cNvPicPr>
          <p:nvPr/>
        </p:nvPicPr>
        <p:blipFill>
          <a:blip r:embed="rId5"/>
          <a:stretch>
            <a:fillRect/>
          </a:stretch>
        </p:blipFill>
        <p:spPr>
          <a:xfrm>
            <a:off x="838913" y="2648761"/>
            <a:ext cx="11362109" cy="3334202"/>
          </a:xfrm>
          <a:prstGeom prst="rect">
            <a:avLst/>
          </a:prstGeom>
        </p:spPr>
      </p:pic>
    </p:spTree>
    <p:extLst>
      <p:ext uri="{BB962C8B-B14F-4D97-AF65-F5344CB8AC3E}">
        <p14:creationId xmlns:p14="http://schemas.microsoft.com/office/powerpoint/2010/main" val="183675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a:latin typeface="Times New Roman" panose="02020603050405020304" pitchFamily="18" charset="0"/>
                <a:cs typeface="Times New Roman" panose="02020603050405020304" pitchFamily="18" charset="0"/>
              </a:rPr>
              <a:t>3.4  CSS </a:t>
            </a:r>
            <a:r>
              <a:rPr lang="en-US" sz="2800" b="1" dirty="0" smtClean="0">
                <a:latin typeface="Times New Roman" panose="02020603050405020304" pitchFamily="18" charset="0"/>
                <a:cs typeface="Times New Roman" panose="02020603050405020304" pitchFamily="18" charset="0"/>
              </a:rPr>
              <a:t>Selector</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4563920"/>
          </a:xfrm>
        </p:spPr>
        <p:txBody>
          <a:bodyPr>
            <a:normAutofit/>
          </a:bodyPr>
          <a:lstStyle/>
          <a:p>
            <a:r>
              <a:rPr lang="vi-VN" sz="2400" dirty="0">
                <a:latin typeface="Times New Roman" panose="02020603050405020304" pitchFamily="18" charset="0"/>
                <a:cs typeface="Times New Roman" panose="02020603050405020304" pitchFamily="18" charset="0"/>
              </a:rPr>
              <a:t>CSS Selector (Chọn lựa CSS) là cách để chọn các phần tử HTML mà bạn muốn áp dụng các kiểu dáng CSS. </a:t>
            </a:r>
            <a:endParaRPr lang="en-US" sz="2400" dirty="0" smtClean="0">
              <a:latin typeface="Times New Roman" panose="02020603050405020304" pitchFamily="18" charset="0"/>
              <a:cs typeface="Times New Roman" panose="02020603050405020304" pitchFamily="18" charset="0"/>
            </a:endParaRPr>
          </a:p>
          <a:p>
            <a:r>
              <a:rPr lang="vi-VN" sz="2400" dirty="0" smtClean="0">
                <a:latin typeface="Times New Roman" panose="02020603050405020304" pitchFamily="18" charset="0"/>
                <a:cs typeface="Times New Roman" panose="02020603050405020304" pitchFamily="18" charset="0"/>
              </a:rPr>
              <a:t>Các </a:t>
            </a:r>
            <a:r>
              <a:rPr lang="vi-VN" sz="2400" dirty="0">
                <a:latin typeface="Times New Roman" panose="02020603050405020304" pitchFamily="18" charset="0"/>
                <a:cs typeface="Times New Roman" panose="02020603050405020304" pitchFamily="18" charset="0"/>
              </a:rPr>
              <a:t>selector giúp xác định phần tử nào trong tài liệu HTML sẽ bị ảnh hưởng bởi các quy tắc CSS. Bạn có thể chọn phần tử dựa trên tên thẻ, lớp, id, thuộc tính hoặc các mối quan hệ giữa các phần tử trong tài liệu</a:t>
            </a:r>
            <a:r>
              <a:rPr lang="vi-VN"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r>
              <a:rPr lang="en-US" sz="2400" dirty="0" err="1" smtClean="0">
                <a:latin typeface="Times New Roman" panose="02020603050405020304" pitchFamily="18" charset="0"/>
                <a:cs typeface="Times New Roman" panose="02020603050405020304" pitchFamily="18" charset="0"/>
              </a:rPr>
              <a:t>Có</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nhiều</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loại</a:t>
            </a:r>
            <a:r>
              <a:rPr lang="en-US" sz="2400" dirty="0" smtClean="0">
                <a:latin typeface="Times New Roman" panose="02020603050405020304" pitchFamily="18" charset="0"/>
                <a:cs typeface="Times New Roman" panose="02020603050405020304" pitchFamily="18" charset="0"/>
              </a:rPr>
              <a:t> CSS selectors, </a:t>
            </a:r>
            <a:r>
              <a:rPr lang="en-US" sz="2400" dirty="0" err="1" smtClean="0">
                <a:latin typeface="Times New Roman" panose="02020603050405020304" pitchFamily="18" charset="0"/>
                <a:cs typeface="Times New Roman" panose="02020603050405020304" pitchFamily="18" charset="0"/>
              </a:rPr>
              <a:t>sau</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đây</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là</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một</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số</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loại</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phổ</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biến</a:t>
            </a:r>
            <a:r>
              <a:rPr lang="en-US" sz="2400" dirty="0" smtClean="0">
                <a:latin typeface="Times New Roman" panose="02020603050405020304" pitchFamily="18" charset="0"/>
                <a:cs typeface="Times New Roman" panose="02020603050405020304" pitchFamily="18" charset="0"/>
              </a:rPr>
              <a:t>:</a:t>
            </a:r>
          </a:p>
          <a:p>
            <a:pPr marL="1028700" lvl="1" indent="-457200">
              <a:buFont typeface="+mj-lt"/>
              <a:buAutoNum type="arabicPeriod"/>
            </a:pPr>
            <a:r>
              <a:rPr lang="en-US" sz="2000" dirty="0" smtClean="0">
                <a:latin typeface="Times New Roman" panose="02020603050405020304" pitchFamily="18" charset="0"/>
                <a:cs typeface="Times New Roman" panose="02020603050405020304" pitchFamily="18" charset="0"/>
              </a:rPr>
              <a:t>Element </a:t>
            </a:r>
            <a:r>
              <a:rPr lang="en-US" sz="2000" dirty="0">
                <a:latin typeface="Times New Roman" panose="02020603050405020304" pitchFamily="18" charset="0"/>
                <a:cs typeface="Times New Roman" panose="02020603050405020304" pitchFamily="18" charset="0"/>
              </a:rPr>
              <a:t>Selector (Selector </a:t>
            </a:r>
            <a:r>
              <a:rPr lang="en-US" sz="2000" dirty="0" err="1">
                <a:latin typeface="Times New Roman" panose="02020603050405020304" pitchFamily="18" charset="0"/>
                <a:cs typeface="Times New Roman" panose="02020603050405020304" pitchFamily="18" charset="0"/>
              </a:rPr>
              <a:t>theo</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thẻ</a:t>
            </a:r>
            <a:r>
              <a:rPr lang="en-US" sz="2000" dirty="0" smtClean="0">
                <a:latin typeface="Times New Roman" panose="02020603050405020304" pitchFamily="18" charset="0"/>
                <a:cs typeface="Times New Roman" panose="02020603050405020304" pitchFamily="18" charset="0"/>
              </a:rPr>
              <a:t>)</a:t>
            </a:r>
          </a:p>
          <a:p>
            <a:pPr marL="1028700" lvl="1" indent="-457200">
              <a:buFont typeface="+mj-lt"/>
              <a:buAutoNum type="arabicPeriod"/>
            </a:pPr>
            <a:r>
              <a:rPr lang="en-US" sz="2000" dirty="0" smtClean="0">
                <a:latin typeface="Times New Roman" panose="02020603050405020304" pitchFamily="18" charset="0"/>
                <a:cs typeface="Times New Roman" panose="02020603050405020304" pitchFamily="18" charset="0"/>
              </a:rPr>
              <a:t>Class </a:t>
            </a:r>
            <a:r>
              <a:rPr lang="en-US" sz="2000" dirty="0">
                <a:latin typeface="Times New Roman" panose="02020603050405020304" pitchFamily="18" charset="0"/>
                <a:cs typeface="Times New Roman" panose="02020603050405020304" pitchFamily="18" charset="0"/>
              </a:rPr>
              <a:t>Selector (Selector </a:t>
            </a:r>
            <a:r>
              <a:rPr lang="en-US" sz="2000" dirty="0" err="1">
                <a:latin typeface="Times New Roman" panose="02020603050405020304" pitchFamily="18" charset="0"/>
                <a:cs typeface="Times New Roman" panose="02020603050405020304" pitchFamily="18" charset="0"/>
              </a:rPr>
              <a:t>theo</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lớp</a:t>
            </a:r>
            <a:r>
              <a:rPr lang="en-US" sz="2000" dirty="0" smtClean="0">
                <a:latin typeface="Times New Roman" panose="02020603050405020304" pitchFamily="18" charset="0"/>
                <a:cs typeface="Times New Roman" panose="02020603050405020304" pitchFamily="18" charset="0"/>
              </a:rPr>
              <a:t>)</a:t>
            </a:r>
          </a:p>
          <a:p>
            <a:pPr marL="1028700" lvl="1" indent="-457200">
              <a:buFont typeface="+mj-lt"/>
              <a:buAutoNum type="arabicPeriod"/>
            </a:pPr>
            <a:r>
              <a:rPr lang="en-US" sz="2000" dirty="0" smtClean="0">
                <a:latin typeface="Times New Roman" panose="02020603050405020304" pitchFamily="18" charset="0"/>
                <a:cs typeface="Times New Roman" panose="02020603050405020304" pitchFamily="18" charset="0"/>
              </a:rPr>
              <a:t>ID </a:t>
            </a:r>
            <a:r>
              <a:rPr lang="en-US" sz="2000" dirty="0">
                <a:latin typeface="Times New Roman" panose="02020603050405020304" pitchFamily="18" charset="0"/>
                <a:cs typeface="Times New Roman" panose="02020603050405020304" pitchFamily="18" charset="0"/>
              </a:rPr>
              <a:t>Selector (Selector </a:t>
            </a:r>
            <a:r>
              <a:rPr lang="en-US" sz="2000" dirty="0" err="1">
                <a:latin typeface="Times New Roman" panose="02020603050405020304" pitchFamily="18" charset="0"/>
                <a:cs typeface="Times New Roman" panose="02020603050405020304" pitchFamily="18" charset="0"/>
              </a:rPr>
              <a:t>theo</a:t>
            </a:r>
            <a:r>
              <a:rPr lang="en-US" sz="2000" dirty="0">
                <a:latin typeface="Times New Roman" panose="02020603050405020304" pitchFamily="18" charset="0"/>
                <a:cs typeface="Times New Roman" panose="02020603050405020304" pitchFamily="18" charset="0"/>
              </a:rPr>
              <a:t> ID</a:t>
            </a:r>
            <a:r>
              <a:rPr lang="en-US" sz="2000" dirty="0" smtClean="0">
                <a:latin typeface="Times New Roman" panose="02020603050405020304" pitchFamily="18" charset="0"/>
                <a:cs typeface="Times New Roman" panose="02020603050405020304" pitchFamily="18" charset="0"/>
              </a:rPr>
              <a:t>)</a:t>
            </a:r>
          </a:p>
          <a:p>
            <a:pPr marL="1028700" lvl="1" indent="-457200">
              <a:buFont typeface="+mj-lt"/>
              <a:buAutoNum type="arabicPeriod"/>
            </a:pP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còn</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rất</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nhiều</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loại</a:t>
            </a:r>
            <a:r>
              <a:rPr lang="en-US" sz="2000" dirty="0" smtClean="0">
                <a:latin typeface="Times New Roman" panose="02020603050405020304" pitchFamily="18" charset="0"/>
                <a:cs typeface="Times New Roman" panose="02020603050405020304" pitchFamily="18" charset="0"/>
              </a:rPr>
              <a:t> selector </a:t>
            </a:r>
            <a:r>
              <a:rPr lang="en-US" sz="2000" dirty="0" err="1" smtClean="0">
                <a:latin typeface="Times New Roman" panose="02020603050405020304" pitchFamily="18" charset="0"/>
                <a:cs typeface="Times New Roman" panose="02020603050405020304" pitchFamily="18" charset="0"/>
              </a:rPr>
              <a:t>khác</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tìm</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hiểu</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tại</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link </a:t>
            </a:r>
            <a:r>
              <a:rPr lang="en-US" sz="2000" dirty="0">
                <a:latin typeface="Times New Roman" panose="02020603050405020304" pitchFamily="18" charset="0"/>
                <a:cs typeface="Times New Roman" panose="02020603050405020304" pitchFamily="18" charset="0"/>
                <a:hlinkClick r:id="rId5"/>
              </a:rPr>
              <a:t>https://</a:t>
            </a:r>
            <a:r>
              <a:rPr lang="en-US" sz="2000" dirty="0" smtClean="0">
                <a:latin typeface="Times New Roman" panose="02020603050405020304" pitchFamily="18" charset="0"/>
                <a:cs typeface="Times New Roman" panose="02020603050405020304" pitchFamily="18" charset="0"/>
                <a:hlinkClick r:id="rId5"/>
              </a:rPr>
              <a:t>www.w3schools.com/cssref/css_selectors.php</a:t>
            </a:r>
            <a:endParaRPr lang="en-US" sz="2000" dirty="0" smtClean="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spTree>
    <p:extLst>
      <p:ext uri="{BB962C8B-B14F-4D97-AF65-F5344CB8AC3E}">
        <p14:creationId xmlns:p14="http://schemas.microsoft.com/office/powerpoint/2010/main" val="2058415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a:latin typeface="Times New Roman" panose="02020603050405020304" pitchFamily="18" charset="0"/>
                <a:cs typeface="Times New Roman" panose="02020603050405020304" pitchFamily="18" charset="0"/>
              </a:rPr>
              <a:t>3.4  CSS Selector</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4563920"/>
          </a:xfrm>
        </p:spPr>
        <p:txBody>
          <a:bodyPr>
            <a:normAutofit/>
          </a:bodyPr>
          <a:lstStyle/>
          <a:p>
            <a:pPr marL="114300" indent="0">
              <a:buNone/>
            </a:pPr>
            <a:r>
              <a:rPr lang="en-US" sz="2400" dirty="0" smtClean="0">
                <a:latin typeface="Times New Roman" panose="02020603050405020304" pitchFamily="18" charset="0"/>
                <a:cs typeface="Times New Roman" panose="02020603050405020304" pitchFamily="18" charset="0"/>
              </a:rPr>
              <a:t>1) Element </a:t>
            </a:r>
            <a:r>
              <a:rPr lang="en-US" sz="2400" dirty="0">
                <a:latin typeface="Times New Roman" panose="02020603050405020304" pitchFamily="18" charset="0"/>
                <a:cs typeface="Times New Roman" panose="02020603050405020304" pitchFamily="18" charset="0"/>
              </a:rPr>
              <a:t>Selector (Selector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thẻ</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Chọn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tất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phần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loại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thẻ</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nhất</a:t>
            </a:r>
            <a:r>
              <a:rPr lang="en-US" sz="2400" dirty="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định</a:t>
            </a:r>
            <a:r>
              <a:rPr lang="en-US" sz="2400" dirty="0" smtClean="0">
                <a:latin typeface="Times New Roman" panose="02020603050405020304" pitchFamily="18" charset="0"/>
                <a:cs typeface="Times New Roman" panose="02020603050405020304" pitchFamily="18" charset="0"/>
              </a:rPr>
              <a:t>.</a:t>
            </a:r>
          </a:p>
          <a:p>
            <a:pPr marL="114300" indent="0">
              <a:buNone/>
            </a:pPr>
            <a:endParaRPr lang="en-US" sz="2400" dirty="0">
              <a:latin typeface="Times New Roman" panose="02020603050405020304" pitchFamily="18" charset="0"/>
              <a:cs typeface="Times New Roman" panose="02020603050405020304" pitchFamily="18" charset="0"/>
            </a:endParaRPr>
          </a:p>
          <a:p>
            <a:pPr marL="114300" indent="0">
              <a:buNone/>
            </a:pPr>
            <a:endParaRPr lang="en-US" sz="2400" dirty="0" smtClean="0">
              <a:latin typeface="Times New Roman" panose="02020603050405020304" pitchFamily="18" charset="0"/>
              <a:cs typeface="Times New Roman" panose="02020603050405020304" pitchFamily="18" charset="0"/>
            </a:endParaRPr>
          </a:p>
          <a:p>
            <a:pPr marL="114300" indent="0">
              <a:buNone/>
            </a:pPr>
            <a:endParaRPr lang="en-US" sz="2400" dirty="0">
              <a:latin typeface="Times New Roman" panose="02020603050405020304" pitchFamily="18" charset="0"/>
              <a:cs typeface="Times New Roman" panose="02020603050405020304" pitchFamily="18" charset="0"/>
            </a:endParaRPr>
          </a:p>
          <a:p>
            <a:pPr marL="114300" indent="0">
              <a:buNone/>
            </a:pPr>
            <a:endParaRPr lang="en-US" sz="2400" dirty="0" smtClean="0">
              <a:latin typeface="Times New Roman" panose="02020603050405020304" pitchFamily="18" charset="0"/>
              <a:cs typeface="Times New Roman" panose="02020603050405020304" pitchFamily="18" charset="0"/>
            </a:endParaRPr>
          </a:p>
          <a:p>
            <a:pPr marL="114300" indent="0">
              <a:buNone/>
            </a:pPr>
            <a:r>
              <a:rPr lang="en-US" sz="2400" dirty="0">
                <a:latin typeface="Times New Roman" panose="02020603050405020304" pitchFamily="18" charset="0"/>
                <a:cs typeface="Times New Roman" panose="02020603050405020304" pitchFamily="18" charset="0"/>
              </a:rPr>
              <a:t>Ở </a:t>
            </a:r>
            <a:r>
              <a:rPr lang="en-US" sz="2400" dirty="0" err="1">
                <a:latin typeface="Times New Roman" panose="02020603050405020304" pitchFamily="18" charset="0"/>
                <a:cs typeface="Times New Roman" panose="02020603050405020304" pitchFamily="18" charset="0"/>
              </a:rPr>
              <a:t>ví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tất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thẻ</a:t>
            </a:r>
            <a:r>
              <a:rPr lang="en-US" sz="2400" dirty="0">
                <a:latin typeface="Times New Roman" panose="02020603050405020304" pitchFamily="18" charset="0"/>
                <a:cs typeface="Times New Roman" panose="02020603050405020304" pitchFamily="18" charset="0"/>
              </a:rPr>
              <a:t> &lt;p&gt; (</a:t>
            </a:r>
            <a:r>
              <a:rPr lang="en-US" sz="2400" dirty="0" err="1">
                <a:latin typeface="Times New Roman" panose="02020603050405020304" pitchFamily="18" charset="0"/>
                <a:cs typeface="Times New Roman" panose="02020603050405020304" pitchFamily="18" charset="0"/>
              </a:rPr>
              <a:t>đoạn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văn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trang</a:t>
            </a:r>
            <a:r>
              <a:rPr lang="en-US" sz="2400" dirty="0">
                <a:latin typeface="Times New Roman" panose="02020603050405020304" pitchFamily="18" charset="0"/>
                <a:cs typeface="Times New Roman" panose="02020603050405020304" pitchFamily="18" charset="0"/>
              </a:rPr>
              <a:t> web </a:t>
            </a:r>
            <a:r>
              <a:rPr lang="en-US" sz="2400" dirty="0" err="1">
                <a:latin typeface="Times New Roman" panose="02020603050405020304" pitchFamily="18" charset="0"/>
                <a:cs typeface="Times New Roman" panose="02020603050405020304" pitchFamily="18" charset="0"/>
              </a:rPr>
              <a:t>sẽ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màu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chữ</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là</a:t>
            </a:r>
            <a:r>
              <a:rPr lang="en-US" sz="2400" dirty="0">
                <a:latin typeface="Times New Roman" panose="02020603050405020304" pitchFamily="18" charset="0"/>
                <a:cs typeface="Times New Roman" panose="02020603050405020304" pitchFamily="18" charset="0"/>
              </a:rPr>
              <a:t> blue.</a:t>
            </a:r>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pic>
        <p:nvPicPr>
          <p:cNvPr id="6" name="Picture 5"/>
          <p:cNvPicPr>
            <a:picLocks noChangeAspect="1"/>
          </p:cNvPicPr>
          <p:nvPr/>
        </p:nvPicPr>
        <p:blipFill>
          <a:blip r:embed="rId5"/>
          <a:stretch>
            <a:fillRect/>
          </a:stretch>
        </p:blipFill>
        <p:spPr>
          <a:xfrm>
            <a:off x="2906476" y="2185827"/>
            <a:ext cx="3381847" cy="1924319"/>
          </a:xfrm>
          <a:prstGeom prst="rect">
            <a:avLst/>
          </a:prstGeom>
        </p:spPr>
      </p:pic>
    </p:spTree>
    <p:extLst>
      <p:ext uri="{BB962C8B-B14F-4D97-AF65-F5344CB8AC3E}">
        <p14:creationId xmlns:p14="http://schemas.microsoft.com/office/powerpoint/2010/main" val="42241546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a:latin typeface="Times New Roman" panose="02020603050405020304" pitchFamily="18" charset="0"/>
                <a:cs typeface="Times New Roman" panose="02020603050405020304" pitchFamily="18" charset="0"/>
              </a:rPr>
              <a:t>3.4  CSS Selector</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5041900" cy="4563920"/>
          </a:xfrm>
        </p:spPr>
        <p:txBody>
          <a:bodyPr>
            <a:normAutofit/>
          </a:bodyPr>
          <a:lstStyle/>
          <a:p>
            <a:pPr marL="114300" indent="0">
              <a:buNone/>
            </a:pPr>
            <a:r>
              <a:rPr lang="en-US" sz="2400" dirty="0" smtClean="0">
                <a:latin typeface="Times New Roman" panose="02020603050405020304" pitchFamily="18" charset="0"/>
                <a:cs typeface="Times New Roman" panose="02020603050405020304" pitchFamily="18" charset="0"/>
              </a:rPr>
              <a:t>2) </a:t>
            </a:r>
            <a:r>
              <a:rPr lang="en-US" sz="2400" dirty="0">
                <a:latin typeface="Times New Roman" panose="02020603050405020304" pitchFamily="18" charset="0"/>
                <a:cs typeface="Times New Roman" panose="02020603050405020304" pitchFamily="18" charset="0"/>
              </a:rPr>
              <a:t>Class Selector (Selector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lớp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Chọn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tất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phần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thuộc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tính</a:t>
            </a:r>
            <a:r>
              <a:rPr lang="en-US" sz="2400" dirty="0">
                <a:latin typeface="Times New Roman" panose="02020603050405020304" pitchFamily="18" charset="0"/>
                <a:cs typeface="Times New Roman" panose="02020603050405020304" pitchFamily="18" charset="0"/>
              </a:rPr>
              <a:t> class </a:t>
            </a:r>
            <a:r>
              <a:rPr lang="en-US" sz="2400" dirty="0" err="1">
                <a:latin typeface="Times New Roman" panose="02020603050405020304" pitchFamily="18" charset="0"/>
                <a:cs typeface="Times New Roman" panose="02020603050405020304" pitchFamily="18" charset="0"/>
              </a:rPr>
              <a:t>cụ</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thể</a:t>
            </a:r>
            <a:r>
              <a:rPr lang="en-US" sz="2400" dirty="0" smtClean="0">
                <a:latin typeface="Times New Roman" panose="02020603050405020304" pitchFamily="18" charset="0"/>
                <a:cs typeface="Times New Roman" panose="02020603050405020304" pitchFamily="18" charset="0"/>
              </a:rPr>
              <a:t>.</a:t>
            </a:r>
          </a:p>
          <a:p>
            <a:pPr marL="114300" indent="0">
              <a:buNone/>
            </a:pP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này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tất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phần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class="button" </a:t>
            </a:r>
            <a:r>
              <a:rPr lang="en-US" sz="2400" dirty="0" err="1">
                <a:latin typeface="Times New Roman" panose="02020603050405020304" pitchFamily="18" charset="0"/>
                <a:cs typeface="Times New Roman" panose="02020603050405020304" pitchFamily="18" charset="0"/>
              </a:rPr>
              <a:t>sẽ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nền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màu</a:t>
            </a:r>
            <a:r>
              <a:rPr lang="en-US" sz="2400" dirty="0">
                <a:latin typeface="Times New Roman" panose="02020603050405020304" pitchFamily="18" charset="0"/>
                <a:cs typeface="Times New Roman" panose="02020603050405020304" pitchFamily="18" charset="0"/>
              </a:rPr>
              <a:t> green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chữ</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màu</a:t>
            </a:r>
            <a:r>
              <a:rPr lang="en-US" sz="2400" dirty="0">
                <a:latin typeface="Times New Roman" panose="02020603050405020304" pitchFamily="18" charset="0"/>
                <a:cs typeface="Times New Roman" panose="02020603050405020304" pitchFamily="18" charset="0"/>
              </a:rPr>
              <a:t> white.</a:t>
            </a:r>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pic>
        <p:nvPicPr>
          <p:cNvPr id="2" name="Picture 1"/>
          <p:cNvPicPr>
            <a:picLocks noChangeAspect="1"/>
          </p:cNvPicPr>
          <p:nvPr/>
        </p:nvPicPr>
        <p:blipFill>
          <a:blip r:embed="rId5"/>
          <a:stretch>
            <a:fillRect/>
          </a:stretch>
        </p:blipFill>
        <p:spPr>
          <a:xfrm>
            <a:off x="5880100" y="1771418"/>
            <a:ext cx="5010849" cy="3315163"/>
          </a:xfrm>
          <a:prstGeom prst="rect">
            <a:avLst/>
          </a:prstGeom>
        </p:spPr>
      </p:pic>
    </p:spTree>
    <p:extLst>
      <p:ext uri="{BB962C8B-B14F-4D97-AF65-F5344CB8AC3E}">
        <p14:creationId xmlns:p14="http://schemas.microsoft.com/office/powerpoint/2010/main" val="1831389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a:latin typeface="Times New Roman" panose="02020603050405020304" pitchFamily="18" charset="0"/>
                <a:cs typeface="Times New Roman" panose="02020603050405020304" pitchFamily="18" charset="0"/>
              </a:rPr>
              <a:t>3.4  CSS Selector</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6096000" cy="4563920"/>
          </a:xfrm>
        </p:spPr>
        <p:txBody>
          <a:bodyPr>
            <a:normAutofit/>
          </a:bodyPr>
          <a:lstStyle/>
          <a:p>
            <a:pPr marL="114300" indent="0">
              <a:buNone/>
            </a:pP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3) ID </a:t>
            </a:r>
            <a:r>
              <a:rPr lang="en-US" sz="2400" dirty="0">
                <a:latin typeface="Times New Roman" panose="02020603050405020304" pitchFamily="18" charset="0"/>
                <a:cs typeface="Times New Roman" panose="02020603050405020304" pitchFamily="18" charset="0"/>
              </a:rPr>
              <a:t>Selector (Selector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ID</a:t>
            </a:r>
            <a:r>
              <a:rPr lang="en-US" sz="2400" dirty="0" smtClean="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Chọn phần tử có id cụ thể. Lưu ý rằng mỗi ID trong một trang HTML phải là duy nhất</a:t>
            </a:r>
            <a:r>
              <a:rPr lang="vi-VN"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pPr marL="114300" indent="0">
              <a:buNone/>
            </a:pPr>
            <a:r>
              <a:rPr lang="vi-VN" sz="2400" dirty="0">
                <a:latin typeface="Times New Roman" panose="02020603050405020304" pitchFamily="18" charset="0"/>
                <a:cs typeface="Times New Roman" panose="02020603050405020304" pitchFamily="18" charset="0"/>
              </a:rPr>
              <a:t>Ở ví dụ này, phần tử có id="header" sẽ có kích thước phông chữ là 24px.</a:t>
            </a:r>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pic>
        <p:nvPicPr>
          <p:cNvPr id="2" name="Picture 1"/>
          <p:cNvPicPr>
            <a:picLocks noChangeAspect="1"/>
          </p:cNvPicPr>
          <p:nvPr/>
        </p:nvPicPr>
        <p:blipFill>
          <a:blip r:embed="rId5"/>
          <a:stretch>
            <a:fillRect/>
          </a:stretch>
        </p:blipFill>
        <p:spPr>
          <a:xfrm>
            <a:off x="7038314" y="1827789"/>
            <a:ext cx="4734586" cy="4134427"/>
          </a:xfrm>
          <a:prstGeom prst="rect">
            <a:avLst/>
          </a:prstGeom>
        </p:spPr>
      </p:pic>
    </p:spTree>
    <p:extLst>
      <p:ext uri="{BB962C8B-B14F-4D97-AF65-F5344CB8AC3E}">
        <p14:creationId xmlns:p14="http://schemas.microsoft.com/office/powerpoint/2010/main" val="3728664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smtClean="0">
                <a:latin typeface="Times New Roman" panose="02020603050405020304" pitchFamily="18" charset="0"/>
                <a:cs typeface="Times New Roman" panose="02020603050405020304" pitchFamily="18" charset="0"/>
              </a:rPr>
              <a:t>3.5. </a:t>
            </a:r>
            <a:r>
              <a:rPr lang="en-US" sz="2800" b="1" dirty="0" err="1" smtClean="0">
                <a:latin typeface="Times New Roman" panose="02020603050405020304" pitchFamily="18" charset="0"/>
                <a:cs typeface="Times New Roman" panose="02020603050405020304" pitchFamily="18" charset="0"/>
              </a:rPr>
              <a:t>Các</a:t>
            </a:r>
            <a:r>
              <a:rPr lang="en-US" sz="2800" b="1" dirty="0" smtClean="0">
                <a:latin typeface="Times New Roman" panose="02020603050405020304" pitchFamily="18" charset="0"/>
                <a:cs typeface="Times New Roman" panose="02020603050405020304" pitchFamily="18" charset="0"/>
              </a:rPr>
              <a:t> </a:t>
            </a:r>
            <a:r>
              <a:rPr lang="en-US" sz="2800" b="1" dirty="0" err="1" smtClean="0">
                <a:latin typeface="Times New Roman" panose="02020603050405020304" pitchFamily="18" charset="0"/>
                <a:cs typeface="Times New Roman" panose="02020603050405020304" pitchFamily="18" charset="0"/>
              </a:rPr>
              <a:t>thuộc</a:t>
            </a:r>
            <a:r>
              <a:rPr lang="en-US" sz="2800" b="1" dirty="0" smtClean="0">
                <a:latin typeface="Times New Roman" panose="02020603050405020304" pitchFamily="18" charset="0"/>
                <a:cs typeface="Times New Roman" panose="02020603050405020304" pitchFamily="18" charset="0"/>
              </a:rPr>
              <a:t> </a:t>
            </a:r>
            <a:r>
              <a:rPr lang="en-US" sz="2800" b="1" dirty="0" err="1" smtClean="0">
                <a:latin typeface="Times New Roman" panose="02020603050405020304" pitchFamily="18" charset="0"/>
                <a:cs typeface="Times New Roman" panose="02020603050405020304" pitchFamily="18" charset="0"/>
              </a:rPr>
              <a:t>tính</a:t>
            </a:r>
            <a:r>
              <a:rPr lang="en-US" sz="2800" b="1" dirty="0" smtClean="0">
                <a:latin typeface="Times New Roman" panose="02020603050405020304" pitchFamily="18" charset="0"/>
                <a:cs typeface="Times New Roman" panose="02020603050405020304" pitchFamily="18" charset="0"/>
              </a:rPr>
              <a:t> </a:t>
            </a:r>
            <a:r>
              <a:rPr lang="en-US" sz="2800" b="1" dirty="0" err="1" smtClean="0">
                <a:latin typeface="Times New Roman" panose="02020603050405020304" pitchFamily="18" charset="0"/>
                <a:cs typeface="Times New Roman" panose="02020603050405020304" pitchFamily="18" charset="0"/>
              </a:rPr>
              <a:t>phổ</a:t>
            </a:r>
            <a:r>
              <a:rPr lang="en-US" sz="2800" b="1" dirty="0" smtClean="0">
                <a:latin typeface="Times New Roman" panose="02020603050405020304" pitchFamily="18" charset="0"/>
                <a:cs typeface="Times New Roman" panose="02020603050405020304" pitchFamily="18" charset="0"/>
              </a:rPr>
              <a:t> </a:t>
            </a:r>
            <a:r>
              <a:rPr lang="en-US" sz="2800" b="1" dirty="0" err="1" smtClean="0">
                <a:latin typeface="Times New Roman" panose="02020603050405020304" pitchFamily="18" charset="0"/>
                <a:cs typeface="Times New Roman" panose="02020603050405020304" pitchFamily="18" charset="0"/>
              </a:rPr>
              <a:t>biến</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4563920"/>
          </a:xfrm>
        </p:spPr>
        <p:txBody>
          <a:bodyPr>
            <a:normAutofit/>
          </a:bodyPr>
          <a:lstStyle/>
          <a:p>
            <a:r>
              <a:rPr lang="vi-VN" sz="2400" dirty="0">
                <a:latin typeface="Times New Roman" panose="02020603050405020304" pitchFamily="18" charset="0"/>
                <a:cs typeface="Times New Roman" panose="02020603050405020304" pitchFamily="18" charset="0"/>
              </a:rPr>
              <a:t>Trong CSS, có rất nhiều thuộc tính (properties) để định dạng và thiết kế các phần tử HTML. Dưới đây là một số thuộc tính phổ biến trong CSS</a:t>
            </a:r>
            <a:r>
              <a:rPr lang="vi-VN"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pPr marL="114300" indent="0">
              <a:buNone/>
            </a:pPr>
            <a:r>
              <a:rPr lang="en-US" sz="2400" dirty="0" smtClean="0">
                <a:latin typeface="Times New Roman" panose="02020603050405020304" pitchFamily="18" charset="0"/>
                <a:cs typeface="Times New Roman" panose="02020603050405020304" pitchFamily="18" charset="0"/>
              </a:rPr>
              <a:t>1. Color  </a:t>
            </a:r>
            <a:r>
              <a:rPr lang="en-US" sz="2400" dirty="0" err="1">
                <a:latin typeface="Times New Roman" panose="02020603050405020304" pitchFamily="18" charset="0"/>
                <a:cs typeface="Times New Roman" panose="02020603050405020304" pitchFamily="18" charset="0"/>
              </a:rPr>
              <a:t>Đặt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màu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văn</a:t>
            </a:r>
            <a:r>
              <a:rPr lang="en-US" sz="2400" dirty="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bản</a:t>
            </a:r>
            <a:endParaRPr lang="en-US" sz="2400" dirty="0" smtClean="0">
              <a:latin typeface="Times New Roman" panose="02020603050405020304" pitchFamily="18" charset="0"/>
              <a:cs typeface="Times New Roman" panose="02020603050405020304" pitchFamily="18" charset="0"/>
            </a:endParaRPr>
          </a:p>
          <a:p>
            <a:pPr marL="114300" indent="0">
              <a:buNone/>
            </a:pPr>
            <a:endParaRPr lang="en-US" sz="2400" dirty="0">
              <a:latin typeface="Times New Roman" panose="02020603050405020304" pitchFamily="18" charset="0"/>
              <a:cs typeface="Times New Roman" panose="02020603050405020304" pitchFamily="18" charset="0"/>
            </a:endParaRPr>
          </a:p>
          <a:p>
            <a:pPr marL="114300" indent="0">
              <a:buNone/>
            </a:pPr>
            <a:endParaRPr lang="en-US" sz="2400" dirty="0" smtClean="0">
              <a:latin typeface="Times New Roman" panose="02020603050405020304" pitchFamily="18" charset="0"/>
              <a:cs typeface="Times New Roman" panose="02020603050405020304" pitchFamily="18" charset="0"/>
            </a:endParaRPr>
          </a:p>
          <a:p>
            <a:pPr marL="114300" indent="0">
              <a:buNone/>
            </a:pPr>
            <a:endParaRPr lang="en-US" sz="2400" dirty="0">
              <a:latin typeface="Times New Roman" panose="02020603050405020304" pitchFamily="18" charset="0"/>
              <a:cs typeface="Times New Roman" panose="02020603050405020304" pitchFamily="18" charset="0"/>
            </a:endParaRPr>
          </a:p>
          <a:p>
            <a:pPr marL="114300" indent="0">
              <a:buNone/>
            </a:pPr>
            <a:r>
              <a:rPr lang="vi-VN" sz="2400" dirty="0" smtClean="0">
                <a:latin typeface="Times New Roman" panose="02020603050405020304" pitchFamily="18" charset="0"/>
                <a:cs typeface="Times New Roman" panose="02020603050405020304" pitchFamily="18" charset="0"/>
              </a:rPr>
              <a:t>2.</a:t>
            </a:r>
            <a:r>
              <a:rPr lang="en-US" sz="2400" dirty="0" smtClean="0">
                <a:latin typeface="Times New Roman" panose="02020603050405020304" pitchFamily="18" charset="0"/>
                <a:cs typeface="Times New Roman" panose="02020603050405020304" pitchFamily="18" charset="0"/>
              </a:rPr>
              <a:t> </a:t>
            </a:r>
            <a:r>
              <a:rPr lang="vi-VN" sz="2400" dirty="0" smtClean="0">
                <a:latin typeface="Times New Roman" panose="02020603050405020304" pitchFamily="18" charset="0"/>
                <a:cs typeface="Times New Roman" panose="02020603050405020304" pitchFamily="18" charset="0"/>
              </a:rPr>
              <a:t>font-size</a:t>
            </a:r>
            <a:r>
              <a:rPr lang="vi-VN" sz="2400" dirty="0">
                <a:latin typeface="Times New Roman" panose="02020603050405020304" pitchFamily="18" charset="0"/>
                <a:cs typeface="Times New Roman" panose="02020603050405020304" pitchFamily="18" charset="0"/>
              </a:rPr>
              <a:t>: Đặt kích thước chữ.</a:t>
            </a:r>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pic>
        <p:nvPicPr>
          <p:cNvPr id="2" name="Picture 1"/>
          <p:cNvPicPr>
            <a:picLocks noChangeAspect="1"/>
          </p:cNvPicPr>
          <p:nvPr/>
        </p:nvPicPr>
        <p:blipFill>
          <a:blip r:embed="rId5"/>
          <a:stretch>
            <a:fillRect/>
          </a:stretch>
        </p:blipFill>
        <p:spPr>
          <a:xfrm>
            <a:off x="1447800" y="3071973"/>
            <a:ext cx="2657846" cy="876422"/>
          </a:xfrm>
          <a:prstGeom prst="rect">
            <a:avLst/>
          </a:prstGeom>
        </p:spPr>
      </p:pic>
      <p:pic>
        <p:nvPicPr>
          <p:cNvPr id="6" name="Picture 5"/>
          <p:cNvPicPr>
            <a:picLocks noChangeAspect="1"/>
          </p:cNvPicPr>
          <p:nvPr/>
        </p:nvPicPr>
        <p:blipFill>
          <a:blip r:embed="rId6"/>
          <a:stretch>
            <a:fillRect/>
          </a:stretch>
        </p:blipFill>
        <p:spPr>
          <a:xfrm>
            <a:off x="1447800" y="4961279"/>
            <a:ext cx="2724530" cy="600159"/>
          </a:xfrm>
          <a:prstGeom prst="rect">
            <a:avLst/>
          </a:prstGeom>
        </p:spPr>
      </p:pic>
    </p:spTree>
    <p:extLst>
      <p:ext uri="{BB962C8B-B14F-4D97-AF65-F5344CB8AC3E}">
        <p14:creationId xmlns:p14="http://schemas.microsoft.com/office/powerpoint/2010/main" val="2478326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smtClean="0">
                <a:latin typeface="Times New Roman" panose="02020603050405020304" pitchFamily="18" charset="0"/>
                <a:cs typeface="Times New Roman" panose="02020603050405020304" pitchFamily="18" charset="0"/>
              </a:rPr>
              <a:t>3.5. </a:t>
            </a:r>
            <a:r>
              <a:rPr lang="en-US" sz="2800" b="1" dirty="0" err="1" smtClean="0">
                <a:latin typeface="Times New Roman" panose="02020603050405020304" pitchFamily="18" charset="0"/>
                <a:cs typeface="Times New Roman" panose="02020603050405020304" pitchFamily="18" charset="0"/>
              </a:rPr>
              <a:t>Các</a:t>
            </a:r>
            <a:r>
              <a:rPr lang="en-US" sz="2800" b="1" dirty="0" smtClean="0">
                <a:latin typeface="Times New Roman" panose="02020603050405020304" pitchFamily="18" charset="0"/>
                <a:cs typeface="Times New Roman" panose="02020603050405020304" pitchFamily="18" charset="0"/>
              </a:rPr>
              <a:t> </a:t>
            </a:r>
            <a:r>
              <a:rPr lang="en-US" sz="2800" b="1" dirty="0" err="1" smtClean="0">
                <a:latin typeface="Times New Roman" panose="02020603050405020304" pitchFamily="18" charset="0"/>
                <a:cs typeface="Times New Roman" panose="02020603050405020304" pitchFamily="18" charset="0"/>
              </a:rPr>
              <a:t>thuộc</a:t>
            </a:r>
            <a:r>
              <a:rPr lang="en-US" sz="2800" b="1" dirty="0" smtClean="0">
                <a:latin typeface="Times New Roman" panose="02020603050405020304" pitchFamily="18" charset="0"/>
                <a:cs typeface="Times New Roman" panose="02020603050405020304" pitchFamily="18" charset="0"/>
              </a:rPr>
              <a:t> </a:t>
            </a:r>
            <a:r>
              <a:rPr lang="en-US" sz="2800" b="1" dirty="0" err="1" smtClean="0">
                <a:latin typeface="Times New Roman" panose="02020603050405020304" pitchFamily="18" charset="0"/>
                <a:cs typeface="Times New Roman" panose="02020603050405020304" pitchFamily="18" charset="0"/>
              </a:rPr>
              <a:t>tính</a:t>
            </a:r>
            <a:r>
              <a:rPr lang="en-US" sz="2800" b="1" dirty="0" smtClean="0">
                <a:latin typeface="Times New Roman" panose="02020603050405020304" pitchFamily="18" charset="0"/>
                <a:cs typeface="Times New Roman" panose="02020603050405020304" pitchFamily="18" charset="0"/>
              </a:rPr>
              <a:t> </a:t>
            </a:r>
            <a:r>
              <a:rPr lang="en-US" sz="2800" b="1" dirty="0" err="1" smtClean="0">
                <a:latin typeface="Times New Roman" panose="02020603050405020304" pitchFamily="18" charset="0"/>
                <a:cs typeface="Times New Roman" panose="02020603050405020304" pitchFamily="18" charset="0"/>
              </a:rPr>
              <a:t>phổ</a:t>
            </a:r>
            <a:r>
              <a:rPr lang="en-US" sz="2800" b="1" dirty="0" smtClean="0">
                <a:latin typeface="Times New Roman" panose="02020603050405020304" pitchFamily="18" charset="0"/>
                <a:cs typeface="Times New Roman" panose="02020603050405020304" pitchFamily="18" charset="0"/>
              </a:rPr>
              <a:t> </a:t>
            </a:r>
            <a:r>
              <a:rPr lang="en-US" sz="2800" b="1" dirty="0" err="1" smtClean="0">
                <a:latin typeface="Times New Roman" panose="02020603050405020304" pitchFamily="18" charset="0"/>
                <a:cs typeface="Times New Roman" panose="02020603050405020304" pitchFamily="18" charset="0"/>
              </a:rPr>
              <a:t>biến</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4563920"/>
          </a:xfrm>
        </p:spPr>
        <p:txBody>
          <a:bodyPr>
            <a:normAutofit/>
          </a:bodyPr>
          <a:lstStyle/>
          <a:p>
            <a:pPr marL="114300" indent="0">
              <a:buNone/>
            </a:pPr>
            <a:r>
              <a:rPr lang="en-US" sz="2400" dirty="0" smtClean="0">
                <a:latin typeface="Times New Roman" panose="02020603050405020304" pitchFamily="18" charset="0"/>
                <a:cs typeface="Times New Roman" panose="02020603050405020304" pitchFamily="18" charset="0"/>
              </a:rPr>
              <a:t>3. background-color</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Đặt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màu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nền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phần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tử</a:t>
            </a:r>
            <a:r>
              <a:rPr lang="en-US" sz="2400" dirty="0" smtClean="0">
                <a:latin typeface="Times New Roman" panose="02020603050405020304" pitchFamily="18" charset="0"/>
                <a:cs typeface="Times New Roman" panose="02020603050405020304" pitchFamily="18" charset="0"/>
              </a:rPr>
              <a:t>.</a:t>
            </a:r>
          </a:p>
          <a:p>
            <a:pPr marL="114300" indent="0">
              <a:buNone/>
            </a:pPr>
            <a:endParaRPr lang="en-US" sz="2400" dirty="0">
              <a:latin typeface="Times New Roman" panose="02020603050405020304" pitchFamily="18" charset="0"/>
              <a:cs typeface="Times New Roman" panose="02020603050405020304" pitchFamily="18" charset="0"/>
            </a:endParaRPr>
          </a:p>
          <a:p>
            <a:pPr marL="114300" indent="0">
              <a:buNone/>
            </a:pPr>
            <a:endParaRPr lang="en-US" sz="2400" dirty="0" smtClean="0">
              <a:latin typeface="Times New Roman" panose="02020603050405020304" pitchFamily="18" charset="0"/>
              <a:cs typeface="Times New Roman" panose="02020603050405020304" pitchFamily="18" charset="0"/>
            </a:endParaRPr>
          </a:p>
          <a:p>
            <a:pPr marL="114300" indent="0">
              <a:buNone/>
            </a:pPr>
            <a:r>
              <a:rPr lang="en-US" sz="2400" dirty="0" smtClean="0">
                <a:latin typeface="Times New Roman" panose="02020603050405020304" pitchFamily="18" charset="0"/>
                <a:cs typeface="Times New Roman" panose="02020603050405020304" pitchFamily="18" charset="0"/>
              </a:rPr>
              <a:t>4. padding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Đặt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khoảng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giữa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nội</a:t>
            </a:r>
            <a:r>
              <a:rPr lang="en-US" sz="2400" dirty="0">
                <a:latin typeface="Times New Roman" panose="02020603050405020304" pitchFamily="18" charset="0"/>
                <a:cs typeface="Times New Roman" panose="02020603050405020304" pitchFamily="18" charset="0"/>
              </a:rPr>
              <a:t> dung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biên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phần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tử</a:t>
            </a:r>
            <a:r>
              <a:rPr lang="en-US" sz="2400" dirty="0" smtClean="0">
                <a:latin typeface="Times New Roman" panose="02020603050405020304" pitchFamily="18" charset="0"/>
                <a:cs typeface="Times New Roman" panose="02020603050405020304" pitchFamily="18" charset="0"/>
              </a:rPr>
              <a:t>.</a:t>
            </a:r>
          </a:p>
          <a:p>
            <a:pPr marL="114300" indent="0">
              <a:buNone/>
            </a:pPr>
            <a:endParaRPr lang="en-US" sz="2400" dirty="0">
              <a:latin typeface="Times New Roman" panose="02020603050405020304" pitchFamily="18" charset="0"/>
              <a:cs typeface="Times New Roman" panose="02020603050405020304" pitchFamily="18" charset="0"/>
            </a:endParaRPr>
          </a:p>
          <a:p>
            <a:pPr marL="114300" indent="0">
              <a:buNone/>
            </a:pPr>
            <a:endParaRPr lang="en-US" sz="2400" dirty="0" smtClean="0">
              <a:latin typeface="Times New Roman" panose="02020603050405020304" pitchFamily="18" charset="0"/>
              <a:cs typeface="Times New Roman" panose="02020603050405020304" pitchFamily="18" charset="0"/>
            </a:endParaRPr>
          </a:p>
          <a:p>
            <a:pPr marL="114300" indent="0">
              <a:buNone/>
            </a:pPr>
            <a:r>
              <a:rPr lang="en-US" sz="2400" dirty="0" err="1" smtClean="0">
                <a:latin typeface="Times New Roman" panose="02020603050405020304" pitchFamily="18" charset="0"/>
                <a:cs typeface="Times New Roman" panose="02020603050405020304" pitchFamily="18" charset="0"/>
              </a:rPr>
              <a:t>Còn</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rất</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nhiều</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thuộc</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tính</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để</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cấu</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hình</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css</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Tham</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khảo</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tại</a:t>
            </a:r>
            <a:r>
              <a:rPr lang="en-US"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hlinkClick r:id="rId5"/>
              </a:rPr>
              <a:t>https://www.w3schools.com/css</a:t>
            </a:r>
            <a:r>
              <a:rPr lang="en-US" sz="2400" dirty="0" smtClean="0">
                <a:latin typeface="Times New Roman" panose="02020603050405020304" pitchFamily="18" charset="0"/>
                <a:cs typeface="Times New Roman" panose="02020603050405020304" pitchFamily="18" charset="0"/>
                <a:hlinkClick r:id="rId5"/>
              </a:rPr>
              <a:t>/</a:t>
            </a:r>
            <a:endParaRPr lang="en-US" sz="2400" dirty="0" smtClean="0">
              <a:latin typeface="Times New Roman" panose="02020603050405020304" pitchFamily="18" charset="0"/>
              <a:cs typeface="Times New Roman" panose="02020603050405020304" pitchFamily="18" charset="0"/>
            </a:endParaRPr>
          </a:p>
          <a:p>
            <a:pPr marL="114300" indent="0">
              <a:buNone/>
            </a:pPr>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pic>
        <p:nvPicPr>
          <p:cNvPr id="7" name="Picture 6"/>
          <p:cNvPicPr>
            <a:picLocks noChangeAspect="1"/>
          </p:cNvPicPr>
          <p:nvPr/>
        </p:nvPicPr>
        <p:blipFill>
          <a:blip r:embed="rId6"/>
          <a:stretch>
            <a:fillRect/>
          </a:stretch>
        </p:blipFill>
        <p:spPr>
          <a:xfrm>
            <a:off x="1236392" y="2185827"/>
            <a:ext cx="3877216" cy="685896"/>
          </a:xfrm>
          <a:prstGeom prst="rect">
            <a:avLst/>
          </a:prstGeom>
        </p:spPr>
      </p:pic>
      <p:pic>
        <p:nvPicPr>
          <p:cNvPr id="8" name="Picture 7"/>
          <p:cNvPicPr>
            <a:picLocks noChangeAspect="1"/>
          </p:cNvPicPr>
          <p:nvPr/>
        </p:nvPicPr>
        <p:blipFill>
          <a:blip r:embed="rId7"/>
          <a:stretch>
            <a:fillRect/>
          </a:stretch>
        </p:blipFill>
        <p:spPr>
          <a:xfrm>
            <a:off x="1236392" y="3649080"/>
            <a:ext cx="2286319" cy="609685"/>
          </a:xfrm>
          <a:prstGeom prst="rect">
            <a:avLst/>
          </a:prstGeom>
        </p:spPr>
      </p:pic>
    </p:spTree>
    <p:extLst>
      <p:ext uri="{BB962C8B-B14F-4D97-AF65-F5344CB8AC3E}">
        <p14:creationId xmlns:p14="http://schemas.microsoft.com/office/powerpoint/2010/main" val="3200410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47800" y="1307628"/>
            <a:ext cx="9031014" cy="4658711"/>
          </a:xfrm>
          <a:prstGeom prst="rect">
            <a:avLst/>
          </a:prstGeom>
        </p:spPr>
      </p:pic>
    </p:spTree>
    <p:extLst>
      <p:ext uri="{BB962C8B-B14F-4D97-AF65-F5344CB8AC3E}">
        <p14:creationId xmlns:p14="http://schemas.microsoft.com/office/powerpoint/2010/main" val="108930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theme/theme1.xml><?xml version="1.0" encoding="utf-8"?>
<a:theme xmlns:a="http://schemas.openxmlformats.org/drawingml/2006/main" name="Office Theme">
  <a:themeElements>
    <a:clrScheme name="9Slide - 2019">
      <a:dk1>
        <a:srgbClr val="000000"/>
      </a:dk1>
      <a:lt1>
        <a:srgbClr val="FFFFFF"/>
      </a:lt1>
      <a:dk2>
        <a:srgbClr val="092D6C"/>
      </a:dk2>
      <a:lt2>
        <a:srgbClr val="FCECD0"/>
      </a:lt2>
      <a:accent1>
        <a:srgbClr val="4FC1E9"/>
      </a:accent1>
      <a:accent2>
        <a:srgbClr val="48CFAD"/>
      </a:accent2>
      <a:accent3>
        <a:srgbClr val="A0D468"/>
      </a:accent3>
      <a:accent4>
        <a:srgbClr val="FFCE54"/>
      </a:accent4>
      <a:accent5>
        <a:srgbClr val="FC6E51"/>
      </a:accent5>
      <a:accent6>
        <a:srgbClr val="ED5565"/>
      </a:accent6>
      <a:hlink>
        <a:srgbClr val="5D9CEC"/>
      </a:hlink>
      <a:folHlink>
        <a:srgbClr val="AC92E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TotalTime>
  <Words>2036</Words>
  <Application>Microsoft Office PowerPoint</Application>
  <PresentationFormat>Widescreen</PresentationFormat>
  <Paragraphs>157</Paragraphs>
  <Slides>27</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Oi</vt:lpstr>
      <vt:lpstr>Wingdings</vt:lpstr>
      <vt:lpstr>Times New Roman</vt:lpstr>
      <vt:lpstr>Arial</vt:lpstr>
      <vt:lpstr>Office Theme</vt:lpstr>
      <vt:lpstr>PowerPoint Presentation</vt:lpstr>
      <vt:lpstr>Nội dung</vt:lpstr>
      <vt:lpstr>1. Front-end</vt:lpstr>
      <vt:lpstr>1. Front-end</vt:lpstr>
      <vt:lpstr>2. HTML</vt:lpstr>
      <vt:lpstr>2.1 Định nghĩa</vt:lpstr>
      <vt:lpstr>2.1 Định nghĩa</vt:lpstr>
      <vt:lpstr>2.2 Thuộc tính trong HTML</vt:lpstr>
      <vt:lpstr>2.3 Một số thuộc tính phổ biến trong HTML</vt:lpstr>
      <vt:lpstr>2.3 Một số thuộc tính phổ biến trong HTML</vt:lpstr>
      <vt:lpstr>2.4 Các thẻ cơ bản trong HTML</vt:lpstr>
      <vt:lpstr>2.4 Các thẻ cơ bản trong HTML</vt:lpstr>
      <vt:lpstr>2.4 Các thẻ cơ bản trong HTML</vt:lpstr>
      <vt:lpstr>2.4 Các thẻ cơ bản trong HTML</vt:lpstr>
      <vt:lpstr>2.4 Các thẻ cơ bản trong HTML</vt:lpstr>
      <vt:lpstr>2.4 Các thẻ cơ bản trong HTML</vt:lpstr>
      <vt:lpstr>3. CSS (Cascading Style Sheets) </vt:lpstr>
      <vt:lpstr>3.1 Nhúng CSS trực tiếp (Inline CSS)</vt:lpstr>
      <vt:lpstr>3.2 Nhúng CSS trong thẻ &lt;style&gt; (Internal CSS)</vt:lpstr>
      <vt:lpstr>3.3 Liên kết tệp CSS bên ngoài (External CSS)</vt:lpstr>
      <vt:lpstr>3.4  CSS Selector</vt:lpstr>
      <vt:lpstr>3.4  CSS Selector</vt:lpstr>
      <vt:lpstr>3.4  CSS Selector</vt:lpstr>
      <vt:lpstr>3.4  CSS Selector</vt:lpstr>
      <vt:lpstr>3.5. Các thuộc tính phổ biến</vt:lpstr>
      <vt:lpstr>3.5. Các thuộc tính phổ biến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7390</cp:lastModifiedBy>
  <cp:revision>11</cp:revision>
  <dcterms:created xsi:type="dcterms:W3CDTF">2020-08-07T13:14:06Z</dcterms:created>
  <dcterms:modified xsi:type="dcterms:W3CDTF">2025-03-23T14:11:29Z</dcterms:modified>
</cp:coreProperties>
</file>