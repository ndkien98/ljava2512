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5" r:id="rId3"/>
    <p:sldId id="304" r:id="rId4"/>
    <p:sldId id="556" r:id="rId5"/>
    <p:sldId id="557" r:id="rId6"/>
    <p:sldId id="558" r:id="rId7"/>
    <p:sldId id="559" r:id="rId8"/>
    <p:sldId id="560" r:id="rId9"/>
    <p:sldId id="561" r:id="rId10"/>
    <p:sldId id="562" r:id="rId11"/>
    <p:sldId id="563" r:id="rId12"/>
    <p:sldId id="564" r:id="rId13"/>
    <p:sldId id="565" r:id="rId14"/>
    <p:sldId id="533" r:id="rId15"/>
    <p:sldId id="566"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A8D"/>
    <a:srgbClr val="F374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18" autoAdjust="0"/>
    <p:restoredTop sz="90927" autoAdjust="0"/>
  </p:normalViewPr>
  <p:slideViewPr>
    <p:cSldViewPr showGuides="1">
      <p:cViewPr varScale="1">
        <p:scale>
          <a:sx n="82" d="100"/>
          <a:sy n="82" d="100"/>
        </p:scale>
        <p:origin x="802" y="7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0CA23-529A-4EF8-8223-71670FB2E6B0}"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B3AC1-31BD-4489-AD65-1880DF521EC4}" type="slidenum">
              <a:rPr lang="en-US" smtClean="0"/>
              <a:t>‹#›</a:t>
            </a:fld>
            <a:endParaRPr lang="en-US"/>
          </a:p>
        </p:txBody>
      </p:sp>
    </p:spTree>
    <p:extLst>
      <p:ext uri="{BB962C8B-B14F-4D97-AF65-F5344CB8AC3E}">
        <p14:creationId xmlns:p14="http://schemas.microsoft.com/office/powerpoint/2010/main" val="3711154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4DA77-0714-4226-8456-DE0FB00C8765}"/>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3" name="Footer Placeholder 2">
            <a:extLst>
              <a:ext uri="{FF2B5EF4-FFF2-40B4-BE49-F238E27FC236}">
                <a16:creationId xmlns:a16="http://schemas.microsoft.com/office/drawing/2014/main" id="{548689CE-C57C-4CCE-B5D7-91A284CB19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40DF66-3D9B-4E31-B419-8D199F946398}"/>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246496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A372-E784-4489-91B1-EB5F9893BA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E1B435-934F-44C4-8F1B-EC379BCB0879}"/>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4" name="Footer Placeholder 3">
            <a:extLst>
              <a:ext uri="{FF2B5EF4-FFF2-40B4-BE49-F238E27FC236}">
                <a16:creationId xmlns:a16="http://schemas.microsoft.com/office/drawing/2014/main" id="{7D9BAE6C-C81A-448F-810E-8201A0E7D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8452A-D52B-4D53-AA70-42F3E1B91326}"/>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262328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A006-59DD-41EF-BB59-5CF0A5B0F3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CF5D0-5E86-4B07-82F0-4706674B42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32F55C-8EFE-4A66-9DB3-D0CB88777B6B}"/>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B3E38045-8612-4FFC-BF9F-64FB98C8E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15B52-8190-4B2D-852C-B23A268AE49F}"/>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16374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2C063-6317-449C-A341-883F2682D4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53C2C5-1069-41AD-AB8E-A272B5F74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335F9C6-7A1E-4BB1-8382-AF2048FA9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CF1DA-3491-456F-B971-C43EFCD2163E}"/>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6" name="Footer Placeholder 5">
            <a:extLst>
              <a:ext uri="{FF2B5EF4-FFF2-40B4-BE49-F238E27FC236}">
                <a16:creationId xmlns:a16="http://schemas.microsoft.com/office/drawing/2014/main" id="{A2D613E6-C32A-4783-9219-260167E50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57CA7-22C9-4637-98D5-45CB81C4CD6F}"/>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180403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C8BC-CF44-4FCD-ACB9-6C06E1FD0D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26985-A785-4717-80AD-9B8D8F5B8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05A630-F12E-492E-A3AD-AE8A23606B49}"/>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7F5C2166-B6AA-4084-B4D7-069DDC982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20EA2-78ED-4391-B2FB-25000FDBCAA6}"/>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4275132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1648-7584-4AEA-8C77-7809A781D6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69EACA-EA18-4330-8E00-A6EE638C59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741BCD-3A1F-4F81-8567-C86538D04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ECD319-65C0-4D9E-8CC8-C9F4B7BAB83C}"/>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6" name="Footer Placeholder 5">
            <a:extLst>
              <a:ext uri="{FF2B5EF4-FFF2-40B4-BE49-F238E27FC236}">
                <a16:creationId xmlns:a16="http://schemas.microsoft.com/office/drawing/2014/main" id="{13AF69DE-49A0-40DA-9375-B38039E456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4ADCBC-3C3A-4256-87D5-D0D9AF50D871}"/>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386623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9Slide.vn - 2019">
            <a:extLst>
              <a:ext uri="{FF2B5EF4-FFF2-40B4-BE49-F238E27FC236}">
                <a16:creationId xmlns:a16="http://schemas.microsoft.com/office/drawing/2014/main" id="{FE922A83-4E49-4FD7-BEC2-D933775F8304}"/>
              </a:ext>
            </a:extLst>
          </p:cNvPr>
          <p:cNvSpPr txBox="1"/>
          <p:nvPr userDrawn="1"/>
        </p:nvSpPr>
        <p:spPr>
          <a:xfrm>
            <a:off x="0" y="-712232"/>
            <a:ext cx="12192000" cy="369332"/>
          </a:xfrm>
          <a:prstGeom prst="rect">
            <a:avLst/>
          </a:prstGeom>
          <a:noFill/>
        </p:spPr>
        <p:txBody>
          <a:bodyPr vert="horz" wrap="none" lIns="0" tIns="0" rIns="0" bIns="0" rtlCol="0">
            <a:spAutoFit/>
          </a:bodyPr>
          <a:lstStyle/>
          <a:p>
            <a:pPr algn="ctr"/>
            <a:r>
              <a:rPr lang="en-US" sz="2400">
                <a:solidFill>
                  <a:srgbClr val="D7D7D7"/>
                </a:solidFill>
              </a:rPr>
              <a:t>www.9slide.vn</a:t>
            </a:r>
          </a:p>
        </p:txBody>
      </p:sp>
      <p:sp>
        <p:nvSpPr>
          <p:cNvPr id="2" name="Title Placeholder 1">
            <a:extLst>
              <a:ext uri="{FF2B5EF4-FFF2-40B4-BE49-F238E27FC236}">
                <a16:creationId xmlns:a16="http://schemas.microsoft.com/office/drawing/2014/main" id="{76CB0E7E-7BDA-4369-B06E-95E5B313A5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F2DE87-7D95-4722-9EE5-248D158C7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0A038-BC78-4ECC-BEFF-CCB515E484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50ECDB14-4F91-4B5C-8ACA-1B5E7E69B7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30118F-80C4-4861-A4D3-A50D382E7D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F55963-6440-4C45-BA09-4E6A99D1BBE0}" type="slidenum">
              <a:rPr lang="en-US" smtClean="0"/>
              <a:t>‹#›</a:t>
            </a:fld>
            <a:endParaRPr lang="en-US"/>
          </a:p>
        </p:txBody>
      </p:sp>
      <p:sp>
        <p:nvSpPr>
          <p:cNvPr id="7" name="Oval 6">
            <a:extLst>
              <a:ext uri="{FF2B5EF4-FFF2-40B4-BE49-F238E27FC236}">
                <a16:creationId xmlns:a16="http://schemas.microsoft.com/office/drawing/2014/main" id="{38D51644-545E-44E3-BC6E-2AD8AC8B2625}"/>
              </a:ext>
            </a:extLst>
          </p:cNvPr>
          <p:cNvSpPr/>
          <p:nvPr userDrawn="1"/>
        </p:nvSpPr>
        <p:spPr>
          <a:xfrm>
            <a:off x="-23164800"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1B1CA3B-4E43-438A-9AA3-C4D817313CF4}"/>
              </a:ext>
            </a:extLst>
          </p:cNvPr>
          <p:cNvSpPr/>
          <p:nvPr userDrawn="1"/>
        </p:nvSpPr>
        <p:spPr>
          <a:xfrm>
            <a:off x="34961779"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3004496-AE44-4F53-BEA8-30179F68F210}"/>
              </a:ext>
            </a:extLst>
          </p:cNvPr>
          <p:cNvSpPr/>
          <p:nvPr userDrawn="1"/>
        </p:nvSpPr>
        <p:spPr>
          <a:xfrm>
            <a:off x="34961779"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4C10C7B-BAE9-4433-8761-500EAC3C28A0}"/>
              </a:ext>
            </a:extLst>
          </p:cNvPr>
          <p:cNvSpPr/>
          <p:nvPr userDrawn="1"/>
        </p:nvSpPr>
        <p:spPr>
          <a:xfrm>
            <a:off x="-23164800"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D0CE00B-B040-4546-AF5D-EEF96AA126B0}"/>
              </a:ext>
            </a:extLst>
          </p:cNvPr>
          <p:cNvGrpSpPr>
            <a:grpSpLocks noGrp="1" noSelect="1" noRot="1" noMove="1" noResize="1"/>
          </p:cNvGrpSpPr>
          <p:nvPr userDrawn="1">
            <p:custDataLst>
              <p:tags r:id="rId8"/>
            </p:custDataLst>
          </p:nvPr>
        </p:nvGrpSpPr>
        <p:grpSpPr>
          <a:xfrm>
            <a:off x="-2202100" y="-2224223"/>
            <a:ext cx="16596200" cy="11284323"/>
            <a:chOff x="-2202100" y="-2224223"/>
            <a:chExt cx="16596200" cy="11284323"/>
          </a:xfrm>
        </p:grpSpPr>
        <p:sp>
          <p:nvSpPr>
            <p:cNvPr id="12" name="Rectangle 11">
              <a:extLst>
                <a:ext uri="{FF2B5EF4-FFF2-40B4-BE49-F238E27FC236}">
                  <a16:creationId xmlns:a16="http://schemas.microsoft.com/office/drawing/2014/main" id="{AA423BDB-6737-4700-9989-01683A4147DA}"/>
                </a:ext>
              </a:extLst>
            </p:cNvPr>
            <p:cNvSpPr/>
            <p:nvPr/>
          </p:nvSpPr>
          <p:spPr>
            <a:xfrm>
              <a:off x="4851540" y="8494776"/>
              <a:ext cx="2488920" cy="565324"/>
            </a:xfrm>
            <a:prstGeom prst="rect">
              <a:avLst/>
            </a:prstGeom>
            <a:noFill/>
            <a:ln w="215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391E50D3-44ED-477F-84FB-1E24BC65ED8F}"/>
                </a:ext>
              </a:extLst>
            </p:cNvPr>
            <p:cNvSpPr txBox="1"/>
            <p:nvPr/>
          </p:nvSpPr>
          <p:spPr>
            <a:xfrm>
              <a:off x="5006988" y="8647176"/>
              <a:ext cx="2178025" cy="260524"/>
            </a:xfrm>
            <a:custGeom>
              <a:avLst/>
              <a:gdLst/>
              <a:ahLst/>
              <a:cxnLst/>
              <a:rect l="l" t="t" r="r" b="b"/>
              <a:pathLst>
                <a:path w="2178025" h="260524">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chemeClr val="bg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700">
                <a:solidFill>
                  <a:schemeClr val="bg1">
                    <a:lumMod val="75000"/>
                  </a:schemeClr>
                </a:solidFill>
                <a:latin typeface="#9Slide02 Noi dung dai" panose="02000000000000000000" pitchFamily="2" charset="0"/>
                <a:ea typeface="#9Slide02 Noi dung dai" panose="02000000000000000000" pitchFamily="2" charset="0"/>
              </a:endParaRPr>
            </a:p>
          </p:txBody>
        </p:sp>
        <p:sp>
          <p:nvSpPr>
            <p:cNvPr id="14" name="Rectangle 13">
              <a:extLst>
                <a:ext uri="{FF2B5EF4-FFF2-40B4-BE49-F238E27FC236}">
                  <a16:creationId xmlns:a16="http://schemas.microsoft.com/office/drawing/2014/main" id="{52465F73-4B27-4C0F-9B02-510C8E083EB6}"/>
                </a:ext>
              </a:extLst>
            </p:cNvPr>
            <p:cNvSpPr/>
            <p:nvPr/>
          </p:nvSpPr>
          <p:spPr>
            <a:xfrm>
              <a:off x="-2202100" y="-2224223"/>
              <a:ext cx="16596200" cy="112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18146389"/>
      </p:ext>
    </p:extLst>
  </p:cSld>
  <p:clrMap bg1="lt1" tx1="dk1" bg2="lt2" tx2="dk2" accent1="accent1" accent2="accent2" accent3="accent3" accent4="accent4" accent5="accent5" accent6="accent6" hlink="hlink" folHlink="folHlink"/>
  <p:sldLayoutIdLst>
    <p:sldLayoutId id="2147483655" r:id="rId1"/>
    <p:sldLayoutId id="2147483654" r:id="rId2"/>
    <p:sldLayoutId id="2147483649" r:id="rId3"/>
    <p:sldLayoutId id="2147483657" r:id="rId4"/>
    <p:sldLayoutId id="2147483650" r:id="rId5"/>
    <p:sldLayoutId id="2147483652"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27150BC6-8183-438E-9FC3-E7389576DD78}"/>
              </a:ext>
            </a:extLst>
          </p:cNvPr>
          <p:cNvSpPr txBox="1"/>
          <p:nvPr/>
        </p:nvSpPr>
        <p:spPr>
          <a:xfrm>
            <a:off x="1676400" y="2819400"/>
            <a:ext cx="8915400" cy="923330"/>
          </a:xfrm>
          <a:prstGeom prst="rect">
            <a:avLst/>
          </a:prstGeom>
          <a:noFill/>
        </p:spPr>
        <p:txBody>
          <a:bodyPr wrap="square" lIns="0" tIns="0" rIns="0" bIns="0" rtlCol="0">
            <a:spAutoFit/>
          </a:bodyPr>
          <a:lstStyle/>
          <a:p>
            <a:pPr algn="l"/>
            <a:r>
              <a:rPr lang="en-US" sz="6000" dirty="0">
                <a:solidFill>
                  <a:srgbClr val="154A8D"/>
                </a:solidFill>
                <a:latin typeface="#9Slide02 Tieu de rat dai 02" panose="020B0606020202050201" pitchFamily="34" charset="0"/>
              </a:rPr>
              <a:t>Java Backend</a:t>
            </a:r>
          </a:p>
        </p:txBody>
      </p:sp>
      <p:pic>
        <p:nvPicPr>
          <p:cNvPr id="8" name="Graphic 7">
            <a:extLst>
              <a:ext uri="{FF2B5EF4-FFF2-40B4-BE49-F238E27FC236}">
                <a16:creationId xmlns:a16="http://schemas.microsoft.com/office/drawing/2014/main" id="{E9D76A19-BB08-4BB2-B289-7DDC93C3AE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3872" y="914400"/>
            <a:ext cx="7445124" cy="502920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spTree>
    <p:extLst>
      <p:ext uri="{BB962C8B-B14F-4D97-AF65-F5344CB8AC3E}">
        <p14:creationId xmlns:p14="http://schemas.microsoft.com/office/powerpoint/2010/main" val="28170795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sp>
        <p:nvSpPr>
          <p:cNvPr id="11" name="圆角矩形 14"/>
          <p:cNvSpPr/>
          <p:nvPr/>
        </p:nvSpPr>
        <p:spPr>
          <a:xfrm>
            <a:off x="2032731" y="1600201"/>
            <a:ext cx="746659" cy="600659"/>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grpSp>
        <p:nvGrpSpPr>
          <p:cNvPr id="12" name="组合 16"/>
          <p:cNvGrpSpPr/>
          <p:nvPr/>
        </p:nvGrpSpPr>
        <p:grpSpPr>
          <a:xfrm>
            <a:off x="2027919" y="3064681"/>
            <a:ext cx="782361" cy="718591"/>
            <a:chOff x="2785863" y="1141409"/>
            <a:chExt cx="1147961" cy="966191"/>
          </a:xfrm>
        </p:grpSpPr>
        <p:sp>
          <p:nvSpPr>
            <p:cNvPr id="13" name="圆角矩形 20"/>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 name="圆角矩形 21"/>
            <p:cNvSpPr/>
            <p:nvPr/>
          </p:nvSpPr>
          <p:spPr>
            <a:xfrm>
              <a:off x="2785863" y="1141409"/>
              <a:ext cx="1063215" cy="901028"/>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grpSp>
      <p:sp>
        <p:nvSpPr>
          <p:cNvPr id="15" name="圆角矩形 40" descr="Làm  Quen Với Hàm(Method)">
            <a:extLst>
              <a:ext uri="{C183D7F6-B498-43B3-948B-1728B52AA6E4}">
                <adec:decorative xmlns:adec="http://schemas.microsoft.com/office/drawing/2017/decorative" val="0"/>
              </a:ext>
            </a:extLst>
          </p:cNvPr>
          <p:cNvSpPr/>
          <p:nvPr/>
        </p:nvSpPr>
        <p:spPr>
          <a:xfrm>
            <a:off x="3100650" y="1600201"/>
            <a:ext cx="6423675" cy="603613"/>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Mô</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hình</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MVC</a:t>
            </a:r>
          </a:p>
        </p:txBody>
      </p:sp>
      <p:sp>
        <p:nvSpPr>
          <p:cNvPr id="16" name="圆角矩形 45"/>
          <p:cNvSpPr/>
          <p:nvPr/>
        </p:nvSpPr>
        <p:spPr>
          <a:xfrm>
            <a:off x="3102549" y="3079942"/>
            <a:ext cx="6422451" cy="642887"/>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Bài</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tập</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thực</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hành</a:t>
            </a:r>
            <a:endPar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nvGrpSpPr>
          <p:cNvPr id="17" name="组合 56"/>
          <p:cNvGrpSpPr/>
          <p:nvPr/>
        </p:nvGrpSpPr>
        <p:grpSpPr>
          <a:xfrm>
            <a:off x="2689456" y="1600201"/>
            <a:ext cx="404758" cy="3012351"/>
            <a:chOff x="3971019" y="796001"/>
            <a:chExt cx="660256" cy="5338506"/>
          </a:xfrm>
        </p:grpSpPr>
        <p:sp>
          <p:nvSpPr>
            <p:cNvPr id="18" name="矩形 58"/>
            <p:cNvSpPr/>
            <p:nvPr/>
          </p:nvSpPr>
          <p:spPr>
            <a:xfrm>
              <a:off x="4178614" y="796001"/>
              <a:ext cx="452661" cy="5287413"/>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pic>
          <p:nvPicPr>
            <p:cNvPr id="19" name="图片 59"/>
            <p:cNvPicPr>
              <a:picLocks noChangeAspect="1"/>
            </p:cNvPicPr>
            <p:nvPr/>
          </p:nvPicPr>
          <p:blipFill rotWithShape="1">
            <a:blip r:embed="rId4">
              <a:extLst>
                <a:ext uri="{BEBA8EAE-BF5A-486C-A8C5-ECC9F3942E4B}">
                  <a14:imgProps xmlns:a14="http://schemas.microsoft.com/office/drawing/2010/main">
                    <a14:imgLayer r:embed="rId5">
                      <a14:imgEffect>
                        <a14:saturation sat="66000"/>
                      </a14:imgEffect>
                    </a14:imgLayer>
                  </a14:imgProps>
                </a:ext>
              </a:extLst>
            </a:blip>
            <a:srcRect t="76775"/>
            <a:stretch>
              <a:fillRect/>
            </a:stretch>
          </p:blipFill>
          <p:spPr>
            <a:xfrm rot="5400000">
              <a:off x="1404452" y="3362569"/>
              <a:ext cx="5338505" cy="205371"/>
            </a:xfrm>
            <a:prstGeom prst="rect">
              <a:avLst/>
            </a:prstGeom>
          </p:spPr>
        </p:pic>
      </p:grpSp>
      <p:sp>
        <p:nvSpPr>
          <p:cNvPr id="20" name="圆角矩形 34">
            <a:extLst>
              <a:ext uri="{FF2B5EF4-FFF2-40B4-BE49-F238E27FC236}">
                <a16:creationId xmlns:a16="http://schemas.microsoft.com/office/drawing/2014/main" id="{4A98B195-D5E7-4238-B9B0-9E6698C21C3A}"/>
              </a:ext>
            </a:extLst>
          </p:cNvPr>
          <p:cNvSpPr/>
          <p:nvPr/>
        </p:nvSpPr>
        <p:spPr>
          <a:xfrm>
            <a:off x="2036295" y="2291899"/>
            <a:ext cx="722927" cy="640782"/>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grpSp>
        <p:nvGrpSpPr>
          <p:cNvPr id="21" name="组合 51">
            <a:extLst>
              <a:ext uri="{FF2B5EF4-FFF2-40B4-BE49-F238E27FC236}">
                <a16:creationId xmlns:a16="http://schemas.microsoft.com/office/drawing/2014/main" id="{8541760D-945C-4378-82F6-7A5400A5AB52}"/>
              </a:ext>
            </a:extLst>
          </p:cNvPr>
          <p:cNvGrpSpPr/>
          <p:nvPr/>
        </p:nvGrpSpPr>
        <p:grpSpPr>
          <a:xfrm>
            <a:off x="3088685" y="2291899"/>
            <a:ext cx="6435920" cy="651508"/>
            <a:chOff x="4555084" y="4807549"/>
            <a:chExt cx="4361682" cy="974162"/>
          </a:xfrm>
        </p:grpSpPr>
        <p:pic>
          <p:nvPicPr>
            <p:cNvPr id="22" name="图片 52">
              <a:extLst>
                <a:ext uri="{FF2B5EF4-FFF2-40B4-BE49-F238E27FC236}">
                  <a16:creationId xmlns:a16="http://schemas.microsoft.com/office/drawing/2014/main" id="{FFBFCEFB-B31E-4550-BC8E-612DD98E2383}"/>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66000"/>
                      </a14:imgEffect>
                    </a14:imgLayer>
                  </a14:imgProps>
                </a:ext>
              </a:extLst>
            </a:blip>
            <a:srcRect t="76775"/>
            <a:stretch>
              <a:fillRect/>
            </a:stretch>
          </p:blipFill>
          <p:spPr>
            <a:xfrm>
              <a:off x="4873327" y="5580404"/>
              <a:ext cx="3646270" cy="201307"/>
            </a:xfrm>
            <a:prstGeom prst="rect">
              <a:avLst/>
            </a:prstGeom>
          </p:spPr>
        </p:pic>
        <p:sp>
          <p:nvSpPr>
            <p:cNvPr id="23" name="圆角矩形 55">
              <a:extLst>
                <a:ext uri="{FF2B5EF4-FFF2-40B4-BE49-F238E27FC236}">
                  <a16:creationId xmlns:a16="http://schemas.microsoft.com/office/drawing/2014/main" id="{0F7C8556-007B-452E-985B-7181A0451B30}"/>
                </a:ext>
              </a:extLst>
            </p:cNvPr>
            <p:cNvSpPr/>
            <p:nvPr/>
          </p:nvSpPr>
          <p:spPr>
            <a:xfrm>
              <a:off x="4555084" y="4807549"/>
              <a:ext cx="4361682"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defTabSz="914400"/>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(JSTL)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trong</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JSP</a:t>
              </a:r>
            </a:p>
          </p:txBody>
        </p:sp>
      </p:grpSp>
      <p:grpSp>
        <p:nvGrpSpPr>
          <p:cNvPr id="24" name="组合 23"/>
          <p:cNvGrpSpPr/>
          <p:nvPr/>
        </p:nvGrpSpPr>
        <p:grpSpPr>
          <a:xfrm>
            <a:off x="2027918" y="3877616"/>
            <a:ext cx="724605" cy="672549"/>
            <a:chOff x="2857499" y="1149477"/>
            <a:chExt cx="1089578" cy="958123"/>
          </a:xfrm>
        </p:grpSpPr>
        <p:sp>
          <p:nvSpPr>
            <p:cNvPr id="25" name="圆角矩形 27"/>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sz="1015"/>
            </a:p>
          </p:txBody>
        </p:sp>
        <p:sp>
          <p:nvSpPr>
            <p:cNvPr id="26" name="圆角矩形 28"/>
            <p:cNvSpPr/>
            <p:nvPr/>
          </p:nvSpPr>
          <p:spPr>
            <a:xfrm>
              <a:off x="2883862" y="1159582"/>
              <a:ext cx="1063215" cy="901028"/>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grpSp>
      <p:grpSp>
        <p:nvGrpSpPr>
          <p:cNvPr id="27" name="组合 46"/>
          <p:cNvGrpSpPr/>
          <p:nvPr/>
        </p:nvGrpSpPr>
        <p:grpSpPr>
          <a:xfrm>
            <a:off x="3102549" y="3884709"/>
            <a:ext cx="6421775" cy="693507"/>
            <a:chOff x="4560356" y="3575958"/>
            <a:chExt cx="4389024" cy="1169725"/>
          </a:xfrm>
        </p:grpSpPr>
        <p:pic>
          <p:nvPicPr>
            <p:cNvPr id="28" name="图片 47"/>
            <p:cNvPicPr>
              <a:picLocks noChangeAspect="1"/>
            </p:cNvPicPr>
            <p:nvPr/>
          </p:nvPicPr>
          <p:blipFill rotWithShape="1">
            <a:blip r:embed="rId4"/>
            <a:srcRect t="76775"/>
            <a:stretch>
              <a:fillRect/>
            </a:stretch>
          </p:blipFill>
          <p:spPr>
            <a:xfrm>
              <a:off x="4926460" y="4544376"/>
              <a:ext cx="3646270" cy="201307"/>
            </a:xfrm>
            <a:prstGeom prst="rect">
              <a:avLst/>
            </a:prstGeom>
          </p:spPr>
        </p:pic>
        <p:sp>
          <p:nvSpPr>
            <p:cNvPr id="29" name="圆角矩形 50"/>
            <p:cNvSpPr/>
            <p:nvPr/>
          </p:nvSpPr>
          <p:spPr>
            <a:xfrm>
              <a:off x="4560356" y="3575958"/>
              <a:ext cx="4389024" cy="1066777"/>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QA</a:t>
              </a:r>
              <a:endParaRPr lang="vi-VN"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pic>
        <p:nvPicPr>
          <p:cNvPr id="31" name="图片 52"/>
          <p:cNvPicPr>
            <a:picLocks noChangeAspect="1"/>
          </p:cNvPicPr>
          <p:nvPr/>
        </p:nvPicPr>
        <p:blipFill rotWithShape="1">
          <a:blip r:embed="rId4"/>
          <a:srcRect t="76775"/>
          <a:stretch>
            <a:fillRect/>
          </a:stretch>
        </p:blipFill>
        <p:spPr>
          <a:xfrm>
            <a:off x="3277692" y="4612552"/>
            <a:ext cx="5332042" cy="128290"/>
          </a:xfrm>
          <a:prstGeom prst="rect">
            <a:avLst/>
          </a:prstGeom>
        </p:spPr>
      </p:pic>
      <p:sp>
        <p:nvSpPr>
          <p:cNvPr id="34" name="圆角矩形 34"/>
          <p:cNvSpPr/>
          <p:nvPr/>
        </p:nvSpPr>
        <p:spPr>
          <a:xfrm>
            <a:off x="2036296" y="4673646"/>
            <a:ext cx="692222" cy="660355"/>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sz="1015"/>
          </a:p>
        </p:txBody>
      </p:sp>
    </p:spTree>
    <p:extLst>
      <p:ext uri="{BB962C8B-B14F-4D97-AF65-F5344CB8AC3E}">
        <p14:creationId xmlns:p14="http://schemas.microsoft.com/office/powerpoint/2010/main" val="11400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out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165494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 Model-View-Controller (MVC)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(design pattern) </a:t>
            </a:r>
            <a:r>
              <a:rPr lang="en-US" sz="2400" dirty="0" err="1">
                <a:latin typeface="Times New Roman" panose="02020603050405020304" pitchFamily="18" charset="0"/>
                <a:cs typeface="Times New Roman" panose="02020603050405020304" pitchFamily="18" charset="0"/>
              </a:rPr>
              <a:t>tách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logic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Model, View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Controller</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2152" y="3200400"/>
            <a:ext cx="4347695" cy="298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248889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 (</a:t>
              </a:r>
              <a:r>
                <a:rPr lang="en-US" altLang="zh-CN" sz="2800" b="1" dirty="0" err="1">
                  <a:solidFill>
                    <a:schemeClr val="bg1"/>
                  </a:solidFill>
                  <a:latin typeface="Times New Roman" panose="02020603050405020304" pitchFamily="18" charset="0"/>
                  <a:cs typeface="Times New Roman" panose="02020603050405020304" pitchFamily="18" charset="0"/>
                </a:rPr>
                <a:t>Đặc</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điểm</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454804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Mã nguồn dễ bảo trì và mở rộng</a:t>
            </a:r>
            <a:r>
              <a:rPr lang="vi-VN" sz="2400" dirty="0">
                <a:latin typeface="Times New Roman" panose="02020603050405020304" pitchFamily="18" charset="0"/>
                <a:cs typeface="Times New Roman" panose="02020603050405020304" pitchFamily="18" charset="0"/>
              </a:rPr>
              <a:t>: Kiến trúc MVC giúp mã nguồn dễ bảo trì, có thể mở rộng và phát triển một cách dễ dàng.</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Các thành phần có thể kiểm tra độc lập</a:t>
            </a:r>
            <a:r>
              <a:rPr lang="vi-VN" sz="2400" dirty="0">
                <a:latin typeface="Times New Roman" panose="02020603050405020304" pitchFamily="18" charset="0"/>
                <a:cs typeface="Times New Roman" panose="02020603050405020304" pitchFamily="18" charset="0"/>
              </a:rPr>
              <a:t>: Các thành phần của nó có thể được kiểm tra riêng biệt từ các thành phần người dùng.</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Hỗ trợ các loại khách hàng mới dễ dàng hơn</a:t>
            </a:r>
            <a:r>
              <a:rPr lang="vi-VN" sz="2400" dirty="0">
                <a:latin typeface="Times New Roman" panose="02020603050405020304" pitchFamily="18" charset="0"/>
                <a:cs typeface="Times New Roman" panose="02020603050405020304" pitchFamily="18" charset="0"/>
              </a:rPr>
              <a:t>: Kiến trúc này hỗ trợ việc thêm các loại khách hàng mới một cách dễ dàng.</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Phát triển song song các thành phần</a:t>
            </a:r>
            <a:r>
              <a:rPr lang="vi-VN" sz="2400" dirty="0">
                <a:latin typeface="Times New Roman" panose="02020603050405020304" pitchFamily="18" charset="0"/>
                <a:cs typeface="Times New Roman" panose="02020603050405020304" pitchFamily="18" charset="0"/>
              </a:rPr>
              <a:t>: Có thể phân chia phát triển các thành phần khác nhau một cách song song.</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Giảm bớt độ phức tạp</a:t>
            </a:r>
            <a:r>
              <a:rPr lang="vi-VN" sz="2400" dirty="0">
                <a:latin typeface="Times New Roman" panose="02020603050405020304" pitchFamily="18" charset="0"/>
                <a:cs typeface="Times New Roman" panose="02020603050405020304" pitchFamily="18" charset="0"/>
              </a:rPr>
              <a:t>: Bằng cách chia ứng dụng thành ba phần, bạn có thể tránh được sự phức tạp.</a:t>
            </a: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566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 (</a:t>
              </a:r>
              <a:r>
                <a:rPr lang="en-US" altLang="zh-CN" sz="2800" b="1" dirty="0" err="1">
                  <a:solidFill>
                    <a:schemeClr val="bg1"/>
                  </a:solidFill>
                  <a:latin typeface="Times New Roman" panose="02020603050405020304" pitchFamily="18" charset="0"/>
                  <a:cs typeface="Times New Roman" panose="02020603050405020304" pitchFamily="18" charset="0"/>
                </a:rPr>
                <a:t>Đặc</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điểm</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283988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Sử dụng mô hình Front Controller:</a:t>
            </a:r>
            <a:r>
              <a:rPr lang="vi-VN" sz="2400" dirty="0">
                <a:latin typeface="Times New Roman" panose="02020603050405020304" pitchFamily="18" charset="0"/>
                <a:cs typeface="Times New Roman" panose="02020603050405020304" pitchFamily="18" charset="0"/>
              </a:rPr>
              <a:t> Chỉ sử dụng mô hình Front Controller, trong đó mỗi yêu cầu được xử lý bởi một bộ điều khiển duy nhất.</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Hỗ trợ phát triển theo hướng kiểm thử tối đa: </a:t>
            </a:r>
            <a:r>
              <a:rPr lang="vi-VN" sz="2400" dirty="0">
                <a:latin typeface="Times New Roman" panose="02020603050405020304" pitchFamily="18" charset="0"/>
                <a:cs typeface="Times New Roman" panose="02020603050405020304" pitchFamily="18" charset="0"/>
              </a:rPr>
              <a:t>Hỗ trợ phát triển theo hướng kiểm thử (Test-driven Developmen) một cách tối đa.</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Dễ dàng cho các nhóm phát triển lớn: </a:t>
            </a:r>
            <a:r>
              <a:rPr lang="vi-VN" sz="2400" dirty="0">
                <a:latin typeface="Times New Roman" panose="02020603050405020304" pitchFamily="18" charset="0"/>
                <a:cs typeface="Times New Roman" panose="02020603050405020304" pitchFamily="18" charset="0"/>
              </a:rPr>
              <a:t>Một nhóm lớn các nhà thiết kế và phát triển web có thể tạo và duy trì các ứng dụng web với nó.</a:t>
            </a:r>
          </a:p>
        </p:txBody>
      </p:sp>
    </p:spTree>
    <p:extLst>
      <p:ext uri="{BB962C8B-B14F-4D97-AF65-F5344CB8AC3E}">
        <p14:creationId xmlns:p14="http://schemas.microsoft.com/office/powerpoint/2010/main" val="23990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 (</a:t>
              </a:r>
              <a:r>
                <a:rPr lang="en-US" altLang="zh-CN" sz="2800" b="1" dirty="0" err="1">
                  <a:solidFill>
                    <a:schemeClr val="bg1"/>
                  </a:solidFill>
                  <a:latin typeface="Times New Roman" panose="02020603050405020304" pitchFamily="18" charset="0"/>
                  <a:cs typeface="Times New Roman" panose="02020603050405020304" pitchFamily="18" charset="0"/>
                </a:rPr>
                <a:t>Đặc</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điểm</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5772355" cy="320921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Đầu tiên là Request từ người dùng được gửi từ client đến server</a:t>
            </a:r>
            <a:r>
              <a:rPr lang="en-US" sz="2400" dirty="0">
                <a:latin typeface="Times New Roman" panose="02020603050405020304" pitchFamily="18" charset="0"/>
                <a:cs typeface="Times New Roman" panose="02020603050405020304" pitchFamily="18" charset="0"/>
              </a:rPr>
              <a:t> (Servlet)</a:t>
            </a:r>
            <a:endParaRPr lang="vi-VN"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Sau đó Controller dựa vào yêu cầu của người dùng tiến hành giao tiếp với Model để lấy data từ database</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Cuối cùng Controller </a:t>
            </a:r>
            <a:r>
              <a:rPr lang="en-US" sz="2400" dirty="0" err="1">
                <a:latin typeface="Times New Roman" panose="02020603050405020304" pitchFamily="18" charset="0"/>
                <a:cs typeface="Times New Roman" panose="02020603050405020304" pitchFamily="18" charset="0"/>
              </a:rPr>
              <a:t>chuyển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dữ liệu vừa lấy được về View và hiển thị ra cho người dùng trên trình duyệt</a:t>
            </a:r>
          </a:p>
        </p:txBody>
      </p:sp>
      <p:grpSp>
        <p:nvGrpSpPr>
          <p:cNvPr id="11" name="Group 4"/>
          <p:cNvGrpSpPr>
            <a:grpSpLocks/>
          </p:cNvGrpSpPr>
          <p:nvPr/>
        </p:nvGrpSpPr>
        <p:grpSpPr bwMode="auto">
          <a:xfrm>
            <a:off x="7767637" y="1828800"/>
            <a:ext cx="3662363" cy="4267200"/>
            <a:chOff x="576" y="1004"/>
            <a:chExt cx="2112" cy="2400"/>
          </a:xfrm>
        </p:grpSpPr>
        <p:sp>
          <p:nvSpPr>
            <p:cNvPr id="12" name="Text Box 5"/>
            <p:cNvSpPr txBox="1">
              <a:spLocks noChangeArrowheads="1"/>
            </p:cNvSpPr>
            <p:nvPr/>
          </p:nvSpPr>
          <p:spPr bwMode="auto">
            <a:xfrm>
              <a:off x="816" y="1004"/>
              <a:ext cx="912" cy="524"/>
            </a:xfrm>
            <a:prstGeom prst="rect">
              <a:avLst/>
            </a:prstGeom>
            <a:solidFill>
              <a:schemeClr val="accent1"/>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dirty="0">
                  <a:latin typeface="Times New Roman" panose="02020603050405020304" pitchFamily="18" charset="0"/>
                </a:rPr>
                <a:t>Controller (Servlet)</a:t>
              </a:r>
            </a:p>
          </p:txBody>
        </p:sp>
        <p:sp>
          <p:nvSpPr>
            <p:cNvPr id="13" name="Text Box 6"/>
            <p:cNvSpPr txBox="1">
              <a:spLocks noChangeArrowheads="1"/>
            </p:cNvSpPr>
            <p:nvPr/>
          </p:nvSpPr>
          <p:spPr bwMode="auto">
            <a:xfrm>
              <a:off x="1920" y="1820"/>
              <a:ext cx="768" cy="524"/>
            </a:xfrm>
            <a:prstGeom prst="rect">
              <a:avLst/>
            </a:prstGeom>
            <a:solidFill>
              <a:schemeClr val="accent2"/>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Model</a:t>
              </a:r>
              <a:br>
                <a:rPr lang="en-US" altLang="en-US" sz="2400">
                  <a:latin typeface="Times New Roman" panose="02020603050405020304" pitchFamily="18" charset="0"/>
                </a:rPr>
              </a:br>
              <a:r>
                <a:rPr lang="en-US" altLang="en-US" sz="2400">
                  <a:latin typeface="Times New Roman" panose="02020603050405020304" pitchFamily="18" charset="0"/>
                </a:rPr>
                <a:t>(Beans)</a:t>
              </a:r>
            </a:p>
          </p:txBody>
        </p:sp>
        <p:sp>
          <p:nvSpPr>
            <p:cNvPr id="14" name="Line 7"/>
            <p:cNvSpPr>
              <a:spLocks noChangeShapeType="1"/>
            </p:cNvSpPr>
            <p:nvPr/>
          </p:nvSpPr>
          <p:spPr bwMode="auto">
            <a:xfrm flipV="1">
              <a:off x="624" y="1296"/>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8"/>
            <p:cNvSpPr>
              <a:spLocks noChangeShapeType="1"/>
            </p:cNvSpPr>
            <p:nvPr/>
          </p:nvSpPr>
          <p:spPr bwMode="auto">
            <a:xfrm>
              <a:off x="1728" y="1152"/>
              <a:ext cx="336"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9"/>
            <p:cNvSpPr>
              <a:spLocks noChangeShapeType="1"/>
            </p:cNvSpPr>
            <p:nvPr/>
          </p:nvSpPr>
          <p:spPr bwMode="auto">
            <a:xfrm>
              <a:off x="1296" y="1536"/>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8" name="Group 10"/>
            <p:cNvGrpSpPr>
              <a:grpSpLocks/>
            </p:cNvGrpSpPr>
            <p:nvPr/>
          </p:nvGrpSpPr>
          <p:grpSpPr bwMode="auto">
            <a:xfrm>
              <a:off x="816" y="2352"/>
              <a:ext cx="1296" cy="1052"/>
              <a:chOff x="816" y="2352"/>
              <a:chExt cx="1296" cy="1052"/>
            </a:xfrm>
          </p:grpSpPr>
          <p:sp>
            <p:nvSpPr>
              <p:cNvPr id="27" name="Text Box 11"/>
              <p:cNvSpPr txBox="1">
                <a:spLocks noChangeArrowheads="1"/>
              </p:cNvSpPr>
              <p:nvPr/>
            </p:nvSpPr>
            <p:spPr bwMode="auto">
              <a:xfrm>
                <a:off x="816" y="2496"/>
                <a:ext cx="912" cy="524"/>
              </a:xfrm>
              <a:prstGeom prst="rect">
                <a:avLst/>
              </a:prstGeom>
              <a:solidFill>
                <a:schemeClr val="folHlink"/>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View</a:t>
                </a:r>
                <a:br>
                  <a:rPr lang="en-US" altLang="en-US" sz="2400">
                    <a:latin typeface="Times New Roman" panose="02020603050405020304" pitchFamily="18" charset="0"/>
                  </a:rPr>
                </a:br>
                <a:r>
                  <a:rPr lang="en-US" altLang="en-US" sz="2400">
                    <a:latin typeface="Times New Roman" panose="02020603050405020304" pitchFamily="18" charset="0"/>
                  </a:rPr>
                  <a:t>(JSPs)</a:t>
                </a:r>
              </a:p>
            </p:txBody>
          </p:sp>
          <p:sp>
            <p:nvSpPr>
              <p:cNvPr id="28" name="Text Box 12"/>
              <p:cNvSpPr txBox="1">
                <a:spLocks noChangeArrowheads="1"/>
              </p:cNvSpPr>
              <p:nvPr/>
            </p:nvSpPr>
            <p:spPr bwMode="auto">
              <a:xfrm>
                <a:off x="912" y="2592"/>
                <a:ext cx="912" cy="524"/>
              </a:xfrm>
              <a:prstGeom prst="rect">
                <a:avLst/>
              </a:prstGeom>
              <a:solidFill>
                <a:schemeClr val="folHlink"/>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View</a:t>
                </a:r>
                <a:br>
                  <a:rPr lang="en-US" altLang="en-US" sz="2400">
                    <a:latin typeface="Times New Roman" panose="02020603050405020304" pitchFamily="18" charset="0"/>
                  </a:rPr>
                </a:br>
                <a:r>
                  <a:rPr lang="en-US" altLang="en-US" sz="2400">
                    <a:latin typeface="Times New Roman" panose="02020603050405020304" pitchFamily="18" charset="0"/>
                  </a:rPr>
                  <a:t>(JSPs)</a:t>
                </a:r>
              </a:p>
            </p:txBody>
          </p:sp>
          <p:sp>
            <p:nvSpPr>
              <p:cNvPr id="29" name="Text Box 13"/>
              <p:cNvSpPr txBox="1">
                <a:spLocks noChangeArrowheads="1"/>
              </p:cNvSpPr>
              <p:nvPr/>
            </p:nvSpPr>
            <p:spPr bwMode="auto">
              <a:xfrm>
                <a:off x="1008" y="2688"/>
                <a:ext cx="912" cy="524"/>
              </a:xfrm>
              <a:prstGeom prst="rect">
                <a:avLst/>
              </a:prstGeom>
              <a:solidFill>
                <a:schemeClr val="folHlink"/>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View</a:t>
                </a:r>
                <a:br>
                  <a:rPr lang="en-US" altLang="en-US" sz="2400">
                    <a:latin typeface="Times New Roman" panose="02020603050405020304" pitchFamily="18" charset="0"/>
                  </a:rPr>
                </a:br>
                <a:r>
                  <a:rPr lang="en-US" altLang="en-US" sz="2400">
                    <a:latin typeface="Times New Roman" panose="02020603050405020304" pitchFamily="18" charset="0"/>
                  </a:rPr>
                  <a:t>(JSPs)</a:t>
                </a:r>
              </a:p>
            </p:txBody>
          </p:sp>
          <p:sp>
            <p:nvSpPr>
              <p:cNvPr id="31" name="Text Box 14"/>
              <p:cNvSpPr txBox="1">
                <a:spLocks noChangeArrowheads="1"/>
              </p:cNvSpPr>
              <p:nvPr/>
            </p:nvSpPr>
            <p:spPr bwMode="auto">
              <a:xfrm>
                <a:off x="1104" y="2784"/>
                <a:ext cx="912" cy="524"/>
              </a:xfrm>
              <a:prstGeom prst="rect">
                <a:avLst/>
              </a:prstGeom>
              <a:solidFill>
                <a:schemeClr val="folHlink"/>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View</a:t>
                </a:r>
                <a:br>
                  <a:rPr lang="en-US" altLang="en-US" sz="2400">
                    <a:latin typeface="Times New Roman" panose="02020603050405020304" pitchFamily="18" charset="0"/>
                  </a:rPr>
                </a:br>
                <a:r>
                  <a:rPr lang="en-US" altLang="en-US" sz="2400">
                    <a:latin typeface="Times New Roman" panose="02020603050405020304" pitchFamily="18" charset="0"/>
                  </a:rPr>
                  <a:t>(JSPs)</a:t>
                </a:r>
              </a:p>
            </p:txBody>
          </p:sp>
          <p:sp>
            <p:nvSpPr>
              <p:cNvPr id="32" name="Text Box 15"/>
              <p:cNvSpPr txBox="1">
                <a:spLocks noChangeArrowheads="1"/>
              </p:cNvSpPr>
              <p:nvPr/>
            </p:nvSpPr>
            <p:spPr bwMode="auto">
              <a:xfrm>
                <a:off x="1200" y="2880"/>
                <a:ext cx="912" cy="524"/>
              </a:xfrm>
              <a:prstGeom prst="rect">
                <a:avLst/>
              </a:prstGeom>
              <a:solidFill>
                <a:schemeClr val="folHlink"/>
              </a:solidFill>
              <a:ln w="9525">
                <a:solidFill>
                  <a:schemeClr val="tx1"/>
                </a:solidFill>
                <a:miter lim="800000"/>
                <a:headEnd/>
                <a:tailEnd/>
              </a:ln>
            </p:spPr>
            <p:txBody>
              <a:bodyPr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View</a:t>
                </a:r>
                <a:br>
                  <a:rPr lang="en-US" altLang="en-US" sz="2400">
                    <a:latin typeface="Times New Roman" panose="02020603050405020304" pitchFamily="18" charset="0"/>
                  </a:rPr>
                </a:br>
                <a:r>
                  <a:rPr lang="en-US" altLang="en-US" sz="2400">
                    <a:latin typeface="Times New Roman" panose="02020603050405020304" pitchFamily="18" charset="0"/>
                  </a:rPr>
                  <a:t>(JSP)</a:t>
                </a:r>
              </a:p>
            </p:txBody>
          </p:sp>
          <p:sp>
            <p:nvSpPr>
              <p:cNvPr id="33" name="Line 16"/>
              <p:cNvSpPr>
                <a:spLocks noChangeShapeType="1"/>
              </p:cNvSpPr>
              <p:nvPr/>
            </p:nvSpPr>
            <p:spPr bwMode="auto">
              <a:xfrm flipV="1">
                <a:off x="1536" y="2352"/>
                <a:ext cx="576"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1" name="Line 17"/>
            <p:cNvSpPr>
              <a:spLocks noChangeShapeType="1"/>
            </p:cNvSpPr>
            <p:nvPr/>
          </p:nvSpPr>
          <p:spPr bwMode="auto">
            <a:xfrm flipH="1">
              <a:off x="624" y="3024"/>
              <a:ext cx="480" cy="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Text Box 18"/>
            <p:cNvSpPr txBox="1">
              <a:spLocks noChangeArrowheads="1"/>
            </p:cNvSpPr>
            <p:nvPr/>
          </p:nvSpPr>
          <p:spPr bwMode="auto">
            <a:xfrm>
              <a:off x="57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1</a:t>
              </a:r>
            </a:p>
          </p:txBody>
        </p:sp>
        <p:sp>
          <p:nvSpPr>
            <p:cNvPr id="23" name="Text Box 19"/>
            <p:cNvSpPr txBox="1">
              <a:spLocks noChangeArrowheads="1"/>
            </p:cNvSpPr>
            <p:nvPr/>
          </p:nvSpPr>
          <p:spPr bwMode="auto">
            <a:xfrm>
              <a:off x="1958" y="141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2</a:t>
              </a:r>
            </a:p>
          </p:txBody>
        </p:sp>
        <p:sp>
          <p:nvSpPr>
            <p:cNvPr id="24" name="Text Box 20"/>
            <p:cNvSpPr txBox="1">
              <a:spLocks noChangeArrowheads="1"/>
            </p:cNvSpPr>
            <p:nvPr/>
          </p:nvSpPr>
          <p:spPr bwMode="auto">
            <a:xfrm>
              <a:off x="1296" y="216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3</a:t>
              </a:r>
            </a:p>
          </p:txBody>
        </p:sp>
        <p:sp>
          <p:nvSpPr>
            <p:cNvPr id="25" name="Text Box 21"/>
            <p:cNvSpPr txBox="1">
              <a:spLocks noChangeArrowheads="1"/>
            </p:cNvSpPr>
            <p:nvPr/>
          </p:nvSpPr>
          <p:spPr bwMode="auto">
            <a:xfrm>
              <a:off x="1968" y="244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4</a:t>
              </a:r>
            </a:p>
          </p:txBody>
        </p:sp>
        <p:sp>
          <p:nvSpPr>
            <p:cNvPr id="26" name="Text Box 22"/>
            <p:cNvSpPr txBox="1">
              <a:spLocks noChangeArrowheads="1"/>
            </p:cNvSpPr>
            <p:nvPr/>
          </p:nvSpPr>
          <p:spPr bwMode="auto">
            <a:xfrm>
              <a:off x="624" y="273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defTabSz="912813">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defTabSz="912813">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defTabSz="912813">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defTabSz="912813">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2400">
                  <a:latin typeface="Times New Roman" panose="02020603050405020304" pitchFamily="18" charset="0"/>
                </a:rPr>
                <a:t>5</a:t>
              </a:r>
            </a:p>
          </p:txBody>
        </p:sp>
      </p:grpSp>
    </p:spTree>
    <p:extLst>
      <p:ext uri="{BB962C8B-B14F-4D97-AF65-F5344CB8AC3E}">
        <p14:creationId xmlns:p14="http://schemas.microsoft.com/office/powerpoint/2010/main" val="140896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320921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Model</a:t>
            </a:r>
            <a:r>
              <a:rPr lang="vi-VN" sz="2400" dirty="0">
                <a:latin typeface="Times New Roman" panose="02020603050405020304" pitchFamily="18" charset="0"/>
                <a:cs typeface="Times New Roman" panose="02020603050405020304" pitchFamily="18" charset="0"/>
              </a:rPr>
              <a:t>: thường là các class chứa thông tin đối tượng (dữ liệu), tương tác truy xuất database</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View</a:t>
            </a:r>
            <a:r>
              <a:rPr lang="vi-VN" sz="2400" dirty="0">
                <a:latin typeface="Times New Roman" panose="02020603050405020304" pitchFamily="18" charset="0"/>
                <a:cs typeface="Times New Roman" panose="02020603050405020304" pitchFamily="18" charset="0"/>
              </a:rPr>
              <a:t>: là nơi nhận dữ liệu từ model, database và sắp xếp chúng chính xác nhờ yêu cầu từ controller và truyền về client.</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b="1" dirty="0">
                <a:latin typeface="Times New Roman" panose="02020603050405020304" pitchFamily="18" charset="0"/>
                <a:cs typeface="Times New Roman" panose="02020603050405020304" pitchFamily="18" charset="0"/>
              </a:rPr>
              <a:t>Controller: </a:t>
            </a:r>
            <a:r>
              <a:rPr lang="vi-VN" sz="2400" dirty="0">
                <a:latin typeface="Times New Roman" panose="02020603050405020304" pitchFamily="18" charset="0"/>
                <a:cs typeface="Times New Roman" panose="02020603050405020304" pitchFamily="18" charset="0"/>
              </a:rPr>
              <a:t>Đóng vai trò trung gian giữa Model và View, nó có nhiệm vụ nhận yêu cầu từ client sau đó xử lý request, load model và gửi data qua view tương ứng với nhau rồi trả kết quả về cho client.</a:t>
            </a:r>
          </a:p>
        </p:txBody>
      </p:sp>
    </p:spTree>
    <p:extLst>
      <p:ext uri="{BB962C8B-B14F-4D97-AF65-F5344CB8AC3E}">
        <p14:creationId xmlns:p14="http://schemas.microsoft.com/office/powerpoint/2010/main" val="295915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5225148"/>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a:latin typeface="Times New Roman" panose="02020603050405020304" pitchFamily="18" charset="0"/>
                <a:cs typeface="Times New Roman" panose="02020603050405020304" pitchFamily="18" charset="0"/>
              </a:rPr>
              <a:t>View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Controller</a:t>
            </a:r>
          </a:p>
          <a:p>
            <a:pPr marL="812165" lvl="1" indent="-342900">
              <a:spcBef>
                <a:spcPts val="595"/>
              </a:spcBef>
              <a:buClr>
                <a:srgbClr val="FF5A33"/>
              </a:buClr>
              <a:buFont typeface="Wingdings" panose="05000000000000000000" pitchFamily="2" charset="2"/>
              <a:buChar char="v"/>
              <a:tabLst>
                <a:tab pos="755015" algn="l"/>
              </a:tabLst>
            </a:pPr>
            <a:r>
              <a:rPr lang="en-US" sz="2400" dirty="0">
                <a:latin typeface="Times New Roman" panose="02020603050405020304" pitchFamily="18" charset="0"/>
                <a:cs typeface="Times New Roman" panose="02020603050405020304" pitchFamily="18" charset="0"/>
              </a:rPr>
              <a:t>Controller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view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r>
              <a:rPr lang="en-US" sz="2400" dirty="0">
                <a:latin typeface="Times New Roman" panose="02020603050405020304" pitchFamily="18" charset="0"/>
                <a:cs typeface="Times New Roman" panose="02020603050405020304" pitchFamily="18" charset="0"/>
              </a:rPr>
              <a:t> view</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Model and Controller</a:t>
            </a: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400" dirty="0">
                <a:latin typeface="Times New Roman" panose="02020603050405020304" pitchFamily="18" charset="0"/>
                <a:cs typeface="Times New Roman" panose="02020603050405020304" pitchFamily="18" charset="0"/>
              </a:rPr>
              <a:t>Controller </a:t>
            </a:r>
            <a:r>
              <a:rPr lang="en-US" sz="2400" dirty="0" err="1">
                <a:latin typeface="Times New Roman" panose="02020603050405020304" pitchFamily="18" charset="0"/>
                <a:cs typeface="Times New Roman" panose="02020603050405020304" pitchFamily="18" charset="0"/>
              </a:rPr>
              <a:t>phụ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model</a:t>
            </a:r>
          </a:p>
          <a:p>
            <a:pPr marL="812165" lvl="1" indent="-342900">
              <a:spcBef>
                <a:spcPts val="595"/>
              </a:spcBef>
              <a:buClr>
                <a:srgbClr val="FF5A33"/>
              </a:buClr>
              <a:buFont typeface="Wingdings" panose="05000000000000000000" pitchFamily="2" charset="2"/>
              <a:buChar char="v"/>
              <a:tabLst>
                <a:tab pos="755015" algn="l"/>
              </a:tabLst>
            </a:pP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model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luồng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controller </a:t>
            </a:r>
            <a:r>
              <a:rPr lang="en-US" sz="2400" dirty="0" err="1">
                <a:latin typeface="Times New Roman" panose="02020603050405020304" pitchFamily="18" charset="0"/>
                <a:cs typeface="Times New Roman" panose="02020603050405020304" pitchFamily="18" charset="0"/>
              </a:rPr>
              <a:t>đồng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Model and View</a:t>
            </a: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400" dirty="0">
                <a:solidFill>
                  <a:prstClr val="black"/>
                </a:solidFill>
                <a:latin typeface="Times New Roman" panose="02020603050405020304" pitchFamily="18" charset="0"/>
                <a:cs typeface="Times New Roman" panose="02020603050405020304" pitchFamily="18" charset="0"/>
              </a:rPr>
              <a:t>View </a:t>
            </a:r>
            <a:r>
              <a:rPr lang="en-US" sz="2400" dirty="0" err="1">
                <a:solidFill>
                  <a:prstClr val="black"/>
                </a:solidFill>
                <a:latin typeface="Times New Roman" panose="02020603050405020304" pitchFamily="18" charset="0"/>
                <a:cs typeface="Times New Roman" panose="02020603050405020304" pitchFamily="18" charset="0"/>
              </a:rPr>
              <a:t>phụ</a:t>
            </a:r>
            <a:r>
              <a:rPr lang="en-US" sz="2400" dirty="0">
                <a:solidFill>
                  <a:prstClr val="black"/>
                </a:solidFill>
                <a:latin typeface="Times New Roman" panose="02020603050405020304" pitchFamily="18" charset="0"/>
                <a:cs typeface="Times New Roman" panose="02020603050405020304" pitchFamily="18" charset="0"/>
              </a:rPr>
              <a:t> </a:t>
            </a:r>
            <a:r>
              <a:rPr lang="en-US" sz="2400" dirty="0" err="1">
                <a:solidFill>
                  <a:prstClr val="black"/>
                </a:solidFill>
                <a:latin typeface="Times New Roman" panose="02020603050405020304" pitchFamily="18" charset="0"/>
                <a:cs typeface="Times New Roman" panose="02020603050405020304" pitchFamily="18" charset="0"/>
              </a:rPr>
              <a:t>thuộc</a:t>
            </a:r>
            <a:r>
              <a:rPr lang="en-US" sz="2400" dirty="0">
                <a:solidFill>
                  <a:prstClr val="black"/>
                </a:solidFill>
                <a:latin typeface="Times New Roman" panose="02020603050405020304" pitchFamily="18" charset="0"/>
                <a:cs typeface="Times New Roman" panose="02020603050405020304" pitchFamily="18" charset="0"/>
              </a:rPr>
              <a:t> </a:t>
            </a:r>
            <a:r>
              <a:rPr lang="en-US" sz="2400" dirty="0" err="1">
                <a:solidFill>
                  <a:prstClr val="black"/>
                </a:solidFill>
                <a:latin typeface="Times New Roman" panose="02020603050405020304" pitchFamily="18" charset="0"/>
                <a:cs typeface="Times New Roman" panose="02020603050405020304" pitchFamily="18" charset="0"/>
              </a:rPr>
              <a:t>vào</a:t>
            </a:r>
            <a:r>
              <a:rPr lang="en-US" sz="2400" dirty="0">
                <a:solidFill>
                  <a:prstClr val="black"/>
                </a:solidFill>
                <a:latin typeface="Times New Roman" panose="02020603050405020304" pitchFamily="18" charset="0"/>
                <a:cs typeface="Times New Roman" panose="02020603050405020304" pitchFamily="18" charset="0"/>
              </a:rPr>
              <a:t> model</a:t>
            </a:r>
          </a:p>
          <a:p>
            <a:pPr marL="812165" lvl="1" indent="-342900">
              <a:spcBef>
                <a:spcPts val="595"/>
              </a:spcBef>
              <a:buClr>
                <a:srgbClr val="FF5A33"/>
              </a:buClr>
              <a:buFont typeface="Wingdings" panose="05000000000000000000" pitchFamily="2" charset="2"/>
              <a:buChar char="v"/>
              <a:tabLst>
                <a:tab pos="755015" algn="l"/>
              </a:tabLst>
            </a:pP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model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hiển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thị</a:t>
            </a:r>
            <a:r>
              <a:rPr lang="en-US" sz="2400" dirty="0">
                <a:latin typeface="Times New Roman" panose="02020603050405020304" pitchFamily="18" charset="0"/>
                <a:cs typeface="Times New Roman" panose="02020603050405020304" pitchFamily="18" charset="0"/>
              </a:rPr>
              <a:t> view </a:t>
            </a:r>
            <a:r>
              <a:rPr lang="en-US" sz="2400" dirty="0" err="1">
                <a:latin typeface="Times New Roman" panose="02020603050405020304" pitchFamily="18" charset="0"/>
                <a:cs typeface="Times New Roman" panose="02020603050405020304" pitchFamily="18" charset="0"/>
              </a:rPr>
              <a:t>cũng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71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 (</a:t>
              </a:r>
              <a:r>
                <a:rPr lang="en-US" altLang="zh-CN" sz="2800" b="1" dirty="0" err="1">
                  <a:solidFill>
                    <a:schemeClr val="bg1"/>
                  </a:solidFill>
                  <a:latin typeface="Times New Roman" panose="02020603050405020304" pitchFamily="18" charset="0"/>
                  <a:cs typeface="Times New Roman" panose="02020603050405020304" pitchFamily="18" charset="0"/>
                </a:rPr>
                <a:t>các</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tầng</a:t>
              </a:r>
              <a:r>
                <a:rPr lang="en-US" altLang="zh-CN" sz="2800" b="1" dirty="0">
                  <a:solidFill>
                    <a:schemeClr val="bg1"/>
                  </a:solidFill>
                  <a:latin typeface="Times New Roman" panose="02020603050405020304" pitchFamily="18" charset="0"/>
                  <a:cs typeface="Times New Roman" panose="02020603050405020304" pitchFamily="18" charset="0"/>
                </a:rPr>
                <a:t> logic)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916276"/>
          </a:xfrm>
          <a:prstGeom prst="rect">
            <a:avLst/>
          </a:prstGeom>
        </p:spPr>
        <p:txBody>
          <a:bodyPr vert="horz" wrap="square" lIns="0" tIns="99695" rIns="0" bIns="0" rtlCol="0">
            <a:spAutoFit/>
          </a:bodyPr>
          <a:lstStyle/>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2414510" y="4495800"/>
            <a:ext cx="7143800" cy="1569660"/>
          </a:xfrm>
          <a:prstGeom prst="rect">
            <a:avLst/>
          </a:prstGeom>
        </p:spPr>
        <p:style>
          <a:lnRef idx="0">
            <a:scrgbClr r="0" g="0" b="0"/>
          </a:lnRef>
          <a:fillRef idx="1003">
            <a:schemeClr val="lt1"/>
          </a:fillRef>
          <a:effectRef idx="0">
            <a:scrgbClr r="0" g="0" b="0"/>
          </a:effectRef>
          <a:fontRef idx="major"/>
        </p:style>
        <p:txBody>
          <a:bodyPr>
            <a:spAutoFit/>
          </a:bodyPr>
          <a:lstStyle/>
          <a:p>
            <a:pPr>
              <a:spcBef>
                <a:spcPts val="0"/>
              </a:spcBef>
              <a:spcAft>
                <a:spcPts val="0"/>
              </a:spcAft>
              <a:defRPr/>
            </a:pPr>
            <a:r>
              <a:rPr lang="en-US" sz="1200" dirty="0">
                <a:latin typeface="Courier New" pitchFamily="49" charset="0"/>
                <a:cs typeface="Courier New" pitchFamily="49" charset="0"/>
              </a:rPr>
              <a:t>protected void </a:t>
            </a:r>
            <a:r>
              <a:rPr lang="en-US" sz="1200" dirty="0" err="1">
                <a:latin typeface="Courier New" pitchFamily="49" charset="0"/>
                <a:cs typeface="Courier New" pitchFamily="49" charset="0"/>
              </a:rPr>
              <a:t>processRequest</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HttpServletRequest</a:t>
            </a:r>
            <a:r>
              <a:rPr lang="en-US" sz="1200" dirty="0">
                <a:latin typeface="Courier New" pitchFamily="49" charset="0"/>
                <a:cs typeface="Courier New" pitchFamily="49" charset="0"/>
              </a:rPr>
              <a:t> request, </a:t>
            </a:r>
            <a:r>
              <a:rPr lang="en-US" sz="1200" dirty="0" err="1">
                <a:latin typeface="Courier New" pitchFamily="49" charset="0"/>
                <a:cs typeface="Courier New" pitchFamily="49" charset="0"/>
              </a:rPr>
              <a:t>HttpServletResponse</a:t>
            </a:r>
            <a:r>
              <a:rPr lang="en-US" sz="1200" dirty="0">
                <a:latin typeface="Courier New" pitchFamily="49" charset="0"/>
                <a:cs typeface="Courier New" pitchFamily="49" charset="0"/>
              </a:rPr>
              <a:t> response)throws </a:t>
            </a:r>
            <a:r>
              <a:rPr lang="en-US" sz="1200" dirty="0" err="1">
                <a:latin typeface="Courier New" pitchFamily="49" charset="0"/>
                <a:cs typeface="Courier New" pitchFamily="49" charset="0"/>
              </a:rPr>
              <a:t>ServletException</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IOException</a:t>
            </a:r>
            <a:r>
              <a:rPr lang="en-US" sz="1200" dirty="0">
                <a:latin typeface="Courier New" pitchFamily="49" charset="0"/>
                <a:cs typeface="Courier New" pitchFamily="49" charset="0"/>
              </a:rPr>
              <a:t> {</a:t>
            </a:r>
          </a:p>
          <a:p>
            <a:pPr>
              <a:spcBef>
                <a:spcPts val="0"/>
              </a:spcBef>
              <a:spcAft>
                <a:spcPts val="0"/>
              </a:spcAft>
              <a:defRPr/>
            </a:pPr>
            <a:r>
              <a:rPr lang="en-US" sz="1200" dirty="0">
                <a:latin typeface="Courier New" pitchFamily="49" charset="0"/>
                <a:cs typeface="Courier New" pitchFamily="49" charset="0"/>
              </a:rPr>
              <a:t>        String </a:t>
            </a:r>
            <a:r>
              <a:rPr lang="en-US" sz="1200" dirty="0" err="1">
                <a:latin typeface="Courier New" pitchFamily="49" charset="0"/>
                <a:cs typeface="Courier New" pitchFamily="49" charset="0"/>
              </a:rPr>
              <a:t>userName</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request.getParameter</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txtUserName</a:t>
            </a:r>
            <a:r>
              <a:rPr lang="en-US" sz="1200" dirty="0">
                <a:latin typeface="Courier New" pitchFamily="49" charset="0"/>
                <a:cs typeface="Courier New" pitchFamily="49" charset="0"/>
              </a:rPr>
              <a:t>");</a:t>
            </a:r>
          </a:p>
          <a:p>
            <a:pPr>
              <a:spcBef>
                <a:spcPts val="0"/>
              </a:spcBef>
              <a:spcAft>
                <a:spcPts val="0"/>
              </a:spcAft>
              <a:defRPr/>
            </a:pPr>
            <a:r>
              <a:rPr lang="en-US" sz="1200" dirty="0">
                <a:latin typeface="Courier New" pitchFamily="49" charset="0"/>
                <a:cs typeface="Courier New" pitchFamily="49" charset="0"/>
              </a:rPr>
              <a:t>        String </a:t>
            </a:r>
            <a:r>
              <a:rPr lang="en-US" sz="1200" dirty="0" err="1">
                <a:latin typeface="Courier New" pitchFamily="49" charset="0"/>
                <a:cs typeface="Courier New" pitchFamily="49" charset="0"/>
              </a:rPr>
              <a:t>userPassword</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request.getParameter</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txtPassword</a:t>
            </a:r>
            <a:r>
              <a:rPr lang="en-US" sz="1200" dirty="0">
                <a:latin typeface="Courier New" pitchFamily="49" charset="0"/>
                <a:cs typeface="Courier New" pitchFamily="49" charset="0"/>
              </a:rPr>
              <a:t>");</a:t>
            </a:r>
          </a:p>
          <a:p>
            <a:pPr>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User</a:t>
            </a:r>
            <a:r>
              <a:rPr lang="es-ES" sz="1200" dirty="0">
                <a:latin typeface="Courier New" pitchFamily="49" charset="0"/>
                <a:cs typeface="Courier New" pitchFamily="49" charset="0"/>
              </a:rPr>
              <a:t> u = new </a:t>
            </a:r>
            <a:r>
              <a:rPr lang="es-ES" sz="1200" dirty="0" err="1">
                <a:latin typeface="Courier New" pitchFamily="49" charset="0"/>
                <a:cs typeface="Courier New" pitchFamily="49" charset="0"/>
              </a:rPr>
              <a:t>User</a:t>
            </a:r>
            <a:r>
              <a:rPr lang="es-ES" sz="1200" dirty="0">
                <a:latin typeface="Courier New" pitchFamily="49" charset="0"/>
                <a:cs typeface="Courier New" pitchFamily="49" charset="0"/>
              </a:rPr>
              <a:t>();</a:t>
            </a:r>
          </a:p>
          <a:p>
            <a:pPr>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UserBO</a:t>
            </a: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ubo</a:t>
            </a:r>
            <a:r>
              <a:rPr lang="es-ES" sz="1200" dirty="0">
                <a:latin typeface="Courier New" pitchFamily="49" charset="0"/>
                <a:cs typeface="Courier New" pitchFamily="49" charset="0"/>
              </a:rPr>
              <a:t> = new </a:t>
            </a:r>
            <a:r>
              <a:rPr lang="es-ES" sz="1200" dirty="0" err="1">
                <a:latin typeface="Courier New" pitchFamily="49" charset="0"/>
                <a:cs typeface="Courier New" pitchFamily="49" charset="0"/>
              </a:rPr>
              <a:t>UserBO</a:t>
            </a:r>
            <a:r>
              <a:rPr lang="es-ES" sz="1200" dirty="0">
                <a:latin typeface="Courier New" pitchFamily="49" charset="0"/>
                <a:cs typeface="Courier New" pitchFamily="49" charset="0"/>
              </a:rPr>
              <a:t>();</a:t>
            </a:r>
          </a:p>
          <a:p>
            <a:pPr>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u.setUserName</a:t>
            </a:r>
            <a:r>
              <a:rPr lang="es-ES" sz="1200" dirty="0">
                <a:latin typeface="Courier New" pitchFamily="49" charset="0"/>
                <a:cs typeface="Courier New" pitchFamily="49" charset="0"/>
              </a:rPr>
              <a:t>(</a:t>
            </a:r>
            <a:r>
              <a:rPr lang="es-ES" sz="1200" dirty="0" err="1">
                <a:latin typeface="Courier New" pitchFamily="49" charset="0"/>
                <a:cs typeface="Courier New" pitchFamily="49" charset="0"/>
              </a:rPr>
              <a:t>userName</a:t>
            </a:r>
            <a:r>
              <a:rPr lang="es-ES" sz="1200" dirty="0">
                <a:latin typeface="Courier New" pitchFamily="49" charset="0"/>
                <a:cs typeface="Courier New" pitchFamily="49" charset="0"/>
              </a:rPr>
              <a:t>);</a:t>
            </a:r>
          </a:p>
          <a:p>
            <a:pPr>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u.setUserPassword</a:t>
            </a:r>
            <a:r>
              <a:rPr lang="es-ES" sz="1200" dirty="0">
                <a:latin typeface="Courier New" pitchFamily="49" charset="0"/>
                <a:cs typeface="Courier New" pitchFamily="49" charset="0"/>
              </a:rPr>
              <a:t>(</a:t>
            </a:r>
            <a:r>
              <a:rPr lang="es-ES" sz="1200" dirty="0" err="1">
                <a:latin typeface="Courier New" pitchFamily="49" charset="0"/>
                <a:cs typeface="Courier New" pitchFamily="49" charset="0"/>
              </a:rPr>
              <a:t>userPassword</a:t>
            </a:r>
            <a:r>
              <a:rPr lang="es-ES" sz="1200" dirty="0">
                <a:latin typeface="Courier New" pitchFamily="49" charset="0"/>
                <a:cs typeface="Courier New" pitchFamily="49" charset="0"/>
              </a:rPr>
              <a:t>);…</a:t>
            </a:r>
          </a:p>
        </p:txBody>
      </p:sp>
      <p:sp>
        <p:nvSpPr>
          <p:cNvPr id="12" name="TextBox 11"/>
          <p:cNvSpPr txBox="1"/>
          <p:nvPr/>
        </p:nvSpPr>
        <p:spPr>
          <a:xfrm>
            <a:off x="2433582" y="3034605"/>
            <a:ext cx="7143800" cy="1384995"/>
          </a:xfrm>
          <a:prstGeom prst="rect">
            <a:avLst/>
          </a:prstGeom>
        </p:spPr>
        <p:style>
          <a:lnRef idx="0">
            <a:scrgbClr r="0" g="0" b="0"/>
          </a:lnRef>
          <a:fillRef idx="1003">
            <a:schemeClr val="lt1"/>
          </a:fillRef>
          <a:effectRef idx="0">
            <a:scrgbClr r="0" g="0" b="0"/>
          </a:effectRef>
          <a:fontRef idx="major"/>
        </p:style>
        <p:txBody>
          <a:bodyPr>
            <a:spAutoFit/>
          </a:bodyPr>
          <a:lstStyle/>
          <a:p>
            <a:pPr>
              <a:spcBef>
                <a:spcPts val="0"/>
              </a:spcBef>
              <a:spcAft>
                <a:spcPts val="0"/>
              </a:spcAft>
              <a:defRPr/>
            </a:pPr>
            <a:r>
              <a:rPr lang="en-US" sz="1200" dirty="0">
                <a:latin typeface="Courier New" pitchFamily="49" charset="0"/>
                <a:cs typeface="Courier New" pitchFamily="49" charset="0"/>
              </a:rPr>
              <a:t>&lt;form method="post" action="Login"&gt;</a:t>
            </a:r>
          </a:p>
          <a:p>
            <a:pPr>
              <a:spcBef>
                <a:spcPts val="0"/>
              </a:spcBef>
              <a:spcAft>
                <a:spcPts val="0"/>
              </a:spcAft>
              <a:defRPr/>
            </a:pPr>
            <a:r>
              <a:rPr lang="en-US" sz="1200" dirty="0">
                <a:latin typeface="Courier New" pitchFamily="49" charset="0"/>
                <a:cs typeface="Courier New" pitchFamily="49" charset="0"/>
              </a:rPr>
              <a:t>	&lt;input type="text" name="</a:t>
            </a:r>
            <a:r>
              <a:rPr lang="en-US" sz="1200" dirty="0" err="1">
                <a:latin typeface="Courier New" pitchFamily="49" charset="0"/>
                <a:cs typeface="Courier New" pitchFamily="49" charset="0"/>
              </a:rPr>
              <a:t>txtUserName</a:t>
            </a:r>
            <a:r>
              <a:rPr lang="en-US" sz="1200" dirty="0">
                <a:latin typeface="Courier New" pitchFamily="49" charset="0"/>
                <a:cs typeface="Courier New" pitchFamily="49" charset="0"/>
              </a:rPr>
              <a:t>"&gt;&lt;/td&gt;</a:t>
            </a:r>
          </a:p>
          <a:p>
            <a:pPr>
              <a:spcBef>
                <a:spcPts val="0"/>
              </a:spcBef>
              <a:spcAft>
                <a:spcPts val="0"/>
              </a:spcAft>
              <a:defRPr/>
            </a:pPr>
            <a:r>
              <a:rPr lang="en-US" sz="1200" dirty="0">
                <a:latin typeface="Courier New" pitchFamily="49" charset="0"/>
                <a:cs typeface="Courier New" pitchFamily="49" charset="0"/>
              </a:rPr>
              <a:t>	&lt;input type="text" name="</a:t>
            </a:r>
            <a:r>
              <a:rPr lang="en-US" sz="1200" dirty="0" err="1">
                <a:latin typeface="Courier New" pitchFamily="49" charset="0"/>
                <a:cs typeface="Courier New" pitchFamily="49" charset="0"/>
              </a:rPr>
              <a:t>txtUserName</a:t>
            </a:r>
            <a:r>
              <a:rPr lang="en-US" sz="1200" dirty="0">
                <a:latin typeface="Courier New" pitchFamily="49" charset="0"/>
                <a:cs typeface="Courier New" pitchFamily="49" charset="0"/>
              </a:rPr>
              <a:t>"&gt;&lt;/td&gt;</a:t>
            </a:r>
          </a:p>
          <a:p>
            <a:pPr>
              <a:spcBef>
                <a:spcPts val="0"/>
              </a:spcBef>
              <a:spcAft>
                <a:spcPts val="0"/>
              </a:spcAft>
              <a:defRPr/>
            </a:pPr>
            <a:r>
              <a:rPr lang="en-US" sz="1200" dirty="0">
                <a:latin typeface="Courier New" pitchFamily="49" charset="0"/>
                <a:cs typeface="Courier New" pitchFamily="49" charset="0"/>
              </a:rPr>
              <a:t>…</a:t>
            </a:r>
          </a:p>
          <a:p>
            <a:pPr>
              <a:spcBef>
                <a:spcPts val="0"/>
              </a:spcBef>
              <a:spcAft>
                <a:spcPts val="0"/>
              </a:spcAft>
              <a:defRPr/>
            </a:pPr>
            <a:r>
              <a:rPr lang="es-ES" sz="1200" dirty="0">
                <a:latin typeface="Courier New" pitchFamily="49" charset="0"/>
                <a:cs typeface="Courier New" pitchFamily="49" charset="0"/>
              </a:rPr>
              <a:t>&lt;</a:t>
            </a:r>
            <a:r>
              <a:rPr lang="es-ES" sz="1200" dirty="0" err="1">
                <a:latin typeface="Courier New" pitchFamily="49" charset="0"/>
                <a:cs typeface="Courier New" pitchFamily="49" charset="0"/>
              </a:rPr>
              <a:t>td</a:t>
            </a:r>
            <a:r>
              <a:rPr lang="es-ES" sz="1200" dirty="0">
                <a:latin typeface="Courier New" pitchFamily="49" charset="0"/>
                <a:cs typeface="Courier New" pitchFamily="49" charset="0"/>
              </a:rPr>
              <a:t>&gt;${</a:t>
            </a:r>
            <a:r>
              <a:rPr lang="es-ES" sz="1200" dirty="0" err="1">
                <a:latin typeface="Courier New" pitchFamily="49" charset="0"/>
                <a:cs typeface="Courier New" pitchFamily="49" charset="0"/>
              </a:rPr>
              <a:t>u.userName</a:t>
            </a:r>
            <a:r>
              <a:rPr lang="es-ES" sz="1200" dirty="0">
                <a:latin typeface="Courier New" pitchFamily="49" charset="0"/>
                <a:cs typeface="Courier New" pitchFamily="49" charset="0"/>
              </a:rPr>
              <a:t>} &lt;/</a:t>
            </a:r>
            <a:r>
              <a:rPr lang="es-ES" sz="1200" dirty="0" err="1">
                <a:latin typeface="Courier New" pitchFamily="49" charset="0"/>
                <a:cs typeface="Courier New" pitchFamily="49" charset="0"/>
              </a:rPr>
              <a:t>td</a:t>
            </a:r>
            <a:r>
              <a:rPr lang="es-ES" sz="1200" dirty="0">
                <a:latin typeface="Courier New" pitchFamily="49" charset="0"/>
                <a:cs typeface="Courier New" pitchFamily="49" charset="0"/>
              </a:rPr>
              <a:t>&gt; </a:t>
            </a:r>
          </a:p>
          <a:p>
            <a:pPr>
              <a:spcBef>
                <a:spcPts val="0"/>
              </a:spcBef>
              <a:spcAft>
                <a:spcPts val="0"/>
              </a:spcAft>
              <a:defRPr/>
            </a:pPr>
            <a:r>
              <a:rPr lang="es-ES" sz="1200" dirty="0">
                <a:latin typeface="Courier New" pitchFamily="49" charset="0"/>
                <a:cs typeface="Courier New" pitchFamily="49" charset="0"/>
              </a:rPr>
              <a:t>&lt;</a:t>
            </a:r>
            <a:r>
              <a:rPr lang="es-ES" sz="1200" dirty="0" err="1">
                <a:latin typeface="Courier New" pitchFamily="49" charset="0"/>
                <a:cs typeface="Courier New" pitchFamily="49" charset="0"/>
              </a:rPr>
              <a:t>td</a:t>
            </a:r>
            <a:r>
              <a:rPr lang="es-ES" sz="1200" dirty="0">
                <a:latin typeface="Courier New" pitchFamily="49" charset="0"/>
                <a:cs typeface="Courier New" pitchFamily="49" charset="0"/>
              </a:rPr>
              <a:t>&gt;${</a:t>
            </a:r>
            <a:r>
              <a:rPr lang="es-ES" sz="1200" dirty="0" err="1">
                <a:latin typeface="Courier New" pitchFamily="49" charset="0"/>
                <a:cs typeface="Courier New" pitchFamily="49" charset="0"/>
              </a:rPr>
              <a:t>u.userPassword</a:t>
            </a:r>
            <a:r>
              <a:rPr lang="es-ES" sz="1200" dirty="0">
                <a:latin typeface="Courier New" pitchFamily="49" charset="0"/>
                <a:cs typeface="Courier New" pitchFamily="49" charset="0"/>
              </a:rPr>
              <a:t>} &lt;/</a:t>
            </a:r>
            <a:r>
              <a:rPr lang="es-ES" sz="1200" dirty="0" err="1">
                <a:latin typeface="Courier New" pitchFamily="49" charset="0"/>
                <a:cs typeface="Courier New" pitchFamily="49" charset="0"/>
              </a:rPr>
              <a:t>td</a:t>
            </a:r>
            <a:r>
              <a:rPr lang="es-ES" sz="1200" dirty="0">
                <a:latin typeface="Courier New" pitchFamily="49" charset="0"/>
                <a:cs typeface="Courier New" pitchFamily="49" charset="0"/>
              </a:rPr>
              <a:t>&gt; </a:t>
            </a:r>
          </a:p>
          <a:p>
            <a:pPr>
              <a:spcBef>
                <a:spcPts val="0"/>
              </a:spcBef>
              <a:spcAft>
                <a:spcPts val="0"/>
              </a:spcAft>
              <a:defRPr/>
            </a:pPr>
            <a:endParaRPr lang="es-ES" sz="1200" dirty="0">
              <a:latin typeface="Courier New" pitchFamily="49" charset="0"/>
              <a:cs typeface="Courier New" pitchFamily="49" charset="0"/>
            </a:endParaRPr>
          </a:p>
        </p:txBody>
      </p:sp>
      <p:sp>
        <p:nvSpPr>
          <p:cNvPr id="13" name="TextBox 12"/>
          <p:cNvSpPr txBox="1"/>
          <p:nvPr/>
        </p:nvSpPr>
        <p:spPr>
          <a:xfrm>
            <a:off x="2433582" y="1905001"/>
            <a:ext cx="7143800" cy="1015663"/>
          </a:xfrm>
          <a:prstGeom prst="rect">
            <a:avLst/>
          </a:prstGeom>
          <a:ln>
            <a:solidFill>
              <a:schemeClr val="tx2">
                <a:lumMod val="40000"/>
                <a:lumOff val="60000"/>
              </a:schemeClr>
            </a:solidFill>
          </a:ln>
        </p:spPr>
        <p:style>
          <a:lnRef idx="0">
            <a:scrgbClr r="0" g="0" b="0"/>
          </a:lnRef>
          <a:fillRef idx="1003">
            <a:schemeClr val="lt1"/>
          </a:fillRef>
          <a:effectRef idx="0">
            <a:scrgbClr r="0" g="0" b="0"/>
          </a:effectRef>
          <a:fontRef idx="major"/>
        </p:style>
        <p:txBody>
          <a:bodyPr>
            <a:spAutoFit/>
          </a:bodyPr>
          <a:lstStyle/>
          <a:p>
            <a:pPr fontAlgn="auto">
              <a:spcBef>
                <a:spcPts val="0"/>
              </a:spcBef>
              <a:spcAft>
                <a:spcPts val="0"/>
              </a:spcAft>
              <a:defRPr/>
            </a:pPr>
            <a:r>
              <a:rPr lang="en-US" sz="1200" dirty="0">
                <a:latin typeface="Courier New" pitchFamily="49" charset="0"/>
                <a:cs typeface="Courier New" pitchFamily="49" charset="0"/>
              </a:rPr>
              <a:t>public class </a:t>
            </a:r>
            <a:r>
              <a:rPr lang="en-US" sz="1200" dirty="0" err="1">
                <a:latin typeface="Courier New" pitchFamily="49" charset="0"/>
                <a:cs typeface="Courier New" pitchFamily="49" charset="0"/>
              </a:rPr>
              <a:t>DbBean</a:t>
            </a:r>
            <a:r>
              <a:rPr lang="es-ES" sz="1200" dirty="0">
                <a:latin typeface="Courier New" pitchFamily="49" charset="0"/>
                <a:cs typeface="Courier New" pitchFamily="49" charset="0"/>
              </a:rPr>
              <a:t>{</a:t>
            </a:r>
          </a:p>
          <a:p>
            <a:pPr fontAlgn="auto">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public</a:t>
            </a: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string</a:t>
            </a: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userName</a:t>
            </a:r>
            <a:r>
              <a:rPr lang="es-ES" sz="1200" dirty="0">
                <a:latin typeface="Courier New" pitchFamily="49" charset="0"/>
                <a:cs typeface="Courier New" pitchFamily="49" charset="0"/>
              </a:rPr>
              <a:t> {  </a:t>
            </a:r>
            <a:r>
              <a:rPr lang="es-ES" sz="1200" dirty="0" err="1">
                <a:latin typeface="Courier New" pitchFamily="49" charset="0"/>
                <a:cs typeface="Courier New" pitchFamily="49" charset="0"/>
              </a:rPr>
              <a:t>get</a:t>
            </a:r>
            <a:r>
              <a:rPr lang="es-ES" sz="1200" dirty="0">
                <a:latin typeface="Courier New" pitchFamily="49" charset="0"/>
                <a:cs typeface="Courier New" pitchFamily="49" charset="0"/>
              </a:rPr>
              <a:t>; set; }</a:t>
            </a:r>
          </a:p>
          <a:p>
            <a:pPr fontAlgn="auto">
              <a:spcBef>
                <a:spcPts val="0"/>
              </a:spcBef>
              <a:spcAft>
                <a:spcPts val="0"/>
              </a:spcAft>
              <a:defRPr/>
            </a:pP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public</a:t>
            </a: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string</a:t>
            </a:r>
            <a:r>
              <a:rPr lang="es-ES" sz="1200" dirty="0">
                <a:latin typeface="Courier New" pitchFamily="49" charset="0"/>
                <a:cs typeface="Courier New" pitchFamily="49" charset="0"/>
              </a:rPr>
              <a:t> </a:t>
            </a:r>
            <a:r>
              <a:rPr lang="es-ES" sz="1200" dirty="0" err="1">
                <a:latin typeface="Courier New" pitchFamily="49" charset="0"/>
                <a:cs typeface="Courier New" pitchFamily="49" charset="0"/>
              </a:rPr>
              <a:t>password</a:t>
            </a:r>
            <a:r>
              <a:rPr lang="es-ES" sz="1200" dirty="0">
                <a:latin typeface="Courier New" pitchFamily="49" charset="0"/>
                <a:cs typeface="Courier New" pitchFamily="49" charset="0"/>
              </a:rPr>
              <a:t> {  </a:t>
            </a:r>
            <a:r>
              <a:rPr lang="es-ES" sz="1200" dirty="0" err="1">
                <a:latin typeface="Courier New" pitchFamily="49" charset="0"/>
                <a:cs typeface="Courier New" pitchFamily="49" charset="0"/>
              </a:rPr>
              <a:t>get</a:t>
            </a:r>
            <a:r>
              <a:rPr lang="es-ES" sz="1200" dirty="0">
                <a:latin typeface="Courier New" pitchFamily="49" charset="0"/>
                <a:cs typeface="Courier New" pitchFamily="49" charset="0"/>
              </a:rPr>
              <a:t>; set; }</a:t>
            </a:r>
          </a:p>
          <a:p>
            <a:pPr fontAlgn="auto">
              <a:spcBef>
                <a:spcPts val="0"/>
              </a:spcBef>
              <a:spcAft>
                <a:spcPts val="0"/>
              </a:spcAft>
              <a:defRPr/>
            </a:pPr>
            <a:r>
              <a:rPr lang="es-ES" sz="1200" dirty="0">
                <a:latin typeface="Courier New" pitchFamily="49" charset="0"/>
                <a:cs typeface="Courier New" pitchFamily="49" charset="0"/>
              </a:rPr>
              <a:t>…</a:t>
            </a:r>
          </a:p>
          <a:p>
            <a:pPr fontAlgn="auto">
              <a:spcBef>
                <a:spcPts val="0"/>
              </a:spcBef>
              <a:spcAft>
                <a:spcPts val="0"/>
              </a:spcAft>
              <a:defRPr/>
            </a:pPr>
            <a:r>
              <a:rPr lang="es-ES" sz="1200" dirty="0">
                <a:latin typeface="Courier New" pitchFamily="49" charset="0"/>
                <a:cs typeface="Courier New" pitchFamily="49" charset="0"/>
              </a:rPr>
              <a:t>}</a:t>
            </a:r>
          </a:p>
        </p:txBody>
      </p:sp>
      <p:sp>
        <p:nvSpPr>
          <p:cNvPr id="14" name="Oval 13"/>
          <p:cNvSpPr/>
          <p:nvPr/>
        </p:nvSpPr>
        <p:spPr>
          <a:xfrm>
            <a:off x="9434506" y="1905000"/>
            <a:ext cx="928694" cy="928694"/>
          </a:xfrm>
          <a:prstGeom prst="ellipse">
            <a:avLst/>
          </a:prstGeom>
          <a:solidFill>
            <a:srgbClr val="92D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s-ES" sz="1400" dirty="0" err="1">
                <a:solidFill>
                  <a:schemeClr val="tx2"/>
                </a:solidFill>
              </a:rPr>
              <a:t>Model</a:t>
            </a:r>
            <a:endParaRPr lang="es-ES" sz="1400" dirty="0">
              <a:solidFill>
                <a:schemeClr val="tx2"/>
              </a:solidFill>
            </a:endParaRPr>
          </a:p>
        </p:txBody>
      </p:sp>
      <p:sp>
        <p:nvSpPr>
          <p:cNvPr id="15" name="Oval 14"/>
          <p:cNvSpPr/>
          <p:nvPr/>
        </p:nvSpPr>
        <p:spPr>
          <a:xfrm>
            <a:off x="9434506" y="4710106"/>
            <a:ext cx="928694" cy="928694"/>
          </a:xfrm>
          <a:prstGeom prst="ellipse">
            <a:avLst/>
          </a:prstGeo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s-ES" sz="1400" dirty="0" err="1">
                <a:solidFill>
                  <a:schemeClr val="tx2"/>
                </a:solidFill>
              </a:rPr>
              <a:t>Controller</a:t>
            </a:r>
            <a:endParaRPr lang="es-ES" sz="1400" dirty="0">
              <a:solidFill>
                <a:schemeClr val="tx2"/>
              </a:solidFill>
            </a:endParaRPr>
          </a:p>
        </p:txBody>
      </p:sp>
      <p:sp>
        <p:nvSpPr>
          <p:cNvPr id="16" name="Oval 15"/>
          <p:cNvSpPr/>
          <p:nvPr/>
        </p:nvSpPr>
        <p:spPr>
          <a:xfrm>
            <a:off x="9434506" y="3200400"/>
            <a:ext cx="928694" cy="928694"/>
          </a:xfrm>
          <a:prstGeom prst="ellipse">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s-ES" sz="1400" dirty="0">
                <a:solidFill>
                  <a:schemeClr val="tx2"/>
                </a:solidFill>
              </a:rPr>
              <a:t>View</a:t>
            </a:r>
          </a:p>
        </p:txBody>
      </p:sp>
      <p:cxnSp>
        <p:nvCxnSpPr>
          <p:cNvPr id="18" name="Straight Arrow Connector 17"/>
          <p:cNvCxnSpPr/>
          <p:nvPr/>
        </p:nvCxnSpPr>
        <p:spPr>
          <a:xfrm rot="10800000">
            <a:off x="4681510" y="2438054"/>
            <a:ext cx="1371600" cy="838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243610" y="3398491"/>
            <a:ext cx="1104900" cy="155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3409923" y="2317404"/>
            <a:ext cx="849312" cy="14620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298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 (</a:t>
              </a:r>
              <a:r>
                <a:rPr lang="en-US" altLang="zh-CN" sz="2800" b="1" dirty="0" err="1">
                  <a:solidFill>
                    <a:schemeClr val="bg1"/>
                  </a:solidFill>
                  <a:latin typeface="Times New Roman" panose="02020603050405020304" pitchFamily="18" charset="0"/>
                  <a:cs typeface="Times New Roman" panose="02020603050405020304" pitchFamily="18" charset="0"/>
                </a:rPr>
                <a:t>Sơ</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đồ</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luồng</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916276"/>
          </a:xfrm>
          <a:prstGeom prst="rect">
            <a:avLst/>
          </a:prstGeom>
        </p:spPr>
        <p:txBody>
          <a:bodyPr vert="horz" wrap="square" lIns="0" tIns="99695" rIns="0" bIns="0" rtlCol="0">
            <a:spAutoFit/>
          </a:bodyPr>
          <a:lstStyle/>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592870"/>
            <a:ext cx="7662863"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10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3440044"/>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JAVA web application</a:t>
            </a:r>
          </a:p>
          <a:p>
            <a:pPr marL="812165" lvl="1" indent="-342900">
              <a:spcBef>
                <a:spcPts val="595"/>
              </a:spcBef>
              <a:buClr>
                <a:srgbClr val="FF5A33"/>
              </a:buClr>
              <a:buFont typeface="Wingdings" panose="05000000000000000000" pitchFamily="2" charset="2"/>
              <a:buChar char="v"/>
              <a:tabLst>
                <a:tab pos="755015" algn="l"/>
              </a:tabLst>
            </a:pP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Servlet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developer Java,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HTML)</a:t>
            </a:r>
          </a:p>
          <a:p>
            <a:pPr marL="812165" lvl="1" indent="-342900">
              <a:spcBef>
                <a:spcPts val="595"/>
              </a:spcBef>
              <a:buClr>
                <a:srgbClr val="FF5A33"/>
              </a:buClr>
              <a:buFont typeface="Wingdings" panose="05000000000000000000" pitchFamily="2" charset="2"/>
              <a:buChar char="v"/>
              <a:tabLst>
                <a:tab pos="755015" algn="l"/>
              </a:tabLst>
            </a:pP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web developer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logic)</a:t>
            </a: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31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180882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JSP</a:t>
            </a: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pic>
        <p:nvPicPr>
          <p:cNvPr id="11" name="Picture 4" descr="model 1 archite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971800"/>
            <a:ext cx="659288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60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Mô</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hình</a:t>
              </a:r>
              <a:r>
                <a:rPr lang="en-US" altLang="zh-CN" sz="2800" b="1" dirty="0">
                  <a:solidFill>
                    <a:schemeClr val="bg1"/>
                  </a:solidFill>
                  <a:latin typeface="Times New Roman" panose="02020603050405020304" pitchFamily="18" charset="0"/>
                  <a:cs typeface="Times New Roman" panose="02020603050405020304" pitchFamily="18" charset="0"/>
                </a:rPr>
                <a:t> MVC</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591755" cy="180882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servlet</a:t>
            </a: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endParaRPr lang="en-US" sz="2400" dirty="0">
              <a:solidFill>
                <a:prstClr val="black"/>
              </a:solidFill>
              <a:latin typeface="Times New Roman" panose="02020603050405020304" pitchFamily="18" charset="0"/>
              <a:cs typeface="Times New Roman" panose="02020603050405020304" pitchFamily="18" charset="0"/>
            </a:endParaRPr>
          </a:p>
          <a:p>
            <a:pPr marL="12065">
              <a:spcBef>
                <a:spcPts val="595"/>
              </a:spcBef>
              <a:buClr>
                <a:srgbClr val="FF5A33"/>
              </a:buClr>
              <a:tabLst>
                <a:tab pos="755015" algn="l"/>
              </a:tabLst>
            </a:pPr>
            <a:endParaRPr lang="vi-VN" sz="2400" dirty="0">
              <a:latin typeface="Times New Roman" panose="02020603050405020304" pitchFamily="18" charset="0"/>
              <a:cs typeface="Times New Roman" panose="02020603050405020304" pitchFamily="18" charset="0"/>
            </a:endParaRPr>
          </a:p>
        </p:txBody>
      </p:sp>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6348" y="2584419"/>
            <a:ext cx="5530850"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308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1000" fill="hold"/>
                                        <p:tgtEl>
                                          <p:spTgt spid="12"/>
                                        </p:tgtEl>
                                        <p:attrNameLst>
                                          <p:attrName>ppt_x</p:attrName>
                                        </p:attrNameLst>
                                      </p:cBhvr>
                                      <p:tavLst>
                                        <p:tav tm="0">
                                          <p:val>
                                            <p:strVal val="0-#ppt_w/2"/>
                                          </p:val>
                                        </p:tav>
                                        <p:tav tm="100000">
                                          <p:val>
                                            <p:strVal val="#ppt_x"/>
                                          </p:val>
                                        </p:tav>
                                      </p:tavLst>
                                    </p:anim>
                                    <p:anim calcmode="lin" valueType="num">
                                      <p:cBhvr additive="base">
                                        <p:cTn id="14"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Standard Tag Library (JSTL)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439415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a:latin typeface="Times New Roman" panose="02020603050405020304" pitchFamily="18" charset="0"/>
                <a:cs typeface="Times New Roman" panose="02020603050405020304" pitchFamily="18" charset="0"/>
              </a:rPr>
              <a:t>J</a:t>
            </a:r>
            <a:r>
              <a:rPr lang="vi-VN" sz="2400" dirty="0">
                <a:latin typeface="Times New Roman" panose="02020603050405020304" pitchFamily="18" charset="0"/>
                <a:cs typeface="Times New Roman" panose="02020603050405020304" pitchFamily="18" charset="0"/>
              </a:rPr>
              <a:t>avaServer Pages Standard Tag Library (JSTL) là một tập hợp các thẻ JSP hữu ích, mà gói các tính năng lõi phổ biến tới các ứng dụng JSP.</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JSTL hỗ trợ tới các tác vụ phổ biến và có tính cấu trúc, ví dụ như các tính lặp và điều kiện, các thẻ để thao tác tài liệu XML, các thẻ đa ngôn ngữ, và các thẻ SQL. Nó cũng cung cấp Framework để tích hợp các Custom Tags với các thẻ JSTL.</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Các thẻ JSTL có thể được phân loại, theo tính năng của nó, thành các nhóm thư viện thẻ JSTL sau, mà có thể được sử dụng khi tạo một JSP page</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Core Tags: Nhóm thẻ cơ bản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Formatting tags: Nhóm thẻ định dạng</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SQL tags: Nhóm thẻ SQL</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XML tags: Nhóm thẻ XML</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JSTL Functions: Nhóm hàm JSTL</a:t>
            </a:r>
            <a:r>
              <a:rPr lang="en-US" sz="2400" dirty="0">
                <a:latin typeface="Times New Roman" panose="02020603050405020304" pitchFamily="18" charset="0"/>
                <a:cs typeface="Times New Roman" panose="02020603050405020304" pitchFamily="18" charset="0"/>
              </a:rPr>
              <a:t>)</a:t>
            </a:r>
            <a:endParaRPr lang="vi-VN" sz="2400" spc="-120" dirty="0">
              <a:latin typeface="+mj-lt"/>
              <a:cs typeface="Arial"/>
            </a:endParaRPr>
          </a:p>
        </p:txBody>
      </p:sp>
    </p:spTree>
    <p:extLst>
      <p:ext uri="{BB962C8B-B14F-4D97-AF65-F5344CB8AC3E}">
        <p14:creationId xmlns:p14="http://schemas.microsoft.com/office/powerpoint/2010/main" val="74227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Standard Tag Library (JSTL)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3593933"/>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Core Tags: Nhóm thẻ cơ bản</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Nhóm Formatting Tags trong JSTL</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sv-SE" sz="2400" dirty="0">
                <a:latin typeface="Times New Roman" panose="02020603050405020304" pitchFamily="18" charset="0"/>
                <a:cs typeface="Times New Roman" panose="02020603050405020304" pitchFamily="18" charset="0"/>
              </a:rPr>
              <a:t>Nhóm SQL Tags trong JSTL</a:t>
            </a:r>
          </a:p>
          <a:p>
            <a:pPr marL="354965" indent="-342900">
              <a:spcBef>
                <a:spcPts val="595"/>
              </a:spcBef>
              <a:buClr>
                <a:srgbClr val="FF5A33"/>
              </a:buClr>
              <a:buFont typeface="Wingdings" panose="05000000000000000000" pitchFamily="2" charset="2"/>
              <a:buChar char="q"/>
              <a:tabLst>
                <a:tab pos="755015" algn="l"/>
              </a:tabLst>
            </a:pPr>
            <a:endParaRPr lang="sv-SE"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sv-SE" sz="2400" dirty="0">
                <a:latin typeface="Times New Roman" panose="02020603050405020304" pitchFamily="18" charset="0"/>
                <a:cs typeface="Times New Roman" panose="02020603050405020304" pitchFamily="18" charset="0"/>
              </a:rPr>
              <a:t>Nhóm XML Tags trong JSTL</a:t>
            </a:r>
            <a:r>
              <a:rPr lang="vi-V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3276600" y="2237975"/>
            <a:ext cx="5486400" cy="27954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666600"/>
                </a:solidFill>
                <a:effectLst/>
                <a:latin typeface="Menlo"/>
              </a:rPr>
              <a:t>&lt;%@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taglib</a:t>
            </a:r>
            <a:r>
              <a:rPr kumimoji="0" lang="en-US" sz="1400" b="0" i="0" u="none" strike="noStrike" cap="none" normalizeH="0" baseline="0" dirty="0">
                <a:ln>
                  <a:noFill/>
                </a:ln>
                <a:solidFill>
                  <a:srgbClr val="333333"/>
                </a:solidFill>
                <a:effectLst/>
                <a:latin typeface="Menlo"/>
              </a:rPr>
              <a:t> prefix</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"c"</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uri</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"http://java.sun.com/</a:t>
            </a:r>
            <a:r>
              <a:rPr kumimoji="0" lang="en-US" sz="1400" b="0" i="0" u="none" strike="noStrike" cap="none" normalizeH="0" baseline="0" dirty="0" err="1">
                <a:ln>
                  <a:noFill/>
                </a:ln>
                <a:solidFill>
                  <a:srgbClr val="008800"/>
                </a:solidFill>
                <a:effectLst/>
                <a:latin typeface="Menlo"/>
              </a:rPr>
              <a:t>jsp</a:t>
            </a:r>
            <a:r>
              <a:rPr kumimoji="0" lang="en-US" sz="1400" b="0" i="0" u="none" strike="noStrike" cap="none" normalizeH="0" baseline="0" dirty="0">
                <a:ln>
                  <a:noFill/>
                </a:ln>
                <a:solidFill>
                  <a:srgbClr val="008800"/>
                </a:solidFill>
                <a:effectLst/>
                <a:latin typeface="Menlo"/>
              </a:rPr>
              <a:t>/html/core"</a:t>
            </a:r>
            <a:r>
              <a:rPr kumimoji="0" lang="en-US" sz="1400" b="0" i="0" u="none" strike="noStrike" cap="none" normalizeH="0" baseline="0" dirty="0">
                <a:ln>
                  <a:noFill/>
                </a:ln>
                <a:solidFill>
                  <a:srgbClr val="333333"/>
                </a:solidFill>
                <a:effectLst/>
                <a:latin typeface="Menlo"/>
              </a:rPr>
              <a:t> %&gt;</a:t>
            </a:r>
            <a:r>
              <a:rPr kumimoji="0" lang="en-US" sz="1400" b="0" i="0" u="none" strike="noStrike" cap="none" normalizeH="0" baseline="0" dirty="0">
                <a:ln>
                  <a:noFill/>
                </a:ln>
                <a:solidFill>
                  <a:schemeClr val="tx1"/>
                </a:solidFill>
                <a:effectLst/>
              </a:rPr>
              <a:t> </a:t>
            </a:r>
            <a:endParaRPr kumimoji="0" lang="en-US" sz="1400" b="0" i="0" u="none" strike="noStrike" cap="none" normalizeH="0" baseline="0" dirty="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3276601" y="3200400"/>
            <a:ext cx="5486400" cy="27954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666600"/>
                </a:solidFill>
                <a:effectLst/>
                <a:latin typeface="Menlo"/>
              </a:rPr>
              <a:t>&lt;%@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taglib</a:t>
            </a:r>
            <a:r>
              <a:rPr kumimoji="0" lang="en-US" sz="1400" b="0" i="0" u="none" strike="noStrike" cap="none" normalizeH="0" baseline="0" dirty="0">
                <a:ln>
                  <a:noFill/>
                </a:ln>
                <a:solidFill>
                  <a:srgbClr val="333333"/>
                </a:solidFill>
                <a:effectLst/>
                <a:latin typeface="Menlo"/>
              </a:rPr>
              <a:t> prefix</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err="1">
                <a:ln>
                  <a:noFill/>
                </a:ln>
                <a:solidFill>
                  <a:srgbClr val="008800"/>
                </a:solidFill>
                <a:effectLst/>
                <a:latin typeface="Menlo"/>
              </a:rPr>
              <a:t>fmt</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uri</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"http://java.sun.com/</a:t>
            </a:r>
            <a:r>
              <a:rPr kumimoji="0" lang="en-US" sz="1400" b="0" i="0" u="none" strike="noStrike" cap="none" normalizeH="0" baseline="0" dirty="0" err="1">
                <a:ln>
                  <a:noFill/>
                </a:ln>
                <a:solidFill>
                  <a:srgbClr val="008800"/>
                </a:solidFill>
                <a:effectLst/>
                <a:latin typeface="Menlo"/>
              </a:rPr>
              <a:t>jsp</a:t>
            </a:r>
            <a:r>
              <a:rPr kumimoji="0" lang="en-US" sz="1400" b="0" i="0" u="none" strike="noStrike" cap="none" normalizeH="0" baseline="0" dirty="0">
                <a:ln>
                  <a:noFill/>
                </a:ln>
                <a:solidFill>
                  <a:srgbClr val="008800"/>
                </a:solidFill>
                <a:effectLst/>
                <a:latin typeface="Menlo"/>
              </a:rPr>
              <a:t>/html/</a:t>
            </a:r>
            <a:r>
              <a:rPr kumimoji="0" lang="en-US" sz="1400" b="0" i="0" u="none" strike="noStrike" cap="none" normalizeH="0" baseline="0" dirty="0" err="1">
                <a:ln>
                  <a:noFill/>
                </a:ln>
                <a:solidFill>
                  <a:srgbClr val="008800"/>
                </a:solidFill>
                <a:effectLst/>
                <a:latin typeface="Menlo"/>
              </a:rPr>
              <a:t>fmt</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a:ln>
                  <a:noFill/>
                </a:ln>
                <a:solidFill>
                  <a:srgbClr val="333333"/>
                </a:solidFill>
                <a:effectLst/>
                <a:latin typeface="Menlo"/>
              </a:rPr>
              <a:t> %&gt;</a:t>
            </a:r>
            <a:r>
              <a:rPr kumimoji="0" lang="en-US" sz="1400" b="0" i="0" u="none" strike="noStrike" cap="none" normalizeH="0" baseline="0" dirty="0">
                <a:ln>
                  <a:noFill/>
                </a:ln>
                <a:solidFill>
                  <a:schemeClr val="tx1"/>
                </a:solidFill>
                <a:effectLst/>
              </a:rPr>
              <a:t> </a:t>
            </a:r>
            <a:endParaRPr kumimoji="0" lang="en-US" sz="1400" b="0" i="0" u="none" strike="noStrike" cap="none" normalizeH="0" baseline="0" dirty="0">
              <a:ln>
                <a:noFill/>
              </a:ln>
              <a:solidFill>
                <a:schemeClr val="tx1"/>
              </a:solidFill>
              <a:effectLst/>
              <a:latin typeface="Arial" panose="020B0604020202020204" pitchFamily="34" charset="0"/>
            </a:endParaRPr>
          </a:p>
        </p:txBody>
      </p:sp>
      <p:sp>
        <p:nvSpPr>
          <p:cNvPr id="11" name="Rectangle 3"/>
          <p:cNvSpPr>
            <a:spLocks noChangeArrowheads="1"/>
          </p:cNvSpPr>
          <p:nvPr/>
        </p:nvSpPr>
        <p:spPr bwMode="auto">
          <a:xfrm>
            <a:off x="3276600" y="4162825"/>
            <a:ext cx="5486400" cy="27954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666600"/>
                </a:solidFill>
                <a:effectLst/>
                <a:latin typeface="Menlo"/>
              </a:rPr>
              <a:t>&lt;%@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taglib</a:t>
            </a:r>
            <a:r>
              <a:rPr kumimoji="0" lang="en-US" sz="1400" b="0" i="0" u="none" strike="noStrike" cap="none" normalizeH="0" baseline="0" dirty="0">
                <a:ln>
                  <a:noFill/>
                </a:ln>
                <a:solidFill>
                  <a:srgbClr val="333333"/>
                </a:solidFill>
                <a:effectLst/>
                <a:latin typeface="Menlo"/>
              </a:rPr>
              <a:t> prefix</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err="1">
                <a:ln>
                  <a:noFill/>
                </a:ln>
                <a:solidFill>
                  <a:srgbClr val="008800"/>
                </a:solidFill>
                <a:effectLst/>
                <a:latin typeface="Menlo"/>
              </a:rPr>
              <a:t>sql</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uri</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"http://java.sun.com/</a:t>
            </a:r>
            <a:r>
              <a:rPr kumimoji="0" lang="en-US" sz="1400" b="0" i="0" u="none" strike="noStrike" cap="none" normalizeH="0" baseline="0" dirty="0" err="1">
                <a:ln>
                  <a:noFill/>
                </a:ln>
                <a:solidFill>
                  <a:srgbClr val="008800"/>
                </a:solidFill>
                <a:effectLst/>
                <a:latin typeface="Menlo"/>
              </a:rPr>
              <a:t>jsp</a:t>
            </a:r>
            <a:r>
              <a:rPr kumimoji="0" lang="en-US" sz="1400" b="0" i="0" u="none" strike="noStrike" cap="none" normalizeH="0" baseline="0" dirty="0">
                <a:ln>
                  <a:noFill/>
                </a:ln>
                <a:solidFill>
                  <a:srgbClr val="008800"/>
                </a:solidFill>
                <a:effectLst/>
                <a:latin typeface="Menlo"/>
              </a:rPr>
              <a:t>/html/</a:t>
            </a:r>
            <a:r>
              <a:rPr kumimoji="0" lang="en-US" sz="1400" b="0" i="0" u="none" strike="noStrike" cap="none" normalizeH="0" baseline="0" dirty="0" err="1">
                <a:ln>
                  <a:noFill/>
                </a:ln>
                <a:solidFill>
                  <a:srgbClr val="008800"/>
                </a:solidFill>
                <a:effectLst/>
                <a:latin typeface="Menlo"/>
              </a:rPr>
              <a:t>sql</a:t>
            </a:r>
            <a:r>
              <a:rPr kumimoji="0" lang="en-US" sz="1400" b="0" i="0" u="none" strike="noStrike" cap="none" normalizeH="0" baseline="0" dirty="0">
                <a:ln>
                  <a:noFill/>
                </a:ln>
                <a:solidFill>
                  <a:srgbClr val="008800"/>
                </a:solidFill>
                <a:effectLst/>
                <a:latin typeface="Menlo"/>
              </a:rPr>
              <a:t>"</a:t>
            </a:r>
            <a:r>
              <a:rPr kumimoji="0" lang="en-US" sz="1400" b="0" i="0" u="none" strike="noStrike" cap="none" normalizeH="0" baseline="0" dirty="0">
                <a:ln>
                  <a:noFill/>
                </a:ln>
                <a:solidFill>
                  <a:srgbClr val="333333"/>
                </a:solidFill>
                <a:effectLst/>
                <a:latin typeface="Menlo"/>
              </a:rPr>
              <a:t> %&gt;</a:t>
            </a:r>
            <a:r>
              <a:rPr kumimoji="0" lang="en-US" sz="1400" b="0" i="0" u="none" strike="noStrike" cap="none" normalizeH="0" baseline="0" dirty="0">
                <a:ln>
                  <a:noFill/>
                </a:ln>
                <a:solidFill>
                  <a:schemeClr val="tx1"/>
                </a:solidFill>
                <a:effectLst/>
              </a:rPr>
              <a:t> </a:t>
            </a:r>
            <a:endParaRPr kumimoji="0" lang="en-US" sz="1400" b="0" i="0" u="none" strike="noStrike" cap="none" normalizeH="0" baseline="0" dirty="0">
              <a:ln>
                <a:noFill/>
              </a:ln>
              <a:solidFill>
                <a:schemeClr val="tx1"/>
              </a:solidFill>
              <a:effectLst/>
              <a:latin typeface="Arial" panose="020B0604020202020204" pitchFamily="34" charset="0"/>
            </a:endParaRPr>
          </a:p>
        </p:txBody>
      </p:sp>
      <p:sp>
        <p:nvSpPr>
          <p:cNvPr id="12" name="Rectangle 4"/>
          <p:cNvSpPr>
            <a:spLocks noChangeArrowheads="1"/>
          </p:cNvSpPr>
          <p:nvPr/>
        </p:nvSpPr>
        <p:spPr bwMode="auto">
          <a:xfrm>
            <a:off x="3276600" y="5161938"/>
            <a:ext cx="5486400" cy="27954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666600"/>
                </a:solidFill>
                <a:effectLst/>
                <a:latin typeface="Menlo"/>
              </a:rPr>
              <a:t>&lt;%@</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taglib</a:t>
            </a:r>
            <a:r>
              <a:rPr kumimoji="0" lang="en-US" sz="1400" b="0" i="0" u="none" strike="noStrike" cap="none" normalizeH="0" baseline="0" dirty="0">
                <a:ln>
                  <a:noFill/>
                </a:ln>
                <a:solidFill>
                  <a:srgbClr val="333333"/>
                </a:solidFill>
                <a:effectLst/>
                <a:latin typeface="Menlo"/>
              </a:rPr>
              <a:t> prefix</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"x"</a:t>
            </a:r>
            <a:r>
              <a:rPr kumimoji="0" lang="en-US" sz="1400" b="0" i="0" u="none" strike="noStrike" cap="none" normalizeH="0" baseline="0" dirty="0">
                <a:ln>
                  <a:noFill/>
                </a:ln>
                <a:solidFill>
                  <a:srgbClr val="333333"/>
                </a:solidFill>
                <a:effectLst/>
                <a:latin typeface="Menlo"/>
              </a:rPr>
              <a:t> </a:t>
            </a:r>
            <a:r>
              <a:rPr kumimoji="0" lang="en-US" sz="1400" b="0" i="0" u="none" strike="noStrike" cap="none" normalizeH="0" baseline="0" dirty="0" err="1">
                <a:ln>
                  <a:noFill/>
                </a:ln>
                <a:solidFill>
                  <a:srgbClr val="333333"/>
                </a:solidFill>
                <a:effectLst/>
                <a:latin typeface="Menlo"/>
              </a:rPr>
              <a:t>uri</a:t>
            </a:r>
            <a:r>
              <a:rPr kumimoji="0" lang="en-US" sz="1400" b="0" i="0" u="none" strike="noStrike" cap="none" normalizeH="0" baseline="0" dirty="0">
                <a:ln>
                  <a:noFill/>
                </a:ln>
                <a:solidFill>
                  <a:srgbClr val="666600"/>
                </a:solidFill>
                <a:effectLst/>
                <a:latin typeface="Menlo"/>
              </a:rPr>
              <a:t>=</a:t>
            </a:r>
            <a:r>
              <a:rPr kumimoji="0" lang="en-US" sz="1400" b="0" i="0" u="none" strike="noStrike" cap="none" normalizeH="0" baseline="0" dirty="0">
                <a:ln>
                  <a:noFill/>
                </a:ln>
                <a:solidFill>
                  <a:srgbClr val="008800"/>
                </a:solidFill>
                <a:effectLst/>
                <a:latin typeface="Menlo"/>
              </a:rPr>
              <a:t>"http://java.sun.com/</a:t>
            </a:r>
            <a:r>
              <a:rPr kumimoji="0" lang="en-US" sz="1400" b="0" i="0" u="none" strike="noStrike" cap="none" normalizeH="0" baseline="0" dirty="0" err="1">
                <a:ln>
                  <a:noFill/>
                </a:ln>
                <a:solidFill>
                  <a:srgbClr val="008800"/>
                </a:solidFill>
                <a:effectLst/>
                <a:latin typeface="Menlo"/>
              </a:rPr>
              <a:t>jsp</a:t>
            </a:r>
            <a:r>
              <a:rPr kumimoji="0" lang="en-US" sz="1400" b="0" i="0" u="none" strike="noStrike" cap="none" normalizeH="0" baseline="0" dirty="0">
                <a:ln>
                  <a:noFill/>
                </a:ln>
                <a:solidFill>
                  <a:srgbClr val="008800"/>
                </a:solidFill>
                <a:effectLst/>
                <a:latin typeface="Menlo"/>
              </a:rPr>
              <a:t>/html/xml"</a:t>
            </a:r>
            <a:r>
              <a:rPr kumimoji="0" lang="en-US" sz="1400" b="0" i="0" u="none" strike="noStrike" cap="none" normalizeH="0" baseline="0" dirty="0">
                <a:ln>
                  <a:noFill/>
                </a:ln>
                <a:solidFill>
                  <a:srgbClr val="333333"/>
                </a:solidFill>
                <a:effectLst/>
                <a:latin typeface="Menlo"/>
              </a:rPr>
              <a:t> %&gt;</a:t>
            </a:r>
            <a:r>
              <a:rPr kumimoji="0" lang="en-US" sz="1400" b="0" i="0" u="none" strike="noStrike" cap="none" normalizeH="0" baseline="0" dirty="0">
                <a:ln>
                  <a:noFill/>
                </a:ln>
                <a:solidFill>
                  <a:schemeClr val="tx1"/>
                </a:solidFill>
                <a:effectLst/>
              </a:rPr>
              <a:t> </a:t>
            </a:r>
            <a:endParaRPr kumimoji="0" lang="en-US" sz="14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p:nvPr/>
        </p:nvSpPr>
        <p:spPr>
          <a:xfrm>
            <a:off x="1676400" y="5823098"/>
            <a:ext cx="7571303" cy="369332"/>
          </a:xfrm>
          <a:prstGeom prst="rect">
            <a:avLst/>
          </a:prstGeom>
        </p:spPr>
        <p:txBody>
          <a:bodyPr wrap="none">
            <a:spAutoFit/>
          </a:bodyPr>
          <a:lstStyle/>
          <a:p>
            <a:r>
              <a:rPr lang="en-US" i="1" dirty="0" err="1"/>
              <a:t>Tham</a:t>
            </a:r>
            <a:r>
              <a:rPr lang="en-US" i="1" dirty="0"/>
              <a:t> </a:t>
            </a:r>
            <a:r>
              <a:rPr lang="en-US" i="1" dirty="0" err="1"/>
              <a:t>khaaor</a:t>
            </a:r>
            <a:r>
              <a:rPr lang="en-US" i="1" dirty="0"/>
              <a:t>: https://vietjack.com/jsp/thu_vien_the_chuan_trong_jsp.jsp</a:t>
            </a:r>
          </a:p>
        </p:txBody>
      </p:sp>
    </p:spTree>
    <p:extLst>
      <p:ext uri="{BB962C8B-B14F-4D97-AF65-F5344CB8AC3E}">
        <p14:creationId xmlns:p14="http://schemas.microsoft.com/office/powerpoint/2010/main" val="2545976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9" name="组合 1"/>
          <p:cNvGrpSpPr/>
          <p:nvPr/>
        </p:nvGrpSpPr>
        <p:grpSpPr>
          <a:xfrm>
            <a:off x="1219200" y="1386906"/>
            <a:ext cx="9144000" cy="637291"/>
            <a:chOff x="3129129" y="1121776"/>
            <a:chExt cx="5933741" cy="1171624"/>
          </a:xfrm>
          <a:solidFill>
            <a:srgbClr val="F37422"/>
          </a:solidFill>
        </p:grpSpPr>
        <p:sp>
          <p:nvSpPr>
            <p:cNvPr id="10" name="圆角矩形 2"/>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FFAA2D"/>
                </a:solidFill>
              </a:endParaRPr>
            </a:p>
          </p:txBody>
        </p:sp>
        <p:sp>
          <p:nvSpPr>
            <p:cNvPr id="11" name="圆角矩形 3"/>
            <p:cNvSpPr/>
            <p:nvPr/>
          </p:nvSpPr>
          <p:spPr>
            <a:xfrm>
              <a:off x="3289330" y="1253414"/>
              <a:ext cx="5613340" cy="908350"/>
            </a:xfrm>
            <a:prstGeom prst="roundRect">
              <a:avLst>
                <a:gd name="adj" fmla="val 50000"/>
              </a:avLst>
            </a:prstGeom>
            <a:grpFill/>
            <a:ln w="19050">
              <a:gradFill flip="none" rotWithShape="1">
                <a:gsLst>
                  <a:gs pos="0">
                    <a:srgbClr val="A26CB8"/>
                  </a:gs>
                  <a:gs pos="100000">
                    <a:srgbClr val="663A77"/>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Q&amp;A</a:t>
              </a:r>
              <a:endParaRPr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21791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HAPE_LOCKS" val="959"/>
</p:tagLst>
</file>

<file path=ppt/theme/theme1.xml><?xml version="1.0" encoding="utf-8"?>
<a:theme xmlns:a="http://schemas.openxmlformats.org/drawingml/2006/main" name="Office Theme">
  <a:themeElements>
    <a:clrScheme name="9Slide - 2019">
      <a:dk1>
        <a:sysClr val="windowText" lastClr="000000"/>
      </a:dk1>
      <a:lt1>
        <a:sysClr val="window" lastClr="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700" smtClea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Blank.potx" id="{30B63705-0D70-4399-AD26-AC35318A1B73}" vid="{5336EC19-D2AD-4FDD-9A3B-C1A1B62421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3090</TotalTime>
  <Words>1163</Words>
  <Application>Microsoft Office PowerPoint</Application>
  <PresentationFormat>Widescreen</PresentationFormat>
  <Paragraphs>115</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#9Slide02 Noi dung dai</vt:lpstr>
      <vt:lpstr>#9Slide02 Tieu de rat dai 02</vt:lpstr>
      <vt:lpstr>Arial</vt:lpstr>
      <vt:lpstr>Calibri</vt:lpstr>
      <vt:lpstr>Courier New</vt:lpstr>
      <vt:lpstr>Impact</vt:lpstr>
      <vt:lpstr>Menlo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Admin</dc:creator>
  <cp:keywords>9Slide</cp:keywords>
  <dc:description>9Slide.vn</dc:description>
  <cp:lastModifiedBy>kien nguyen</cp:lastModifiedBy>
  <cp:revision>295</cp:revision>
  <dcterms:created xsi:type="dcterms:W3CDTF">2020-08-07T13:14:06Z</dcterms:created>
  <dcterms:modified xsi:type="dcterms:W3CDTF">2026-03-22T14:59:35Z</dcterms:modified>
  <cp:category>9Slide.vn</cp:category>
  <cp:contentStatus>9Slide</cp:contentStatus>
</cp:coreProperties>
</file>