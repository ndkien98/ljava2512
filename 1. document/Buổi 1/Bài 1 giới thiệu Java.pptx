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12192000"/>
  <p:notesSz cx="6858000" cy="9144000"/>
  <p:embeddedFontLst>
    <p:embeddedFont>
      <p:font typeface="Oi"/>
      <p:regular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3" roundtripDataSignature="AMtx7mhrTw11pZgumZFE/jrXWOBqTLd8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DD55F45-56E2-444B-85A5-0D09223062F2}">
  <a:tblStyle styleId="{CDD55F45-56E2-444B-85A5-0D09223062F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Oi-regular.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9" name="Google Shape;67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6" name="Google Shape;73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 name="Shape 33"/>
        <p:cNvGrpSpPr/>
        <p:nvPr/>
      </p:nvGrpSpPr>
      <p:grpSpPr>
        <a:xfrm>
          <a:off x="0" y="0"/>
          <a:ext cx="0" cy="0"/>
          <a:chOff x="0" y="0"/>
          <a:chExt cx="0" cy="0"/>
        </a:xfrm>
      </p:grpSpPr>
      <p:sp>
        <p:nvSpPr>
          <p:cNvPr id="34" name="Google Shape;34;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imes New Roman"/>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30"/>
          <p:cNvSpPr/>
          <p:nvPr>
            <p:ph idx="2" type="pic"/>
          </p:nvPr>
        </p:nvSpPr>
        <p:spPr>
          <a:xfrm>
            <a:off x="5183188" y="987425"/>
            <a:ext cx="6172200" cy="4873625"/>
          </a:xfrm>
          <a:prstGeom prst="rect">
            <a:avLst/>
          </a:prstGeom>
          <a:noFill/>
          <a:ln>
            <a:noFill/>
          </a:ln>
        </p:spPr>
      </p:sp>
      <p:sp>
        <p:nvSpPr>
          <p:cNvPr id="42" name="Google Shape;42;p3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3" name="Google Shape;43;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6" name="Shape 46"/>
        <p:cNvGrpSpPr/>
        <p:nvPr/>
      </p:nvGrpSpPr>
      <p:grpSpPr>
        <a:xfrm>
          <a:off x="0" y="0"/>
          <a:ext cx="0" cy="0"/>
          <a:chOff x="0" y="0"/>
          <a:chExt cx="0" cy="0"/>
        </a:xfrm>
      </p:grpSpPr>
      <p:sp>
        <p:nvSpPr>
          <p:cNvPr id="47" name="Google Shape;47;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2" name="Shape 52"/>
        <p:cNvGrpSpPr/>
        <p:nvPr/>
      </p:nvGrpSpPr>
      <p:grpSpPr>
        <a:xfrm>
          <a:off x="0" y="0"/>
          <a:ext cx="0" cy="0"/>
          <a:chOff x="0" y="0"/>
          <a:chExt cx="0" cy="0"/>
        </a:xfrm>
      </p:grpSpPr>
      <p:sp>
        <p:nvSpPr>
          <p:cNvPr id="53" name="Google Shape;53;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nvSpPr>
        <p:spPr>
          <a:xfrm>
            <a:off x="0" y="-712232"/>
            <a:ext cx="12192000" cy="36933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400" u="none" cap="none" strike="noStrike">
                <a:solidFill>
                  <a:srgbClr val="D7D7D7"/>
                </a:solidFill>
                <a:latin typeface="Arial"/>
                <a:ea typeface="Arial"/>
                <a:cs typeface="Arial"/>
                <a:sym typeface="Arial"/>
              </a:rPr>
              <a:t>www.9slide.vn</a:t>
            </a:r>
            <a:endParaRPr/>
          </a:p>
        </p:txBody>
      </p:sp>
      <p:sp>
        <p:nvSpPr>
          <p:cNvPr id="11" name="Google Shape;11;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imes New Roman"/>
              <a:buNone/>
              <a:defRPr b="0" i="0" sz="44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 name="Google Shape;13;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6" name="Google Shape;16;p26"/>
          <p:cNvSpPr/>
          <p:nvPr/>
        </p:nvSpPr>
        <p:spPr>
          <a:xfrm>
            <a:off x="-23164800" y="-13030200"/>
            <a:ext cx="395021" cy="395021"/>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 name="Google Shape;17;p26"/>
          <p:cNvSpPr/>
          <p:nvPr/>
        </p:nvSpPr>
        <p:spPr>
          <a:xfrm>
            <a:off x="34961779" y="-13030200"/>
            <a:ext cx="395021" cy="395021"/>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 name="Google Shape;18;p26"/>
          <p:cNvSpPr/>
          <p:nvPr/>
        </p:nvSpPr>
        <p:spPr>
          <a:xfrm>
            <a:off x="34961779" y="19493179"/>
            <a:ext cx="395021" cy="395021"/>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 name="Google Shape;19;p26"/>
          <p:cNvSpPr/>
          <p:nvPr/>
        </p:nvSpPr>
        <p:spPr>
          <a:xfrm>
            <a:off x="-23164800" y="19493179"/>
            <a:ext cx="395021" cy="395021"/>
          </a:xfrm>
          <a:prstGeom prst="ellipse">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20" name="Google Shape;20;p26"/>
          <p:cNvGrpSpPr/>
          <p:nvPr/>
        </p:nvGrpSpPr>
        <p:grpSpPr>
          <a:xfrm>
            <a:off x="-2202100" y="-2224223"/>
            <a:ext cx="16596200" cy="11284323"/>
            <a:chOff x="-2202100" y="-2224223"/>
            <a:chExt cx="16596200" cy="11284323"/>
          </a:xfrm>
        </p:grpSpPr>
        <p:sp>
          <p:nvSpPr>
            <p:cNvPr id="21" name="Google Shape;21;p26"/>
            <p:cNvSpPr/>
            <p:nvPr/>
          </p:nvSpPr>
          <p:spPr>
            <a:xfrm>
              <a:off x="4851540" y="8494776"/>
              <a:ext cx="2488920" cy="565324"/>
            </a:xfrm>
            <a:prstGeom prst="rect">
              <a:avLst/>
            </a:prstGeom>
            <a:noFill/>
            <a:ln cap="flat" cmpd="sng" w="2157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 name="Google Shape;22;p26"/>
            <p:cNvSpPr/>
            <p:nvPr/>
          </p:nvSpPr>
          <p:spPr>
            <a:xfrm>
              <a:off x="5006988" y="8647176"/>
              <a:ext cx="2178025" cy="260524"/>
            </a:xfrm>
            <a:custGeom>
              <a:rect b="b" l="l" r="r" t="t"/>
              <a:pathLst>
                <a:path extrusionOk="0" h="260524" w="2178025">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700" u="none" cap="none" strike="noStrike">
                <a:solidFill>
                  <a:srgbClr val="BFBFBF"/>
                </a:solidFill>
                <a:latin typeface="Oi"/>
                <a:ea typeface="Oi"/>
                <a:cs typeface="Oi"/>
                <a:sym typeface="Oi"/>
              </a:endParaRPr>
            </a:p>
          </p:txBody>
        </p:sp>
        <p:sp>
          <p:nvSpPr>
            <p:cNvPr id="23" name="Google Shape;23;p26"/>
            <p:cNvSpPr/>
            <p:nvPr/>
          </p:nvSpPr>
          <p:spPr>
            <a:xfrm>
              <a:off x="-2202100" y="-2224223"/>
              <a:ext cx="16596200" cy="1128432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6.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hyperlink" Target="https://www.oracle.com/java/technologies/javase/javase-jdk8-downloads.html" TargetMode="External"/><Relationship Id="rId6" Type="http://schemas.openxmlformats.org/officeDocument/2006/relationships/hyperlink" Target="https://www.eclipse.org/download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jp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jp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jp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jp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9.jp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4" name="Google Shape;64;p1"/>
          <p:cNvSpPr txBox="1"/>
          <p:nvPr/>
        </p:nvSpPr>
        <p:spPr>
          <a:xfrm>
            <a:off x="1676400" y="2819400"/>
            <a:ext cx="8915400" cy="92333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6000" u="none" cap="none" strike="noStrike">
                <a:solidFill>
                  <a:srgbClr val="154A8D"/>
                </a:solidFill>
                <a:latin typeface="Arial"/>
                <a:ea typeface="Arial"/>
                <a:cs typeface="Arial"/>
                <a:sym typeface="Arial"/>
              </a:rPr>
              <a:t>Java Backend</a:t>
            </a:r>
            <a:endParaRPr b="0" i="0" sz="6000" u="none" cap="none" strike="noStrike">
              <a:solidFill>
                <a:srgbClr val="154A8D"/>
              </a:solidFill>
              <a:latin typeface="Arial"/>
              <a:ea typeface="Arial"/>
              <a:cs typeface="Arial"/>
              <a:sym typeface="Arial"/>
            </a:endParaRPr>
          </a:p>
        </p:txBody>
      </p:sp>
      <p:sp>
        <p:nvSpPr>
          <p:cNvPr id="65" name="Google Shape;65;p1"/>
          <p:cNvSpPr txBox="1"/>
          <p:nvPr/>
        </p:nvSpPr>
        <p:spPr>
          <a:xfrm>
            <a:off x="1676400" y="376178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F37422"/>
                </a:solidFill>
                <a:latin typeface="Arial"/>
                <a:ea typeface="Arial"/>
                <a:cs typeface="Arial"/>
                <a:sym typeface="Arial"/>
              </a:rPr>
              <a:t>Phùng Thế Quang</a:t>
            </a:r>
            <a:endParaRPr b="0" i="0" sz="1700" u="none" cap="none" strike="noStrike">
              <a:solidFill>
                <a:srgbClr val="F37422"/>
              </a:solidFill>
              <a:latin typeface="Arial"/>
              <a:ea typeface="Arial"/>
              <a:cs typeface="Arial"/>
              <a:sym typeface="Arial"/>
            </a:endParaRPr>
          </a:p>
        </p:txBody>
      </p:sp>
      <p:pic>
        <p:nvPicPr>
          <p:cNvPr id="66" name="Google Shape;66;p1"/>
          <p:cNvPicPr preferRelativeResize="0"/>
          <p:nvPr/>
        </p:nvPicPr>
        <p:blipFill rotWithShape="1">
          <a:blip r:embed="rId4">
            <a:alphaModFix/>
          </a:blip>
          <a:srcRect b="0" l="0" r="0" t="0"/>
          <a:stretch/>
        </p:blipFill>
        <p:spPr>
          <a:xfrm>
            <a:off x="4723872" y="914400"/>
            <a:ext cx="7445124" cy="5029200"/>
          </a:xfrm>
          <a:prstGeom prst="rect">
            <a:avLst/>
          </a:prstGeom>
          <a:noFill/>
          <a:ln>
            <a:noFill/>
          </a:ln>
        </p:spPr>
      </p:pic>
      <p:pic>
        <p:nvPicPr>
          <p:cNvPr id="67" name="Google Shape;67;p1"/>
          <p:cNvPicPr preferRelativeResize="0"/>
          <p:nvPr/>
        </p:nvPicPr>
        <p:blipFill rotWithShape="1">
          <a:blip r:embed="rId5">
            <a:alphaModFix/>
          </a:blip>
          <a:srcRect b="0" l="0" r="0" t="0"/>
          <a:stretch/>
        </p:blipFill>
        <p:spPr>
          <a:xfrm>
            <a:off x="304800" y="228600"/>
            <a:ext cx="1143000" cy="821245"/>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p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3" name="Google Shape;73;p2"/>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F37422"/>
                </a:solidFill>
                <a:latin typeface="Arial"/>
                <a:ea typeface="Arial"/>
                <a:cs typeface="Arial"/>
                <a:sym typeface="Arial"/>
              </a:rPr>
              <a:t>Tổng quan Java</a:t>
            </a:r>
            <a:endParaRPr b="0" i="0" sz="1700" u="none" cap="none" strike="noStrike">
              <a:solidFill>
                <a:srgbClr val="F37422"/>
              </a:solidFill>
              <a:latin typeface="Arial"/>
              <a:ea typeface="Arial"/>
              <a:cs typeface="Arial"/>
              <a:sym typeface="Arial"/>
            </a:endParaRPr>
          </a:p>
        </p:txBody>
      </p:sp>
      <p:pic>
        <p:nvPicPr>
          <p:cNvPr id="74" name="Google Shape;74;p2"/>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75" name="Google Shape;75;p2"/>
          <p:cNvGrpSpPr/>
          <p:nvPr/>
        </p:nvGrpSpPr>
        <p:grpSpPr>
          <a:xfrm>
            <a:off x="358627" y="2689935"/>
            <a:ext cx="1930140" cy="1756753"/>
            <a:chOff x="2553093" y="952901"/>
            <a:chExt cx="2096908" cy="1866900"/>
          </a:xfrm>
        </p:grpSpPr>
        <p:sp>
          <p:nvSpPr>
            <p:cNvPr id="76" name="Google Shape;76;p2"/>
            <p:cNvSpPr/>
            <p:nvPr/>
          </p:nvSpPr>
          <p:spPr>
            <a:xfrm>
              <a:off x="2553093" y="952901"/>
              <a:ext cx="1866900" cy="1866900"/>
            </a:xfrm>
            <a:prstGeom prst="ellipse">
              <a:avLst/>
            </a:prstGeom>
            <a:gradFill>
              <a:gsLst>
                <a:gs pos="0">
                  <a:srgbClr val="F5F5F5"/>
                </a:gs>
                <a:gs pos="100000">
                  <a:srgbClr val="D8D8D8"/>
                </a:gs>
              </a:gsLst>
              <a:lin ang="2700000" scaled="0"/>
            </a:gradFill>
            <a:ln cap="flat" cmpd="sng" w="22225">
              <a:solidFill>
                <a:schemeClr val="lt1"/>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rgbClr val="FFFFFF"/>
                </a:solidFill>
                <a:latin typeface="Arial"/>
                <a:ea typeface="Arial"/>
                <a:cs typeface="Arial"/>
                <a:sym typeface="Arial"/>
              </a:endParaRPr>
            </a:p>
          </p:txBody>
        </p:sp>
        <p:sp>
          <p:nvSpPr>
            <p:cNvPr id="77" name="Google Shape;77;p2"/>
            <p:cNvSpPr/>
            <p:nvPr/>
          </p:nvSpPr>
          <p:spPr>
            <a:xfrm>
              <a:off x="3008704" y="1150504"/>
              <a:ext cx="1429346" cy="1429345"/>
            </a:xfrm>
            <a:prstGeom prst="ellipse">
              <a:avLst/>
            </a:prstGeom>
            <a:solidFill>
              <a:srgbClr val="F2F2F2"/>
            </a:solidFill>
            <a:ln cap="flat" cmpd="sng" w="2222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rgbClr val="FFFFFF"/>
                </a:solidFill>
                <a:latin typeface="Arial"/>
                <a:ea typeface="Arial"/>
                <a:cs typeface="Arial"/>
                <a:sym typeface="Arial"/>
              </a:endParaRPr>
            </a:p>
          </p:txBody>
        </p:sp>
        <p:sp>
          <p:nvSpPr>
            <p:cNvPr id="78" name="Google Shape;78;p2"/>
            <p:cNvSpPr txBox="1"/>
            <p:nvPr/>
          </p:nvSpPr>
          <p:spPr>
            <a:xfrm>
              <a:off x="2783718" y="1324275"/>
              <a:ext cx="1866283" cy="12724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663A77"/>
                  </a:solidFill>
                  <a:latin typeface="Times New Roman"/>
                  <a:ea typeface="Times New Roman"/>
                  <a:cs typeface="Times New Roman"/>
                  <a:sym typeface="Times New Roman"/>
                </a:rPr>
                <a:t>NỘI DUNG</a:t>
              </a:r>
              <a:endParaRPr b="1" i="0" sz="2800" u="none" cap="none" strike="noStrike">
                <a:solidFill>
                  <a:srgbClr val="663A77"/>
                </a:solidFill>
                <a:latin typeface="Times New Roman"/>
                <a:ea typeface="Times New Roman"/>
                <a:cs typeface="Times New Roman"/>
                <a:sym typeface="Times New Roman"/>
              </a:endParaRPr>
            </a:p>
          </p:txBody>
        </p:sp>
      </p:grpSp>
      <p:grpSp>
        <p:nvGrpSpPr>
          <p:cNvPr id="79" name="Google Shape;79;p2"/>
          <p:cNvGrpSpPr/>
          <p:nvPr/>
        </p:nvGrpSpPr>
        <p:grpSpPr>
          <a:xfrm>
            <a:off x="2139124" y="1571215"/>
            <a:ext cx="805150" cy="718592"/>
            <a:chOff x="3262497" y="1084626"/>
            <a:chExt cx="1126854" cy="958123"/>
          </a:xfrm>
        </p:grpSpPr>
        <p:grpSp>
          <p:nvGrpSpPr>
            <p:cNvPr id="80" name="Google Shape;80;p2"/>
            <p:cNvGrpSpPr/>
            <p:nvPr/>
          </p:nvGrpSpPr>
          <p:grpSpPr>
            <a:xfrm>
              <a:off x="3262497" y="1084626"/>
              <a:ext cx="1126854" cy="958123"/>
              <a:chOff x="2892834" y="1141776"/>
              <a:chExt cx="1126854" cy="958123"/>
            </a:xfrm>
          </p:grpSpPr>
          <p:sp>
            <p:nvSpPr>
              <p:cNvPr id="81" name="Google Shape;81;p2"/>
              <p:cNvSpPr/>
              <p:nvPr/>
            </p:nvSpPr>
            <p:spPr>
              <a:xfrm>
                <a:off x="2943363" y="1141776"/>
                <a:ext cx="1076325" cy="958123"/>
              </a:xfrm>
              <a:prstGeom prst="roundRect">
                <a:avLst>
                  <a:gd fmla="val 13889"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sp>
            <p:nvSpPr>
              <p:cNvPr id="82" name="Google Shape;82;p2"/>
              <p:cNvSpPr/>
              <p:nvPr/>
            </p:nvSpPr>
            <p:spPr>
              <a:xfrm>
                <a:off x="2892834" y="1178024"/>
                <a:ext cx="1063215" cy="901028"/>
              </a:xfrm>
              <a:prstGeom prst="roundRect">
                <a:avLst>
                  <a:gd fmla="val 13889" name="adj"/>
                </a:avLst>
              </a:prstGeom>
              <a:solidFill>
                <a:srgbClr val="FFB8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grpSp>
        <p:sp>
          <p:nvSpPr>
            <p:cNvPr id="83" name="Google Shape;83;p2"/>
            <p:cNvSpPr txBox="1"/>
            <p:nvPr/>
          </p:nvSpPr>
          <p:spPr>
            <a:xfrm>
              <a:off x="3266480" y="1209433"/>
              <a:ext cx="1030515" cy="69762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chemeClr val="lt1"/>
                  </a:solidFill>
                  <a:latin typeface="Impact"/>
                  <a:ea typeface="Impact"/>
                  <a:cs typeface="Impact"/>
                  <a:sym typeface="Impact"/>
                </a:rPr>
                <a:t>01</a:t>
              </a:r>
              <a:endParaRPr b="0" i="0" sz="2800" u="none" cap="none" strike="noStrike">
                <a:solidFill>
                  <a:schemeClr val="lt1"/>
                </a:solidFill>
                <a:latin typeface="Impact"/>
                <a:ea typeface="Impact"/>
                <a:cs typeface="Impact"/>
                <a:sym typeface="Impact"/>
              </a:endParaRPr>
            </a:p>
          </p:txBody>
        </p:sp>
      </p:grpSp>
      <p:grpSp>
        <p:nvGrpSpPr>
          <p:cNvPr id="84" name="Google Shape;84;p2"/>
          <p:cNvGrpSpPr/>
          <p:nvPr/>
        </p:nvGrpSpPr>
        <p:grpSpPr>
          <a:xfrm>
            <a:off x="2143179" y="2408314"/>
            <a:ext cx="801094" cy="803410"/>
            <a:chOff x="3142025" y="2335585"/>
            <a:chExt cx="1161462" cy="966191"/>
          </a:xfrm>
        </p:grpSpPr>
        <p:grpSp>
          <p:nvGrpSpPr>
            <p:cNvPr id="85" name="Google Shape;85;p2"/>
            <p:cNvGrpSpPr/>
            <p:nvPr/>
          </p:nvGrpSpPr>
          <p:grpSpPr>
            <a:xfrm>
              <a:off x="3155526" y="2335585"/>
              <a:ext cx="1147961" cy="966191"/>
              <a:chOff x="2785863" y="1141409"/>
              <a:chExt cx="1147961" cy="966191"/>
            </a:xfrm>
          </p:grpSpPr>
          <p:sp>
            <p:nvSpPr>
              <p:cNvPr id="86" name="Google Shape;86;p2"/>
              <p:cNvSpPr/>
              <p:nvPr/>
            </p:nvSpPr>
            <p:spPr>
              <a:xfrm>
                <a:off x="2857499" y="1149477"/>
                <a:ext cx="1076325" cy="958123"/>
              </a:xfrm>
              <a:prstGeom prst="roundRect">
                <a:avLst>
                  <a:gd fmla="val 13889"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sp>
            <p:nvSpPr>
              <p:cNvPr id="87" name="Google Shape;87;p2"/>
              <p:cNvSpPr/>
              <p:nvPr/>
            </p:nvSpPr>
            <p:spPr>
              <a:xfrm>
                <a:off x="2785863" y="1141409"/>
                <a:ext cx="1063215" cy="901028"/>
              </a:xfrm>
              <a:prstGeom prst="roundRect">
                <a:avLst>
                  <a:gd fmla="val 13889" name="adj"/>
                </a:avLst>
              </a:prstGeom>
              <a:solidFill>
                <a:srgbClr val="01ACB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grpSp>
        <p:sp>
          <p:nvSpPr>
            <p:cNvPr id="88" name="Google Shape;88;p2"/>
            <p:cNvSpPr txBox="1"/>
            <p:nvPr/>
          </p:nvSpPr>
          <p:spPr>
            <a:xfrm>
              <a:off x="3142025" y="2450258"/>
              <a:ext cx="1088129" cy="6292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chemeClr val="lt1"/>
                  </a:solidFill>
                  <a:latin typeface="Impact"/>
                  <a:ea typeface="Impact"/>
                  <a:cs typeface="Impact"/>
                  <a:sym typeface="Impact"/>
                </a:rPr>
                <a:t>02</a:t>
              </a:r>
              <a:endParaRPr b="0" i="0" sz="2800" u="none" cap="none" strike="noStrike">
                <a:solidFill>
                  <a:schemeClr val="lt1"/>
                </a:solidFill>
                <a:latin typeface="Impact"/>
                <a:ea typeface="Impact"/>
                <a:cs typeface="Impact"/>
                <a:sym typeface="Impact"/>
              </a:endParaRPr>
            </a:p>
          </p:txBody>
        </p:sp>
      </p:grpSp>
      <p:grpSp>
        <p:nvGrpSpPr>
          <p:cNvPr id="89" name="Google Shape;89;p2"/>
          <p:cNvGrpSpPr/>
          <p:nvPr/>
        </p:nvGrpSpPr>
        <p:grpSpPr>
          <a:xfrm>
            <a:off x="2116678" y="3258986"/>
            <a:ext cx="787200" cy="718592"/>
            <a:chOff x="3227162" y="3591385"/>
            <a:chExt cx="1089578" cy="958123"/>
          </a:xfrm>
        </p:grpSpPr>
        <p:grpSp>
          <p:nvGrpSpPr>
            <p:cNvPr id="90" name="Google Shape;90;p2"/>
            <p:cNvGrpSpPr/>
            <p:nvPr/>
          </p:nvGrpSpPr>
          <p:grpSpPr>
            <a:xfrm>
              <a:off x="3227162" y="3591385"/>
              <a:ext cx="1089578" cy="958123"/>
              <a:chOff x="2857499" y="1149477"/>
              <a:chExt cx="1089578" cy="958123"/>
            </a:xfrm>
          </p:grpSpPr>
          <p:sp>
            <p:nvSpPr>
              <p:cNvPr id="91" name="Google Shape;91;p2"/>
              <p:cNvSpPr/>
              <p:nvPr/>
            </p:nvSpPr>
            <p:spPr>
              <a:xfrm>
                <a:off x="2857499" y="1149477"/>
                <a:ext cx="1076325" cy="958123"/>
              </a:xfrm>
              <a:prstGeom prst="roundRect">
                <a:avLst>
                  <a:gd fmla="val 13889"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sp>
            <p:nvSpPr>
              <p:cNvPr id="92" name="Google Shape;92;p2"/>
              <p:cNvSpPr/>
              <p:nvPr/>
            </p:nvSpPr>
            <p:spPr>
              <a:xfrm>
                <a:off x="2883862" y="1159582"/>
                <a:ext cx="1063215" cy="901028"/>
              </a:xfrm>
              <a:prstGeom prst="roundRect">
                <a:avLst>
                  <a:gd fmla="val 13889" name="adj"/>
                </a:avLst>
              </a:prstGeom>
              <a:solidFill>
                <a:srgbClr val="E8707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grpSp>
        <p:sp>
          <p:nvSpPr>
            <p:cNvPr id="93" name="Google Shape;93;p2"/>
            <p:cNvSpPr txBox="1"/>
            <p:nvPr/>
          </p:nvSpPr>
          <p:spPr>
            <a:xfrm>
              <a:off x="3250771" y="3701112"/>
              <a:ext cx="1030515" cy="69762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chemeClr val="lt1"/>
                  </a:solidFill>
                  <a:latin typeface="Impact"/>
                  <a:ea typeface="Impact"/>
                  <a:cs typeface="Impact"/>
                  <a:sym typeface="Impact"/>
                </a:rPr>
                <a:t>03</a:t>
              </a:r>
              <a:endParaRPr b="0" i="0" sz="2800" u="none" cap="none" strike="noStrike">
                <a:solidFill>
                  <a:schemeClr val="lt1"/>
                </a:solidFill>
                <a:latin typeface="Impact"/>
                <a:ea typeface="Impact"/>
                <a:cs typeface="Impact"/>
                <a:sym typeface="Impact"/>
              </a:endParaRPr>
            </a:p>
          </p:txBody>
        </p:sp>
      </p:grpSp>
      <p:grpSp>
        <p:nvGrpSpPr>
          <p:cNvPr id="94" name="Google Shape;94;p2"/>
          <p:cNvGrpSpPr/>
          <p:nvPr/>
        </p:nvGrpSpPr>
        <p:grpSpPr>
          <a:xfrm>
            <a:off x="2152095" y="4847494"/>
            <a:ext cx="751783" cy="703059"/>
            <a:chOff x="3227162" y="4807549"/>
            <a:chExt cx="1098550" cy="958123"/>
          </a:xfrm>
        </p:grpSpPr>
        <p:grpSp>
          <p:nvGrpSpPr>
            <p:cNvPr id="95" name="Google Shape;95;p2"/>
            <p:cNvGrpSpPr/>
            <p:nvPr/>
          </p:nvGrpSpPr>
          <p:grpSpPr>
            <a:xfrm>
              <a:off x="3227162" y="4807549"/>
              <a:ext cx="1098550" cy="958123"/>
              <a:chOff x="2857499" y="1149477"/>
              <a:chExt cx="1098550" cy="958123"/>
            </a:xfrm>
          </p:grpSpPr>
          <p:sp>
            <p:nvSpPr>
              <p:cNvPr id="96" name="Google Shape;96;p2"/>
              <p:cNvSpPr/>
              <p:nvPr/>
            </p:nvSpPr>
            <p:spPr>
              <a:xfrm>
                <a:off x="2857499" y="1149477"/>
                <a:ext cx="1076325" cy="958123"/>
              </a:xfrm>
              <a:prstGeom prst="roundRect">
                <a:avLst>
                  <a:gd fmla="val 13889" name="adj"/>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sp>
            <p:nvSpPr>
              <p:cNvPr id="97" name="Google Shape;97;p2"/>
              <p:cNvSpPr/>
              <p:nvPr/>
            </p:nvSpPr>
            <p:spPr>
              <a:xfrm>
                <a:off x="2892834" y="1178024"/>
                <a:ext cx="1063215" cy="901028"/>
              </a:xfrm>
              <a:prstGeom prst="roundRect">
                <a:avLst>
                  <a:gd fmla="val 13889" name="adj"/>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grpSp>
        <p:sp>
          <p:nvSpPr>
            <p:cNvPr id="98" name="Google Shape;98;p2"/>
            <p:cNvSpPr txBox="1"/>
            <p:nvPr/>
          </p:nvSpPr>
          <p:spPr>
            <a:xfrm>
              <a:off x="3250067" y="4917276"/>
              <a:ext cx="1030514" cy="738666"/>
            </a:xfrm>
            <a:prstGeom prst="rect">
              <a:avLst/>
            </a:prstGeom>
            <a:solidFill>
              <a:srgbClr val="0070C0"/>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800" u="none" cap="none" strike="noStrike">
                  <a:solidFill>
                    <a:schemeClr val="lt1"/>
                  </a:solidFill>
                  <a:latin typeface="Impact"/>
                  <a:ea typeface="Impact"/>
                  <a:cs typeface="Impact"/>
                  <a:sym typeface="Impact"/>
                </a:rPr>
                <a:t>05</a:t>
              </a:r>
              <a:endParaRPr b="0" i="0" sz="2800" u="none" cap="none" strike="noStrike">
                <a:solidFill>
                  <a:schemeClr val="lt1"/>
                </a:solidFill>
                <a:latin typeface="Impact"/>
                <a:ea typeface="Impact"/>
                <a:cs typeface="Impact"/>
                <a:sym typeface="Impact"/>
              </a:endParaRPr>
            </a:p>
          </p:txBody>
        </p:sp>
      </p:grpSp>
      <p:grpSp>
        <p:nvGrpSpPr>
          <p:cNvPr id="99" name="Google Shape;99;p2"/>
          <p:cNvGrpSpPr/>
          <p:nvPr/>
        </p:nvGrpSpPr>
        <p:grpSpPr>
          <a:xfrm>
            <a:off x="3315327" y="1598401"/>
            <a:ext cx="6428734" cy="675771"/>
            <a:chOff x="4555084" y="1092328"/>
            <a:chExt cx="4697323" cy="1150809"/>
          </a:xfrm>
        </p:grpSpPr>
        <p:pic>
          <p:nvPicPr>
            <p:cNvPr id="100" name="Google Shape;100;p2"/>
            <p:cNvPicPr preferRelativeResize="0"/>
            <p:nvPr/>
          </p:nvPicPr>
          <p:blipFill rotWithShape="1">
            <a:blip r:embed="rId5">
              <a:alphaModFix/>
            </a:blip>
            <a:srcRect b="0" l="0" r="0" t="76775"/>
            <a:stretch/>
          </p:blipFill>
          <p:spPr>
            <a:xfrm>
              <a:off x="4926460" y="2041830"/>
              <a:ext cx="3646270" cy="201307"/>
            </a:xfrm>
            <a:prstGeom prst="rect">
              <a:avLst/>
            </a:prstGeom>
            <a:noFill/>
            <a:ln>
              <a:noFill/>
            </a:ln>
          </p:spPr>
        </p:pic>
        <p:grpSp>
          <p:nvGrpSpPr>
            <p:cNvPr id="101" name="Google Shape;101;p2"/>
            <p:cNvGrpSpPr/>
            <p:nvPr/>
          </p:nvGrpSpPr>
          <p:grpSpPr>
            <a:xfrm>
              <a:off x="4555084" y="1092328"/>
              <a:ext cx="4697323" cy="974451"/>
              <a:chOff x="4555084" y="1092328"/>
              <a:chExt cx="4697323" cy="974451"/>
            </a:xfrm>
          </p:grpSpPr>
          <p:pic>
            <p:nvPicPr>
              <p:cNvPr id="102" name="Google Shape;102;p2"/>
              <p:cNvPicPr preferRelativeResize="0"/>
              <p:nvPr/>
            </p:nvPicPr>
            <p:blipFill rotWithShape="1">
              <a:blip r:embed="rId5">
                <a:alphaModFix/>
              </a:blip>
              <a:srcRect b="0" l="0" r="0" t="76775"/>
              <a:stretch/>
            </p:blipFill>
            <p:spPr>
              <a:xfrm rot="-5400000">
                <a:off x="8600149" y="1414521"/>
                <a:ext cx="958122" cy="346394"/>
              </a:xfrm>
              <a:prstGeom prst="rect">
                <a:avLst/>
              </a:prstGeom>
              <a:noFill/>
              <a:ln>
                <a:noFill/>
              </a:ln>
            </p:spPr>
          </p:pic>
          <p:sp>
            <p:nvSpPr>
              <p:cNvPr id="103" name="Google Shape;103;p2"/>
              <p:cNvSpPr/>
              <p:nvPr/>
            </p:nvSpPr>
            <p:spPr>
              <a:xfrm>
                <a:off x="4555084" y="1092328"/>
                <a:ext cx="4389024" cy="958122"/>
              </a:xfrm>
              <a:prstGeom prst="roundRect">
                <a:avLst>
                  <a:gd fmla="val 9218" name="adj"/>
                </a:avLst>
              </a:prstGeom>
              <a:gradFill>
                <a:gsLst>
                  <a:gs pos="0">
                    <a:srgbClr val="FDFDFD"/>
                  </a:gs>
                  <a:gs pos="47000">
                    <a:srgbClr val="FDFDFD"/>
                  </a:gs>
                  <a:gs pos="52999">
                    <a:srgbClr val="E8E8E8"/>
                  </a:gs>
                  <a:gs pos="100000">
                    <a:srgbClr val="ECECEC"/>
                  </a:gs>
                </a:gsLst>
                <a:lin ang="5400000" scaled="0"/>
              </a:gradFill>
              <a:ln>
                <a:noFill/>
              </a:ln>
              <a:effectLst>
                <a:outerShdw blurRad="76200" rotWithShape="0" algn="tl" dir="2700000" dist="38100">
                  <a:srgbClr val="000000">
                    <a:alpha val="1372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grpSp>
      </p:grpSp>
      <p:grpSp>
        <p:nvGrpSpPr>
          <p:cNvPr id="104" name="Google Shape;104;p2"/>
          <p:cNvGrpSpPr/>
          <p:nvPr/>
        </p:nvGrpSpPr>
        <p:grpSpPr>
          <a:xfrm>
            <a:off x="3224702" y="2413585"/>
            <a:ext cx="6523831" cy="735609"/>
            <a:chOff x="4555084" y="2343654"/>
            <a:chExt cx="4697324" cy="1145415"/>
          </a:xfrm>
        </p:grpSpPr>
        <p:pic>
          <p:nvPicPr>
            <p:cNvPr id="105" name="Google Shape;105;p2"/>
            <p:cNvPicPr preferRelativeResize="0"/>
            <p:nvPr/>
          </p:nvPicPr>
          <p:blipFill rotWithShape="1">
            <a:blip r:embed="rId5">
              <a:alphaModFix/>
            </a:blip>
            <a:srcRect b="0" l="0" r="0" t="76775"/>
            <a:stretch/>
          </p:blipFill>
          <p:spPr>
            <a:xfrm>
              <a:off x="4926460" y="3287762"/>
              <a:ext cx="3646270" cy="201307"/>
            </a:xfrm>
            <a:prstGeom prst="rect">
              <a:avLst/>
            </a:prstGeom>
            <a:noFill/>
            <a:ln>
              <a:noFill/>
            </a:ln>
          </p:spPr>
        </p:pic>
        <p:grpSp>
          <p:nvGrpSpPr>
            <p:cNvPr id="106" name="Google Shape;106;p2"/>
            <p:cNvGrpSpPr/>
            <p:nvPr/>
          </p:nvGrpSpPr>
          <p:grpSpPr>
            <a:xfrm>
              <a:off x="4555084" y="2343654"/>
              <a:ext cx="4697324" cy="974451"/>
              <a:chOff x="4555084" y="2343654"/>
              <a:chExt cx="4697324" cy="974451"/>
            </a:xfrm>
          </p:grpSpPr>
          <p:pic>
            <p:nvPicPr>
              <p:cNvPr id="107" name="Google Shape;107;p2"/>
              <p:cNvPicPr preferRelativeResize="0"/>
              <p:nvPr/>
            </p:nvPicPr>
            <p:blipFill rotWithShape="1">
              <a:blip r:embed="rId5">
                <a:alphaModFix/>
              </a:blip>
              <a:srcRect b="0" l="0" r="0" t="76775"/>
              <a:stretch/>
            </p:blipFill>
            <p:spPr>
              <a:xfrm rot="-5400000">
                <a:off x="8600150" y="2665847"/>
                <a:ext cx="958122" cy="346394"/>
              </a:xfrm>
              <a:prstGeom prst="rect">
                <a:avLst/>
              </a:prstGeom>
              <a:noFill/>
              <a:ln>
                <a:noFill/>
              </a:ln>
            </p:spPr>
          </p:pic>
          <p:sp>
            <p:nvSpPr>
              <p:cNvPr id="108" name="Google Shape;108;p2"/>
              <p:cNvSpPr/>
              <p:nvPr/>
            </p:nvSpPr>
            <p:spPr>
              <a:xfrm>
                <a:off x="4555084" y="2343654"/>
                <a:ext cx="4389024" cy="958122"/>
              </a:xfrm>
              <a:prstGeom prst="roundRect">
                <a:avLst>
                  <a:gd fmla="val 9218" name="adj"/>
                </a:avLst>
              </a:prstGeom>
              <a:gradFill>
                <a:gsLst>
                  <a:gs pos="0">
                    <a:srgbClr val="FDFDFD"/>
                  </a:gs>
                  <a:gs pos="47000">
                    <a:srgbClr val="FDFDFD"/>
                  </a:gs>
                  <a:gs pos="52999">
                    <a:srgbClr val="E8E8E8"/>
                  </a:gs>
                  <a:gs pos="100000">
                    <a:srgbClr val="ECECEC"/>
                  </a:gs>
                </a:gsLst>
                <a:lin ang="5400000" scaled="0"/>
              </a:gradFill>
              <a:ln>
                <a:noFill/>
              </a:ln>
              <a:effectLst>
                <a:outerShdw blurRad="76200" rotWithShape="0" algn="tl" dir="2700000" dist="38100">
                  <a:srgbClr val="000000">
                    <a:alpha val="1372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grpSp>
      </p:grpSp>
      <p:grpSp>
        <p:nvGrpSpPr>
          <p:cNvPr id="109" name="Google Shape;109;p2"/>
          <p:cNvGrpSpPr/>
          <p:nvPr/>
        </p:nvGrpSpPr>
        <p:grpSpPr>
          <a:xfrm>
            <a:off x="3227203" y="3260108"/>
            <a:ext cx="6521206" cy="682227"/>
            <a:chOff x="4555084" y="3594980"/>
            <a:chExt cx="4697325" cy="1150703"/>
          </a:xfrm>
        </p:grpSpPr>
        <p:pic>
          <p:nvPicPr>
            <p:cNvPr id="110" name="Google Shape;110;p2"/>
            <p:cNvPicPr preferRelativeResize="0"/>
            <p:nvPr/>
          </p:nvPicPr>
          <p:blipFill rotWithShape="1">
            <a:blip r:embed="rId5">
              <a:alphaModFix/>
            </a:blip>
            <a:srcRect b="0" l="0" r="0" t="76775"/>
            <a:stretch/>
          </p:blipFill>
          <p:spPr>
            <a:xfrm>
              <a:off x="4926460" y="4544376"/>
              <a:ext cx="3646270" cy="201307"/>
            </a:xfrm>
            <a:prstGeom prst="rect">
              <a:avLst/>
            </a:prstGeom>
            <a:noFill/>
            <a:ln>
              <a:noFill/>
            </a:ln>
          </p:spPr>
        </p:pic>
        <p:grpSp>
          <p:nvGrpSpPr>
            <p:cNvPr id="111" name="Google Shape;111;p2"/>
            <p:cNvGrpSpPr/>
            <p:nvPr/>
          </p:nvGrpSpPr>
          <p:grpSpPr>
            <a:xfrm>
              <a:off x="4555084" y="3594980"/>
              <a:ext cx="4697325" cy="974450"/>
              <a:chOff x="4555084" y="3594980"/>
              <a:chExt cx="4697325" cy="974450"/>
            </a:xfrm>
          </p:grpSpPr>
          <p:pic>
            <p:nvPicPr>
              <p:cNvPr id="112" name="Google Shape;112;p2"/>
              <p:cNvPicPr preferRelativeResize="0"/>
              <p:nvPr/>
            </p:nvPicPr>
            <p:blipFill rotWithShape="1">
              <a:blip r:embed="rId5">
                <a:alphaModFix/>
              </a:blip>
              <a:srcRect b="0" l="0" r="0" t="76775"/>
              <a:stretch/>
            </p:blipFill>
            <p:spPr>
              <a:xfrm rot="-5400000">
                <a:off x="8600151" y="3917172"/>
                <a:ext cx="958122" cy="346394"/>
              </a:xfrm>
              <a:prstGeom prst="rect">
                <a:avLst/>
              </a:prstGeom>
              <a:noFill/>
              <a:ln>
                <a:noFill/>
              </a:ln>
            </p:spPr>
          </p:pic>
          <p:sp>
            <p:nvSpPr>
              <p:cNvPr id="113" name="Google Shape;113;p2"/>
              <p:cNvSpPr/>
              <p:nvPr/>
            </p:nvSpPr>
            <p:spPr>
              <a:xfrm>
                <a:off x="4555084" y="3594980"/>
                <a:ext cx="4389024" cy="958122"/>
              </a:xfrm>
              <a:prstGeom prst="roundRect">
                <a:avLst>
                  <a:gd fmla="val 9218" name="adj"/>
                </a:avLst>
              </a:prstGeom>
              <a:gradFill>
                <a:gsLst>
                  <a:gs pos="0">
                    <a:srgbClr val="FDFDFD"/>
                  </a:gs>
                  <a:gs pos="47000">
                    <a:srgbClr val="FDFDFD"/>
                  </a:gs>
                  <a:gs pos="52999">
                    <a:srgbClr val="E8E8E8"/>
                  </a:gs>
                  <a:gs pos="100000">
                    <a:srgbClr val="ECECEC"/>
                  </a:gs>
                </a:gsLst>
                <a:lin ang="5400000" scaled="0"/>
              </a:gradFill>
              <a:ln>
                <a:noFill/>
              </a:ln>
              <a:effectLst>
                <a:outerShdw blurRad="76200" rotWithShape="0" algn="tl" dir="2700000" dist="38100">
                  <a:srgbClr val="000000">
                    <a:alpha val="1372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grpSp>
      </p:grpSp>
      <p:grpSp>
        <p:nvGrpSpPr>
          <p:cNvPr id="114" name="Google Shape;114;p2"/>
          <p:cNvGrpSpPr/>
          <p:nvPr/>
        </p:nvGrpSpPr>
        <p:grpSpPr>
          <a:xfrm>
            <a:off x="3242960" y="4074674"/>
            <a:ext cx="6504673" cy="675771"/>
            <a:chOff x="4555085" y="4807551"/>
            <a:chExt cx="4697323" cy="974449"/>
          </a:xfrm>
        </p:grpSpPr>
        <p:pic>
          <p:nvPicPr>
            <p:cNvPr id="115" name="Google Shape;115;p2"/>
            <p:cNvPicPr preferRelativeResize="0"/>
            <p:nvPr/>
          </p:nvPicPr>
          <p:blipFill rotWithShape="1">
            <a:blip r:embed="rId5">
              <a:alphaModFix/>
            </a:blip>
            <a:srcRect b="0" l="0" r="0" t="76775"/>
            <a:stretch/>
          </p:blipFill>
          <p:spPr>
            <a:xfrm>
              <a:off x="4873327" y="5580404"/>
              <a:ext cx="3646270" cy="201307"/>
            </a:xfrm>
            <a:prstGeom prst="rect">
              <a:avLst/>
            </a:prstGeom>
            <a:noFill/>
            <a:ln>
              <a:noFill/>
            </a:ln>
          </p:spPr>
        </p:pic>
        <p:grpSp>
          <p:nvGrpSpPr>
            <p:cNvPr id="116" name="Google Shape;116;p2"/>
            <p:cNvGrpSpPr/>
            <p:nvPr/>
          </p:nvGrpSpPr>
          <p:grpSpPr>
            <a:xfrm>
              <a:off x="4555085" y="4807551"/>
              <a:ext cx="4697323" cy="974449"/>
              <a:chOff x="4555085" y="4807551"/>
              <a:chExt cx="4697323" cy="974449"/>
            </a:xfrm>
          </p:grpSpPr>
          <p:pic>
            <p:nvPicPr>
              <p:cNvPr id="117" name="Google Shape;117;p2"/>
              <p:cNvPicPr preferRelativeResize="0"/>
              <p:nvPr/>
            </p:nvPicPr>
            <p:blipFill rotWithShape="1">
              <a:blip r:embed="rId5">
                <a:alphaModFix/>
              </a:blip>
              <a:srcRect b="0" l="0" r="0" t="76775"/>
              <a:stretch/>
            </p:blipFill>
            <p:spPr>
              <a:xfrm rot="-5400000">
                <a:off x="8600150" y="5129743"/>
                <a:ext cx="958122" cy="346393"/>
              </a:xfrm>
              <a:prstGeom prst="rect">
                <a:avLst/>
              </a:prstGeom>
              <a:noFill/>
              <a:ln>
                <a:noFill/>
              </a:ln>
            </p:spPr>
          </p:pic>
          <p:sp>
            <p:nvSpPr>
              <p:cNvPr id="118" name="Google Shape;118;p2"/>
              <p:cNvSpPr/>
              <p:nvPr/>
            </p:nvSpPr>
            <p:spPr>
              <a:xfrm>
                <a:off x="4555085" y="4807551"/>
                <a:ext cx="4389024" cy="958122"/>
              </a:xfrm>
              <a:prstGeom prst="roundRect">
                <a:avLst>
                  <a:gd fmla="val 9218" name="adj"/>
                </a:avLst>
              </a:prstGeom>
              <a:gradFill>
                <a:gsLst>
                  <a:gs pos="0">
                    <a:srgbClr val="FDFDFD"/>
                  </a:gs>
                  <a:gs pos="47000">
                    <a:srgbClr val="FDFDFD"/>
                  </a:gs>
                  <a:gs pos="52999">
                    <a:srgbClr val="E8E8E8"/>
                  </a:gs>
                  <a:gs pos="100000">
                    <a:srgbClr val="ECECEC"/>
                  </a:gs>
                </a:gsLst>
                <a:lin ang="5400000" scaled="0"/>
              </a:gradFill>
              <a:ln>
                <a:noFill/>
              </a:ln>
              <a:effectLst>
                <a:outerShdw blurRad="76200" rotWithShape="0" algn="tl" dir="2700000" dist="38100">
                  <a:srgbClr val="000000">
                    <a:alpha val="1372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grpSp>
      </p:grpSp>
      <p:grpSp>
        <p:nvGrpSpPr>
          <p:cNvPr id="119" name="Google Shape;119;p2"/>
          <p:cNvGrpSpPr/>
          <p:nvPr/>
        </p:nvGrpSpPr>
        <p:grpSpPr>
          <a:xfrm>
            <a:off x="2784174" y="1598401"/>
            <a:ext cx="778013" cy="3964198"/>
            <a:chOff x="3971019" y="796001"/>
            <a:chExt cx="989404" cy="5338506"/>
          </a:xfrm>
        </p:grpSpPr>
        <p:sp>
          <p:nvSpPr>
            <p:cNvPr id="120" name="Google Shape;120;p2"/>
            <p:cNvSpPr/>
            <p:nvPr/>
          </p:nvSpPr>
          <p:spPr>
            <a:xfrm>
              <a:off x="4614031" y="796001"/>
              <a:ext cx="346392" cy="5287413"/>
            </a:xfrm>
            <a:prstGeom prst="rect">
              <a:avLst/>
            </a:prstGeom>
            <a:gradFill>
              <a:gsLst>
                <a:gs pos="0">
                  <a:srgbClr val="000000">
                    <a:alpha val="7843"/>
                  </a:srgbClr>
                </a:gs>
                <a:gs pos="100000">
                  <a:srgbClr val="F2F2F2">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sp>
          <p:nvSpPr>
            <p:cNvPr id="121" name="Google Shape;121;p2"/>
            <p:cNvSpPr/>
            <p:nvPr/>
          </p:nvSpPr>
          <p:spPr>
            <a:xfrm>
              <a:off x="4178614" y="796001"/>
              <a:ext cx="452661" cy="5287413"/>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pic>
          <p:nvPicPr>
            <p:cNvPr id="122" name="Google Shape;122;p2"/>
            <p:cNvPicPr preferRelativeResize="0"/>
            <p:nvPr/>
          </p:nvPicPr>
          <p:blipFill rotWithShape="1">
            <a:blip r:embed="rId5">
              <a:alphaModFix/>
            </a:blip>
            <a:srcRect b="0" l="0" r="0" t="76775"/>
            <a:stretch/>
          </p:blipFill>
          <p:spPr>
            <a:xfrm rot="5400000">
              <a:off x="1404452" y="3362569"/>
              <a:ext cx="5338505" cy="205371"/>
            </a:xfrm>
            <a:prstGeom prst="rect">
              <a:avLst/>
            </a:prstGeom>
            <a:noFill/>
            <a:ln>
              <a:noFill/>
            </a:ln>
          </p:spPr>
        </p:pic>
        <p:sp>
          <p:nvSpPr>
            <p:cNvPr id="123" name="Google Shape;123;p2"/>
            <p:cNvSpPr/>
            <p:nvPr/>
          </p:nvSpPr>
          <p:spPr>
            <a:xfrm rot="10800000">
              <a:off x="4614203" y="796001"/>
              <a:ext cx="345594" cy="920797"/>
            </a:xfrm>
            <a:custGeom>
              <a:rect b="b" l="l" r="r" t="t"/>
              <a:pathLst>
                <a:path extrusionOk="0" h="10000" w="10092">
                  <a:moveTo>
                    <a:pt x="0" y="8736"/>
                  </a:moveTo>
                  <a:lnTo>
                    <a:pt x="10092" y="0"/>
                  </a:lnTo>
                  <a:lnTo>
                    <a:pt x="10092" y="10000"/>
                  </a:lnTo>
                  <a:lnTo>
                    <a:pt x="92" y="10000"/>
                  </a:lnTo>
                  <a:cubicBezTo>
                    <a:pt x="30" y="8875"/>
                    <a:pt x="62" y="9861"/>
                    <a:pt x="0" y="8736"/>
                  </a:cubicBezTo>
                  <a:close/>
                </a:path>
              </a:pathLst>
            </a:custGeom>
            <a:gradFill>
              <a:gsLst>
                <a:gs pos="0">
                  <a:srgbClr val="000000">
                    <a:alpha val="20784"/>
                  </a:srgbClr>
                </a:gs>
                <a:gs pos="100000">
                  <a:srgbClr val="F2F2F2">
                    <a:alpha val="0"/>
                  </a:srgbClr>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sp>
          <p:nvSpPr>
            <p:cNvPr id="124" name="Google Shape;124;p2"/>
            <p:cNvSpPr/>
            <p:nvPr/>
          </p:nvSpPr>
          <p:spPr>
            <a:xfrm rot="5400000">
              <a:off x="4085362" y="2026910"/>
              <a:ext cx="1396262" cy="345868"/>
            </a:xfrm>
            <a:prstGeom prst="trapezoid">
              <a:avLst>
                <a:gd fmla="val 173951" name="adj"/>
              </a:avLst>
            </a:prstGeom>
            <a:gradFill>
              <a:gsLst>
                <a:gs pos="0">
                  <a:srgbClr val="F2F2F2">
                    <a:alpha val="0"/>
                  </a:srgbClr>
                </a:gs>
                <a:gs pos="100000">
                  <a:srgbClr val="000000">
                    <a:alpha val="20784"/>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sp>
          <p:nvSpPr>
            <p:cNvPr id="125" name="Google Shape;125;p2"/>
            <p:cNvSpPr/>
            <p:nvPr/>
          </p:nvSpPr>
          <p:spPr>
            <a:xfrm rot="5400000">
              <a:off x="4085362" y="3275907"/>
              <a:ext cx="1396262" cy="345868"/>
            </a:xfrm>
            <a:prstGeom prst="trapezoid">
              <a:avLst>
                <a:gd fmla="val 173951" name="adj"/>
              </a:avLst>
            </a:prstGeom>
            <a:gradFill>
              <a:gsLst>
                <a:gs pos="0">
                  <a:srgbClr val="F2F2F2">
                    <a:alpha val="0"/>
                  </a:srgbClr>
                </a:gs>
                <a:gs pos="100000">
                  <a:srgbClr val="000000">
                    <a:alpha val="20784"/>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sp>
          <p:nvSpPr>
            <p:cNvPr id="126" name="Google Shape;126;p2"/>
            <p:cNvSpPr/>
            <p:nvPr/>
          </p:nvSpPr>
          <p:spPr>
            <a:xfrm rot="5400000">
              <a:off x="4085362" y="4502881"/>
              <a:ext cx="1396262" cy="345868"/>
            </a:xfrm>
            <a:prstGeom prst="trapezoid">
              <a:avLst>
                <a:gd fmla="val 173951" name="adj"/>
              </a:avLst>
            </a:prstGeom>
            <a:gradFill>
              <a:gsLst>
                <a:gs pos="0">
                  <a:srgbClr val="F2F2F2">
                    <a:alpha val="0"/>
                  </a:srgbClr>
                </a:gs>
                <a:gs pos="100000">
                  <a:srgbClr val="000000">
                    <a:alpha val="20784"/>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sp>
          <p:nvSpPr>
            <p:cNvPr id="127" name="Google Shape;127;p2"/>
            <p:cNvSpPr/>
            <p:nvPr/>
          </p:nvSpPr>
          <p:spPr>
            <a:xfrm flipH="1">
              <a:off x="4614203" y="5187950"/>
              <a:ext cx="345594" cy="895464"/>
            </a:xfrm>
            <a:custGeom>
              <a:rect b="b" l="l" r="r" t="t"/>
              <a:pathLst>
                <a:path extrusionOk="0" h="10000" w="10092">
                  <a:moveTo>
                    <a:pt x="0" y="8736"/>
                  </a:moveTo>
                  <a:lnTo>
                    <a:pt x="10092" y="0"/>
                  </a:lnTo>
                  <a:lnTo>
                    <a:pt x="10092" y="10000"/>
                  </a:lnTo>
                  <a:lnTo>
                    <a:pt x="92" y="10000"/>
                  </a:lnTo>
                  <a:cubicBezTo>
                    <a:pt x="30" y="8875"/>
                    <a:pt x="62" y="9861"/>
                    <a:pt x="0" y="8736"/>
                  </a:cubicBezTo>
                  <a:close/>
                </a:path>
              </a:pathLst>
            </a:custGeom>
            <a:gradFill>
              <a:gsLst>
                <a:gs pos="0">
                  <a:srgbClr val="000000">
                    <a:alpha val="20784"/>
                  </a:srgbClr>
                </a:gs>
                <a:gs pos="100000">
                  <a:srgbClr val="F2F2F2">
                    <a:alpha val="0"/>
                  </a:srgbClr>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lt1"/>
                </a:solidFill>
                <a:latin typeface="Arial"/>
                <a:ea typeface="Arial"/>
                <a:cs typeface="Arial"/>
                <a:sym typeface="Arial"/>
              </a:endParaRPr>
            </a:p>
          </p:txBody>
        </p:sp>
      </p:grpSp>
      <p:sp>
        <p:nvSpPr>
          <p:cNvPr id="128" name="Google Shape;128;p2"/>
          <p:cNvSpPr txBox="1"/>
          <p:nvPr/>
        </p:nvSpPr>
        <p:spPr>
          <a:xfrm>
            <a:off x="3315326" y="1672543"/>
            <a:ext cx="530374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FFC000"/>
                </a:solidFill>
                <a:latin typeface="Times New Roman"/>
                <a:ea typeface="Times New Roman"/>
                <a:cs typeface="Times New Roman"/>
                <a:sym typeface="Times New Roman"/>
              </a:rPr>
              <a:t> Giới Thiệu Ngôn Ngữ Java</a:t>
            </a:r>
            <a:endParaRPr b="1" sz="2800">
              <a:solidFill>
                <a:srgbClr val="FFC000"/>
              </a:solidFill>
              <a:latin typeface="Times New Roman"/>
              <a:ea typeface="Times New Roman"/>
              <a:cs typeface="Times New Roman"/>
              <a:sym typeface="Times New Roman"/>
            </a:endParaRPr>
          </a:p>
        </p:txBody>
      </p:sp>
      <p:sp>
        <p:nvSpPr>
          <p:cNvPr id="129" name="Google Shape;129;p2"/>
          <p:cNvSpPr/>
          <p:nvPr/>
        </p:nvSpPr>
        <p:spPr>
          <a:xfrm>
            <a:off x="3321731" y="2471629"/>
            <a:ext cx="541351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1ACBE"/>
                </a:solidFill>
                <a:latin typeface="Times New Roman"/>
                <a:ea typeface="Times New Roman"/>
                <a:cs typeface="Times New Roman"/>
                <a:sym typeface="Times New Roman"/>
              </a:rPr>
              <a:t> Một Số Quy Tắc Trong Java</a:t>
            </a:r>
            <a:endParaRPr b="1" sz="2800">
              <a:solidFill>
                <a:srgbClr val="01ACBE"/>
              </a:solidFill>
              <a:latin typeface="Times New Roman"/>
              <a:ea typeface="Times New Roman"/>
              <a:cs typeface="Times New Roman"/>
              <a:sym typeface="Times New Roman"/>
            </a:endParaRPr>
          </a:p>
        </p:txBody>
      </p:sp>
      <p:sp>
        <p:nvSpPr>
          <p:cNvPr id="130" name="Google Shape;130;p2"/>
          <p:cNvSpPr/>
          <p:nvPr/>
        </p:nvSpPr>
        <p:spPr>
          <a:xfrm>
            <a:off x="3346900" y="3335600"/>
            <a:ext cx="568681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E87071"/>
                </a:solidFill>
                <a:latin typeface="Times New Roman"/>
                <a:ea typeface="Times New Roman"/>
                <a:cs typeface="Times New Roman"/>
                <a:sym typeface="Times New Roman"/>
              </a:rPr>
              <a:t>Lập Trình Hướng Đối Tượng Là Gì?</a:t>
            </a:r>
            <a:endParaRPr b="1" sz="2800">
              <a:solidFill>
                <a:srgbClr val="E87071"/>
              </a:solidFill>
              <a:latin typeface="Times New Roman"/>
              <a:ea typeface="Times New Roman"/>
              <a:cs typeface="Times New Roman"/>
              <a:sym typeface="Times New Roman"/>
            </a:endParaRPr>
          </a:p>
        </p:txBody>
      </p:sp>
      <p:sp>
        <p:nvSpPr>
          <p:cNvPr id="131" name="Google Shape;131;p2"/>
          <p:cNvSpPr/>
          <p:nvPr/>
        </p:nvSpPr>
        <p:spPr>
          <a:xfrm>
            <a:off x="3287721" y="4151054"/>
            <a:ext cx="459595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63A77"/>
                </a:solidFill>
                <a:latin typeface="Times New Roman"/>
                <a:ea typeface="Times New Roman"/>
                <a:cs typeface="Times New Roman"/>
                <a:sym typeface="Times New Roman"/>
              </a:rPr>
              <a:t> Cài Đặt Môi Trường</a:t>
            </a:r>
            <a:endParaRPr b="1" sz="2800">
              <a:solidFill>
                <a:srgbClr val="663A77"/>
              </a:solidFill>
              <a:latin typeface="Times New Roman"/>
              <a:ea typeface="Times New Roman"/>
              <a:cs typeface="Times New Roman"/>
              <a:sym typeface="Times New Roman"/>
            </a:endParaRPr>
          </a:p>
        </p:txBody>
      </p:sp>
      <p:grpSp>
        <p:nvGrpSpPr>
          <p:cNvPr id="132" name="Google Shape;132;p2"/>
          <p:cNvGrpSpPr/>
          <p:nvPr/>
        </p:nvGrpSpPr>
        <p:grpSpPr>
          <a:xfrm>
            <a:off x="2115695" y="4074674"/>
            <a:ext cx="788184" cy="723034"/>
            <a:chOff x="2957626" y="3769915"/>
            <a:chExt cx="1113652" cy="964046"/>
          </a:xfrm>
        </p:grpSpPr>
        <p:grpSp>
          <p:nvGrpSpPr>
            <p:cNvPr id="133" name="Google Shape;133;p2"/>
            <p:cNvGrpSpPr/>
            <p:nvPr/>
          </p:nvGrpSpPr>
          <p:grpSpPr>
            <a:xfrm>
              <a:off x="2957626" y="3769915"/>
              <a:ext cx="1113652" cy="964046"/>
              <a:chOff x="2587963" y="111843"/>
              <a:chExt cx="1113652" cy="964046"/>
            </a:xfrm>
          </p:grpSpPr>
          <p:sp>
            <p:nvSpPr>
              <p:cNvPr id="134" name="Google Shape;134;p2"/>
              <p:cNvSpPr/>
              <p:nvPr/>
            </p:nvSpPr>
            <p:spPr>
              <a:xfrm>
                <a:off x="2587963" y="117766"/>
                <a:ext cx="1076325" cy="958123"/>
              </a:xfrm>
              <a:prstGeom prst="roundRect">
                <a:avLst>
                  <a:gd fmla="val 13889"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sp>
            <p:nvSpPr>
              <p:cNvPr id="135" name="Google Shape;135;p2"/>
              <p:cNvSpPr/>
              <p:nvPr/>
            </p:nvSpPr>
            <p:spPr>
              <a:xfrm>
                <a:off x="2638400" y="111843"/>
                <a:ext cx="1063215" cy="901028"/>
              </a:xfrm>
              <a:prstGeom prst="roundRect">
                <a:avLst>
                  <a:gd fmla="val 13889" name="adj"/>
                </a:avLst>
              </a:prstGeom>
              <a:solidFill>
                <a:srgbClr val="663A7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grpSp>
        <p:sp>
          <p:nvSpPr>
            <p:cNvPr id="136" name="Google Shape;136;p2"/>
            <p:cNvSpPr txBox="1"/>
            <p:nvPr/>
          </p:nvSpPr>
          <p:spPr>
            <a:xfrm>
              <a:off x="3008886" y="3882010"/>
              <a:ext cx="1030514" cy="69762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lt1"/>
                  </a:solidFill>
                  <a:latin typeface="Impact"/>
                  <a:ea typeface="Impact"/>
                  <a:cs typeface="Impact"/>
                  <a:sym typeface="Impact"/>
                </a:rPr>
                <a:t>04</a:t>
              </a:r>
              <a:endParaRPr sz="2800">
                <a:solidFill>
                  <a:schemeClr val="lt1"/>
                </a:solidFill>
                <a:latin typeface="Impact"/>
                <a:ea typeface="Impact"/>
                <a:cs typeface="Impact"/>
                <a:sym typeface="Impact"/>
              </a:endParaRPr>
            </a:p>
          </p:txBody>
        </p:sp>
      </p:grpSp>
      <p:grpSp>
        <p:nvGrpSpPr>
          <p:cNvPr id="137" name="Google Shape;137;p2"/>
          <p:cNvGrpSpPr/>
          <p:nvPr/>
        </p:nvGrpSpPr>
        <p:grpSpPr>
          <a:xfrm>
            <a:off x="3327394" y="4843864"/>
            <a:ext cx="6469421" cy="718736"/>
            <a:chOff x="4555084" y="4807549"/>
            <a:chExt cx="4697324" cy="974452"/>
          </a:xfrm>
        </p:grpSpPr>
        <p:pic>
          <p:nvPicPr>
            <p:cNvPr id="138" name="Google Shape;138;p2"/>
            <p:cNvPicPr preferRelativeResize="0"/>
            <p:nvPr/>
          </p:nvPicPr>
          <p:blipFill rotWithShape="1">
            <a:blip r:embed="rId5">
              <a:alphaModFix/>
            </a:blip>
            <a:srcRect b="0" l="0" r="0" t="76775"/>
            <a:stretch/>
          </p:blipFill>
          <p:spPr>
            <a:xfrm>
              <a:off x="4873327" y="5580404"/>
              <a:ext cx="3646270" cy="201307"/>
            </a:xfrm>
            <a:prstGeom prst="rect">
              <a:avLst/>
            </a:prstGeom>
            <a:noFill/>
            <a:ln>
              <a:noFill/>
            </a:ln>
          </p:spPr>
        </p:pic>
        <p:grpSp>
          <p:nvGrpSpPr>
            <p:cNvPr id="139" name="Google Shape;139;p2"/>
            <p:cNvGrpSpPr/>
            <p:nvPr/>
          </p:nvGrpSpPr>
          <p:grpSpPr>
            <a:xfrm>
              <a:off x="4555084" y="4807549"/>
              <a:ext cx="4697324" cy="974452"/>
              <a:chOff x="4555084" y="4807549"/>
              <a:chExt cx="4697324" cy="974452"/>
            </a:xfrm>
          </p:grpSpPr>
          <p:pic>
            <p:nvPicPr>
              <p:cNvPr id="140" name="Google Shape;140;p2"/>
              <p:cNvPicPr preferRelativeResize="0"/>
              <p:nvPr/>
            </p:nvPicPr>
            <p:blipFill rotWithShape="1">
              <a:blip r:embed="rId5">
                <a:alphaModFix/>
              </a:blip>
              <a:srcRect b="0" l="0" r="0" t="76775"/>
              <a:stretch/>
            </p:blipFill>
            <p:spPr>
              <a:xfrm rot="-5400000">
                <a:off x="8600150" y="5129743"/>
                <a:ext cx="958122" cy="346393"/>
              </a:xfrm>
              <a:prstGeom prst="rect">
                <a:avLst/>
              </a:prstGeom>
              <a:noFill/>
              <a:ln>
                <a:noFill/>
              </a:ln>
            </p:spPr>
          </p:pic>
          <p:sp>
            <p:nvSpPr>
              <p:cNvPr id="141" name="Google Shape;141;p2"/>
              <p:cNvSpPr/>
              <p:nvPr/>
            </p:nvSpPr>
            <p:spPr>
              <a:xfrm>
                <a:off x="4555084" y="4807549"/>
                <a:ext cx="4361682" cy="958122"/>
              </a:xfrm>
              <a:prstGeom prst="roundRect">
                <a:avLst>
                  <a:gd fmla="val 9218" name="adj"/>
                </a:avLst>
              </a:prstGeom>
              <a:gradFill>
                <a:gsLst>
                  <a:gs pos="0">
                    <a:srgbClr val="FDFDFD"/>
                  </a:gs>
                  <a:gs pos="47000">
                    <a:srgbClr val="FDFDFD"/>
                  </a:gs>
                  <a:gs pos="52999">
                    <a:srgbClr val="E8E8E8"/>
                  </a:gs>
                  <a:gs pos="100000">
                    <a:srgbClr val="ECECEC"/>
                  </a:gs>
                </a:gsLst>
                <a:lin ang="5400000" scaled="0"/>
              </a:gradFill>
              <a:ln>
                <a:noFill/>
              </a:ln>
              <a:effectLst>
                <a:outerShdw blurRad="76200" rotWithShape="0" algn="tl" dir="2700000" dist="38100">
                  <a:srgbClr val="000000">
                    <a:alpha val="1372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800">
                  <a:solidFill>
                    <a:schemeClr val="lt1"/>
                  </a:solidFill>
                  <a:latin typeface="Arial"/>
                  <a:ea typeface="Arial"/>
                  <a:cs typeface="Arial"/>
                  <a:sym typeface="Arial"/>
                </a:endParaRPr>
              </a:p>
            </p:txBody>
          </p:sp>
        </p:grpSp>
      </p:grpSp>
      <p:sp>
        <p:nvSpPr>
          <p:cNvPr id="142" name="Google Shape;142;p2"/>
          <p:cNvSpPr/>
          <p:nvPr/>
        </p:nvSpPr>
        <p:spPr>
          <a:xfrm>
            <a:off x="3052771" y="4960568"/>
            <a:ext cx="69294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F52D04"/>
                </a:solidFill>
                <a:latin typeface="Times New Roman"/>
                <a:ea typeface="Times New Roman"/>
                <a:cs typeface="Times New Roman"/>
                <a:sym typeface="Times New Roman"/>
              </a:rPr>
              <a:t>    Chương Trình HelloWorld Đầu Tiên</a:t>
            </a:r>
            <a:endParaRPr b="1" sz="2800">
              <a:solidFill>
                <a:srgbClr val="F52D04"/>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75"/>
                                        </p:tgtEl>
                                        <p:attrNameLst>
                                          <p:attrName>style.visibility</p:attrName>
                                        </p:attrNameLst>
                                      </p:cBhvr>
                                      <p:to>
                                        <p:strVal val="visible"/>
                                      </p:to>
                                    </p:set>
                                    <p:anim calcmode="lin" valueType="num">
                                      <p:cBhvr additive="base">
                                        <p:cTn dur="100"/>
                                        <p:tgtEl>
                                          <p:spTgt spid="75"/>
                                        </p:tgtEl>
                                        <p:attrNameLst>
                                          <p:attrName>ppt_w</p:attrName>
                                        </p:attrNameLst>
                                      </p:cBhvr>
                                      <p:tavLst>
                                        <p:tav fmla="" tm="0">
                                          <p:val>
                                            <p:strVal val="0"/>
                                          </p:val>
                                        </p:tav>
                                        <p:tav fmla="" tm="100000">
                                          <p:val>
                                            <p:strVal val="#ppt_w"/>
                                          </p:val>
                                        </p:tav>
                                      </p:tavLst>
                                    </p:anim>
                                    <p:anim calcmode="lin" valueType="num">
                                      <p:cBhvr additive="base">
                                        <p:cTn dur="100"/>
                                        <p:tgtEl>
                                          <p:spTgt spid="75"/>
                                        </p:tgtEl>
                                        <p:attrNameLst>
                                          <p:attrName>ppt_h</p:attrName>
                                        </p:attrNameLst>
                                      </p:cBhvr>
                                      <p:tavLst>
                                        <p:tav fmla="" tm="0">
                                          <p:val>
                                            <p:strVal val="0"/>
                                          </p:val>
                                        </p:tav>
                                        <p:tav fmla="" tm="100000">
                                          <p:val>
                                            <p:strVal val="#ppt_h"/>
                                          </p:val>
                                        </p:tav>
                                      </p:tavLst>
                                    </p:anim>
                                  </p:childTnLst>
                                </p:cTn>
                              </p:par>
                            </p:childTnLst>
                          </p:cTn>
                        </p:par>
                        <p:par>
                          <p:cTn fill="hold">
                            <p:stCondLst>
                              <p:cond delay="100"/>
                            </p:stCondLst>
                            <p:childTnLst>
                              <p:par>
                                <p:cTn fill="hold" nodeType="after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childTnLst>
                          </p:cTn>
                        </p:par>
                        <p:par>
                          <p:cTn fill="hold">
                            <p:stCondLst>
                              <p:cond delay="600"/>
                            </p:stCondLst>
                            <p:childTnLst>
                              <p:par>
                                <p:cTn fill="hold" nodeType="after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500"/>
                                        <p:tgtEl>
                                          <p:spTgt spid="79"/>
                                        </p:tgtEl>
                                      </p:cBhvr>
                                    </p:animEffect>
                                  </p:childTnLst>
                                </p:cTn>
                              </p:par>
                              <p:par>
                                <p:cTn fill="hold" nodeType="with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childTnLst>
                          </p:cTn>
                        </p:par>
                        <p:par>
                          <p:cTn fill="hold">
                            <p:stCondLst>
                              <p:cond delay="1100"/>
                            </p:stCondLst>
                            <p:childTnLst>
                              <p:par>
                                <p:cTn fill="hold" nodeType="after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par>
                                <p:cTn fill="hold" nodeType="with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par>
                          <p:cTn fill="hold">
                            <p:stCondLst>
                              <p:cond delay="1600"/>
                            </p:stCondLst>
                            <p:childTnLst>
                              <p:par>
                                <p:cTn fill="hold" nodeType="after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par>
                                <p:cTn fill="hold" nodeType="with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childTnLst>
                          </p:cTn>
                        </p:par>
                        <p:par>
                          <p:cTn fill="hold">
                            <p:stCondLst>
                              <p:cond delay="2100"/>
                            </p:stCondLst>
                            <p:childTnLst>
                              <p:par>
                                <p:cTn fill="hold" nodeType="after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500"/>
                                        <p:tgtEl>
                                          <p:spTgt spid="94"/>
                                        </p:tgtEl>
                                      </p:cBhvr>
                                    </p:animEffect>
                                  </p:childTnLst>
                                </p:cTn>
                              </p:par>
                              <p:par>
                                <p:cTn fill="hold" nodeType="with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childTnLst>
                          </p:cTn>
                        </p:par>
                        <p:par>
                          <p:cTn fill="hold">
                            <p:stCondLst>
                              <p:cond delay="2600"/>
                            </p:stCondLst>
                            <p:childTnLst>
                              <p:par>
                                <p:cTn fill="hold" nodeType="after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8" name="Google Shape;148;p3"/>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Tên bài học</a:t>
            </a:r>
            <a:endParaRPr sz="1700">
              <a:solidFill>
                <a:srgbClr val="F37422"/>
              </a:solidFill>
              <a:latin typeface="Arial"/>
              <a:ea typeface="Arial"/>
              <a:cs typeface="Arial"/>
              <a:sym typeface="Arial"/>
            </a:endParaRPr>
          </a:p>
        </p:txBody>
      </p:sp>
      <p:pic>
        <p:nvPicPr>
          <p:cNvPr id="149" name="Google Shape;149;p3"/>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150" name="Google Shape;150;p3"/>
          <p:cNvGrpSpPr/>
          <p:nvPr/>
        </p:nvGrpSpPr>
        <p:grpSpPr>
          <a:xfrm>
            <a:off x="1823130" y="1371600"/>
            <a:ext cx="8616270" cy="1007332"/>
            <a:chOff x="3129129" y="1121776"/>
            <a:chExt cx="5933741" cy="1171624"/>
          </a:xfrm>
        </p:grpSpPr>
        <p:sp>
          <p:nvSpPr>
            <p:cNvPr id="151" name="Google Shape;151;p3"/>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FFAA2D"/>
                </a:solidFill>
                <a:latin typeface="Arial"/>
                <a:ea typeface="Arial"/>
                <a:cs typeface="Arial"/>
                <a:sym typeface="Arial"/>
              </a:endParaRPr>
            </a:p>
          </p:txBody>
        </p:sp>
        <p:sp>
          <p:nvSpPr>
            <p:cNvPr id="152" name="Google Shape;152;p3"/>
            <p:cNvSpPr/>
            <p:nvPr/>
          </p:nvSpPr>
          <p:spPr>
            <a:xfrm>
              <a:off x="3289330" y="1253414"/>
              <a:ext cx="5613340" cy="908350"/>
            </a:xfrm>
            <a:prstGeom prst="roundRect">
              <a:avLst>
                <a:gd fmla="val 50000" name="adj"/>
              </a:avLst>
            </a:prstGeom>
            <a:gradFill>
              <a:gsLst>
                <a:gs pos="0">
                  <a:srgbClr val="FFAA2D"/>
                </a:gs>
                <a:gs pos="100000">
                  <a:srgbClr val="FFD393"/>
                </a:gs>
              </a:gsLst>
              <a:lin ang="0" scaled="0"/>
            </a:gradFill>
            <a:ln cap="flat" cmpd="sng" w="1905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FFAA2D"/>
                </a:solidFill>
                <a:latin typeface="Arial"/>
                <a:ea typeface="Arial"/>
                <a:cs typeface="Arial"/>
                <a:sym typeface="Arial"/>
              </a:endParaRPr>
            </a:p>
          </p:txBody>
        </p:sp>
      </p:grpSp>
      <p:grpSp>
        <p:nvGrpSpPr>
          <p:cNvPr id="153" name="Google Shape;153;p3"/>
          <p:cNvGrpSpPr/>
          <p:nvPr/>
        </p:nvGrpSpPr>
        <p:grpSpPr>
          <a:xfrm>
            <a:off x="1935059" y="1348449"/>
            <a:ext cx="1674310" cy="1522886"/>
            <a:chOff x="3020983" y="881796"/>
            <a:chExt cx="2097410" cy="2097410"/>
          </a:xfrm>
        </p:grpSpPr>
        <p:grpSp>
          <p:nvGrpSpPr>
            <p:cNvPr id="154" name="Google Shape;154;p3"/>
            <p:cNvGrpSpPr/>
            <p:nvPr/>
          </p:nvGrpSpPr>
          <p:grpSpPr>
            <a:xfrm>
              <a:off x="3020983" y="881796"/>
              <a:ext cx="2097410" cy="2097410"/>
              <a:chOff x="3099689" y="1098878"/>
              <a:chExt cx="1995612" cy="1995615"/>
            </a:xfrm>
          </p:grpSpPr>
          <p:grpSp>
            <p:nvGrpSpPr>
              <p:cNvPr id="155" name="Google Shape;155;p3"/>
              <p:cNvGrpSpPr/>
              <p:nvPr/>
            </p:nvGrpSpPr>
            <p:grpSpPr>
              <a:xfrm>
                <a:off x="3099689" y="1098878"/>
                <a:ext cx="1995612" cy="1995615"/>
                <a:chOff x="6804316" y="2574806"/>
                <a:chExt cx="3585705" cy="3585705"/>
              </a:xfrm>
            </p:grpSpPr>
            <p:sp>
              <p:nvSpPr>
                <p:cNvPr id="156" name="Google Shape;156;p3"/>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sp>
              <p:nvSpPr>
                <p:cNvPr id="157" name="Google Shape;157;p3"/>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sp>
              <p:nvSpPr>
                <p:cNvPr id="158" name="Google Shape;158;p3"/>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grpSp>
          <p:sp>
            <p:nvSpPr>
              <p:cNvPr id="159" name="Google Shape;159;p3"/>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grpSp>
        <p:sp>
          <p:nvSpPr>
            <p:cNvPr id="160" name="Google Shape;160;p3"/>
            <p:cNvSpPr txBox="1"/>
            <p:nvPr/>
          </p:nvSpPr>
          <p:spPr>
            <a:xfrm>
              <a:off x="3514455" y="1292811"/>
              <a:ext cx="774240" cy="720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161" name="Google Shape;161;p3"/>
          <p:cNvSpPr txBox="1"/>
          <p:nvPr/>
        </p:nvSpPr>
        <p:spPr>
          <a:xfrm>
            <a:off x="3133207" y="1629845"/>
            <a:ext cx="690583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Giới Thiệu Ngôn Ngữ Lập Trình Java</a:t>
            </a:r>
            <a:endParaRPr b="1" sz="2800">
              <a:solidFill>
                <a:schemeClr val="dk1"/>
              </a:solidFill>
              <a:latin typeface="Times New Roman"/>
              <a:ea typeface="Times New Roman"/>
              <a:cs typeface="Times New Roman"/>
              <a:sym typeface="Times New Roman"/>
            </a:endParaRPr>
          </a:p>
        </p:txBody>
      </p:sp>
      <p:sp>
        <p:nvSpPr>
          <p:cNvPr id="162" name="Google Shape;162;p3"/>
          <p:cNvSpPr/>
          <p:nvPr/>
        </p:nvSpPr>
        <p:spPr>
          <a:xfrm>
            <a:off x="1792672" y="2614150"/>
            <a:ext cx="8616269" cy="3588937"/>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Java là một ngôn ngữ lập lập trình, được phát triển bởi Sun Microsystem vào năm 1995.</a:t>
            </a:r>
            <a:endParaRPr/>
          </a:p>
          <a:p>
            <a:pPr indent="-279400" lvl="0" marL="457200" marR="0" rtl="0" algn="l">
              <a:spcBef>
                <a:spcPts val="0"/>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Là ngôn ngữ kế thừa trực tiếp từ C/C++, và là một ngôn ngữ lập trình hướng đối tượng (OOP).</a:t>
            </a:r>
            <a:endParaRPr sz="2800">
              <a:solidFill>
                <a:schemeClr val="dk1"/>
              </a:solidFill>
              <a:latin typeface="Times New Roman"/>
              <a:ea typeface="Times New Roman"/>
              <a:cs typeface="Times New Roman"/>
              <a:sym typeface="Times New Roman"/>
            </a:endParaRPr>
          </a:p>
          <a:p>
            <a:pPr indent="-279400" lvl="0" marL="457200" marR="0" rtl="0" algn="l">
              <a:spcBef>
                <a:spcPts val="0"/>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500"/>
                                        <p:tgtEl>
                                          <p:spTgt spid="15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50"/>
                                        </p:tgtEl>
                                        <p:attrNameLst>
                                          <p:attrName>style.visibility</p:attrName>
                                        </p:attrNameLst>
                                      </p:cBhvr>
                                      <p:to>
                                        <p:strVal val="visible"/>
                                      </p:to>
                                    </p:set>
                                    <p:anim calcmode="lin" valueType="num">
                                      <p:cBhvr additive="base">
                                        <p:cTn dur="500"/>
                                        <p:tgtEl>
                                          <p:spTgt spid="15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8" name="Google Shape;168;p4"/>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169" name="Google Shape;169;p4"/>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170" name="Google Shape;170;p4"/>
          <p:cNvGrpSpPr/>
          <p:nvPr/>
        </p:nvGrpSpPr>
        <p:grpSpPr>
          <a:xfrm>
            <a:off x="1213530" y="1188312"/>
            <a:ext cx="8616270" cy="1007332"/>
            <a:chOff x="3129129" y="1121776"/>
            <a:chExt cx="5933741" cy="1171624"/>
          </a:xfrm>
        </p:grpSpPr>
        <p:sp>
          <p:nvSpPr>
            <p:cNvPr id="171" name="Google Shape;171;p4"/>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FFAA2D"/>
                </a:solidFill>
                <a:latin typeface="Arial"/>
                <a:ea typeface="Arial"/>
                <a:cs typeface="Arial"/>
                <a:sym typeface="Arial"/>
              </a:endParaRPr>
            </a:p>
          </p:txBody>
        </p:sp>
        <p:sp>
          <p:nvSpPr>
            <p:cNvPr id="172" name="Google Shape;172;p4"/>
            <p:cNvSpPr/>
            <p:nvPr/>
          </p:nvSpPr>
          <p:spPr>
            <a:xfrm>
              <a:off x="3289330" y="1253414"/>
              <a:ext cx="5613340" cy="908350"/>
            </a:xfrm>
            <a:prstGeom prst="roundRect">
              <a:avLst>
                <a:gd fmla="val 50000" name="adj"/>
              </a:avLst>
            </a:prstGeom>
            <a:gradFill>
              <a:gsLst>
                <a:gs pos="0">
                  <a:srgbClr val="FFAA2D"/>
                </a:gs>
                <a:gs pos="100000">
                  <a:srgbClr val="FFD393"/>
                </a:gs>
              </a:gsLst>
              <a:lin ang="0" scaled="0"/>
            </a:gradFill>
            <a:ln cap="flat" cmpd="sng" w="1905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FFAA2D"/>
                </a:solidFill>
                <a:latin typeface="Arial"/>
                <a:ea typeface="Arial"/>
                <a:cs typeface="Arial"/>
                <a:sym typeface="Arial"/>
              </a:endParaRPr>
            </a:p>
          </p:txBody>
        </p:sp>
      </p:grpSp>
      <p:grpSp>
        <p:nvGrpSpPr>
          <p:cNvPr id="173" name="Google Shape;173;p4"/>
          <p:cNvGrpSpPr/>
          <p:nvPr/>
        </p:nvGrpSpPr>
        <p:grpSpPr>
          <a:xfrm>
            <a:off x="1325459" y="1165161"/>
            <a:ext cx="1674310" cy="1522886"/>
            <a:chOff x="3020983" y="881796"/>
            <a:chExt cx="2097410" cy="2097410"/>
          </a:xfrm>
        </p:grpSpPr>
        <p:grpSp>
          <p:nvGrpSpPr>
            <p:cNvPr id="174" name="Google Shape;174;p4"/>
            <p:cNvGrpSpPr/>
            <p:nvPr/>
          </p:nvGrpSpPr>
          <p:grpSpPr>
            <a:xfrm>
              <a:off x="3020983" y="881796"/>
              <a:ext cx="2097410" cy="2097410"/>
              <a:chOff x="3099689" y="1098878"/>
              <a:chExt cx="1995612" cy="1995615"/>
            </a:xfrm>
          </p:grpSpPr>
          <p:grpSp>
            <p:nvGrpSpPr>
              <p:cNvPr id="175" name="Google Shape;175;p4"/>
              <p:cNvGrpSpPr/>
              <p:nvPr/>
            </p:nvGrpSpPr>
            <p:grpSpPr>
              <a:xfrm>
                <a:off x="3099689" y="1098878"/>
                <a:ext cx="1995612" cy="1995615"/>
                <a:chOff x="6804316" y="2574806"/>
                <a:chExt cx="3585705" cy="3585705"/>
              </a:xfrm>
            </p:grpSpPr>
            <p:sp>
              <p:nvSpPr>
                <p:cNvPr id="176" name="Google Shape;176;p4"/>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sp>
              <p:nvSpPr>
                <p:cNvPr id="177" name="Google Shape;177;p4"/>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sp>
              <p:nvSpPr>
                <p:cNvPr id="178" name="Google Shape;178;p4"/>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grpSp>
          <p:sp>
            <p:nvSpPr>
              <p:cNvPr id="179" name="Google Shape;179;p4"/>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grpSp>
        <p:sp>
          <p:nvSpPr>
            <p:cNvPr id="180" name="Google Shape;180;p4"/>
            <p:cNvSpPr txBox="1"/>
            <p:nvPr/>
          </p:nvSpPr>
          <p:spPr>
            <a:xfrm>
              <a:off x="3514455" y="1292811"/>
              <a:ext cx="774240" cy="720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181" name="Google Shape;181;p4"/>
          <p:cNvSpPr txBox="1"/>
          <p:nvPr/>
        </p:nvSpPr>
        <p:spPr>
          <a:xfrm>
            <a:off x="2523607" y="1446557"/>
            <a:ext cx="690583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Giới Thiệu Ngôn Ngữ Lập Trình Java</a:t>
            </a:r>
            <a:endParaRPr b="1" sz="2800">
              <a:solidFill>
                <a:schemeClr val="dk1"/>
              </a:solidFill>
              <a:latin typeface="Times New Roman"/>
              <a:ea typeface="Times New Roman"/>
              <a:cs typeface="Times New Roman"/>
              <a:sym typeface="Times New Roman"/>
            </a:endParaRPr>
          </a:p>
        </p:txBody>
      </p:sp>
      <p:sp>
        <p:nvSpPr>
          <p:cNvPr id="182" name="Google Shape;182;p4"/>
          <p:cNvSpPr/>
          <p:nvPr/>
        </p:nvSpPr>
        <p:spPr>
          <a:xfrm>
            <a:off x="1213530" y="2416467"/>
            <a:ext cx="8383647" cy="3603333"/>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Ngày nay Java được sử dụng với các mục đích sau:</a:t>
            </a:r>
            <a:endParaRPr sz="2800">
              <a:solidFill>
                <a:schemeClr val="dk1"/>
              </a:solidFill>
              <a:latin typeface="Times New Roman"/>
              <a:ea typeface="Times New Roman"/>
              <a:cs typeface="Times New Roman"/>
              <a:sym typeface="Times New Roman"/>
            </a:endParaRPr>
          </a:p>
          <a:p>
            <a:pPr indent="-457200" lvl="0" marL="457200" marR="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Phát triển ứng dụng cho các thiết bị điện tử thông minh, các ứng dụng cho doanh nghiệp với quy mô lớn.</a:t>
            </a:r>
            <a:endParaRPr/>
          </a:p>
          <a:p>
            <a:pPr indent="-457200" lvl="0" marL="457200" marR="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Tạo các trang web có nội dung động (web applet), nâng cao chức năng của server.</a:t>
            </a:r>
            <a:endParaRPr/>
          </a:p>
          <a:p>
            <a:pPr indent="-457200" lvl="0" marL="457200" marR="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Phát triển nhiều loại ứng dụng khác nhau</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173"/>
                                        </p:tgtEl>
                                        <p:attrNameLst>
                                          <p:attrName>style.visibility</p:attrName>
                                        </p:attrNameLst>
                                      </p:cBhvr>
                                      <p:to>
                                        <p:strVal val="visible"/>
                                      </p:to>
                                    </p:set>
                                    <p:anim calcmode="lin" valueType="num">
                                      <p:cBhvr additive="base">
                                        <p:cTn dur="500"/>
                                        <p:tgtEl>
                                          <p:spTgt spid="17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70"/>
                                        </p:tgtEl>
                                        <p:attrNameLst>
                                          <p:attrName>style.visibility</p:attrName>
                                        </p:attrNameLst>
                                      </p:cBhvr>
                                      <p:to>
                                        <p:strVal val="visible"/>
                                      </p:to>
                                    </p:set>
                                    <p:anim calcmode="lin" valueType="num">
                                      <p:cBhvr additive="base">
                                        <p:cTn dur="500"/>
                                        <p:tgtEl>
                                          <p:spTgt spid="17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p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8" name="Google Shape;188;p5"/>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189" name="Google Shape;189;p5"/>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190" name="Google Shape;190;p5"/>
          <p:cNvGrpSpPr/>
          <p:nvPr/>
        </p:nvGrpSpPr>
        <p:grpSpPr>
          <a:xfrm>
            <a:off x="1670730" y="1263299"/>
            <a:ext cx="8616270" cy="1007332"/>
            <a:chOff x="3129129" y="1121776"/>
            <a:chExt cx="5933741" cy="1171624"/>
          </a:xfrm>
        </p:grpSpPr>
        <p:sp>
          <p:nvSpPr>
            <p:cNvPr id="191" name="Google Shape;191;p5"/>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FFAA2D"/>
                </a:solidFill>
                <a:latin typeface="Arial"/>
                <a:ea typeface="Arial"/>
                <a:cs typeface="Arial"/>
                <a:sym typeface="Arial"/>
              </a:endParaRPr>
            </a:p>
          </p:txBody>
        </p:sp>
        <p:sp>
          <p:nvSpPr>
            <p:cNvPr id="192" name="Google Shape;192;p5"/>
            <p:cNvSpPr/>
            <p:nvPr/>
          </p:nvSpPr>
          <p:spPr>
            <a:xfrm>
              <a:off x="3289330" y="1253414"/>
              <a:ext cx="5613340" cy="908350"/>
            </a:xfrm>
            <a:prstGeom prst="roundRect">
              <a:avLst>
                <a:gd fmla="val 50000" name="adj"/>
              </a:avLst>
            </a:prstGeom>
            <a:gradFill>
              <a:gsLst>
                <a:gs pos="0">
                  <a:srgbClr val="FFAA2D"/>
                </a:gs>
                <a:gs pos="100000">
                  <a:srgbClr val="FFD393"/>
                </a:gs>
              </a:gsLst>
              <a:lin ang="0" scaled="0"/>
            </a:gradFill>
            <a:ln cap="flat" cmpd="sng" w="1905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FFAA2D"/>
                </a:solidFill>
                <a:latin typeface="Arial"/>
                <a:ea typeface="Arial"/>
                <a:cs typeface="Arial"/>
                <a:sym typeface="Arial"/>
              </a:endParaRPr>
            </a:p>
          </p:txBody>
        </p:sp>
      </p:grpSp>
      <p:grpSp>
        <p:nvGrpSpPr>
          <p:cNvPr id="193" name="Google Shape;193;p5"/>
          <p:cNvGrpSpPr/>
          <p:nvPr/>
        </p:nvGrpSpPr>
        <p:grpSpPr>
          <a:xfrm>
            <a:off x="1782659" y="1240148"/>
            <a:ext cx="1674310" cy="1522886"/>
            <a:chOff x="3020983" y="881796"/>
            <a:chExt cx="2097410" cy="2097410"/>
          </a:xfrm>
        </p:grpSpPr>
        <p:grpSp>
          <p:nvGrpSpPr>
            <p:cNvPr id="194" name="Google Shape;194;p5"/>
            <p:cNvGrpSpPr/>
            <p:nvPr/>
          </p:nvGrpSpPr>
          <p:grpSpPr>
            <a:xfrm>
              <a:off x="3020983" y="881796"/>
              <a:ext cx="2097410" cy="2097410"/>
              <a:chOff x="3099689" y="1098878"/>
              <a:chExt cx="1995612" cy="1995615"/>
            </a:xfrm>
          </p:grpSpPr>
          <p:grpSp>
            <p:nvGrpSpPr>
              <p:cNvPr id="195" name="Google Shape;195;p5"/>
              <p:cNvGrpSpPr/>
              <p:nvPr/>
            </p:nvGrpSpPr>
            <p:grpSpPr>
              <a:xfrm>
                <a:off x="3099689" y="1098878"/>
                <a:ext cx="1995612" cy="1995615"/>
                <a:chOff x="6804316" y="2574806"/>
                <a:chExt cx="3585705" cy="3585705"/>
              </a:xfrm>
            </p:grpSpPr>
            <p:sp>
              <p:nvSpPr>
                <p:cNvPr id="196" name="Google Shape;196;p5"/>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sp>
              <p:nvSpPr>
                <p:cNvPr id="197" name="Google Shape;197;p5"/>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sp>
              <p:nvSpPr>
                <p:cNvPr id="198" name="Google Shape;198;p5"/>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grpSp>
          <p:sp>
            <p:nvSpPr>
              <p:cNvPr id="199" name="Google Shape;199;p5"/>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grpSp>
        <p:sp>
          <p:nvSpPr>
            <p:cNvPr id="200" name="Google Shape;200;p5"/>
            <p:cNvSpPr txBox="1"/>
            <p:nvPr/>
          </p:nvSpPr>
          <p:spPr>
            <a:xfrm>
              <a:off x="3514455" y="1292811"/>
              <a:ext cx="774240" cy="720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201" name="Google Shape;201;p5"/>
          <p:cNvSpPr txBox="1"/>
          <p:nvPr/>
        </p:nvSpPr>
        <p:spPr>
          <a:xfrm>
            <a:off x="2980807" y="1521544"/>
            <a:ext cx="690583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Giới Thiệu Ngôn Ngữ Lập Trình Java</a:t>
            </a:r>
            <a:endParaRPr b="1" sz="2800">
              <a:solidFill>
                <a:schemeClr val="dk1"/>
              </a:solidFill>
              <a:latin typeface="Times New Roman"/>
              <a:ea typeface="Times New Roman"/>
              <a:cs typeface="Times New Roman"/>
              <a:sym typeface="Times New Roman"/>
            </a:endParaRPr>
          </a:p>
        </p:txBody>
      </p:sp>
      <p:sp>
        <p:nvSpPr>
          <p:cNvPr id="202" name="Google Shape;202;p5"/>
          <p:cNvSpPr/>
          <p:nvPr/>
        </p:nvSpPr>
        <p:spPr>
          <a:xfrm>
            <a:off x="1670730" y="2505849"/>
            <a:ext cx="8616269" cy="3437751"/>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Tiêu chí hàng đầu của Ngôn ngữ Lập trình Java là: </a:t>
            </a:r>
            <a:endParaRPr sz="28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800">
                <a:solidFill>
                  <a:schemeClr val="dk1"/>
                </a:solidFill>
                <a:latin typeface="Times New Roman"/>
                <a:ea typeface="Times New Roman"/>
                <a:cs typeface="Times New Roman"/>
                <a:sym typeface="Times New Roman"/>
              </a:rPr>
              <a:t>"Write Once, Run Anywhere" </a:t>
            </a: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800">
                <a:solidFill>
                  <a:schemeClr val="dk1"/>
                </a:solidFill>
                <a:latin typeface="Times New Roman"/>
                <a:ea typeface="Times New Roman"/>
                <a:cs typeface="Times New Roman"/>
                <a:sym typeface="Times New Roman"/>
              </a:rPr>
              <a:t>(Viết một lần, chạy mọi nơi)</a:t>
            </a:r>
            <a:endParaRPr sz="2800">
              <a:solidFill>
                <a:schemeClr val="dk1"/>
              </a:solidFill>
              <a:latin typeface="Times New Roman"/>
              <a:ea typeface="Times New Roman"/>
              <a:cs typeface="Times New Roman"/>
              <a:sym typeface="Times New Roman"/>
            </a:endParaRPr>
          </a:p>
        </p:txBody>
      </p:sp>
      <p:pic>
        <p:nvPicPr>
          <p:cNvPr id="203" name="Google Shape;203;p5"/>
          <p:cNvPicPr preferRelativeResize="0"/>
          <p:nvPr/>
        </p:nvPicPr>
        <p:blipFill rotWithShape="1">
          <a:blip r:embed="rId5">
            <a:alphaModFix/>
          </a:blip>
          <a:srcRect b="0" l="0" r="0" t="0"/>
          <a:stretch/>
        </p:blipFill>
        <p:spPr>
          <a:xfrm>
            <a:off x="2444261" y="3429000"/>
            <a:ext cx="6729412" cy="303497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193"/>
                                        </p:tgtEl>
                                        <p:attrNameLst>
                                          <p:attrName>style.visibility</p:attrName>
                                        </p:attrNameLst>
                                      </p:cBhvr>
                                      <p:to>
                                        <p:strVal val="visible"/>
                                      </p:to>
                                    </p:set>
                                    <p:anim calcmode="lin" valueType="num">
                                      <p:cBhvr additive="base">
                                        <p:cTn dur="500"/>
                                        <p:tgtEl>
                                          <p:spTgt spid="19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90"/>
                                        </p:tgtEl>
                                        <p:attrNameLst>
                                          <p:attrName>style.visibility</p:attrName>
                                        </p:attrNameLst>
                                      </p:cBhvr>
                                      <p:to>
                                        <p:strVal val="visible"/>
                                      </p:to>
                                    </p:set>
                                    <p:anim calcmode="lin" valueType="num">
                                      <p:cBhvr additive="base">
                                        <p:cTn dur="500"/>
                                        <p:tgtEl>
                                          <p:spTgt spid="19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9" name="Google Shape;209;p6"/>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210" name="Google Shape;210;p6"/>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211" name="Google Shape;211;p6"/>
          <p:cNvGrpSpPr/>
          <p:nvPr/>
        </p:nvGrpSpPr>
        <p:grpSpPr>
          <a:xfrm>
            <a:off x="1752600" y="1416912"/>
            <a:ext cx="8616270" cy="1007332"/>
            <a:chOff x="3129129" y="1121776"/>
            <a:chExt cx="5933741" cy="1171624"/>
          </a:xfrm>
        </p:grpSpPr>
        <p:sp>
          <p:nvSpPr>
            <p:cNvPr id="212" name="Google Shape;212;p6"/>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FFAA2D"/>
                </a:solidFill>
                <a:latin typeface="Arial"/>
                <a:ea typeface="Arial"/>
                <a:cs typeface="Arial"/>
                <a:sym typeface="Arial"/>
              </a:endParaRPr>
            </a:p>
          </p:txBody>
        </p:sp>
        <p:sp>
          <p:nvSpPr>
            <p:cNvPr id="213" name="Google Shape;213;p6"/>
            <p:cNvSpPr/>
            <p:nvPr/>
          </p:nvSpPr>
          <p:spPr>
            <a:xfrm>
              <a:off x="3289330" y="1253414"/>
              <a:ext cx="5613340" cy="908350"/>
            </a:xfrm>
            <a:prstGeom prst="roundRect">
              <a:avLst>
                <a:gd fmla="val 50000" name="adj"/>
              </a:avLst>
            </a:prstGeom>
            <a:gradFill>
              <a:gsLst>
                <a:gs pos="0">
                  <a:srgbClr val="FFAA2D"/>
                </a:gs>
                <a:gs pos="100000">
                  <a:srgbClr val="FFD393"/>
                </a:gs>
              </a:gsLst>
              <a:lin ang="0" scaled="0"/>
            </a:gradFill>
            <a:ln cap="flat" cmpd="sng" w="1905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rgbClr val="FFAA2D"/>
                </a:solidFill>
                <a:latin typeface="Arial"/>
                <a:ea typeface="Arial"/>
                <a:cs typeface="Arial"/>
                <a:sym typeface="Arial"/>
              </a:endParaRPr>
            </a:p>
          </p:txBody>
        </p:sp>
      </p:grpSp>
      <p:grpSp>
        <p:nvGrpSpPr>
          <p:cNvPr id="214" name="Google Shape;214;p6"/>
          <p:cNvGrpSpPr/>
          <p:nvPr/>
        </p:nvGrpSpPr>
        <p:grpSpPr>
          <a:xfrm>
            <a:off x="1864529" y="1393761"/>
            <a:ext cx="1674310" cy="1522886"/>
            <a:chOff x="3020983" y="881796"/>
            <a:chExt cx="2097410" cy="2097410"/>
          </a:xfrm>
        </p:grpSpPr>
        <p:grpSp>
          <p:nvGrpSpPr>
            <p:cNvPr id="215" name="Google Shape;215;p6"/>
            <p:cNvGrpSpPr/>
            <p:nvPr/>
          </p:nvGrpSpPr>
          <p:grpSpPr>
            <a:xfrm>
              <a:off x="3020983" y="881796"/>
              <a:ext cx="2097410" cy="2097410"/>
              <a:chOff x="3099689" y="1098878"/>
              <a:chExt cx="1995612" cy="1995615"/>
            </a:xfrm>
          </p:grpSpPr>
          <p:grpSp>
            <p:nvGrpSpPr>
              <p:cNvPr id="216" name="Google Shape;216;p6"/>
              <p:cNvGrpSpPr/>
              <p:nvPr/>
            </p:nvGrpSpPr>
            <p:grpSpPr>
              <a:xfrm>
                <a:off x="3099689" y="1098878"/>
                <a:ext cx="1995612" cy="1995615"/>
                <a:chOff x="6804316" y="2574806"/>
                <a:chExt cx="3585705" cy="3585705"/>
              </a:xfrm>
            </p:grpSpPr>
            <p:sp>
              <p:nvSpPr>
                <p:cNvPr id="217" name="Google Shape;217;p6"/>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sp>
              <p:nvSpPr>
                <p:cNvPr id="218" name="Google Shape;218;p6"/>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sp>
              <p:nvSpPr>
                <p:cNvPr id="219" name="Google Shape;219;p6"/>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grpSp>
          <p:sp>
            <p:nvSpPr>
              <p:cNvPr id="220" name="Google Shape;220;p6"/>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lt1"/>
                  </a:solidFill>
                  <a:latin typeface="Arial"/>
                  <a:ea typeface="Arial"/>
                  <a:cs typeface="Arial"/>
                  <a:sym typeface="Arial"/>
                </a:endParaRPr>
              </a:p>
            </p:txBody>
          </p:sp>
        </p:grpSp>
        <p:sp>
          <p:nvSpPr>
            <p:cNvPr id="221" name="Google Shape;221;p6"/>
            <p:cNvSpPr txBox="1"/>
            <p:nvPr/>
          </p:nvSpPr>
          <p:spPr>
            <a:xfrm>
              <a:off x="3514455" y="1292811"/>
              <a:ext cx="774240" cy="720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B850"/>
                  </a:solidFill>
                  <a:latin typeface="Impact"/>
                  <a:ea typeface="Impact"/>
                  <a:cs typeface="Impact"/>
                  <a:sym typeface="Impact"/>
                </a:rPr>
                <a:t>01</a:t>
              </a:r>
              <a:endParaRPr sz="2800">
                <a:solidFill>
                  <a:srgbClr val="FFB850"/>
                </a:solidFill>
                <a:latin typeface="Impact"/>
                <a:ea typeface="Impact"/>
                <a:cs typeface="Impact"/>
                <a:sym typeface="Impact"/>
              </a:endParaRPr>
            </a:p>
          </p:txBody>
        </p:sp>
      </p:grpSp>
      <p:sp>
        <p:nvSpPr>
          <p:cNvPr id="222" name="Google Shape;222;p6"/>
          <p:cNvSpPr txBox="1"/>
          <p:nvPr/>
        </p:nvSpPr>
        <p:spPr>
          <a:xfrm>
            <a:off x="3062677" y="1675157"/>
            <a:ext cx="690583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Giới Thiệu Ngôn Ngữ Lập Trình Java</a:t>
            </a:r>
            <a:endParaRPr b="1" sz="2800">
              <a:solidFill>
                <a:schemeClr val="dk1"/>
              </a:solidFill>
              <a:latin typeface="Times New Roman"/>
              <a:ea typeface="Times New Roman"/>
              <a:cs typeface="Times New Roman"/>
              <a:sym typeface="Times New Roman"/>
            </a:endParaRPr>
          </a:p>
        </p:txBody>
      </p:sp>
      <p:sp>
        <p:nvSpPr>
          <p:cNvPr id="223" name="Google Shape;223;p6"/>
          <p:cNvSpPr/>
          <p:nvPr/>
        </p:nvSpPr>
        <p:spPr>
          <a:xfrm>
            <a:off x="1752600" y="2758246"/>
            <a:ext cx="8616270" cy="3490154"/>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a:solidFill>
                  <a:schemeClr val="dk1"/>
                </a:solidFill>
                <a:latin typeface="Times New Roman"/>
                <a:ea typeface="Times New Roman"/>
                <a:cs typeface="Times New Roman"/>
                <a:sym typeface="Times New Roman"/>
              </a:rPr>
              <a:t>Java cơ bản gồm có 3 thành phần chính:</a:t>
            </a:r>
            <a:endParaRPr/>
          </a:p>
          <a:p>
            <a:pPr indent="-285750" lvl="0" marL="285750" marR="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Java Virtual Machine (Java VM)</a:t>
            </a:r>
            <a:endParaRPr/>
          </a:p>
          <a:p>
            <a:pPr indent="-107950" lvl="0" marL="285750" marR="0" rtl="0" algn="l">
              <a:spcBef>
                <a:spcPts val="0"/>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Java Application Programming Interface (Java API).</a:t>
            </a:r>
            <a:endParaRPr/>
          </a:p>
          <a:p>
            <a:pPr indent="-107950" lvl="0" marL="285750" marR="0" rtl="0" algn="l">
              <a:spcBef>
                <a:spcPts val="0"/>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Java Development Kit (JDK)</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500"/>
                                        <p:tgtEl>
                                          <p:spTgt spid="21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500"/>
                                        <p:tgtEl>
                                          <p:spTgt spid="21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id="228" name="Google Shape;228;p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9" name="Google Shape;229;p7"/>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230" name="Google Shape;230;p7"/>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231" name="Google Shape;231;p7"/>
          <p:cNvGrpSpPr/>
          <p:nvPr/>
        </p:nvGrpSpPr>
        <p:grpSpPr>
          <a:xfrm>
            <a:off x="1343487" y="1108626"/>
            <a:ext cx="8562512" cy="1007332"/>
            <a:chOff x="3129129" y="1121776"/>
            <a:chExt cx="5933741" cy="1171624"/>
          </a:xfrm>
        </p:grpSpPr>
        <p:sp>
          <p:nvSpPr>
            <p:cNvPr id="232" name="Google Shape;232;p7"/>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rgbClr val="FFAA2D"/>
                </a:solidFill>
                <a:latin typeface="Arial"/>
                <a:ea typeface="Arial"/>
                <a:cs typeface="Arial"/>
                <a:sym typeface="Arial"/>
              </a:endParaRPr>
            </a:p>
          </p:txBody>
        </p:sp>
        <p:sp>
          <p:nvSpPr>
            <p:cNvPr id="233" name="Google Shape;233;p7"/>
            <p:cNvSpPr/>
            <p:nvPr/>
          </p:nvSpPr>
          <p:spPr>
            <a:xfrm>
              <a:off x="3289330" y="1253414"/>
              <a:ext cx="5613340" cy="908350"/>
            </a:xfrm>
            <a:prstGeom prst="roundRect">
              <a:avLst>
                <a:gd fmla="val 50000" name="adj"/>
              </a:avLst>
            </a:prstGeom>
            <a:gradFill>
              <a:gsLst>
                <a:gs pos="0">
                  <a:srgbClr val="FFAA2D"/>
                </a:gs>
                <a:gs pos="100000">
                  <a:srgbClr val="FFD393"/>
                </a:gs>
              </a:gsLst>
              <a:lin ang="0" scaled="0"/>
            </a:gradFill>
            <a:ln cap="flat" cmpd="sng" w="1905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rgbClr val="FFAA2D"/>
                </a:solidFill>
                <a:latin typeface="Arial"/>
                <a:ea typeface="Arial"/>
                <a:cs typeface="Arial"/>
                <a:sym typeface="Arial"/>
              </a:endParaRPr>
            </a:p>
          </p:txBody>
        </p:sp>
      </p:grpSp>
      <p:grpSp>
        <p:nvGrpSpPr>
          <p:cNvPr id="234" name="Google Shape;234;p7"/>
          <p:cNvGrpSpPr/>
          <p:nvPr/>
        </p:nvGrpSpPr>
        <p:grpSpPr>
          <a:xfrm>
            <a:off x="1461663" y="1085475"/>
            <a:ext cx="1573057" cy="1522886"/>
            <a:chOff x="3020983" y="881796"/>
            <a:chExt cx="2097410" cy="2097410"/>
          </a:xfrm>
        </p:grpSpPr>
        <p:grpSp>
          <p:nvGrpSpPr>
            <p:cNvPr id="235" name="Google Shape;235;p7"/>
            <p:cNvGrpSpPr/>
            <p:nvPr/>
          </p:nvGrpSpPr>
          <p:grpSpPr>
            <a:xfrm>
              <a:off x="3020983" y="881796"/>
              <a:ext cx="2097410" cy="2097410"/>
              <a:chOff x="3099689" y="1098878"/>
              <a:chExt cx="1995612" cy="1995615"/>
            </a:xfrm>
          </p:grpSpPr>
          <p:grpSp>
            <p:nvGrpSpPr>
              <p:cNvPr id="236" name="Google Shape;236;p7"/>
              <p:cNvGrpSpPr/>
              <p:nvPr/>
            </p:nvGrpSpPr>
            <p:grpSpPr>
              <a:xfrm>
                <a:off x="3099689" y="1098878"/>
                <a:ext cx="1995612" cy="1995615"/>
                <a:chOff x="6804316" y="2574806"/>
                <a:chExt cx="3585705" cy="3585705"/>
              </a:xfrm>
            </p:grpSpPr>
            <p:sp>
              <p:nvSpPr>
                <p:cNvPr id="237" name="Google Shape;237;p7"/>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chemeClr val="lt1"/>
                    </a:solidFill>
                    <a:latin typeface="Arial"/>
                    <a:ea typeface="Arial"/>
                    <a:cs typeface="Arial"/>
                    <a:sym typeface="Arial"/>
                  </a:endParaRPr>
                </a:p>
              </p:txBody>
            </p:sp>
            <p:sp>
              <p:nvSpPr>
                <p:cNvPr id="238" name="Google Shape;238;p7"/>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chemeClr val="lt1"/>
                    </a:solidFill>
                    <a:latin typeface="Arial"/>
                    <a:ea typeface="Arial"/>
                    <a:cs typeface="Arial"/>
                    <a:sym typeface="Arial"/>
                  </a:endParaRPr>
                </a:p>
              </p:txBody>
            </p:sp>
            <p:sp>
              <p:nvSpPr>
                <p:cNvPr id="239" name="Google Shape;239;p7"/>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chemeClr val="lt1"/>
                    </a:solidFill>
                    <a:latin typeface="Arial"/>
                    <a:ea typeface="Arial"/>
                    <a:cs typeface="Arial"/>
                    <a:sym typeface="Arial"/>
                  </a:endParaRPr>
                </a:p>
              </p:txBody>
            </p:sp>
          </p:grpSp>
          <p:sp>
            <p:nvSpPr>
              <p:cNvPr id="240" name="Google Shape;240;p7"/>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chemeClr val="lt1"/>
                  </a:solidFill>
                  <a:latin typeface="Arial"/>
                  <a:ea typeface="Arial"/>
                  <a:cs typeface="Arial"/>
                  <a:sym typeface="Arial"/>
                </a:endParaRPr>
              </a:p>
            </p:txBody>
          </p:sp>
        </p:grpSp>
        <p:sp>
          <p:nvSpPr>
            <p:cNvPr id="241" name="Google Shape;241;p7"/>
            <p:cNvSpPr txBox="1"/>
            <p:nvPr/>
          </p:nvSpPr>
          <p:spPr>
            <a:xfrm>
              <a:off x="3514455" y="1292811"/>
              <a:ext cx="774240" cy="6155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B850"/>
                  </a:solidFill>
                  <a:latin typeface="Impact"/>
                  <a:ea typeface="Impact"/>
                  <a:cs typeface="Impact"/>
                  <a:sym typeface="Impact"/>
                </a:rPr>
                <a:t>01</a:t>
              </a:r>
              <a:endParaRPr sz="2400">
                <a:solidFill>
                  <a:srgbClr val="FFB850"/>
                </a:solidFill>
                <a:latin typeface="Impact"/>
                <a:ea typeface="Impact"/>
                <a:cs typeface="Impact"/>
                <a:sym typeface="Impact"/>
              </a:endParaRPr>
            </a:p>
          </p:txBody>
        </p:sp>
      </p:grpSp>
      <p:sp>
        <p:nvSpPr>
          <p:cNvPr id="242" name="Google Shape;242;p7"/>
          <p:cNvSpPr txBox="1"/>
          <p:nvPr/>
        </p:nvSpPr>
        <p:spPr>
          <a:xfrm>
            <a:off x="2653565" y="1341284"/>
            <a:ext cx="66854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Giới Thiệu Ngôn Ngữ Lập Trình Java</a:t>
            </a:r>
            <a:endParaRPr b="1" sz="2800">
              <a:solidFill>
                <a:schemeClr val="dk1"/>
              </a:solidFill>
              <a:latin typeface="Times New Roman"/>
              <a:ea typeface="Times New Roman"/>
              <a:cs typeface="Times New Roman"/>
              <a:sym typeface="Times New Roman"/>
            </a:endParaRPr>
          </a:p>
        </p:txBody>
      </p:sp>
      <p:sp>
        <p:nvSpPr>
          <p:cNvPr id="243" name="Google Shape;243;p7"/>
          <p:cNvSpPr txBox="1"/>
          <p:nvPr/>
        </p:nvSpPr>
        <p:spPr>
          <a:xfrm>
            <a:off x="1558722" y="2211167"/>
            <a:ext cx="834727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Các Platform (Nền tảng) Của Java:</a:t>
            </a:r>
            <a:endParaRPr b="1" sz="2800">
              <a:solidFill>
                <a:schemeClr val="dk1"/>
              </a:solidFill>
              <a:latin typeface="Times New Roman"/>
              <a:ea typeface="Times New Roman"/>
              <a:cs typeface="Times New Roman"/>
              <a:sym typeface="Times New Roman"/>
            </a:endParaRPr>
          </a:p>
        </p:txBody>
      </p:sp>
      <p:sp>
        <p:nvSpPr>
          <p:cNvPr id="244" name="Google Shape;244;p7"/>
          <p:cNvSpPr txBox="1"/>
          <p:nvPr/>
        </p:nvSpPr>
        <p:spPr>
          <a:xfrm>
            <a:off x="1558721" y="2829595"/>
            <a:ext cx="8347278" cy="2885405"/>
          </a:xfrm>
          <a:prstGeom prst="rect">
            <a:avLst/>
          </a:prstGeom>
          <a:noFill/>
          <a:ln>
            <a:noFill/>
          </a:ln>
        </p:spPr>
        <p:txBody>
          <a:bodyPr anchorCtr="0" anchor="t" bIns="45700" lIns="91425" spcFirstLastPara="1" rIns="91425" wrap="square" tIns="45700">
            <a:spAutoFit/>
          </a:bodyPr>
          <a:lstStyle/>
          <a:p>
            <a:pPr indent="-177800" lvl="0" marL="171450" marR="0" rtl="0" algn="l">
              <a:spcBef>
                <a:spcPts val="0"/>
              </a:spcBef>
              <a:spcAft>
                <a:spcPts val="0"/>
              </a:spcAft>
              <a:buClr>
                <a:srgbClr val="000000"/>
              </a:buClr>
              <a:buSzPts val="2800"/>
              <a:buFont typeface="Arial"/>
              <a:buChar char="•"/>
            </a:pPr>
            <a:r>
              <a:rPr b="1" lang="en-US" sz="2800">
                <a:solidFill>
                  <a:srgbClr val="000000"/>
                </a:solidFill>
                <a:latin typeface="Times New Roman"/>
                <a:ea typeface="Times New Roman"/>
                <a:cs typeface="Times New Roman"/>
                <a:sym typeface="Times New Roman"/>
              </a:rPr>
              <a:t>J2SE (Java 2 Platform Standard Edition)</a:t>
            </a:r>
            <a:br>
              <a:rPr lang="en-US" sz="2800">
                <a:solidFill>
                  <a:srgbClr val="000000"/>
                </a:solidFill>
                <a:latin typeface="Times New Roman"/>
                <a:ea typeface="Times New Roman"/>
                <a:cs typeface="Times New Roman"/>
                <a:sym typeface="Times New Roman"/>
              </a:rPr>
            </a:br>
            <a:r>
              <a:rPr lang="en-US" sz="2800">
                <a:solidFill>
                  <a:srgbClr val="000000"/>
                </a:solidFill>
                <a:latin typeface="Times New Roman"/>
                <a:ea typeface="Times New Roman"/>
                <a:cs typeface="Times New Roman"/>
                <a:sym typeface="Times New Roman"/>
              </a:rPr>
              <a:t>- Cung cấp các thành phần cốt lõi để xây dựng ứng dụng desktop based</a:t>
            </a:r>
            <a:endParaRPr sz="2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br>
              <a:rPr lang="en-US" sz="2800">
                <a:solidFill>
                  <a:srgbClr val="000000"/>
                </a:solidFill>
                <a:latin typeface="Times New Roman"/>
                <a:ea typeface="Times New Roman"/>
                <a:cs typeface="Times New Roman"/>
                <a:sym typeface="Times New Roman"/>
              </a:rPr>
            </a:br>
            <a:r>
              <a:rPr lang="en-US" sz="2800">
                <a:solidFill>
                  <a:srgbClr val="000000"/>
                </a:solidFill>
                <a:latin typeface="Times New Roman"/>
                <a:ea typeface="Times New Roman"/>
                <a:cs typeface="Times New Roman"/>
                <a:sym typeface="Times New Roman"/>
              </a:rPr>
              <a:t> - JRE: Java Runtime Environment: môi trường thực thi để chạy các ứng dụng Java</a:t>
            </a:r>
            <a:endParaRPr sz="2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234"/>
                                        </p:tgtEl>
                                        <p:attrNameLst>
                                          <p:attrName>style.visibility</p:attrName>
                                        </p:attrNameLst>
                                      </p:cBhvr>
                                      <p:to>
                                        <p:strVal val="visible"/>
                                      </p:to>
                                    </p:set>
                                    <p:anim calcmode="lin" valueType="num">
                                      <p:cBhvr additive="base">
                                        <p:cTn dur="500"/>
                                        <p:tgtEl>
                                          <p:spTgt spid="23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id="249" name="Google Shape;249;p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0" name="Google Shape;250;p8"/>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251" name="Google Shape;251;p8"/>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252" name="Google Shape;252;p8"/>
          <p:cNvGrpSpPr/>
          <p:nvPr/>
        </p:nvGrpSpPr>
        <p:grpSpPr>
          <a:xfrm>
            <a:off x="1343487" y="1234713"/>
            <a:ext cx="8562512" cy="1007332"/>
            <a:chOff x="3129129" y="1121776"/>
            <a:chExt cx="5933741" cy="1171624"/>
          </a:xfrm>
        </p:grpSpPr>
        <p:sp>
          <p:nvSpPr>
            <p:cNvPr id="253" name="Google Shape;253;p8"/>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rgbClr val="FFAA2D"/>
                </a:solidFill>
                <a:latin typeface="Arial"/>
                <a:ea typeface="Arial"/>
                <a:cs typeface="Arial"/>
                <a:sym typeface="Arial"/>
              </a:endParaRPr>
            </a:p>
          </p:txBody>
        </p:sp>
        <p:sp>
          <p:nvSpPr>
            <p:cNvPr id="254" name="Google Shape;254;p8"/>
            <p:cNvSpPr/>
            <p:nvPr/>
          </p:nvSpPr>
          <p:spPr>
            <a:xfrm>
              <a:off x="3289330" y="1253414"/>
              <a:ext cx="5613340" cy="908350"/>
            </a:xfrm>
            <a:prstGeom prst="roundRect">
              <a:avLst>
                <a:gd fmla="val 50000" name="adj"/>
              </a:avLst>
            </a:prstGeom>
            <a:gradFill>
              <a:gsLst>
                <a:gs pos="0">
                  <a:srgbClr val="FFAA2D"/>
                </a:gs>
                <a:gs pos="100000">
                  <a:srgbClr val="FFD393"/>
                </a:gs>
              </a:gsLst>
              <a:lin ang="0" scaled="0"/>
            </a:gradFill>
            <a:ln cap="flat" cmpd="sng" w="1905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rgbClr val="FFAA2D"/>
                </a:solidFill>
                <a:latin typeface="Arial"/>
                <a:ea typeface="Arial"/>
                <a:cs typeface="Arial"/>
                <a:sym typeface="Arial"/>
              </a:endParaRPr>
            </a:p>
          </p:txBody>
        </p:sp>
      </p:grpSp>
      <p:grpSp>
        <p:nvGrpSpPr>
          <p:cNvPr id="255" name="Google Shape;255;p8"/>
          <p:cNvGrpSpPr/>
          <p:nvPr/>
        </p:nvGrpSpPr>
        <p:grpSpPr>
          <a:xfrm>
            <a:off x="1461663" y="1211562"/>
            <a:ext cx="1573057" cy="1522886"/>
            <a:chOff x="3020983" y="881796"/>
            <a:chExt cx="2097410" cy="2097410"/>
          </a:xfrm>
        </p:grpSpPr>
        <p:grpSp>
          <p:nvGrpSpPr>
            <p:cNvPr id="256" name="Google Shape;256;p8"/>
            <p:cNvGrpSpPr/>
            <p:nvPr/>
          </p:nvGrpSpPr>
          <p:grpSpPr>
            <a:xfrm>
              <a:off x="3020983" y="881796"/>
              <a:ext cx="2097410" cy="2097410"/>
              <a:chOff x="3099689" y="1098878"/>
              <a:chExt cx="1995612" cy="1995615"/>
            </a:xfrm>
          </p:grpSpPr>
          <p:grpSp>
            <p:nvGrpSpPr>
              <p:cNvPr id="257" name="Google Shape;257;p8"/>
              <p:cNvGrpSpPr/>
              <p:nvPr/>
            </p:nvGrpSpPr>
            <p:grpSpPr>
              <a:xfrm>
                <a:off x="3099689" y="1098878"/>
                <a:ext cx="1995612" cy="1995615"/>
                <a:chOff x="6804316" y="2574806"/>
                <a:chExt cx="3585705" cy="3585705"/>
              </a:xfrm>
            </p:grpSpPr>
            <p:sp>
              <p:nvSpPr>
                <p:cNvPr id="258" name="Google Shape;258;p8"/>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chemeClr val="lt1"/>
                    </a:solidFill>
                    <a:latin typeface="Arial"/>
                    <a:ea typeface="Arial"/>
                    <a:cs typeface="Arial"/>
                    <a:sym typeface="Arial"/>
                  </a:endParaRPr>
                </a:p>
              </p:txBody>
            </p:sp>
            <p:sp>
              <p:nvSpPr>
                <p:cNvPr id="259" name="Google Shape;259;p8"/>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chemeClr val="lt1"/>
                    </a:solidFill>
                    <a:latin typeface="Arial"/>
                    <a:ea typeface="Arial"/>
                    <a:cs typeface="Arial"/>
                    <a:sym typeface="Arial"/>
                  </a:endParaRPr>
                </a:p>
              </p:txBody>
            </p:sp>
            <p:sp>
              <p:nvSpPr>
                <p:cNvPr id="260" name="Google Shape;260;p8"/>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chemeClr val="lt1"/>
                    </a:solidFill>
                    <a:latin typeface="Arial"/>
                    <a:ea typeface="Arial"/>
                    <a:cs typeface="Arial"/>
                    <a:sym typeface="Arial"/>
                  </a:endParaRPr>
                </a:p>
              </p:txBody>
            </p:sp>
          </p:grpSp>
          <p:sp>
            <p:nvSpPr>
              <p:cNvPr id="261" name="Google Shape;261;p8"/>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chemeClr val="lt1"/>
                  </a:solidFill>
                  <a:latin typeface="Arial"/>
                  <a:ea typeface="Arial"/>
                  <a:cs typeface="Arial"/>
                  <a:sym typeface="Arial"/>
                </a:endParaRPr>
              </a:p>
            </p:txBody>
          </p:sp>
        </p:grpSp>
        <p:sp>
          <p:nvSpPr>
            <p:cNvPr id="262" name="Google Shape;262;p8"/>
            <p:cNvSpPr txBox="1"/>
            <p:nvPr/>
          </p:nvSpPr>
          <p:spPr>
            <a:xfrm>
              <a:off x="3514455" y="1292811"/>
              <a:ext cx="774240" cy="6155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B850"/>
                  </a:solidFill>
                  <a:latin typeface="Impact"/>
                  <a:ea typeface="Impact"/>
                  <a:cs typeface="Impact"/>
                  <a:sym typeface="Impact"/>
                </a:rPr>
                <a:t>01</a:t>
              </a:r>
              <a:endParaRPr sz="2400">
                <a:solidFill>
                  <a:srgbClr val="FFB850"/>
                </a:solidFill>
                <a:latin typeface="Impact"/>
                <a:ea typeface="Impact"/>
                <a:cs typeface="Impact"/>
                <a:sym typeface="Impact"/>
              </a:endParaRPr>
            </a:p>
          </p:txBody>
        </p:sp>
      </p:grpSp>
      <p:sp>
        <p:nvSpPr>
          <p:cNvPr id="263" name="Google Shape;263;p8"/>
          <p:cNvSpPr txBox="1"/>
          <p:nvPr/>
        </p:nvSpPr>
        <p:spPr>
          <a:xfrm>
            <a:off x="2653565" y="1467371"/>
            <a:ext cx="66854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Giới Thiệu Ngôn Ngữ Lập Trình Java</a:t>
            </a:r>
            <a:endParaRPr b="1" sz="2800">
              <a:solidFill>
                <a:schemeClr val="dk1"/>
              </a:solidFill>
              <a:latin typeface="Times New Roman"/>
              <a:ea typeface="Times New Roman"/>
              <a:cs typeface="Times New Roman"/>
              <a:sym typeface="Times New Roman"/>
            </a:endParaRPr>
          </a:p>
        </p:txBody>
      </p:sp>
      <p:sp>
        <p:nvSpPr>
          <p:cNvPr id="264" name="Google Shape;264;p8"/>
          <p:cNvSpPr txBox="1"/>
          <p:nvPr/>
        </p:nvSpPr>
        <p:spPr>
          <a:xfrm>
            <a:off x="1558722" y="2337254"/>
            <a:ext cx="834727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Các Platform (Nền tảng) Của Java:</a:t>
            </a:r>
            <a:endParaRPr b="1" sz="2800">
              <a:solidFill>
                <a:schemeClr val="dk1"/>
              </a:solidFill>
              <a:latin typeface="Times New Roman"/>
              <a:ea typeface="Times New Roman"/>
              <a:cs typeface="Times New Roman"/>
              <a:sym typeface="Times New Roman"/>
            </a:endParaRPr>
          </a:p>
        </p:txBody>
      </p:sp>
      <p:sp>
        <p:nvSpPr>
          <p:cNvPr id="265" name="Google Shape;265;p8"/>
          <p:cNvSpPr txBox="1"/>
          <p:nvPr/>
        </p:nvSpPr>
        <p:spPr>
          <a:xfrm>
            <a:off x="1558721" y="2955682"/>
            <a:ext cx="8347278" cy="2454518"/>
          </a:xfrm>
          <a:prstGeom prst="rect">
            <a:avLst/>
          </a:prstGeom>
          <a:noFill/>
          <a:ln>
            <a:noFill/>
          </a:ln>
        </p:spPr>
        <p:txBody>
          <a:bodyPr anchorCtr="0" anchor="t" bIns="45700" lIns="91425" spcFirstLastPara="1" rIns="91425" wrap="square" tIns="45700">
            <a:spAutoFit/>
          </a:bodyPr>
          <a:lstStyle/>
          <a:p>
            <a:pPr indent="-177800" lvl="0" marL="171450" marR="0" rtl="0" algn="l">
              <a:spcBef>
                <a:spcPts val="0"/>
              </a:spcBef>
              <a:spcAft>
                <a:spcPts val="0"/>
              </a:spcAft>
              <a:buClr>
                <a:srgbClr val="000000"/>
              </a:buClr>
              <a:buSzPts val="2800"/>
              <a:buFont typeface="Arial"/>
              <a:buChar char="•"/>
            </a:pPr>
            <a:r>
              <a:rPr b="1" lang="en-US" sz="2800">
                <a:solidFill>
                  <a:srgbClr val="000000"/>
                </a:solidFill>
                <a:latin typeface="Times New Roman"/>
                <a:ea typeface="Times New Roman"/>
                <a:cs typeface="Times New Roman"/>
                <a:sym typeface="Times New Roman"/>
              </a:rPr>
              <a:t>J2EE (Java 2 Platform Enterprise Edition)</a:t>
            </a:r>
            <a:br>
              <a:rPr lang="en-US" sz="2800">
                <a:solidFill>
                  <a:srgbClr val="000000"/>
                </a:solidFill>
                <a:latin typeface="Times New Roman"/>
                <a:ea typeface="Times New Roman"/>
                <a:cs typeface="Times New Roman"/>
                <a:sym typeface="Times New Roman"/>
              </a:rPr>
            </a:br>
            <a:r>
              <a:rPr lang="en-US" sz="2800">
                <a:solidFill>
                  <a:srgbClr val="000000"/>
                </a:solidFill>
                <a:latin typeface="Times New Roman"/>
                <a:ea typeface="Times New Roman"/>
                <a:cs typeface="Times New Roman"/>
                <a:sym typeface="Times New Roman"/>
              </a:rPr>
              <a:t>- Xây dựng các ứng dụng hướng dịch vụ </a:t>
            </a:r>
            <a:endParaRPr sz="28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rPr lang="en-US" sz="2800">
                <a:solidFill>
                  <a:srgbClr val="000000"/>
                </a:solidFill>
                <a:latin typeface="Times New Roman"/>
                <a:ea typeface="Times New Roman"/>
                <a:cs typeface="Times New Roman"/>
                <a:sym typeface="Times New Roman"/>
              </a:rPr>
              <a:t>    (service-oriented)</a:t>
            </a:r>
            <a:br>
              <a:rPr lang="en-US" sz="2800">
                <a:solidFill>
                  <a:srgbClr val="000000"/>
                </a:solidFill>
                <a:latin typeface="Times New Roman"/>
                <a:ea typeface="Times New Roman"/>
                <a:cs typeface="Times New Roman"/>
                <a:sym typeface="Times New Roman"/>
              </a:rPr>
            </a:br>
            <a:r>
              <a:rPr lang="en-US" sz="2800">
                <a:solidFill>
                  <a:srgbClr val="000000"/>
                </a:solidFill>
                <a:latin typeface="Times New Roman"/>
                <a:ea typeface="Times New Roman"/>
                <a:cs typeface="Times New Roman"/>
                <a:sym typeface="Times New Roman"/>
              </a:rPr>
              <a:t>  - Web service</a:t>
            </a:r>
            <a:br>
              <a:rPr lang="en-US" sz="2800">
                <a:solidFill>
                  <a:srgbClr val="000000"/>
                </a:solidFill>
                <a:latin typeface="Times New Roman"/>
                <a:ea typeface="Times New Roman"/>
                <a:cs typeface="Times New Roman"/>
                <a:sym typeface="Times New Roman"/>
              </a:rPr>
            </a:br>
            <a:r>
              <a:rPr lang="en-US" sz="2800">
                <a:solidFill>
                  <a:srgbClr val="000000"/>
                </a:solidFill>
                <a:latin typeface="Times New Roman"/>
                <a:ea typeface="Times New Roman"/>
                <a:cs typeface="Times New Roman"/>
                <a:sym typeface="Times New Roman"/>
              </a:rPr>
              <a:t>  - Ứng dụng doanh nghiệp</a:t>
            </a:r>
            <a:br>
              <a:rPr lang="en-US" sz="1400">
                <a:solidFill>
                  <a:srgbClr val="000000"/>
                </a:solidFill>
                <a:latin typeface="Arial"/>
                <a:ea typeface="Arial"/>
                <a:cs typeface="Arial"/>
                <a:sym typeface="Arial"/>
              </a:rPr>
            </a:br>
            <a:endParaRPr sz="18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500"/>
                                        <p:tgtEl>
                                          <p:spTgt spid="25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52"/>
                                        </p:tgtEl>
                                        <p:attrNameLst>
                                          <p:attrName>style.visibility</p:attrName>
                                        </p:attrNameLst>
                                      </p:cBhvr>
                                      <p:to>
                                        <p:strVal val="visible"/>
                                      </p:to>
                                    </p:set>
                                    <p:anim calcmode="lin" valueType="num">
                                      <p:cBhvr additive="base">
                                        <p:cTn dur="500"/>
                                        <p:tgtEl>
                                          <p:spTgt spid="25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1" name="Google Shape;271;p9"/>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272" name="Google Shape;272;p9"/>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273" name="Google Shape;273;p9"/>
          <p:cNvGrpSpPr/>
          <p:nvPr/>
        </p:nvGrpSpPr>
        <p:grpSpPr>
          <a:xfrm>
            <a:off x="870349" y="1590657"/>
            <a:ext cx="8562512" cy="1007332"/>
            <a:chOff x="3129129" y="1121776"/>
            <a:chExt cx="5933741" cy="1171624"/>
          </a:xfrm>
        </p:grpSpPr>
        <p:sp>
          <p:nvSpPr>
            <p:cNvPr id="274" name="Google Shape;274;p9"/>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rgbClr val="FFAA2D"/>
                </a:solidFill>
                <a:latin typeface="Arial"/>
                <a:ea typeface="Arial"/>
                <a:cs typeface="Arial"/>
                <a:sym typeface="Arial"/>
              </a:endParaRPr>
            </a:p>
          </p:txBody>
        </p:sp>
        <p:sp>
          <p:nvSpPr>
            <p:cNvPr id="275" name="Google Shape;275;p9"/>
            <p:cNvSpPr/>
            <p:nvPr/>
          </p:nvSpPr>
          <p:spPr>
            <a:xfrm>
              <a:off x="3289330" y="1253414"/>
              <a:ext cx="5613340" cy="908350"/>
            </a:xfrm>
            <a:prstGeom prst="roundRect">
              <a:avLst>
                <a:gd fmla="val 50000" name="adj"/>
              </a:avLst>
            </a:prstGeom>
            <a:gradFill>
              <a:gsLst>
                <a:gs pos="0">
                  <a:srgbClr val="FFAA2D"/>
                </a:gs>
                <a:gs pos="100000">
                  <a:srgbClr val="FFD393"/>
                </a:gs>
              </a:gsLst>
              <a:lin ang="0" scaled="0"/>
            </a:gradFill>
            <a:ln cap="flat" cmpd="sng" w="1905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rgbClr val="FFAA2D"/>
                </a:solidFill>
                <a:latin typeface="Arial"/>
                <a:ea typeface="Arial"/>
                <a:cs typeface="Arial"/>
                <a:sym typeface="Arial"/>
              </a:endParaRPr>
            </a:p>
          </p:txBody>
        </p:sp>
      </p:grpSp>
      <p:grpSp>
        <p:nvGrpSpPr>
          <p:cNvPr id="276" name="Google Shape;276;p9"/>
          <p:cNvGrpSpPr/>
          <p:nvPr/>
        </p:nvGrpSpPr>
        <p:grpSpPr>
          <a:xfrm>
            <a:off x="988525" y="1567506"/>
            <a:ext cx="1573057" cy="1522886"/>
            <a:chOff x="3020983" y="881796"/>
            <a:chExt cx="2097410" cy="2097410"/>
          </a:xfrm>
        </p:grpSpPr>
        <p:grpSp>
          <p:nvGrpSpPr>
            <p:cNvPr id="277" name="Google Shape;277;p9"/>
            <p:cNvGrpSpPr/>
            <p:nvPr/>
          </p:nvGrpSpPr>
          <p:grpSpPr>
            <a:xfrm>
              <a:off x="3020983" y="881796"/>
              <a:ext cx="2097410" cy="2097410"/>
              <a:chOff x="3099689" y="1098878"/>
              <a:chExt cx="1995612" cy="1995615"/>
            </a:xfrm>
          </p:grpSpPr>
          <p:grpSp>
            <p:nvGrpSpPr>
              <p:cNvPr id="278" name="Google Shape;278;p9"/>
              <p:cNvGrpSpPr/>
              <p:nvPr/>
            </p:nvGrpSpPr>
            <p:grpSpPr>
              <a:xfrm>
                <a:off x="3099689" y="1098878"/>
                <a:ext cx="1995612" cy="1995615"/>
                <a:chOff x="6804316" y="2574806"/>
                <a:chExt cx="3585705" cy="3585705"/>
              </a:xfrm>
            </p:grpSpPr>
            <p:sp>
              <p:nvSpPr>
                <p:cNvPr id="279" name="Google Shape;279;p9"/>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chemeClr val="lt1"/>
                    </a:solidFill>
                    <a:latin typeface="Arial"/>
                    <a:ea typeface="Arial"/>
                    <a:cs typeface="Arial"/>
                    <a:sym typeface="Arial"/>
                  </a:endParaRPr>
                </a:p>
              </p:txBody>
            </p:sp>
            <p:sp>
              <p:nvSpPr>
                <p:cNvPr id="280" name="Google Shape;280;p9"/>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chemeClr val="lt1"/>
                    </a:solidFill>
                    <a:latin typeface="Arial"/>
                    <a:ea typeface="Arial"/>
                    <a:cs typeface="Arial"/>
                    <a:sym typeface="Arial"/>
                  </a:endParaRPr>
                </a:p>
              </p:txBody>
            </p:sp>
            <p:sp>
              <p:nvSpPr>
                <p:cNvPr id="281" name="Google Shape;281;p9"/>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chemeClr val="lt1"/>
                    </a:solidFill>
                    <a:latin typeface="Arial"/>
                    <a:ea typeface="Arial"/>
                    <a:cs typeface="Arial"/>
                    <a:sym typeface="Arial"/>
                  </a:endParaRPr>
                </a:p>
              </p:txBody>
            </p:sp>
          </p:grpSp>
          <p:sp>
            <p:nvSpPr>
              <p:cNvPr id="282" name="Google Shape;282;p9"/>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014">
                  <a:solidFill>
                    <a:schemeClr val="lt1"/>
                  </a:solidFill>
                  <a:latin typeface="Arial"/>
                  <a:ea typeface="Arial"/>
                  <a:cs typeface="Arial"/>
                  <a:sym typeface="Arial"/>
                </a:endParaRPr>
              </a:p>
            </p:txBody>
          </p:sp>
        </p:grpSp>
        <p:sp>
          <p:nvSpPr>
            <p:cNvPr id="283" name="Google Shape;283;p9"/>
            <p:cNvSpPr txBox="1"/>
            <p:nvPr/>
          </p:nvSpPr>
          <p:spPr>
            <a:xfrm>
              <a:off x="3514455" y="1292811"/>
              <a:ext cx="774240" cy="6155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B850"/>
                  </a:solidFill>
                  <a:latin typeface="Impact"/>
                  <a:ea typeface="Impact"/>
                  <a:cs typeface="Impact"/>
                  <a:sym typeface="Impact"/>
                </a:rPr>
                <a:t>01</a:t>
              </a:r>
              <a:endParaRPr sz="2400">
                <a:solidFill>
                  <a:srgbClr val="FFB850"/>
                </a:solidFill>
                <a:latin typeface="Impact"/>
                <a:ea typeface="Impact"/>
                <a:cs typeface="Impact"/>
                <a:sym typeface="Impact"/>
              </a:endParaRPr>
            </a:p>
          </p:txBody>
        </p:sp>
      </p:grpSp>
      <p:sp>
        <p:nvSpPr>
          <p:cNvPr id="284" name="Google Shape;284;p9"/>
          <p:cNvSpPr txBox="1"/>
          <p:nvPr/>
        </p:nvSpPr>
        <p:spPr>
          <a:xfrm>
            <a:off x="2180427" y="1823315"/>
            <a:ext cx="668543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Giới Thiệu Ngôn Ngữ Lập Trình Java</a:t>
            </a:r>
            <a:endParaRPr b="1" sz="2800">
              <a:solidFill>
                <a:schemeClr val="dk1"/>
              </a:solidFill>
              <a:latin typeface="Times New Roman"/>
              <a:ea typeface="Times New Roman"/>
              <a:cs typeface="Times New Roman"/>
              <a:sym typeface="Times New Roman"/>
            </a:endParaRPr>
          </a:p>
        </p:txBody>
      </p:sp>
      <p:sp>
        <p:nvSpPr>
          <p:cNvPr id="285" name="Google Shape;285;p9"/>
          <p:cNvSpPr txBox="1"/>
          <p:nvPr/>
        </p:nvSpPr>
        <p:spPr>
          <a:xfrm>
            <a:off x="1085584" y="2693198"/>
            <a:ext cx="834727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Các Platform (Nền tảng) Của Java:</a:t>
            </a:r>
            <a:endParaRPr b="1" sz="2800">
              <a:solidFill>
                <a:schemeClr val="dk1"/>
              </a:solidFill>
              <a:latin typeface="Times New Roman"/>
              <a:ea typeface="Times New Roman"/>
              <a:cs typeface="Times New Roman"/>
              <a:sym typeface="Times New Roman"/>
            </a:endParaRPr>
          </a:p>
        </p:txBody>
      </p:sp>
      <p:sp>
        <p:nvSpPr>
          <p:cNvPr id="286" name="Google Shape;286;p9"/>
          <p:cNvSpPr txBox="1"/>
          <p:nvPr/>
        </p:nvSpPr>
        <p:spPr>
          <a:xfrm>
            <a:off x="1101522" y="3518118"/>
            <a:ext cx="8347278" cy="1815882"/>
          </a:xfrm>
          <a:prstGeom prst="rect">
            <a:avLst/>
          </a:prstGeom>
          <a:noFill/>
          <a:ln>
            <a:noFill/>
          </a:ln>
        </p:spPr>
        <p:txBody>
          <a:bodyPr anchorCtr="0" anchor="t" bIns="45700" lIns="91425" spcFirstLastPara="1" rIns="91425" wrap="square" tIns="45700">
            <a:spAutoFit/>
          </a:bodyPr>
          <a:lstStyle/>
          <a:p>
            <a:pPr indent="-177800" lvl="0" marL="171450" marR="0" rtl="0" algn="l">
              <a:spcBef>
                <a:spcPts val="0"/>
              </a:spcBef>
              <a:spcAft>
                <a:spcPts val="0"/>
              </a:spcAft>
              <a:buClr>
                <a:srgbClr val="000000"/>
              </a:buClr>
              <a:buSzPts val="2800"/>
              <a:buFont typeface="Arial"/>
              <a:buChar char="•"/>
            </a:pPr>
            <a:r>
              <a:rPr b="1" lang="en-US" sz="2800">
                <a:solidFill>
                  <a:srgbClr val="000000"/>
                </a:solidFill>
                <a:latin typeface="Times New Roman"/>
                <a:ea typeface="Times New Roman"/>
                <a:cs typeface="Times New Roman"/>
                <a:sym typeface="Times New Roman"/>
              </a:rPr>
              <a:t>J2ME (Java 2 Platform Mobile Edition)</a:t>
            </a:r>
            <a:br>
              <a:rPr lang="en-US" sz="2800">
                <a:solidFill>
                  <a:srgbClr val="000000"/>
                </a:solidFill>
                <a:latin typeface="Times New Roman"/>
                <a:ea typeface="Times New Roman"/>
                <a:cs typeface="Times New Roman"/>
                <a:sym typeface="Times New Roman"/>
              </a:rPr>
            </a:br>
            <a:r>
              <a:rPr lang="en-US" sz="2800">
                <a:solidFill>
                  <a:srgbClr val="000000"/>
                </a:solidFill>
                <a:latin typeface="Times New Roman"/>
                <a:ea typeface="Times New Roman"/>
                <a:cs typeface="Times New Roman"/>
                <a:sym typeface="Times New Roman"/>
              </a:rPr>
              <a:t>- Xây dựng ứng dụng di động</a:t>
            </a:r>
            <a:r>
              <a:rPr lang="en-US" sz="2800">
                <a:solidFill>
                  <a:schemeClr val="dk1"/>
                </a:solidFill>
                <a:latin typeface="Times New Roman"/>
                <a:ea typeface="Times New Roman"/>
                <a:cs typeface="Times New Roman"/>
                <a:sym typeface="Times New Roman"/>
              </a:rPr>
              <a:t> </a:t>
            </a:r>
            <a:br>
              <a:rPr lang="en-US" sz="2800">
                <a:solidFill>
                  <a:schemeClr val="dk1"/>
                </a:solidFill>
                <a:latin typeface="Times New Roman"/>
                <a:ea typeface="Times New Roman"/>
                <a:cs typeface="Times New Roman"/>
                <a:sym typeface="Times New Roman"/>
              </a:rPr>
            </a:br>
            <a:endParaRPr sz="28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8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276"/>
                                        </p:tgtEl>
                                        <p:attrNameLst>
                                          <p:attrName>style.visibility</p:attrName>
                                        </p:attrNameLst>
                                      </p:cBhvr>
                                      <p:to>
                                        <p:strVal val="visible"/>
                                      </p:to>
                                    </p:set>
                                    <p:anim calcmode="lin" valueType="num">
                                      <p:cBhvr additive="base">
                                        <p:cTn dur="500"/>
                                        <p:tgtEl>
                                          <p:spTgt spid="27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73"/>
                                        </p:tgtEl>
                                        <p:attrNameLst>
                                          <p:attrName>style.visibility</p:attrName>
                                        </p:attrNameLst>
                                      </p:cBhvr>
                                      <p:to>
                                        <p:strVal val="visible"/>
                                      </p:to>
                                    </p:set>
                                    <p:anim calcmode="lin" valueType="num">
                                      <p:cBhvr additive="base">
                                        <p:cTn dur="500"/>
                                        <p:tgtEl>
                                          <p:spTgt spid="27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1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2" name="Google Shape;292;p10"/>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293" name="Google Shape;293;p10"/>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294" name="Google Shape;294;p10"/>
          <p:cNvGrpSpPr/>
          <p:nvPr/>
        </p:nvGrpSpPr>
        <p:grpSpPr>
          <a:xfrm>
            <a:off x="1090974" y="933238"/>
            <a:ext cx="8662626" cy="1007332"/>
            <a:chOff x="3129129" y="1121776"/>
            <a:chExt cx="5933741" cy="1171624"/>
          </a:xfrm>
        </p:grpSpPr>
        <p:sp>
          <p:nvSpPr>
            <p:cNvPr id="295" name="Google Shape;295;p10"/>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296" name="Google Shape;296;p10"/>
            <p:cNvSpPr/>
            <p:nvPr/>
          </p:nvSpPr>
          <p:spPr>
            <a:xfrm>
              <a:off x="3289330" y="1253414"/>
              <a:ext cx="5613340" cy="908350"/>
            </a:xfrm>
            <a:prstGeom prst="roundRect">
              <a:avLst>
                <a:gd fmla="val 50000" name="adj"/>
              </a:avLst>
            </a:prstGeom>
            <a:gradFill>
              <a:gsLst>
                <a:gs pos="0">
                  <a:srgbClr val="FFAA2D"/>
                </a:gs>
                <a:gs pos="100000">
                  <a:srgbClr val="FFD393"/>
                </a:gs>
              </a:gsLst>
              <a:lin ang="0" scaled="0"/>
            </a:gradFill>
            <a:ln cap="flat" cmpd="sng" w="19050">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grpSp>
      <p:grpSp>
        <p:nvGrpSpPr>
          <p:cNvPr id="297" name="Google Shape;297;p10"/>
          <p:cNvGrpSpPr/>
          <p:nvPr/>
        </p:nvGrpSpPr>
        <p:grpSpPr>
          <a:xfrm>
            <a:off x="1218226" y="894454"/>
            <a:ext cx="1573057" cy="1573057"/>
            <a:chOff x="3020983" y="881796"/>
            <a:chExt cx="2097410" cy="2097410"/>
          </a:xfrm>
        </p:grpSpPr>
        <p:grpSp>
          <p:nvGrpSpPr>
            <p:cNvPr id="298" name="Google Shape;298;p10"/>
            <p:cNvGrpSpPr/>
            <p:nvPr/>
          </p:nvGrpSpPr>
          <p:grpSpPr>
            <a:xfrm>
              <a:off x="3020983" y="881796"/>
              <a:ext cx="2097410" cy="2097410"/>
              <a:chOff x="3099689" y="1098878"/>
              <a:chExt cx="1995612" cy="1995615"/>
            </a:xfrm>
          </p:grpSpPr>
          <p:grpSp>
            <p:nvGrpSpPr>
              <p:cNvPr id="299" name="Google Shape;299;p10"/>
              <p:cNvGrpSpPr/>
              <p:nvPr/>
            </p:nvGrpSpPr>
            <p:grpSpPr>
              <a:xfrm>
                <a:off x="3099689" y="1098878"/>
                <a:ext cx="1995612" cy="1995615"/>
                <a:chOff x="6804316" y="2574806"/>
                <a:chExt cx="3585705" cy="3585705"/>
              </a:xfrm>
            </p:grpSpPr>
            <p:sp>
              <p:nvSpPr>
                <p:cNvPr id="300" name="Google Shape;300;p10"/>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301" name="Google Shape;301;p10"/>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302" name="Google Shape;302;p10"/>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303" name="Google Shape;303;p10"/>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304" name="Google Shape;304;p10"/>
            <p:cNvSpPr txBox="1"/>
            <p:nvPr/>
          </p:nvSpPr>
          <p:spPr>
            <a:xfrm>
              <a:off x="3437036" y="1269298"/>
              <a:ext cx="774240" cy="61555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FFB850"/>
                  </a:solidFill>
                  <a:latin typeface="Impact"/>
                  <a:ea typeface="Impact"/>
                  <a:cs typeface="Impact"/>
                  <a:sym typeface="Impact"/>
                </a:rPr>
                <a:t>01</a:t>
              </a:r>
              <a:endParaRPr sz="2400">
                <a:solidFill>
                  <a:srgbClr val="FFB850"/>
                </a:solidFill>
                <a:latin typeface="Impact"/>
                <a:ea typeface="Impact"/>
                <a:cs typeface="Impact"/>
                <a:sym typeface="Impact"/>
              </a:endParaRPr>
            </a:p>
          </p:txBody>
        </p:sp>
      </p:grpSp>
      <p:sp>
        <p:nvSpPr>
          <p:cNvPr id="305" name="Google Shape;305;p10"/>
          <p:cNvSpPr txBox="1"/>
          <p:nvPr/>
        </p:nvSpPr>
        <p:spPr>
          <a:xfrm>
            <a:off x="2391273" y="1193689"/>
            <a:ext cx="689963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Times New Roman"/>
                <a:ea typeface="Times New Roman"/>
                <a:cs typeface="Times New Roman"/>
                <a:sym typeface="Times New Roman"/>
              </a:rPr>
              <a:t>Giới Thiệu Ngôn Ngữ Lập Trình Java</a:t>
            </a:r>
            <a:endParaRPr b="1" sz="2800">
              <a:solidFill>
                <a:schemeClr val="dk1"/>
              </a:solidFill>
              <a:latin typeface="Times New Roman"/>
              <a:ea typeface="Times New Roman"/>
              <a:cs typeface="Times New Roman"/>
              <a:sym typeface="Times New Roman"/>
            </a:endParaRPr>
          </a:p>
        </p:txBody>
      </p:sp>
      <p:sp>
        <p:nvSpPr>
          <p:cNvPr id="306" name="Google Shape;306;p10"/>
          <p:cNvSpPr/>
          <p:nvPr/>
        </p:nvSpPr>
        <p:spPr>
          <a:xfrm>
            <a:off x="857330" y="2753883"/>
            <a:ext cx="2500530" cy="2119061"/>
          </a:xfrm>
          <a:prstGeom prst="roundRect">
            <a:avLst>
              <a:gd fmla="val 16667" name="adj"/>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Times New Roman"/>
                <a:ea typeface="Times New Roman"/>
                <a:cs typeface="Times New Roman"/>
                <a:sym typeface="Times New Roman"/>
              </a:rPr>
              <a:t>Tiêu chuẩn của một môi trường Java điển hình </a:t>
            </a:r>
            <a:endParaRPr/>
          </a:p>
        </p:txBody>
      </p:sp>
      <p:pic>
        <p:nvPicPr>
          <p:cNvPr id="307" name="Google Shape;307;p10"/>
          <p:cNvPicPr preferRelativeResize="0"/>
          <p:nvPr/>
        </p:nvPicPr>
        <p:blipFill rotWithShape="1">
          <a:blip r:embed="rId5">
            <a:alphaModFix/>
          </a:blip>
          <a:srcRect b="0" l="0" r="0" t="0"/>
          <a:stretch/>
        </p:blipFill>
        <p:spPr>
          <a:xfrm>
            <a:off x="3766225" y="1974665"/>
            <a:ext cx="5987375" cy="3892735"/>
          </a:xfrm>
          <a:prstGeom prst="rect">
            <a:avLst/>
          </a:prstGeom>
          <a:noFill/>
          <a:ln>
            <a:noFill/>
          </a:ln>
        </p:spPr>
      </p:pic>
      <p:sp>
        <p:nvSpPr>
          <p:cNvPr id="308" name="Google Shape;308;p10"/>
          <p:cNvSpPr/>
          <p:nvPr/>
        </p:nvSpPr>
        <p:spPr>
          <a:xfrm>
            <a:off x="3357860" y="3724314"/>
            <a:ext cx="408365" cy="178201"/>
          </a:xfrm>
          <a:prstGeom prst="rightArrow">
            <a:avLst>
              <a:gd fmla="val 50000" name="adj1"/>
              <a:gd fmla="val 50000" name="adj2"/>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297"/>
                                        </p:tgtEl>
                                        <p:attrNameLst>
                                          <p:attrName>style.visibility</p:attrName>
                                        </p:attrNameLst>
                                      </p:cBhvr>
                                      <p:to>
                                        <p:strVal val="visible"/>
                                      </p:to>
                                    </p:set>
                                    <p:anim calcmode="lin" valueType="num">
                                      <p:cBhvr additive="base">
                                        <p:cTn dur="500"/>
                                        <p:tgtEl>
                                          <p:spTgt spid="29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294"/>
                                        </p:tgtEl>
                                        <p:attrNameLst>
                                          <p:attrName>style.visibility</p:attrName>
                                        </p:attrNameLst>
                                      </p:cBhvr>
                                      <p:to>
                                        <p:strVal val="visible"/>
                                      </p:to>
                                    </p:set>
                                    <p:anim calcmode="lin" valueType="num">
                                      <p:cBhvr additive="base">
                                        <p:cTn dur="500"/>
                                        <p:tgtEl>
                                          <p:spTgt spid="29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1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4" name="Google Shape;314;p11"/>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315" name="Google Shape;315;p11"/>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316" name="Google Shape;316;p11"/>
          <p:cNvGrpSpPr/>
          <p:nvPr/>
        </p:nvGrpSpPr>
        <p:grpSpPr>
          <a:xfrm>
            <a:off x="1693268" y="1230250"/>
            <a:ext cx="8712598" cy="852875"/>
            <a:chOff x="3129129" y="1121776"/>
            <a:chExt cx="5933741" cy="1171624"/>
          </a:xfrm>
        </p:grpSpPr>
        <p:sp>
          <p:nvSpPr>
            <p:cNvPr id="317" name="Google Shape;317;p11"/>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318" name="Google Shape;318;p11"/>
            <p:cNvSpPr/>
            <p:nvPr/>
          </p:nvSpPr>
          <p:spPr>
            <a:xfrm>
              <a:off x="3289330" y="1253414"/>
              <a:ext cx="5716387" cy="908350"/>
            </a:xfrm>
            <a:prstGeom prst="roundRect">
              <a:avLst>
                <a:gd fmla="val 50000" name="adj"/>
              </a:avLst>
            </a:prstGeom>
            <a:gradFill>
              <a:gsLst>
                <a:gs pos="0">
                  <a:srgbClr val="01ACBE"/>
                </a:gs>
                <a:gs pos="100000">
                  <a:srgbClr val="01DAF1"/>
                </a:gs>
              </a:gsLst>
              <a:lin ang="0" scaled="0"/>
            </a:gradFill>
            <a:ln cap="flat" cmpd="sng" w="19050">
              <a:solidFill>
                <a:srgbClr val="01DAF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grpSp>
      <p:grpSp>
        <p:nvGrpSpPr>
          <p:cNvPr id="319" name="Google Shape;319;p11"/>
          <p:cNvGrpSpPr/>
          <p:nvPr/>
        </p:nvGrpSpPr>
        <p:grpSpPr>
          <a:xfrm>
            <a:off x="1752363" y="1120843"/>
            <a:ext cx="1561211" cy="1528609"/>
            <a:chOff x="3020983" y="881796"/>
            <a:chExt cx="2097410" cy="2097410"/>
          </a:xfrm>
        </p:grpSpPr>
        <p:grpSp>
          <p:nvGrpSpPr>
            <p:cNvPr id="320" name="Google Shape;320;p11"/>
            <p:cNvGrpSpPr/>
            <p:nvPr/>
          </p:nvGrpSpPr>
          <p:grpSpPr>
            <a:xfrm>
              <a:off x="3020983" y="881796"/>
              <a:ext cx="2097410" cy="2097410"/>
              <a:chOff x="3099689" y="1098878"/>
              <a:chExt cx="1995612" cy="1995615"/>
            </a:xfrm>
          </p:grpSpPr>
          <p:grpSp>
            <p:nvGrpSpPr>
              <p:cNvPr id="321" name="Google Shape;321;p11"/>
              <p:cNvGrpSpPr/>
              <p:nvPr/>
            </p:nvGrpSpPr>
            <p:grpSpPr>
              <a:xfrm>
                <a:off x="3099689" y="1098878"/>
                <a:ext cx="1995612" cy="1995615"/>
                <a:chOff x="6804316" y="2574806"/>
                <a:chExt cx="3585705" cy="3585705"/>
              </a:xfrm>
            </p:grpSpPr>
            <p:sp>
              <p:nvSpPr>
                <p:cNvPr id="322" name="Google Shape;322;p11"/>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323" name="Google Shape;323;p11"/>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324" name="Google Shape;324;p11"/>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325" name="Google Shape;325;p11"/>
              <p:cNvSpPr/>
              <p:nvPr/>
            </p:nvSpPr>
            <p:spPr>
              <a:xfrm>
                <a:off x="3222820" y="1148080"/>
                <a:ext cx="1284821"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326" name="Google Shape;326;p11"/>
            <p:cNvSpPr txBox="1"/>
            <p:nvPr/>
          </p:nvSpPr>
          <p:spPr>
            <a:xfrm>
              <a:off x="3438455" y="1314947"/>
              <a:ext cx="774240" cy="61555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1ACBE"/>
                  </a:solidFill>
                  <a:latin typeface="Impact"/>
                  <a:ea typeface="Impact"/>
                  <a:cs typeface="Impact"/>
                  <a:sym typeface="Impact"/>
                </a:rPr>
                <a:t>02</a:t>
              </a:r>
              <a:endParaRPr sz="2400">
                <a:solidFill>
                  <a:srgbClr val="01ACBE"/>
                </a:solidFill>
                <a:latin typeface="Impact"/>
                <a:ea typeface="Impact"/>
                <a:cs typeface="Impact"/>
                <a:sym typeface="Impact"/>
              </a:endParaRPr>
            </a:p>
          </p:txBody>
        </p:sp>
      </p:grpSp>
      <p:sp>
        <p:nvSpPr>
          <p:cNvPr id="327" name="Google Shape;327;p11"/>
          <p:cNvSpPr txBox="1"/>
          <p:nvPr/>
        </p:nvSpPr>
        <p:spPr>
          <a:xfrm>
            <a:off x="2937129" y="1394288"/>
            <a:ext cx="614848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Một Số Quy Tắc Trong Java</a:t>
            </a:r>
            <a:endParaRPr sz="2800">
              <a:solidFill>
                <a:schemeClr val="lt1"/>
              </a:solidFill>
              <a:latin typeface="Times New Roman"/>
              <a:ea typeface="Times New Roman"/>
              <a:cs typeface="Times New Roman"/>
              <a:sym typeface="Times New Roman"/>
            </a:endParaRPr>
          </a:p>
        </p:txBody>
      </p:sp>
      <p:grpSp>
        <p:nvGrpSpPr>
          <p:cNvPr id="328" name="Google Shape;328;p11"/>
          <p:cNvGrpSpPr/>
          <p:nvPr/>
        </p:nvGrpSpPr>
        <p:grpSpPr>
          <a:xfrm>
            <a:off x="1565651" y="2074336"/>
            <a:ext cx="8967831" cy="4148361"/>
            <a:chOff x="982640" y="1286614"/>
            <a:chExt cx="10081119" cy="5023499"/>
          </a:xfrm>
        </p:grpSpPr>
        <p:sp>
          <p:nvSpPr>
            <p:cNvPr id="329" name="Google Shape;329;p11"/>
            <p:cNvSpPr/>
            <p:nvPr/>
          </p:nvSpPr>
          <p:spPr>
            <a:xfrm rot="-5400000">
              <a:off x="3563539" y="-1190106"/>
              <a:ext cx="5023499" cy="9976939"/>
            </a:xfrm>
            <a:prstGeom prst="roundRect">
              <a:avLst>
                <a:gd fmla="val 4670" name="adj"/>
              </a:avLst>
            </a:prstGeom>
            <a:gradFill>
              <a:gsLst>
                <a:gs pos="0">
                  <a:srgbClr val="7F7F7F"/>
                </a:gs>
                <a:gs pos="100000">
                  <a:srgbClr val="3F3F3F"/>
                </a:gs>
              </a:gsLst>
              <a:lin ang="8100000" scaled="0"/>
            </a:gradFill>
            <a:ln cap="flat" cmpd="sng" w="22225">
              <a:solidFill>
                <a:srgbClr val="A5A5A5"/>
              </a:solidFill>
              <a:prstDash val="solid"/>
              <a:miter lim="800000"/>
              <a:headEnd len="sm" w="sm" type="none"/>
              <a:tailEnd len="sm" w="sm" type="none"/>
            </a:ln>
            <a:effectLst>
              <a:outerShdw blurRad="139700" rotWithShape="0" algn="tl" dir="2700000" dist="762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30" name="Google Shape;330;p11"/>
            <p:cNvSpPr/>
            <p:nvPr/>
          </p:nvSpPr>
          <p:spPr>
            <a:xfrm rot="-5400000">
              <a:off x="3788070" y="-980490"/>
              <a:ext cx="4628185" cy="9557712"/>
            </a:xfrm>
            <a:prstGeom prst="roundRect">
              <a:avLst>
                <a:gd fmla="val 0" name="adj"/>
              </a:avLst>
            </a:prstGeom>
            <a:solidFill>
              <a:srgbClr val="F2F2F2"/>
            </a:solidFill>
            <a:ln>
              <a:noFill/>
            </a:ln>
            <a:effectLst>
              <a:outerShdw blurRad="177800" rotWithShape="0" algn="tl" dir="2700000" dist="88900">
                <a:srgbClr val="000000">
                  <a:alpha val="4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14">
                  <a:solidFill>
                    <a:srgbClr val="FFFFFF"/>
                  </a:solidFill>
                  <a:latin typeface="Arial"/>
                  <a:ea typeface="Arial"/>
                  <a:cs typeface="Arial"/>
                  <a:sym typeface="Arial"/>
                </a:rPr>
                <a:t>1. </a:t>
              </a:r>
              <a:endParaRPr sz="1014">
                <a:solidFill>
                  <a:srgbClr val="FFFFFF"/>
                </a:solidFill>
                <a:latin typeface="Arial"/>
                <a:ea typeface="Arial"/>
                <a:cs typeface="Arial"/>
                <a:sym typeface="Arial"/>
              </a:endParaRPr>
            </a:p>
          </p:txBody>
        </p:sp>
        <p:grpSp>
          <p:nvGrpSpPr>
            <p:cNvPr id="331" name="Google Shape;331;p11"/>
            <p:cNvGrpSpPr/>
            <p:nvPr/>
          </p:nvGrpSpPr>
          <p:grpSpPr>
            <a:xfrm>
              <a:off x="982640" y="1596963"/>
              <a:ext cx="751226" cy="4402810"/>
              <a:chOff x="982640" y="1596963"/>
              <a:chExt cx="751226" cy="4402810"/>
            </a:xfrm>
          </p:grpSpPr>
          <p:grpSp>
            <p:nvGrpSpPr>
              <p:cNvPr id="332" name="Google Shape;332;p11"/>
              <p:cNvGrpSpPr/>
              <p:nvPr/>
            </p:nvGrpSpPr>
            <p:grpSpPr>
              <a:xfrm rot="-5400000">
                <a:off x="-615716" y="3650191"/>
                <a:ext cx="4402810" cy="296354"/>
                <a:chOff x="2149635" y="1165383"/>
                <a:chExt cx="3485831" cy="234634"/>
              </a:xfrm>
            </p:grpSpPr>
            <p:grpSp>
              <p:nvGrpSpPr>
                <p:cNvPr id="333" name="Google Shape;333;p11"/>
                <p:cNvGrpSpPr/>
                <p:nvPr/>
              </p:nvGrpSpPr>
              <p:grpSpPr>
                <a:xfrm>
                  <a:off x="2149635" y="1165385"/>
                  <a:ext cx="234632" cy="234632"/>
                  <a:chOff x="2483014" y="1114427"/>
                  <a:chExt cx="209550" cy="209550"/>
                </a:xfrm>
              </p:grpSpPr>
              <p:sp>
                <p:nvSpPr>
                  <p:cNvPr id="334" name="Google Shape;334;p11"/>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35" name="Google Shape;335;p11"/>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36" name="Google Shape;336;p11"/>
                <p:cNvGrpSpPr/>
                <p:nvPr/>
              </p:nvGrpSpPr>
              <p:grpSpPr>
                <a:xfrm>
                  <a:off x="2510880" y="1165385"/>
                  <a:ext cx="234632" cy="234632"/>
                  <a:chOff x="2483014" y="1114427"/>
                  <a:chExt cx="209550" cy="209550"/>
                </a:xfrm>
              </p:grpSpPr>
              <p:sp>
                <p:nvSpPr>
                  <p:cNvPr id="337" name="Google Shape;337;p11"/>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38" name="Google Shape;338;p11"/>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39" name="Google Shape;339;p11"/>
                <p:cNvGrpSpPr/>
                <p:nvPr/>
              </p:nvGrpSpPr>
              <p:grpSpPr>
                <a:xfrm>
                  <a:off x="2872124" y="1165385"/>
                  <a:ext cx="234632" cy="234632"/>
                  <a:chOff x="2483014" y="1114427"/>
                  <a:chExt cx="209550" cy="209550"/>
                </a:xfrm>
              </p:grpSpPr>
              <p:sp>
                <p:nvSpPr>
                  <p:cNvPr id="340" name="Google Shape;340;p11"/>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41" name="Google Shape;341;p11"/>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42" name="Google Shape;342;p11"/>
                <p:cNvGrpSpPr/>
                <p:nvPr/>
              </p:nvGrpSpPr>
              <p:grpSpPr>
                <a:xfrm>
                  <a:off x="3233369" y="1165385"/>
                  <a:ext cx="234632" cy="234632"/>
                  <a:chOff x="2483014" y="1114427"/>
                  <a:chExt cx="209550" cy="209550"/>
                </a:xfrm>
              </p:grpSpPr>
              <p:sp>
                <p:nvSpPr>
                  <p:cNvPr id="343" name="Google Shape;343;p11"/>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44" name="Google Shape;344;p11"/>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45" name="Google Shape;345;p11"/>
                <p:cNvGrpSpPr/>
                <p:nvPr/>
              </p:nvGrpSpPr>
              <p:grpSpPr>
                <a:xfrm>
                  <a:off x="3594615" y="1165383"/>
                  <a:ext cx="234632" cy="234632"/>
                  <a:chOff x="2483014" y="1114427"/>
                  <a:chExt cx="209550" cy="209550"/>
                </a:xfrm>
              </p:grpSpPr>
              <p:sp>
                <p:nvSpPr>
                  <p:cNvPr id="346" name="Google Shape;346;p11"/>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47" name="Google Shape;347;p11"/>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48" name="Google Shape;348;p11"/>
                <p:cNvGrpSpPr/>
                <p:nvPr/>
              </p:nvGrpSpPr>
              <p:grpSpPr>
                <a:xfrm>
                  <a:off x="3955858" y="1165384"/>
                  <a:ext cx="234632" cy="234632"/>
                  <a:chOff x="2483014" y="1114427"/>
                  <a:chExt cx="209550" cy="209550"/>
                </a:xfrm>
              </p:grpSpPr>
              <p:sp>
                <p:nvSpPr>
                  <p:cNvPr id="349" name="Google Shape;349;p11"/>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50" name="Google Shape;350;p11"/>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51" name="Google Shape;351;p11"/>
                <p:cNvGrpSpPr/>
                <p:nvPr/>
              </p:nvGrpSpPr>
              <p:grpSpPr>
                <a:xfrm>
                  <a:off x="4317103" y="1165384"/>
                  <a:ext cx="234632" cy="234632"/>
                  <a:chOff x="2483014" y="1114427"/>
                  <a:chExt cx="209550" cy="209550"/>
                </a:xfrm>
              </p:grpSpPr>
              <p:sp>
                <p:nvSpPr>
                  <p:cNvPr id="352" name="Google Shape;352;p11"/>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53" name="Google Shape;353;p11"/>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54" name="Google Shape;354;p11"/>
                <p:cNvGrpSpPr/>
                <p:nvPr/>
              </p:nvGrpSpPr>
              <p:grpSpPr>
                <a:xfrm>
                  <a:off x="4678347" y="1165384"/>
                  <a:ext cx="234632" cy="234632"/>
                  <a:chOff x="2483014" y="1114427"/>
                  <a:chExt cx="209550" cy="209550"/>
                </a:xfrm>
              </p:grpSpPr>
              <p:sp>
                <p:nvSpPr>
                  <p:cNvPr id="355" name="Google Shape;355;p11"/>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56" name="Google Shape;356;p11"/>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57" name="Google Shape;357;p11"/>
                <p:cNvGrpSpPr/>
                <p:nvPr/>
              </p:nvGrpSpPr>
              <p:grpSpPr>
                <a:xfrm>
                  <a:off x="5039590" y="1165384"/>
                  <a:ext cx="234632" cy="234632"/>
                  <a:chOff x="2483014" y="1114427"/>
                  <a:chExt cx="209550" cy="209550"/>
                </a:xfrm>
              </p:grpSpPr>
              <p:sp>
                <p:nvSpPr>
                  <p:cNvPr id="358" name="Google Shape;358;p11"/>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59" name="Google Shape;359;p11"/>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60" name="Google Shape;360;p11"/>
                <p:cNvGrpSpPr/>
                <p:nvPr/>
              </p:nvGrpSpPr>
              <p:grpSpPr>
                <a:xfrm>
                  <a:off x="5400834" y="1165384"/>
                  <a:ext cx="234632" cy="234632"/>
                  <a:chOff x="2483014" y="1114427"/>
                  <a:chExt cx="209550" cy="209550"/>
                </a:xfrm>
              </p:grpSpPr>
              <p:sp>
                <p:nvSpPr>
                  <p:cNvPr id="361" name="Google Shape;361;p11"/>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62" name="Google Shape;362;p11"/>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grpSp>
            <p:nvGrpSpPr>
              <p:cNvPr id="363" name="Google Shape;363;p11"/>
              <p:cNvGrpSpPr/>
              <p:nvPr/>
            </p:nvGrpSpPr>
            <p:grpSpPr>
              <a:xfrm rot="-5400000">
                <a:off x="1229146" y="5557333"/>
                <a:ext cx="119575" cy="612586"/>
                <a:chOff x="2244455" y="772894"/>
                <a:chExt cx="94658" cy="485003"/>
              </a:xfrm>
            </p:grpSpPr>
            <p:sp>
              <p:nvSpPr>
                <p:cNvPr id="364" name="Google Shape;364;p11"/>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65" name="Google Shape;365;p11"/>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66" name="Google Shape;366;p11"/>
              <p:cNvGrpSpPr/>
              <p:nvPr/>
            </p:nvGrpSpPr>
            <p:grpSpPr>
              <a:xfrm rot="-5400000">
                <a:off x="1229146" y="5099277"/>
                <a:ext cx="119575" cy="612586"/>
                <a:chOff x="2244455" y="772894"/>
                <a:chExt cx="94658" cy="485003"/>
              </a:xfrm>
            </p:grpSpPr>
            <p:sp>
              <p:nvSpPr>
                <p:cNvPr id="367" name="Google Shape;367;p11"/>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68" name="Google Shape;368;p11"/>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69" name="Google Shape;369;p11"/>
              <p:cNvGrpSpPr/>
              <p:nvPr/>
            </p:nvGrpSpPr>
            <p:grpSpPr>
              <a:xfrm rot="-5400000">
                <a:off x="1229146" y="4641222"/>
                <a:ext cx="119575" cy="612586"/>
                <a:chOff x="2244455" y="772894"/>
                <a:chExt cx="94658" cy="485003"/>
              </a:xfrm>
            </p:grpSpPr>
            <p:sp>
              <p:nvSpPr>
                <p:cNvPr id="370" name="Google Shape;370;p11"/>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71" name="Google Shape;371;p11"/>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72" name="Google Shape;372;p11"/>
              <p:cNvGrpSpPr/>
              <p:nvPr/>
            </p:nvGrpSpPr>
            <p:grpSpPr>
              <a:xfrm rot="-5400000">
                <a:off x="1229146" y="4183167"/>
                <a:ext cx="119575" cy="612586"/>
                <a:chOff x="2244455" y="772894"/>
                <a:chExt cx="94658" cy="485003"/>
              </a:xfrm>
            </p:grpSpPr>
            <p:sp>
              <p:nvSpPr>
                <p:cNvPr id="373" name="Google Shape;373;p11"/>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74" name="Google Shape;374;p11"/>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75" name="Google Shape;375;p11"/>
              <p:cNvGrpSpPr/>
              <p:nvPr/>
            </p:nvGrpSpPr>
            <p:grpSpPr>
              <a:xfrm rot="-5400000">
                <a:off x="1229146" y="3725113"/>
                <a:ext cx="119575" cy="612586"/>
                <a:chOff x="2244455" y="772894"/>
                <a:chExt cx="94658" cy="485003"/>
              </a:xfrm>
            </p:grpSpPr>
            <p:sp>
              <p:nvSpPr>
                <p:cNvPr id="376" name="Google Shape;376;p11"/>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77" name="Google Shape;377;p11"/>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78" name="Google Shape;378;p11"/>
              <p:cNvGrpSpPr/>
              <p:nvPr/>
            </p:nvGrpSpPr>
            <p:grpSpPr>
              <a:xfrm rot="-5400000">
                <a:off x="1229146" y="3267055"/>
                <a:ext cx="119575" cy="612586"/>
                <a:chOff x="2244455" y="772894"/>
                <a:chExt cx="94658" cy="485003"/>
              </a:xfrm>
            </p:grpSpPr>
            <p:sp>
              <p:nvSpPr>
                <p:cNvPr id="379" name="Google Shape;379;p11"/>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80" name="Google Shape;380;p11"/>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81" name="Google Shape;381;p11"/>
              <p:cNvGrpSpPr/>
              <p:nvPr/>
            </p:nvGrpSpPr>
            <p:grpSpPr>
              <a:xfrm rot="-5400000">
                <a:off x="1229145" y="2808999"/>
                <a:ext cx="119575" cy="612586"/>
                <a:chOff x="2244455" y="772894"/>
                <a:chExt cx="94658" cy="485003"/>
              </a:xfrm>
            </p:grpSpPr>
            <p:sp>
              <p:nvSpPr>
                <p:cNvPr id="382" name="Google Shape;382;p11"/>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83" name="Google Shape;383;p11"/>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84" name="Google Shape;384;p11"/>
              <p:cNvGrpSpPr/>
              <p:nvPr/>
            </p:nvGrpSpPr>
            <p:grpSpPr>
              <a:xfrm rot="-5400000">
                <a:off x="1229146" y="2350946"/>
                <a:ext cx="119575" cy="612586"/>
                <a:chOff x="2244455" y="772894"/>
                <a:chExt cx="94658" cy="485003"/>
              </a:xfrm>
            </p:grpSpPr>
            <p:sp>
              <p:nvSpPr>
                <p:cNvPr id="385" name="Google Shape;385;p11"/>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86" name="Google Shape;386;p11"/>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87" name="Google Shape;387;p11"/>
              <p:cNvGrpSpPr/>
              <p:nvPr/>
            </p:nvGrpSpPr>
            <p:grpSpPr>
              <a:xfrm rot="-5400000">
                <a:off x="1229146" y="1892893"/>
                <a:ext cx="119575" cy="612586"/>
                <a:chOff x="2244455" y="772894"/>
                <a:chExt cx="94658" cy="485003"/>
              </a:xfrm>
            </p:grpSpPr>
            <p:sp>
              <p:nvSpPr>
                <p:cNvPr id="388" name="Google Shape;388;p11"/>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89" name="Google Shape;389;p11"/>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390" name="Google Shape;390;p11"/>
              <p:cNvGrpSpPr/>
              <p:nvPr/>
            </p:nvGrpSpPr>
            <p:grpSpPr>
              <a:xfrm rot="-5400000">
                <a:off x="1229146" y="1434840"/>
                <a:ext cx="119575" cy="612586"/>
                <a:chOff x="2244455" y="772894"/>
                <a:chExt cx="94658" cy="485003"/>
              </a:xfrm>
            </p:grpSpPr>
            <p:sp>
              <p:nvSpPr>
                <p:cNvPr id="391" name="Google Shape;391;p11"/>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392" name="Google Shape;392;p11"/>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grpSp>
      <p:sp>
        <p:nvSpPr>
          <p:cNvPr id="393" name="Google Shape;393;p11"/>
          <p:cNvSpPr txBox="1"/>
          <p:nvPr/>
        </p:nvSpPr>
        <p:spPr>
          <a:xfrm>
            <a:off x="2217661" y="2290906"/>
            <a:ext cx="8450339" cy="3957494"/>
          </a:xfrm>
          <a:prstGeom prst="rect">
            <a:avLst/>
          </a:prstGeom>
          <a:noFill/>
          <a:ln>
            <a:noFill/>
          </a:ln>
        </p:spPr>
        <p:txBody>
          <a:bodyPr anchorCtr="0" anchor="t" bIns="45700" lIns="91425" spcFirstLastPara="1" rIns="91425" wrap="square" tIns="45700">
            <a:spAutoFit/>
          </a:bodyPr>
          <a:lstStyle/>
          <a:p>
            <a:pPr indent="-342900" lvl="0" marL="342900" marR="0" rtl="0" algn="l">
              <a:lnSpc>
                <a:spcPct val="130000"/>
              </a:lnSpc>
              <a:spcBef>
                <a:spcPts val="0"/>
              </a:spcBef>
              <a:spcAft>
                <a:spcPts val="0"/>
              </a:spcAft>
              <a:buClr>
                <a:schemeClr val="dk1"/>
              </a:buClr>
              <a:buSzPts val="2800"/>
              <a:buFont typeface="Times New Roman"/>
              <a:buAutoNum type="arabicPeriod"/>
            </a:pPr>
            <a:r>
              <a:rPr lang="en-US" sz="2800">
                <a:solidFill>
                  <a:schemeClr val="dk1"/>
                </a:solidFill>
                <a:latin typeface="Times New Roman"/>
                <a:ea typeface="Times New Roman"/>
                <a:cs typeface="Times New Roman"/>
                <a:sym typeface="Times New Roman"/>
              </a:rPr>
              <a:t>Tên có ý nghĩa và thể hiện được mục đích của file/ biến/ phương thức/... đó.</a:t>
            </a:r>
            <a:endParaRPr sz="2800">
              <a:solidFill>
                <a:schemeClr val="dk1"/>
              </a:solidFill>
              <a:latin typeface="Times New Roman"/>
              <a:ea typeface="Times New Roman"/>
              <a:cs typeface="Times New Roman"/>
              <a:sym typeface="Times New Roman"/>
            </a:endParaRPr>
          </a:p>
          <a:p>
            <a:pPr indent="-342900" lvl="0" marL="342900" marR="0" rtl="0" algn="l">
              <a:lnSpc>
                <a:spcPct val="130000"/>
              </a:lnSpc>
              <a:spcBef>
                <a:spcPts val="0"/>
              </a:spcBef>
              <a:spcAft>
                <a:spcPts val="0"/>
              </a:spcAft>
              <a:buClr>
                <a:schemeClr val="dk1"/>
              </a:buClr>
              <a:buSzPts val="2800"/>
              <a:buFont typeface="Times New Roman"/>
              <a:buAutoNum type="arabicPeriod"/>
            </a:pPr>
            <a:r>
              <a:rPr lang="en-US" sz="2800">
                <a:solidFill>
                  <a:schemeClr val="dk1"/>
                </a:solidFill>
                <a:latin typeface="Times New Roman"/>
                <a:ea typeface="Times New Roman"/>
                <a:cs typeface="Times New Roman"/>
                <a:sym typeface="Times New Roman"/>
              </a:rPr>
              <a:t>Không nên dài quá 20 ký tự, và tên cũng không được đặt quá ngắn dưới 2 ký tự</a:t>
            </a:r>
            <a:endParaRPr sz="2800">
              <a:solidFill>
                <a:schemeClr val="dk1"/>
              </a:solidFill>
              <a:latin typeface="Times New Roman"/>
              <a:ea typeface="Times New Roman"/>
              <a:cs typeface="Times New Roman"/>
              <a:sym typeface="Times New Roman"/>
            </a:endParaRPr>
          </a:p>
          <a:p>
            <a:pPr indent="-342900" lvl="0" marL="342900" marR="0" rtl="0" algn="l">
              <a:lnSpc>
                <a:spcPct val="130000"/>
              </a:lnSpc>
              <a:spcBef>
                <a:spcPts val="0"/>
              </a:spcBef>
              <a:spcAft>
                <a:spcPts val="0"/>
              </a:spcAft>
              <a:buClr>
                <a:schemeClr val="dk1"/>
              </a:buClr>
              <a:buSzPts val="2800"/>
              <a:buFont typeface="Times New Roman"/>
              <a:buAutoNum type="arabicPeriod"/>
            </a:pPr>
            <a:r>
              <a:rPr lang="en-US" sz="2800">
                <a:solidFill>
                  <a:schemeClr val="dk1"/>
                </a:solidFill>
                <a:latin typeface="Times New Roman"/>
                <a:ea typeface="Times New Roman"/>
                <a:cs typeface="Times New Roman"/>
                <a:sym typeface="Times New Roman"/>
              </a:rPr>
              <a:t>Tránh kết hợp nhiều ngôn ngữ  (Tiếng Anh + Tiếng Việt + ...), chẳng hạn như addSinhVien, editLop,...</a:t>
            </a:r>
            <a:endParaRPr sz="2800">
              <a:solidFill>
                <a:schemeClr val="dk1"/>
              </a:solidFill>
              <a:latin typeface="Times New Roman"/>
              <a:ea typeface="Times New Roman"/>
              <a:cs typeface="Times New Roman"/>
              <a:sym typeface="Times New Roman"/>
            </a:endParaRPr>
          </a:p>
          <a:p>
            <a:pPr indent="0" lvl="0" marL="0" marR="0" rtl="0" algn="l">
              <a:lnSpc>
                <a:spcPct val="130000"/>
              </a:lnSpc>
              <a:spcBef>
                <a:spcPts val="0"/>
              </a:spcBef>
              <a:spcAft>
                <a:spcPts val="0"/>
              </a:spcAft>
              <a:buNone/>
            </a:pPr>
            <a:r>
              <a:t/>
            </a:r>
            <a:endParaRPr sz="28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319"/>
                                        </p:tgtEl>
                                        <p:attrNameLst>
                                          <p:attrName>style.visibility</p:attrName>
                                        </p:attrNameLst>
                                      </p:cBhvr>
                                      <p:to>
                                        <p:strVal val="visible"/>
                                      </p:to>
                                    </p:set>
                                    <p:anim calcmode="lin" valueType="num">
                                      <p:cBhvr additive="base">
                                        <p:cTn dur="500"/>
                                        <p:tgtEl>
                                          <p:spTgt spid="31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16"/>
                                        </p:tgtEl>
                                        <p:attrNameLst>
                                          <p:attrName>style.visibility</p:attrName>
                                        </p:attrNameLst>
                                      </p:cBhvr>
                                      <p:to>
                                        <p:strVal val="visible"/>
                                      </p:to>
                                    </p:set>
                                    <p:anim calcmode="lin" valueType="num">
                                      <p:cBhvr additive="base">
                                        <p:cTn dur="500"/>
                                        <p:tgtEl>
                                          <p:spTgt spid="31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p1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99" name="Google Shape;399;p12"/>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400" name="Google Shape;400;p12"/>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401" name="Google Shape;401;p12"/>
          <p:cNvGrpSpPr/>
          <p:nvPr/>
        </p:nvGrpSpPr>
        <p:grpSpPr>
          <a:xfrm>
            <a:off x="1517289" y="964416"/>
            <a:ext cx="8712598" cy="852875"/>
            <a:chOff x="3129129" y="1121776"/>
            <a:chExt cx="5933741" cy="1171624"/>
          </a:xfrm>
        </p:grpSpPr>
        <p:sp>
          <p:nvSpPr>
            <p:cNvPr id="402" name="Google Shape;402;p12"/>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403" name="Google Shape;403;p12"/>
            <p:cNvSpPr/>
            <p:nvPr/>
          </p:nvSpPr>
          <p:spPr>
            <a:xfrm>
              <a:off x="3289330" y="1253414"/>
              <a:ext cx="5716387" cy="908350"/>
            </a:xfrm>
            <a:prstGeom prst="roundRect">
              <a:avLst>
                <a:gd fmla="val 50000" name="adj"/>
              </a:avLst>
            </a:prstGeom>
            <a:gradFill>
              <a:gsLst>
                <a:gs pos="0">
                  <a:srgbClr val="01ACBE"/>
                </a:gs>
                <a:gs pos="100000">
                  <a:srgbClr val="01DAF1"/>
                </a:gs>
              </a:gsLst>
              <a:lin ang="0" scaled="0"/>
            </a:gradFill>
            <a:ln cap="flat" cmpd="sng" w="19050">
              <a:solidFill>
                <a:srgbClr val="01DAF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grpSp>
      <p:grpSp>
        <p:nvGrpSpPr>
          <p:cNvPr id="404" name="Google Shape;404;p12"/>
          <p:cNvGrpSpPr/>
          <p:nvPr/>
        </p:nvGrpSpPr>
        <p:grpSpPr>
          <a:xfrm>
            <a:off x="1618428" y="897169"/>
            <a:ext cx="1561211" cy="1446832"/>
            <a:chOff x="3020983" y="881796"/>
            <a:chExt cx="2097410" cy="2097410"/>
          </a:xfrm>
        </p:grpSpPr>
        <p:grpSp>
          <p:nvGrpSpPr>
            <p:cNvPr id="405" name="Google Shape;405;p12"/>
            <p:cNvGrpSpPr/>
            <p:nvPr/>
          </p:nvGrpSpPr>
          <p:grpSpPr>
            <a:xfrm>
              <a:off x="3020983" y="881796"/>
              <a:ext cx="2097410" cy="2097410"/>
              <a:chOff x="3099689" y="1098878"/>
              <a:chExt cx="1995612" cy="1995615"/>
            </a:xfrm>
          </p:grpSpPr>
          <p:grpSp>
            <p:nvGrpSpPr>
              <p:cNvPr id="406" name="Google Shape;406;p12"/>
              <p:cNvGrpSpPr/>
              <p:nvPr/>
            </p:nvGrpSpPr>
            <p:grpSpPr>
              <a:xfrm>
                <a:off x="3099689" y="1098878"/>
                <a:ext cx="1995612" cy="1995615"/>
                <a:chOff x="6804316" y="2574806"/>
                <a:chExt cx="3585705" cy="3585705"/>
              </a:xfrm>
            </p:grpSpPr>
            <p:sp>
              <p:nvSpPr>
                <p:cNvPr id="407" name="Google Shape;407;p12"/>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408" name="Google Shape;408;p12"/>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409" name="Google Shape;409;p12"/>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410" name="Google Shape;410;p12"/>
              <p:cNvSpPr/>
              <p:nvPr/>
            </p:nvSpPr>
            <p:spPr>
              <a:xfrm>
                <a:off x="3222820" y="1148080"/>
                <a:ext cx="1284821"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411" name="Google Shape;411;p12"/>
            <p:cNvSpPr txBox="1"/>
            <p:nvPr/>
          </p:nvSpPr>
          <p:spPr>
            <a:xfrm>
              <a:off x="3438455" y="1314947"/>
              <a:ext cx="774240" cy="61555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01ACBE"/>
                  </a:solidFill>
                  <a:latin typeface="Impact"/>
                  <a:ea typeface="Impact"/>
                  <a:cs typeface="Impact"/>
                  <a:sym typeface="Impact"/>
                </a:rPr>
                <a:t>02</a:t>
              </a:r>
              <a:endParaRPr sz="2400">
                <a:solidFill>
                  <a:srgbClr val="01ACBE"/>
                </a:solidFill>
                <a:latin typeface="Impact"/>
                <a:ea typeface="Impact"/>
                <a:cs typeface="Impact"/>
                <a:sym typeface="Impact"/>
              </a:endParaRPr>
            </a:p>
          </p:txBody>
        </p:sp>
      </p:grpSp>
      <p:sp>
        <p:nvSpPr>
          <p:cNvPr id="412" name="Google Shape;412;p12"/>
          <p:cNvSpPr txBox="1"/>
          <p:nvPr/>
        </p:nvSpPr>
        <p:spPr>
          <a:xfrm>
            <a:off x="2752596" y="1123070"/>
            <a:ext cx="614848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Một Số Quy Tắc Trong Java</a:t>
            </a:r>
            <a:endParaRPr sz="2800">
              <a:solidFill>
                <a:schemeClr val="lt1"/>
              </a:solidFill>
              <a:latin typeface="Times New Roman"/>
              <a:ea typeface="Times New Roman"/>
              <a:cs typeface="Times New Roman"/>
              <a:sym typeface="Times New Roman"/>
            </a:endParaRPr>
          </a:p>
        </p:txBody>
      </p:sp>
      <p:grpSp>
        <p:nvGrpSpPr>
          <p:cNvPr id="413" name="Google Shape;413;p12"/>
          <p:cNvGrpSpPr/>
          <p:nvPr/>
        </p:nvGrpSpPr>
        <p:grpSpPr>
          <a:xfrm>
            <a:off x="1471569" y="1828942"/>
            <a:ext cx="8967831" cy="4222010"/>
            <a:chOff x="982640" y="1286614"/>
            <a:chExt cx="10081119" cy="5023499"/>
          </a:xfrm>
        </p:grpSpPr>
        <p:sp>
          <p:nvSpPr>
            <p:cNvPr id="414" name="Google Shape;414;p12"/>
            <p:cNvSpPr/>
            <p:nvPr/>
          </p:nvSpPr>
          <p:spPr>
            <a:xfrm rot="-5400000">
              <a:off x="3563539" y="-1190106"/>
              <a:ext cx="5023499" cy="9976939"/>
            </a:xfrm>
            <a:prstGeom prst="roundRect">
              <a:avLst>
                <a:gd fmla="val 4670" name="adj"/>
              </a:avLst>
            </a:prstGeom>
            <a:gradFill>
              <a:gsLst>
                <a:gs pos="0">
                  <a:srgbClr val="7F7F7F"/>
                </a:gs>
                <a:gs pos="100000">
                  <a:srgbClr val="3F3F3F"/>
                </a:gs>
              </a:gsLst>
              <a:lin ang="8100000" scaled="0"/>
            </a:gradFill>
            <a:ln cap="flat" cmpd="sng" w="22225">
              <a:solidFill>
                <a:srgbClr val="A5A5A5"/>
              </a:solidFill>
              <a:prstDash val="solid"/>
              <a:miter lim="800000"/>
              <a:headEnd len="sm" w="sm" type="none"/>
              <a:tailEnd len="sm" w="sm" type="none"/>
            </a:ln>
            <a:effectLst>
              <a:outerShdw blurRad="139700" rotWithShape="0" algn="tl" dir="2700000" dist="762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15" name="Google Shape;415;p12"/>
            <p:cNvSpPr/>
            <p:nvPr/>
          </p:nvSpPr>
          <p:spPr>
            <a:xfrm rot="-5400000">
              <a:off x="3788070" y="-980490"/>
              <a:ext cx="4628185" cy="9557712"/>
            </a:xfrm>
            <a:prstGeom prst="roundRect">
              <a:avLst>
                <a:gd fmla="val 0" name="adj"/>
              </a:avLst>
            </a:prstGeom>
            <a:solidFill>
              <a:srgbClr val="F2F2F2"/>
            </a:solidFill>
            <a:ln>
              <a:noFill/>
            </a:ln>
            <a:effectLst>
              <a:outerShdw blurRad="177800" rotWithShape="0" algn="tl" dir="2700000" dist="88900">
                <a:srgbClr val="000000">
                  <a:alpha val="4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014">
                  <a:solidFill>
                    <a:srgbClr val="FFFFFF"/>
                  </a:solidFill>
                  <a:latin typeface="Arial"/>
                  <a:ea typeface="Arial"/>
                  <a:cs typeface="Arial"/>
                  <a:sym typeface="Arial"/>
                </a:rPr>
                <a:t>1. </a:t>
              </a:r>
              <a:endParaRPr sz="1014">
                <a:solidFill>
                  <a:srgbClr val="FFFFFF"/>
                </a:solidFill>
                <a:latin typeface="Arial"/>
                <a:ea typeface="Arial"/>
                <a:cs typeface="Arial"/>
                <a:sym typeface="Arial"/>
              </a:endParaRPr>
            </a:p>
          </p:txBody>
        </p:sp>
        <p:grpSp>
          <p:nvGrpSpPr>
            <p:cNvPr id="416" name="Google Shape;416;p12"/>
            <p:cNvGrpSpPr/>
            <p:nvPr/>
          </p:nvGrpSpPr>
          <p:grpSpPr>
            <a:xfrm>
              <a:off x="982640" y="1596963"/>
              <a:ext cx="751226" cy="4402810"/>
              <a:chOff x="982640" y="1596963"/>
              <a:chExt cx="751226" cy="4402810"/>
            </a:xfrm>
          </p:grpSpPr>
          <p:grpSp>
            <p:nvGrpSpPr>
              <p:cNvPr id="417" name="Google Shape;417;p12"/>
              <p:cNvGrpSpPr/>
              <p:nvPr/>
            </p:nvGrpSpPr>
            <p:grpSpPr>
              <a:xfrm rot="-5400000">
                <a:off x="-615716" y="3650191"/>
                <a:ext cx="4402810" cy="296354"/>
                <a:chOff x="2149635" y="1165383"/>
                <a:chExt cx="3485831" cy="234634"/>
              </a:xfrm>
            </p:grpSpPr>
            <p:grpSp>
              <p:nvGrpSpPr>
                <p:cNvPr id="418" name="Google Shape;418;p12"/>
                <p:cNvGrpSpPr/>
                <p:nvPr/>
              </p:nvGrpSpPr>
              <p:grpSpPr>
                <a:xfrm>
                  <a:off x="2149635" y="1165385"/>
                  <a:ext cx="234632" cy="234632"/>
                  <a:chOff x="2483014" y="1114427"/>
                  <a:chExt cx="209550" cy="209550"/>
                </a:xfrm>
              </p:grpSpPr>
              <p:sp>
                <p:nvSpPr>
                  <p:cNvPr id="419" name="Google Shape;419;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20" name="Google Shape;420;p12"/>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21" name="Google Shape;421;p12"/>
                <p:cNvGrpSpPr/>
                <p:nvPr/>
              </p:nvGrpSpPr>
              <p:grpSpPr>
                <a:xfrm>
                  <a:off x="2510880" y="1165385"/>
                  <a:ext cx="234632" cy="234632"/>
                  <a:chOff x="2483014" y="1114427"/>
                  <a:chExt cx="209550" cy="209550"/>
                </a:xfrm>
              </p:grpSpPr>
              <p:sp>
                <p:nvSpPr>
                  <p:cNvPr id="422" name="Google Shape;422;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23" name="Google Shape;423;p12"/>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24" name="Google Shape;424;p12"/>
                <p:cNvGrpSpPr/>
                <p:nvPr/>
              </p:nvGrpSpPr>
              <p:grpSpPr>
                <a:xfrm>
                  <a:off x="2872124" y="1165385"/>
                  <a:ext cx="234632" cy="234632"/>
                  <a:chOff x="2483014" y="1114427"/>
                  <a:chExt cx="209550" cy="209550"/>
                </a:xfrm>
              </p:grpSpPr>
              <p:sp>
                <p:nvSpPr>
                  <p:cNvPr id="425" name="Google Shape;425;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26" name="Google Shape;426;p12"/>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27" name="Google Shape;427;p12"/>
                <p:cNvGrpSpPr/>
                <p:nvPr/>
              </p:nvGrpSpPr>
              <p:grpSpPr>
                <a:xfrm>
                  <a:off x="3233369" y="1165385"/>
                  <a:ext cx="234632" cy="234632"/>
                  <a:chOff x="2483014" y="1114427"/>
                  <a:chExt cx="209550" cy="209550"/>
                </a:xfrm>
              </p:grpSpPr>
              <p:sp>
                <p:nvSpPr>
                  <p:cNvPr id="428" name="Google Shape;428;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29" name="Google Shape;429;p12"/>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30" name="Google Shape;430;p12"/>
                <p:cNvGrpSpPr/>
                <p:nvPr/>
              </p:nvGrpSpPr>
              <p:grpSpPr>
                <a:xfrm>
                  <a:off x="3594615" y="1165383"/>
                  <a:ext cx="234632" cy="234632"/>
                  <a:chOff x="2483014" y="1114427"/>
                  <a:chExt cx="209550" cy="209550"/>
                </a:xfrm>
              </p:grpSpPr>
              <p:sp>
                <p:nvSpPr>
                  <p:cNvPr id="431" name="Google Shape;431;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32" name="Google Shape;432;p12"/>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33" name="Google Shape;433;p12"/>
                <p:cNvGrpSpPr/>
                <p:nvPr/>
              </p:nvGrpSpPr>
              <p:grpSpPr>
                <a:xfrm>
                  <a:off x="3955858" y="1165384"/>
                  <a:ext cx="234632" cy="234632"/>
                  <a:chOff x="2483014" y="1114427"/>
                  <a:chExt cx="209550" cy="209550"/>
                </a:xfrm>
              </p:grpSpPr>
              <p:sp>
                <p:nvSpPr>
                  <p:cNvPr id="434" name="Google Shape;434;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35" name="Google Shape;435;p12"/>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36" name="Google Shape;436;p12"/>
                <p:cNvGrpSpPr/>
                <p:nvPr/>
              </p:nvGrpSpPr>
              <p:grpSpPr>
                <a:xfrm>
                  <a:off x="4317103" y="1165384"/>
                  <a:ext cx="234632" cy="234632"/>
                  <a:chOff x="2483014" y="1114427"/>
                  <a:chExt cx="209550" cy="209550"/>
                </a:xfrm>
              </p:grpSpPr>
              <p:sp>
                <p:nvSpPr>
                  <p:cNvPr id="437" name="Google Shape;437;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38" name="Google Shape;438;p12"/>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39" name="Google Shape;439;p12"/>
                <p:cNvGrpSpPr/>
                <p:nvPr/>
              </p:nvGrpSpPr>
              <p:grpSpPr>
                <a:xfrm>
                  <a:off x="4678347" y="1165384"/>
                  <a:ext cx="234632" cy="234632"/>
                  <a:chOff x="2483014" y="1114427"/>
                  <a:chExt cx="209550" cy="209550"/>
                </a:xfrm>
              </p:grpSpPr>
              <p:sp>
                <p:nvSpPr>
                  <p:cNvPr id="440" name="Google Shape;440;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41" name="Google Shape;441;p12"/>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42" name="Google Shape;442;p12"/>
                <p:cNvGrpSpPr/>
                <p:nvPr/>
              </p:nvGrpSpPr>
              <p:grpSpPr>
                <a:xfrm>
                  <a:off x="5039590" y="1165384"/>
                  <a:ext cx="234632" cy="234632"/>
                  <a:chOff x="2483014" y="1114427"/>
                  <a:chExt cx="209550" cy="209550"/>
                </a:xfrm>
              </p:grpSpPr>
              <p:sp>
                <p:nvSpPr>
                  <p:cNvPr id="443" name="Google Shape;443;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44" name="Google Shape;444;p12"/>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45" name="Google Shape;445;p12"/>
                <p:cNvGrpSpPr/>
                <p:nvPr/>
              </p:nvGrpSpPr>
              <p:grpSpPr>
                <a:xfrm>
                  <a:off x="5400834" y="1165384"/>
                  <a:ext cx="234632" cy="234632"/>
                  <a:chOff x="2483014" y="1114427"/>
                  <a:chExt cx="209550" cy="209550"/>
                </a:xfrm>
              </p:grpSpPr>
              <p:sp>
                <p:nvSpPr>
                  <p:cNvPr id="446" name="Google Shape;446;p12"/>
                  <p:cNvSpPr/>
                  <p:nvPr/>
                </p:nvSpPr>
                <p:spPr>
                  <a:xfrm>
                    <a:off x="2483014" y="1114427"/>
                    <a:ext cx="209550" cy="209550"/>
                  </a:xfrm>
                  <a:prstGeom prst="ellipse">
                    <a:avLst/>
                  </a:prstGeom>
                  <a:gradFill>
                    <a:gsLst>
                      <a:gs pos="0">
                        <a:schemeClr val="lt1"/>
                      </a:gs>
                      <a:gs pos="17000">
                        <a:srgbClr val="A5A5A5"/>
                      </a:gs>
                      <a:gs pos="35000">
                        <a:srgbClr val="F2F2F2"/>
                      </a:gs>
                      <a:gs pos="55000">
                        <a:srgbClr val="A5A5A5"/>
                      </a:gs>
                      <a:gs pos="75000">
                        <a:srgbClr val="F2F2F2"/>
                      </a:gs>
                      <a:gs pos="100000">
                        <a:srgbClr val="A5A5A5"/>
                      </a:gs>
                    </a:gsLst>
                    <a:lin ang="2700000" scaled="0"/>
                  </a:gradFill>
                  <a:ln>
                    <a:noFill/>
                  </a:ln>
                  <a:effectLst>
                    <a:outerShdw blurRad="12700" rotWithShape="0" algn="tl" dir="2700000" dist="127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47" name="Google Shape;447;p12"/>
                  <p:cNvSpPr/>
                  <p:nvPr/>
                </p:nvSpPr>
                <p:spPr>
                  <a:xfrm>
                    <a:off x="2502060" y="1133475"/>
                    <a:ext cx="171450" cy="171450"/>
                  </a:xfrm>
                  <a:prstGeom prst="ellipse">
                    <a:avLst/>
                  </a:prstGeom>
                  <a:solidFill>
                    <a:srgbClr val="5959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grpSp>
            <p:nvGrpSpPr>
              <p:cNvPr id="448" name="Google Shape;448;p12"/>
              <p:cNvGrpSpPr/>
              <p:nvPr/>
            </p:nvGrpSpPr>
            <p:grpSpPr>
              <a:xfrm rot="-5400000">
                <a:off x="1229146" y="5557333"/>
                <a:ext cx="119575" cy="612586"/>
                <a:chOff x="2244455" y="772894"/>
                <a:chExt cx="94658" cy="485003"/>
              </a:xfrm>
            </p:grpSpPr>
            <p:sp>
              <p:nvSpPr>
                <p:cNvPr id="449" name="Google Shape;449;p12"/>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50" name="Google Shape;450;p12"/>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51" name="Google Shape;451;p12"/>
              <p:cNvGrpSpPr/>
              <p:nvPr/>
            </p:nvGrpSpPr>
            <p:grpSpPr>
              <a:xfrm rot="-5400000">
                <a:off x="1229146" y="5099277"/>
                <a:ext cx="119575" cy="612586"/>
                <a:chOff x="2244455" y="772894"/>
                <a:chExt cx="94658" cy="485003"/>
              </a:xfrm>
            </p:grpSpPr>
            <p:sp>
              <p:nvSpPr>
                <p:cNvPr id="452" name="Google Shape;452;p12"/>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53" name="Google Shape;453;p12"/>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54" name="Google Shape;454;p12"/>
              <p:cNvGrpSpPr/>
              <p:nvPr/>
            </p:nvGrpSpPr>
            <p:grpSpPr>
              <a:xfrm rot="-5400000">
                <a:off x="1229146" y="4641222"/>
                <a:ext cx="119575" cy="612586"/>
                <a:chOff x="2244455" y="772894"/>
                <a:chExt cx="94658" cy="485003"/>
              </a:xfrm>
            </p:grpSpPr>
            <p:sp>
              <p:nvSpPr>
                <p:cNvPr id="455" name="Google Shape;455;p12"/>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56" name="Google Shape;456;p12"/>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57" name="Google Shape;457;p12"/>
              <p:cNvGrpSpPr/>
              <p:nvPr/>
            </p:nvGrpSpPr>
            <p:grpSpPr>
              <a:xfrm rot="-5400000">
                <a:off x="1229146" y="4183167"/>
                <a:ext cx="119575" cy="612586"/>
                <a:chOff x="2244455" y="772894"/>
                <a:chExt cx="94658" cy="485003"/>
              </a:xfrm>
            </p:grpSpPr>
            <p:sp>
              <p:nvSpPr>
                <p:cNvPr id="458" name="Google Shape;458;p12"/>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59" name="Google Shape;459;p12"/>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60" name="Google Shape;460;p12"/>
              <p:cNvGrpSpPr/>
              <p:nvPr/>
            </p:nvGrpSpPr>
            <p:grpSpPr>
              <a:xfrm rot="-5400000">
                <a:off x="1229146" y="3725113"/>
                <a:ext cx="119575" cy="612586"/>
                <a:chOff x="2244455" y="772894"/>
                <a:chExt cx="94658" cy="485003"/>
              </a:xfrm>
            </p:grpSpPr>
            <p:sp>
              <p:nvSpPr>
                <p:cNvPr id="461" name="Google Shape;461;p12"/>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62" name="Google Shape;462;p12"/>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63" name="Google Shape;463;p12"/>
              <p:cNvGrpSpPr/>
              <p:nvPr/>
            </p:nvGrpSpPr>
            <p:grpSpPr>
              <a:xfrm rot="-5400000">
                <a:off x="1229146" y="3267055"/>
                <a:ext cx="119575" cy="612586"/>
                <a:chOff x="2244455" y="772894"/>
                <a:chExt cx="94658" cy="485003"/>
              </a:xfrm>
            </p:grpSpPr>
            <p:sp>
              <p:nvSpPr>
                <p:cNvPr id="464" name="Google Shape;464;p12"/>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65" name="Google Shape;465;p12"/>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66" name="Google Shape;466;p12"/>
              <p:cNvGrpSpPr/>
              <p:nvPr/>
            </p:nvGrpSpPr>
            <p:grpSpPr>
              <a:xfrm rot="-5400000">
                <a:off x="1229145" y="2808999"/>
                <a:ext cx="119575" cy="612586"/>
                <a:chOff x="2244455" y="772894"/>
                <a:chExt cx="94658" cy="485003"/>
              </a:xfrm>
            </p:grpSpPr>
            <p:sp>
              <p:nvSpPr>
                <p:cNvPr id="467" name="Google Shape;467;p12"/>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68" name="Google Shape;468;p12"/>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69" name="Google Shape;469;p12"/>
              <p:cNvGrpSpPr/>
              <p:nvPr/>
            </p:nvGrpSpPr>
            <p:grpSpPr>
              <a:xfrm rot="-5400000">
                <a:off x="1229146" y="2350946"/>
                <a:ext cx="119575" cy="612586"/>
                <a:chOff x="2244455" y="772894"/>
                <a:chExt cx="94658" cy="485003"/>
              </a:xfrm>
            </p:grpSpPr>
            <p:sp>
              <p:nvSpPr>
                <p:cNvPr id="470" name="Google Shape;470;p12"/>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71" name="Google Shape;471;p12"/>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72" name="Google Shape;472;p12"/>
              <p:cNvGrpSpPr/>
              <p:nvPr/>
            </p:nvGrpSpPr>
            <p:grpSpPr>
              <a:xfrm rot="-5400000">
                <a:off x="1229146" y="1892893"/>
                <a:ext cx="119575" cy="612586"/>
                <a:chOff x="2244455" y="772894"/>
                <a:chExt cx="94658" cy="485003"/>
              </a:xfrm>
            </p:grpSpPr>
            <p:sp>
              <p:nvSpPr>
                <p:cNvPr id="473" name="Google Shape;473;p12"/>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74" name="Google Shape;474;p12"/>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nvGrpSpPr>
              <p:cNvPr id="475" name="Google Shape;475;p12"/>
              <p:cNvGrpSpPr/>
              <p:nvPr/>
            </p:nvGrpSpPr>
            <p:grpSpPr>
              <a:xfrm rot="-5400000">
                <a:off x="1229146" y="1434840"/>
                <a:ext cx="119575" cy="612586"/>
                <a:chOff x="2244455" y="772894"/>
                <a:chExt cx="94658" cy="485003"/>
              </a:xfrm>
            </p:grpSpPr>
            <p:sp>
              <p:nvSpPr>
                <p:cNvPr id="476" name="Google Shape;476;p12"/>
                <p:cNvSpPr/>
                <p:nvPr/>
              </p:nvSpPr>
              <p:spPr>
                <a:xfrm>
                  <a:off x="2244455" y="772894"/>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sp>
              <p:nvSpPr>
                <p:cNvPr id="477" name="Google Shape;477;p12"/>
                <p:cNvSpPr/>
                <p:nvPr/>
              </p:nvSpPr>
              <p:spPr>
                <a:xfrm>
                  <a:off x="2313407" y="772895"/>
                  <a:ext cx="25706" cy="485002"/>
                </a:xfrm>
                <a:prstGeom prst="roundRect">
                  <a:avLst>
                    <a:gd fmla="val 50000" name="adj"/>
                  </a:avLst>
                </a:prstGeom>
                <a:gradFill>
                  <a:gsLst>
                    <a:gs pos="0">
                      <a:srgbClr val="7F7F7F"/>
                    </a:gs>
                    <a:gs pos="23000">
                      <a:srgbClr val="A5A5A5"/>
                    </a:gs>
                    <a:gs pos="52000">
                      <a:srgbClr val="D8D8D8"/>
                    </a:gs>
                    <a:gs pos="74000">
                      <a:schemeClr val="lt1"/>
                    </a:gs>
                    <a:gs pos="100000">
                      <a:srgbClr val="A5A5A5"/>
                    </a:gs>
                  </a:gsLst>
                  <a:lin ang="5400000" scaled="0"/>
                </a:gradFill>
                <a:ln cap="flat" cmpd="sng" w="19050">
                  <a:solidFill>
                    <a:srgbClr val="A5A5A5"/>
                  </a:solidFill>
                  <a:prstDash val="solid"/>
                  <a:miter lim="800000"/>
                  <a:headEnd len="sm" w="sm" type="none"/>
                  <a:tailEnd len="sm" w="sm" type="none"/>
                </a:ln>
                <a:effectLst>
                  <a:outerShdw blurRad="254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FFFF"/>
                    </a:solidFill>
                    <a:latin typeface="Arial"/>
                    <a:ea typeface="Arial"/>
                    <a:cs typeface="Arial"/>
                    <a:sym typeface="Arial"/>
                  </a:endParaRPr>
                </a:p>
              </p:txBody>
            </p:sp>
          </p:grpSp>
        </p:grpSp>
      </p:grpSp>
      <p:sp>
        <p:nvSpPr>
          <p:cNvPr id="478" name="Google Shape;478;p12"/>
          <p:cNvSpPr txBox="1"/>
          <p:nvPr/>
        </p:nvSpPr>
        <p:spPr>
          <a:xfrm>
            <a:off x="2073554" y="1932600"/>
            <a:ext cx="8326988" cy="513371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30000"/>
              </a:lnSpc>
              <a:spcBef>
                <a:spcPts val="0"/>
              </a:spcBef>
              <a:spcAft>
                <a:spcPts val="0"/>
              </a:spcAft>
              <a:buClr>
                <a:schemeClr val="dk1"/>
              </a:buClr>
              <a:buSzPts val="2800"/>
              <a:buFont typeface="Times New Roman"/>
              <a:buAutoNum type="arabicPeriod"/>
            </a:pPr>
            <a:r>
              <a:rPr lang="en-US" sz="2800">
                <a:solidFill>
                  <a:schemeClr val="dk1"/>
                </a:solidFill>
                <a:latin typeface="Times New Roman"/>
                <a:ea typeface="Times New Roman"/>
                <a:cs typeface="Times New Roman"/>
                <a:sym typeface="Times New Roman"/>
              </a:rPr>
              <a:t>Không trùng với các "từ khóa" của Java</a:t>
            </a:r>
            <a:endParaRPr/>
          </a:p>
          <a:p>
            <a:pPr indent="-342900" lvl="0" marL="342900" marR="0" rtl="0" algn="l">
              <a:lnSpc>
                <a:spcPct val="130000"/>
              </a:lnSpc>
              <a:spcBef>
                <a:spcPts val="0"/>
              </a:spcBef>
              <a:spcAft>
                <a:spcPts val="0"/>
              </a:spcAft>
              <a:buClr>
                <a:schemeClr val="dk1"/>
              </a:buClr>
              <a:buSzPts val="2800"/>
              <a:buFont typeface="Times New Roman"/>
              <a:buAutoNum type="arabicPeriod"/>
            </a:pPr>
            <a:r>
              <a:rPr lang="en-US" sz="2800">
                <a:solidFill>
                  <a:schemeClr val="dk1"/>
                </a:solidFill>
                <a:latin typeface="Times New Roman"/>
                <a:ea typeface="Times New Roman"/>
                <a:cs typeface="Times New Roman"/>
                <a:sym typeface="Times New Roman"/>
              </a:rPr>
              <a:t>Không được bắt đầu bằng số, ví dụ: 123sinhVien., phải bắt đầu bằng 1 chữ cái hoặc ký tự như $,..</a:t>
            </a:r>
            <a:endParaRPr sz="2800">
              <a:solidFill>
                <a:schemeClr val="dk1"/>
              </a:solidFill>
              <a:latin typeface="Times New Roman"/>
              <a:ea typeface="Times New Roman"/>
              <a:cs typeface="Times New Roman"/>
              <a:sym typeface="Times New Roman"/>
            </a:endParaRPr>
          </a:p>
          <a:p>
            <a:pPr indent="-342900" lvl="0" marL="342900" marR="0" rtl="0" algn="l">
              <a:lnSpc>
                <a:spcPct val="130000"/>
              </a:lnSpc>
              <a:spcBef>
                <a:spcPts val="0"/>
              </a:spcBef>
              <a:spcAft>
                <a:spcPts val="0"/>
              </a:spcAft>
              <a:buClr>
                <a:schemeClr val="dk1"/>
              </a:buClr>
              <a:buSzPts val="2800"/>
              <a:buFont typeface="Times New Roman"/>
              <a:buAutoNum type="arabicPeriod"/>
            </a:pPr>
            <a:r>
              <a:rPr lang="en-US" sz="2800">
                <a:solidFill>
                  <a:schemeClr val="dk1"/>
                </a:solidFill>
                <a:latin typeface="Times New Roman"/>
                <a:ea typeface="Times New Roman"/>
                <a:cs typeface="Times New Roman"/>
                <a:sym typeface="Times New Roman"/>
              </a:rPr>
              <a:t>Không chứa khoảng trắng, các ký tự toán học, Phân biệt chữ hoa chữ thường.</a:t>
            </a:r>
            <a:endParaRPr/>
          </a:p>
          <a:p>
            <a:pPr indent="-342900" lvl="0" marL="342900" marR="0" rtl="0" algn="l">
              <a:lnSpc>
                <a:spcPct val="130000"/>
              </a:lnSpc>
              <a:spcBef>
                <a:spcPts val="0"/>
              </a:spcBef>
              <a:spcAft>
                <a:spcPts val="0"/>
              </a:spcAft>
              <a:buClr>
                <a:schemeClr val="dk1"/>
              </a:buClr>
              <a:buSzPts val="2800"/>
              <a:buFont typeface="Times New Roman"/>
              <a:buAutoNum type="arabicPeriod"/>
            </a:pPr>
            <a:r>
              <a:rPr lang="en-US" sz="2800">
                <a:solidFill>
                  <a:schemeClr val="dk1"/>
                </a:solidFill>
                <a:latin typeface="Times New Roman"/>
                <a:ea typeface="Times New Roman"/>
                <a:cs typeface="Times New Roman"/>
                <a:sym typeface="Times New Roman"/>
              </a:rPr>
              <a:t>Đặt tên theo quy tắc lạc đà (Camel Case).VD: T3HCenter</a:t>
            </a:r>
            <a:endParaRPr sz="2800">
              <a:solidFill>
                <a:schemeClr val="dk1"/>
              </a:solidFill>
              <a:latin typeface="Times New Roman"/>
              <a:ea typeface="Times New Roman"/>
              <a:cs typeface="Times New Roman"/>
              <a:sym typeface="Times New Roman"/>
            </a:endParaRPr>
          </a:p>
          <a:p>
            <a:pPr indent="-165100" lvl="0" marL="342900" marR="0" rtl="0" algn="l">
              <a:lnSpc>
                <a:spcPct val="130000"/>
              </a:lnSpc>
              <a:spcBef>
                <a:spcPts val="0"/>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a:p>
            <a:pPr indent="0" lvl="0" marL="0" marR="0" rtl="0" algn="l">
              <a:lnSpc>
                <a:spcPct val="130000"/>
              </a:lnSpc>
              <a:spcBef>
                <a:spcPts val="0"/>
              </a:spcBef>
              <a:spcAft>
                <a:spcPts val="0"/>
              </a:spcAft>
              <a:buNone/>
            </a:pPr>
            <a:r>
              <a:t/>
            </a:r>
            <a:endParaRPr sz="28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404"/>
                                        </p:tgtEl>
                                        <p:attrNameLst>
                                          <p:attrName>style.visibility</p:attrName>
                                        </p:attrNameLst>
                                      </p:cBhvr>
                                      <p:to>
                                        <p:strVal val="visible"/>
                                      </p:to>
                                    </p:set>
                                    <p:anim calcmode="lin" valueType="num">
                                      <p:cBhvr additive="base">
                                        <p:cTn dur="500"/>
                                        <p:tgtEl>
                                          <p:spTgt spid="40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401"/>
                                        </p:tgtEl>
                                        <p:attrNameLst>
                                          <p:attrName>style.visibility</p:attrName>
                                        </p:attrNameLst>
                                      </p:cBhvr>
                                      <p:to>
                                        <p:strVal val="visible"/>
                                      </p:to>
                                    </p:set>
                                    <p:anim calcmode="lin" valueType="num">
                                      <p:cBhvr additive="base">
                                        <p:cTn dur="500"/>
                                        <p:tgtEl>
                                          <p:spTgt spid="4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pic>
        <p:nvPicPr>
          <p:cNvPr id="483" name="Google Shape;483;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84" name="Google Shape;484;p13"/>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485" name="Google Shape;485;p13"/>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486" name="Google Shape;486;p13"/>
          <p:cNvSpPr/>
          <p:nvPr/>
        </p:nvSpPr>
        <p:spPr>
          <a:xfrm>
            <a:off x="1686227" y="2065020"/>
            <a:ext cx="8589374" cy="4107180"/>
          </a:xfrm>
          <a:prstGeom prst="roundRect">
            <a:avLst>
              <a:gd fmla="val 16667" name="adj"/>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Lập trình hướng đối tượng (OOP) là một kỹ thuật lập trình cho phép lập trình viên tạo ra các đối tượng trong code trừu tượng hóa các đối tượng. </a:t>
            </a:r>
            <a:endParaRPr sz="2800">
              <a:solidFill>
                <a:schemeClr val="dk1"/>
              </a:solidFill>
              <a:latin typeface="Times New Roman"/>
              <a:ea typeface="Times New Roman"/>
              <a:cs typeface="Times New Roman"/>
              <a:sym typeface="Times New Roman"/>
            </a:endParaRPr>
          </a:p>
          <a:p>
            <a:pPr indent="-107950" lvl="0" marL="285750" marR="0" rtl="0" algn="l">
              <a:spcBef>
                <a:spcPts val="0"/>
              </a:spcBef>
              <a:spcAft>
                <a:spcPts val="0"/>
              </a:spcAft>
              <a:buClr>
                <a:schemeClr val="dk1"/>
              </a:buClr>
              <a:buSzPts val="2800"/>
              <a:buFont typeface="Noto Sans Symbols"/>
              <a:buNone/>
            </a:pPr>
            <a:r>
              <a:t/>
            </a:r>
            <a:endParaRPr sz="2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Đối tượng là những sự vật, sự việc mà nó có những tính chất, đặc tính, hành động giống nhau và ta gom góp lại thành đối tượng giống trong thực tế cuộc sống. </a:t>
            </a:r>
            <a:endParaRPr sz="2800">
              <a:solidFill>
                <a:schemeClr val="dk1"/>
              </a:solidFill>
              <a:latin typeface="Times New Roman"/>
              <a:ea typeface="Times New Roman"/>
              <a:cs typeface="Times New Roman"/>
              <a:sym typeface="Times New Roman"/>
            </a:endParaRPr>
          </a:p>
        </p:txBody>
      </p:sp>
      <p:grpSp>
        <p:nvGrpSpPr>
          <p:cNvPr id="487" name="Google Shape;487;p13"/>
          <p:cNvGrpSpPr/>
          <p:nvPr/>
        </p:nvGrpSpPr>
        <p:grpSpPr>
          <a:xfrm>
            <a:off x="1626128" y="1156477"/>
            <a:ext cx="8889472" cy="701040"/>
            <a:chOff x="3129129" y="1121776"/>
            <a:chExt cx="5933741" cy="1171624"/>
          </a:xfrm>
        </p:grpSpPr>
        <p:sp>
          <p:nvSpPr>
            <p:cNvPr id="488" name="Google Shape;488;p13"/>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489" name="Google Shape;489;p13"/>
            <p:cNvSpPr/>
            <p:nvPr/>
          </p:nvSpPr>
          <p:spPr>
            <a:xfrm>
              <a:off x="3289330" y="1253414"/>
              <a:ext cx="5613340" cy="908350"/>
            </a:xfrm>
            <a:prstGeom prst="roundRect">
              <a:avLst>
                <a:gd fmla="val 50000" name="adj"/>
              </a:avLst>
            </a:prstGeom>
            <a:gradFill>
              <a:gsLst>
                <a:gs pos="0">
                  <a:srgbClr val="E87071"/>
                </a:gs>
                <a:gs pos="100000">
                  <a:srgbClr val="F1A9A9"/>
                </a:gs>
              </a:gsLst>
              <a:lin ang="0" scaled="0"/>
            </a:gradFill>
            <a:ln cap="flat" cmpd="sng" w="19050">
              <a:solidFill>
                <a:srgbClr val="F1A9A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grpSp>
      <p:sp>
        <p:nvSpPr>
          <p:cNvPr id="490" name="Google Shape;490;p13"/>
          <p:cNvSpPr txBox="1"/>
          <p:nvPr/>
        </p:nvSpPr>
        <p:spPr>
          <a:xfrm>
            <a:off x="2583436" y="1257856"/>
            <a:ext cx="5522771"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Lập Trình Hướng Đối Tượng Là Gì?</a:t>
            </a:r>
            <a:endParaRPr sz="2400">
              <a:solidFill>
                <a:schemeClr val="dk1"/>
              </a:solidFill>
              <a:latin typeface="Times New Roman"/>
              <a:ea typeface="Times New Roman"/>
              <a:cs typeface="Times New Roman"/>
              <a:sym typeface="Times New Roman"/>
            </a:endParaRPr>
          </a:p>
        </p:txBody>
      </p:sp>
      <p:grpSp>
        <p:nvGrpSpPr>
          <p:cNvPr id="491" name="Google Shape;491;p13"/>
          <p:cNvGrpSpPr/>
          <p:nvPr/>
        </p:nvGrpSpPr>
        <p:grpSpPr>
          <a:xfrm>
            <a:off x="2032723" y="1126383"/>
            <a:ext cx="860201" cy="789889"/>
            <a:chOff x="2912215" y="455848"/>
            <a:chExt cx="1066422" cy="1974366"/>
          </a:xfrm>
        </p:grpSpPr>
        <p:grpSp>
          <p:nvGrpSpPr>
            <p:cNvPr id="492" name="Google Shape;492;p13"/>
            <p:cNvGrpSpPr/>
            <p:nvPr/>
          </p:nvGrpSpPr>
          <p:grpSpPr>
            <a:xfrm>
              <a:off x="2912215" y="455848"/>
              <a:ext cx="1066422" cy="1974366"/>
              <a:chOff x="2996200" y="693603"/>
              <a:chExt cx="1014663" cy="1878543"/>
            </a:xfrm>
          </p:grpSpPr>
          <p:sp>
            <p:nvSpPr>
              <p:cNvPr id="493" name="Google Shape;493;p13"/>
              <p:cNvSpPr/>
              <p:nvPr/>
            </p:nvSpPr>
            <p:spPr>
              <a:xfrm>
                <a:off x="3120961" y="975274"/>
                <a:ext cx="765141" cy="1292595"/>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494" name="Google Shape;494;p13"/>
              <p:cNvSpPr/>
              <p:nvPr/>
            </p:nvSpPr>
            <p:spPr>
              <a:xfrm>
                <a:off x="2996200" y="693603"/>
                <a:ext cx="1014663" cy="1878543"/>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495" name="Google Shape;495;p13"/>
            <p:cNvSpPr txBox="1"/>
            <p:nvPr/>
          </p:nvSpPr>
          <p:spPr>
            <a:xfrm>
              <a:off x="3058306" y="850448"/>
              <a:ext cx="774239" cy="10860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E87071"/>
                  </a:solidFill>
                  <a:latin typeface="Impact"/>
                  <a:ea typeface="Impact"/>
                  <a:cs typeface="Impact"/>
                  <a:sym typeface="Impact"/>
                </a:rPr>
                <a:t>03</a:t>
              </a:r>
              <a:endParaRPr sz="2400">
                <a:solidFill>
                  <a:srgbClr val="E87071"/>
                </a:solidFill>
                <a:latin typeface="Impact"/>
                <a:ea typeface="Impact"/>
                <a:cs typeface="Impact"/>
                <a:sym typeface="Impact"/>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487"/>
                                        </p:tgtEl>
                                        <p:attrNameLst>
                                          <p:attrName>style.visibility</p:attrName>
                                        </p:attrNameLst>
                                      </p:cBhvr>
                                      <p:to>
                                        <p:strVal val="visible"/>
                                      </p:to>
                                    </p:set>
                                    <p:anim calcmode="lin" valueType="num">
                                      <p:cBhvr additive="base">
                                        <p:cTn dur="500"/>
                                        <p:tgtEl>
                                          <p:spTgt spid="487"/>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491"/>
                                        </p:tgtEl>
                                        <p:attrNameLst>
                                          <p:attrName>style.visibility</p:attrName>
                                        </p:attrNameLst>
                                      </p:cBhvr>
                                      <p:to>
                                        <p:strVal val="visible"/>
                                      </p:to>
                                    </p:set>
                                    <p:anim calcmode="lin" valueType="num">
                                      <p:cBhvr additive="base">
                                        <p:cTn dur="500"/>
                                        <p:tgtEl>
                                          <p:spTgt spid="49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pic>
        <p:nvPicPr>
          <p:cNvPr id="500" name="Google Shape;500;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01" name="Google Shape;501;p14"/>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502" name="Google Shape;502;p14"/>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503" name="Google Shape;503;p14"/>
          <p:cNvSpPr/>
          <p:nvPr/>
        </p:nvSpPr>
        <p:spPr>
          <a:xfrm>
            <a:off x="1198977" y="2301240"/>
            <a:ext cx="8829373" cy="3947160"/>
          </a:xfrm>
          <a:prstGeom prst="roundRect">
            <a:avLst>
              <a:gd fmla="val 16667" name="adj"/>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285750" lvl="0" marL="28575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Khi lập trình OOP, chúng ta sẽ định nghĩa các lớp (class) để gom (mô hình) các đối tượng thực tế.</a:t>
            </a:r>
            <a:endParaRPr sz="2800">
              <a:solidFill>
                <a:schemeClr val="dk1"/>
              </a:solidFill>
              <a:latin typeface="Times New Roman"/>
              <a:ea typeface="Times New Roman"/>
              <a:cs typeface="Times New Roman"/>
              <a:sym typeface="Times New Roman"/>
            </a:endParaRPr>
          </a:p>
          <a:p>
            <a:pPr indent="-107950" lvl="0" marL="285750" marR="0" rtl="0" algn="l">
              <a:spcBef>
                <a:spcPts val="0"/>
              </a:spcBef>
              <a:spcAft>
                <a:spcPts val="0"/>
              </a:spcAft>
              <a:buClr>
                <a:schemeClr val="dk1"/>
              </a:buClr>
              <a:buSzPts val="2800"/>
              <a:buFont typeface="Noto Sans Symbols"/>
              <a:buNone/>
            </a:pPr>
            <a:r>
              <a:t/>
            </a:r>
            <a:endParaRPr sz="2800">
              <a:solidFill>
                <a:schemeClr val="dk1"/>
              </a:solidFill>
              <a:latin typeface="Times New Roman"/>
              <a:ea typeface="Times New Roman"/>
              <a:cs typeface="Times New Roman"/>
              <a:sym typeface="Times New Roman"/>
            </a:endParaRPr>
          </a:p>
          <a:p>
            <a:pPr indent="-285750" lvl="0" marL="285750" marR="0" rtl="0" algn="l">
              <a:spcBef>
                <a:spcPts val="0"/>
              </a:spcBef>
              <a:spcAft>
                <a:spcPts val="0"/>
              </a:spcAft>
              <a:buClr>
                <a:schemeClr val="dk1"/>
              </a:buClr>
              <a:buSzPts val="2800"/>
              <a:buFont typeface="Noto Sans Symbols"/>
              <a:buChar char="❖"/>
            </a:pPr>
            <a:r>
              <a:rPr lang="en-US" sz="2800">
                <a:solidFill>
                  <a:schemeClr val="dk1"/>
                </a:solidFill>
                <a:latin typeface="Times New Roman"/>
                <a:ea typeface="Times New Roman"/>
                <a:cs typeface="Times New Roman"/>
                <a:sym typeface="Times New Roman"/>
              </a:rPr>
              <a:t>Một đối tượng bao gồm 2 thông tin: Thuộc tính(Attribute) và Phương thức(Method).</a:t>
            </a:r>
            <a:endParaRPr sz="2800">
              <a:solidFill>
                <a:schemeClr val="dk1"/>
              </a:solidFill>
              <a:latin typeface="Times New Roman"/>
              <a:ea typeface="Times New Roman"/>
              <a:cs typeface="Times New Roman"/>
              <a:sym typeface="Times New Roman"/>
            </a:endParaRPr>
          </a:p>
        </p:txBody>
      </p:sp>
      <p:grpSp>
        <p:nvGrpSpPr>
          <p:cNvPr id="504" name="Google Shape;504;p14"/>
          <p:cNvGrpSpPr/>
          <p:nvPr/>
        </p:nvGrpSpPr>
        <p:grpSpPr>
          <a:xfrm>
            <a:off x="1168928" y="1363981"/>
            <a:ext cx="8889472" cy="701040"/>
            <a:chOff x="3129129" y="1121776"/>
            <a:chExt cx="5933741" cy="1171624"/>
          </a:xfrm>
        </p:grpSpPr>
        <p:sp>
          <p:nvSpPr>
            <p:cNvPr id="505" name="Google Shape;505;p14"/>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506" name="Google Shape;506;p14"/>
            <p:cNvSpPr/>
            <p:nvPr/>
          </p:nvSpPr>
          <p:spPr>
            <a:xfrm>
              <a:off x="3289330" y="1253414"/>
              <a:ext cx="5613340" cy="908350"/>
            </a:xfrm>
            <a:prstGeom prst="roundRect">
              <a:avLst>
                <a:gd fmla="val 50000" name="adj"/>
              </a:avLst>
            </a:prstGeom>
            <a:gradFill>
              <a:gsLst>
                <a:gs pos="0">
                  <a:srgbClr val="E87071"/>
                </a:gs>
                <a:gs pos="100000">
                  <a:srgbClr val="F1A9A9"/>
                </a:gs>
              </a:gsLst>
              <a:lin ang="0" scaled="0"/>
            </a:gradFill>
            <a:ln cap="flat" cmpd="sng" w="19050">
              <a:solidFill>
                <a:srgbClr val="F1A9A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grpSp>
      <p:sp>
        <p:nvSpPr>
          <p:cNvPr id="507" name="Google Shape;507;p14"/>
          <p:cNvSpPr txBox="1"/>
          <p:nvPr/>
        </p:nvSpPr>
        <p:spPr>
          <a:xfrm>
            <a:off x="2126236" y="1465360"/>
            <a:ext cx="5522771"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Lập Trình Hướng Đối Tượng Là Gì?</a:t>
            </a:r>
            <a:endParaRPr sz="2400">
              <a:solidFill>
                <a:schemeClr val="dk1"/>
              </a:solidFill>
              <a:latin typeface="Times New Roman"/>
              <a:ea typeface="Times New Roman"/>
              <a:cs typeface="Times New Roman"/>
              <a:sym typeface="Times New Roman"/>
            </a:endParaRPr>
          </a:p>
        </p:txBody>
      </p:sp>
      <p:grpSp>
        <p:nvGrpSpPr>
          <p:cNvPr id="508" name="Google Shape;508;p14"/>
          <p:cNvGrpSpPr/>
          <p:nvPr/>
        </p:nvGrpSpPr>
        <p:grpSpPr>
          <a:xfrm>
            <a:off x="1575523" y="1333887"/>
            <a:ext cx="860201" cy="789889"/>
            <a:chOff x="2912215" y="455848"/>
            <a:chExt cx="1066422" cy="1974366"/>
          </a:xfrm>
        </p:grpSpPr>
        <p:grpSp>
          <p:nvGrpSpPr>
            <p:cNvPr id="509" name="Google Shape;509;p14"/>
            <p:cNvGrpSpPr/>
            <p:nvPr/>
          </p:nvGrpSpPr>
          <p:grpSpPr>
            <a:xfrm>
              <a:off x="2912215" y="455848"/>
              <a:ext cx="1066422" cy="1974366"/>
              <a:chOff x="2996200" y="693603"/>
              <a:chExt cx="1014663" cy="1878543"/>
            </a:xfrm>
          </p:grpSpPr>
          <p:sp>
            <p:nvSpPr>
              <p:cNvPr id="510" name="Google Shape;510;p14"/>
              <p:cNvSpPr/>
              <p:nvPr/>
            </p:nvSpPr>
            <p:spPr>
              <a:xfrm>
                <a:off x="3120961" y="975274"/>
                <a:ext cx="765141" cy="1292595"/>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511" name="Google Shape;511;p14"/>
              <p:cNvSpPr/>
              <p:nvPr/>
            </p:nvSpPr>
            <p:spPr>
              <a:xfrm>
                <a:off x="2996200" y="693603"/>
                <a:ext cx="1014663" cy="1878543"/>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512" name="Google Shape;512;p14"/>
            <p:cNvSpPr txBox="1"/>
            <p:nvPr/>
          </p:nvSpPr>
          <p:spPr>
            <a:xfrm>
              <a:off x="3058306" y="850448"/>
              <a:ext cx="774239" cy="10860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E87071"/>
                  </a:solidFill>
                  <a:latin typeface="Impact"/>
                  <a:ea typeface="Impact"/>
                  <a:cs typeface="Impact"/>
                  <a:sym typeface="Impact"/>
                </a:rPr>
                <a:t>03</a:t>
              </a:r>
              <a:endParaRPr sz="2400">
                <a:solidFill>
                  <a:srgbClr val="E87071"/>
                </a:solidFill>
                <a:latin typeface="Impact"/>
                <a:ea typeface="Impact"/>
                <a:cs typeface="Impact"/>
                <a:sym typeface="Impact"/>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504"/>
                                        </p:tgtEl>
                                        <p:attrNameLst>
                                          <p:attrName>style.visibility</p:attrName>
                                        </p:attrNameLst>
                                      </p:cBhvr>
                                      <p:to>
                                        <p:strVal val="visible"/>
                                      </p:to>
                                    </p:set>
                                    <p:anim calcmode="lin" valueType="num">
                                      <p:cBhvr additive="base">
                                        <p:cTn dur="500"/>
                                        <p:tgtEl>
                                          <p:spTgt spid="50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508"/>
                                        </p:tgtEl>
                                        <p:attrNameLst>
                                          <p:attrName>style.visibility</p:attrName>
                                        </p:attrNameLst>
                                      </p:cBhvr>
                                      <p:to>
                                        <p:strVal val="visible"/>
                                      </p:to>
                                    </p:set>
                                    <p:anim calcmode="lin" valueType="num">
                                      <p:cBhvr additive="base">
                                        <p:cTn dur="500"/>
                                        <p:tgtEl>
                                          <p:spTgt spid="50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pic>
        <p:nvPicPr>
          <p:cNvPr id="517" name="Google Shape;517;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18" name="Google Shape;518;p15"/>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519" name="Google Shape;519;p15"/>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520" name="Google Shape;520;p15"/>
          <p:cNvGrpSpPr/>
          <p:nvPr/>
        </p:nvGrpSpPr>
        <p:grpSpPr>
          <a:xfrm>
            <a:off x="1074421" y="1147929"/>
            <a:ext cx="8907779" cy="867279"/>
            <a:chOff x="3129129" y="1121776"/>
            <a:chExt cx="5933741" cy="1171624"/>
          </a:xfrm>
        </p:grpSpPr>
        <p:sp>
          <p:nvSpPr>
            <p:cNvPr id="521" name="Google Shape;521;p15"/>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522" name="Google Shape;522;p15"/>
            <p:cNvSpPr/>
            <p:nvPr/>
          </p:nvSpPr>
          <p:spPr>
            <a:xfrm>
              <a:off x="3289330" y="1253414"/>
              <a:ext cx="5613340" cy="908350"/>
            </a:xfrm>
            <a:prstGeom prst="roundRect">
              <a:avLst>
                <a:gd fmla="val 50000" name="adj"/>
              </a:avLst>
            </a:prstGeom>
            <a:gradFill>
              <a:gsLst>
                <a:gs pos="0">
                  <a:srgbClr val="E87071"/>
                </a:gs>
                <a:gs pos="100000">
                  <a:srgbClr val="F1A9A9"/>
                </a:gs>
              </a:gsLst>
              <a:lin ang="0" scaled="0"/>
            </a:gradFill>
            <a:ln cap="flat" cmpd="sng" w="19050">
              <a:solidFill>
                <a:srgbClr val="F1A9A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grpSp>
      <p:sp>
        <p:nvSpPr>
          <p:cNvPr id="523" name="Google Shape;523;p15"/>
          <p:cNvSpPr txBox="1"/>
          <p:nvPr/>
        </p:nvSpPr>
        <p:spPr>
          <a:xfrm>
            <a:off x="2533411" y="1299102"/>
            <a:ext cx="6239803"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Times New Roman"/>
                <a:ea typeface="Times New Roman"/>
                <a:cs typeface="Times New Roman"/>
                <a:sym typeface="Times New Roman"/>
              </a:rPr>
              <a:t>Lập Trình Hướng Đối Tượng Là Gì?</a:t>
            </a:r>
            <a:endParaRPr sz="2800">
              <a:solidFill>
                <a:schemeClr val="dk1"/>
              </a:solidFill>
              <a:latin typeface="Times New Roman"/>
              <a:ea typeface="Times New Roman"/>
              <a:cs typeface="Times New Roman"/>
              <a:sym typeface="Times New Roman"/>
            </a:endParaRPr>
          </a:p>
        </p:txBody>
      </p:sp>
      <p:grpSp>
        <p:nvGrpSpPr>
          <p:cNvPr id="524" name="Google Shape;524;p15"/>
          <p:cNvGrpSpPr/>
          <p:nvPr/>
        </p:nvGrpSpPr>
        <p:grpSpPr>
          <a:xfrm>
            <a:off x="1665032" y="1095218"/>
            <a:ext cx="1446747" cy="1331189"/>
            <a:chOff x="3020983" y="881796"/>
            <a:chExt cx="2097410" cy="2097410"/>
          </a:xfrm>
        </p:grpSpPr>
        <p:grpSp>
          <p:nvGrpSpPr>
            <p:cNvPr id="525" name="Google Shape;525;p15"/>
            <p:cNvGrpSpPr/>
            <p:nvPr/>
          </p:nvGrpSpPr>
          <p:grpSpPr>
            <a:xfrm>
              <a:off x="3020983" y="881796"/>
              <a:ext cx="2097410" cy="2097410"/>
              <a:chOff x="3099689" y="1098878"/>
              <a:chExt cx="1995612" cy="1995615"/>
            </a:xfrm>
          </p:grpSpPr>
          <p:grpSp>
            <p:nvGrpSpPr>
              <p:cNvPr id="526" name="Google Shape;526;p15"/>
              <p:cNvGrpSpPr/>
              <p:nvPr/>
            </p:nvGrpSpPr>
            <p:grpSpPr>
              <a:xfrm>
                <a:off x="3099689" y="1098878"/>
                <a:ext cx="1995612" cy="1995615"/>
                <a:chOff x="6804316" y="2574806"/>
                <a:chExt cx="3585705" cy="3585705"/>
              </a:xfrm>
            </p:grpSpPr>
            <p:sp>
              <p:nvSpPr>
                <p:cNvPr id="527" name="Google Shape;527;p15"/>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528" name="Google Shape;528;p15"/>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529" name="Google Shape;529;p15"/>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530" name="Google Shape;530;p15"/>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531" name="Google Shape;531;p15"/>
            <p:cNvSpPr txBox="1"/>
            <p:nvPr/>
          </p:nvSpPr>
          <p:spPr>
            <a:xfrm>
              <a:off x="3437036" y="1269298"/>
              <a:ext cx="774240" cy="61555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E87071"/>
                  </a:solidFill>
                  <a:latin typeface="Impact"/>
                  <a:ea typeface="Impact"/>
                  <a:cs typeface="Impact"/>
                  <a:sym typeface="Impact"/>
                </a:rPr>
                <a:t>03</a:t>
              </a:r>
              <a:endParaRPr sz="2400">
                <a:solidFill>
                  <a:srgbClr val="E87071"/>
                </a:solidFill>
                <a:latin typeface="Impact"/>
                <a:ea typeface="Impact"/>
                <a:cs typeface="Impact"/>
                <a:sym typeface="Impact"/>
              </a:endParaRPr>
            </a:p>
          </p:txBody>
        </p:sp>
      </p:grpSp>
      <p:sp>
        <p:nvSpPr>
          <p:cNvPr id="532" name="Google Shape;532;p15"/>
          <p:cNvSpPr/>
          <p:nvPr/>
        </p:nvSpPr>
        <p:spPr>
          <a:xfrm>
            <a:off x="1558173" y="2244283"/>
            <a:ext cx="8077437" cy="482819"/>
          </a:xfrm>
          <a:prstGeom prst="rect">
            <a:avLst/>
          </a:prstGeom>
          <a:noFill/>
          <a:ln>
            <a:noFill/>
          </a:ln>
        </p:spPr>
        <p:txBody>
          <a:bodyPr anchorCtr="0" anchor="t" bIns="25700" lIns="51425" spcFirstLastPara="1" rIns="51425" wrap="square" tIns="25700">
            <a:spAutoFit/>
          </a:bodyPr>
          <a:lstStyle/>
          <a:p>
            <a:pPr indent="0" lvl="0" marL="0" marR="0" rtl="0" algn="l">
              <a:spcBef>
                <a:spcPts val="0"/>
              </a:spcBef>
              <a:spcAft>
                <a:spcPts val="0"/>
              </a:spcAft>
              <a:buClr>
                <a:srgbClr val="E87071"/>
              </a:buClr>
              <a:buSzPts val="2800"/>
              <a:buFont typeface="Arial"/>
              <a:buNone/>
            </a:pPr>
            <a:r>
              <a:rPr b="1" lang="en-US" sz="2800">
                <a:solidFill>
                  <a:srgbClr val="E87071"/>
                </a:solidFill>
                <a:latin typeface="Times New Roman"/>
                <a:ea typeface="Times New Roman"/>
                <a:cs typeface="Times New Roman"/>
                <a:sym typeface="Times New Roman"/>
              </a:rPr>
              <a:t>Sự khác nhau giữa class(Lớp) và object(Đối tượng)</a:t>
            </a:r>
            <a:endParaRPr b="1" sz="2800">
              <a:solidFill>
                <a:srgbClr val="E87071"/>
              </a:solidFill>
              <a:latin typeface="Times New Roman"/>
              <a:ea typeface="Times New Roman"/>
              <a:cs typeface="Times New Roman"/>
              <a:sym typeface="Times New Roman"/>
            </a:endParaRPr>
          </a:p>
        </p:txBody>
      </p:sp>
      <p:pic>
        <p:nvPicPr>
          <p:cNvPr id="533" name="Google Shape;533;p15"/>
          <p:cNvPicPr preferRelativeResize="0"/>
          <p:nvPr/>
        </p:nvPicPr>
        <p:blipFill rotWithShape="1">
          <a:blip r:embed="rId5">
            <a:alphaModFix/>
          </a:blip>
          <a:srcRect b="0" l="0" r="0" t="0"/>
          <a:stretch/>
        </p:blipFill>
        <p:spPr>
          <a:xfrm>
            <a:off x="1144906" y="3067774"/>
            <a:ext cx="8766807" cy="3028226"/>
          </a:xfrm>
          <a:prstGeom prst="rect">
            <a:avLst/>
          </a:prstGeom>
          <a:noFill/>
          <a:ln>
            <a:noFill/>
          </a:ln>
        </p:spPr>
      </p:pic>
      <p:sp>
        <p:nvSpPr>
          <p:cNvPr id="534" name="Google Shape;534;p15"/>
          <p:cNvSpPr/>
          <p:nvPr/>
        </p:nvSpPr>
        <p:spPr>
          <a:xfrm>
            <a:off x="5340419" y="2749773"/>
            <a:ext cx="187891" cy="295330"/>
          </a:xfrm>
          <a:prstGeom prst="downArrow">
            <a:avLst>
              <a:gd fmla="val 50000" name="adj1"/>
              <a:gd fmla="val 50000" name="adj2"/>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520"/>
                                        </p:tgtEl>
                                        <p:attrNameLst>
                                          <p:attrName>style.visibility</p:attrName>
                                        </p:attrNameLst>
                                      </p:cBhvr>
                                      <p:to>
                                        <p:strVal val="visible"/>
                                      </p:to>
                                    </p:set>
                                    <p:anim calcmode="lin" valueType="num">
                                      <p:cBhvr additive="base">
                                        <p:cTn dur="500"/>
                                        <p:tgtEl>
                                          <p:spTgt spid="52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524"/>
                                        </p:tgtEl>
                                        <p:attrNameLst>
                                          <p:attrName>style.visibility</p:attrName>
                                        </p:attrNameLst>
                                      </p:cBhvr>
                                      <p:to>
                                        <p:strVal val="visible"/>
                                      </p:to>
                                    </p:set>
                                    <p:anim calcmode="lin" valueType="num">
                                      <p:cBhvr additive="base">
                                        <p:cTn dur="500"/>
                                        <p:tgtEl>
                                          <p:spTgt spid="524"/>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532"/>
                                        </p:tgtEl>
                                        <p:attrNameLst>
                                          <p:attrName>style.visibility</p:attrName>
                                        </p:attrNameLst>
                                      </p:cBhvr>
                                      <p:to>
                                        <p:strVal val="visible"/>
                                      </p:to>
                                    </p:set>
                                    <p:anim calcmode="lin" valueType="num">
                                      <p:cBhvr additive="base">
                                        <p:cTn dur="1000"/>
                                        <p:tgtEl>
                                          <p:spTgt spid="53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pic>
        <p:nvPicPr>
          <p:cNvPr id="539" name="Google Shape;539;p16"/>
          <p:cNvPicPr preferRelativeResize="0"/>
          <p:nvPr/>
        </p:nvPicPr>
        <p:blipFill rotWithShape="1">
          <a:blip r:embed="rId3">
            <a:alphaModFix/>
          </a:blip>
          <a:srcRect b="0" l="0" r="0" t="0"/>
          <a:stretch/>
        </p:blipFill>
        <p:spPr>
          <a:xfrm>
            <a:off x="0" y="-17009"/>
            <a:ext cx="12192000" cy="6858000"/>
          </a:xfrm>
          <a:prstGeom prst="rect">
            <a:avLst/>
          </a:prstGeom>
          <a:noFill/>
          <a:ln>
            <a:noFill/>
          </a:ln>
        </p:spPr>
      </p:pic>
      <p:sp>
        <p:nvSpPr>
          <p:cNvPr id="540" name="Google Shape;540;p16"/>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541" name="Google Shape;541;p16"/>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542" name="Google Shape;542;p16"/>
          <p:cNvGrpSpPr/>
          <p:nvPr/>
        </p:nvGrpSpPr>
        <p:grpSpPr>
          <a:xfrm>
            <a:off x="1994890" y="920620"/>
            <a:ext cx="8590752" cy="822739"/>
            <a:chOff x="3129129" y="1121776"/>
            <a:chExt cx="5933741" cy="1171624"/>
          </a:xfrm>
        </p:grpSpPr>
        <p:sp>
          <p:nvSpPr>
            <p:cNvPr id="543" name="Google Shape;543;p16"/>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544" name="Google Shape;544;p16"/>
            <p:cNvSpPr/>
            <p:nvPr/>
          </p:nvSpPr>
          <p:spPr>
            <a:xfrm>
              <a:off x="3289330" y="1253414"/>
              <a:ext cx="5613340" cy="908350"/>
            </a:xfrm>
            <a:prstGeom prst="roundRect">
              <a:avLst>
                <a:gd fmla="val 50000" name="adj"/>
              </a:avLst>
            </a:prstGeom>
            <a:gradFill>
              <a:gsLst>
                <a:gs pos="0">
                  <a:srgbClr val="663A77"/>
                </a:gs>
                <a:gs pos="100000">
                  <a:srgbClr val="A26CB8"/>
                </a:gs>
              </a:gsLst>
              <a:lin ang="0" scaled="0"/>
            </a:gradFill>
            <a:ln cap="flat" cmpd="sng" w="19050">
              <a:solidFill>
                <a:srgbClr val="A26CB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grpSp>
      <p:grpSp>
        <p:nvGrpSpPr>
          <p:cNvPr id="545" name="Google Shape;545;p16"/>
          <p:cNvGrpSpPr/>
          <p:nvPr/>
        </p:nvGrpSpPr>
        <p:grpSpPr>
          <a:xfrm>
            <a:off x="2277849" y="905904"/>
            <a:ext cx="1478653" cy="1285979"/>
            <a:chOff x="3020983" y="881796"/>
            <a:chExt cx="2097410" cy="2097410"/>
          </a:xfrm>
        </p:grpSpPr>
        <p:grpSp>
          <p:nvGrpSpPr>
            <p:cNvPr id="546" name="Google Shape;546;p16"/>
            <p:cNvGrpSpPr/>
            <p:nvPr/>
          </p:nvGrpSpPr>
          <p:grpSpPr>
            <a:xfrm>
              <a:off x="3020983" y="881796"/>
              <a:ext cx="2097410" cy="2097410"/>
              <a:chOff x="3099689" y="1098878"/>
              <a:chExt cx="1995612" cy="1995615"/>
            </a:xfrm>
          </p:grpSpPr>
          <p:grpSp>
            <p:nvGrpSpPr>
              <p:cNvPr id="547" name="Google Shape;547;p16"/>
              <p:cNvGrpSpPr/>
              <p:nvPr/>
            </p:nvGrpSpPr>
            <p:grpSpPr>
              <a:xfrm>
                <a:off x="3099689" y="1098878"/>
                <a:ext cx="1995612" cy="1995615"/>
                <a:chOff x="6804316" y="2574806"/>
                <a:chExt cx="3585705" cy="3585705"/>
              </a:xfrm>
            </p:grpSpPr>
            <p:sp>
              <p:nvSpPr>
                <p:cNvPr id="548" name="Google Shape;548;p16"/>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549" name="Google Shape;549;p16"/>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550" name="Google Shape;550;p16"/>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551" name="Google Shape;551;p16"/>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552" name="Google Shape;552;p16"/>
            <p:cNvSpPr txBox="1"/>
            <p:nvPr/>
          </p:nvSpPr>
          <p:spPr>
            <a:xfrm>
              <a:off x="3437036" y="1269298"/>
              <a:ext cx="774240" cy="61555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663A77"/>
                  </a:solidFill>
                  <a:latin typeface="Impact"/>
                  <a:ea typeface="Impact"/>
                  <a:cs typeface="Impact"/>
                  <a:sym typeface="Impact"/>
                </a:rPr>
                <a:t>04</a:t>
              </a:r>
              <a:endParaRPr sz="2400">
                <a:solidFill>
                  <a:srgbClr val="663A77"/>
                </a:solidFill>
                <a:latin typeface="Impact"/>
                <a:ea typeface="Impact"/>
                <a:cs typeface="Impact"/>
                <a:sym typeface="Impact"/>
              </a:endParaRPr>
            </a:p>
          </p:txBody>
        </p:sp>
      </p:grpSp>
      <p:grpSp>
        <p:nvGrpSpPr>
          <p:cNvPr id="553" name="Google Shape;553;p16"/>
          <p:cNvGrpSpPr/>
          <p:nvPr/>
        </p:nvGrpSpPr>
        <p:grpSpPr>
          <a:xfrm>
            <a:off x="3467443" y="1101156"/>
            <a:ext cx="5883804" cy="1614807"/>
            <a:chOff x="1369861" y="-454131"/>
            <a:chExt cx="4889732" cy="2646265"/>
          </a:xfrm>
        </p:grpSpPr>
        <p:sp>
          <p:nvSpPr>
            <p:cNvPr id="554" name="Google Shape;554;p16"/>
            <p:cNvSpPr txBox="1"/>
            <p:nvPr/>
          </p:nvSpPr>
          <p:spPr>
            <a:xfrm>
              <a:off x="1369861" y="-454131"/>
              <a:ext cx="2977879" cy="756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2F2F2"/>
                  </a:solidFill>
                  <a:latin typeface="Times New Roman"/>
                  <a:ea typeface="Times New Roman"/>
                  <a:cs typeface="Times New Roman"/>
                  <a:sym typeface="Times New Roman"/>
                </a:rPr>
                <a:t>Cài Đặt Môi Trường</a:t>
              </a:r>
              <a:endParaRPr b="1" sz="2400">
                <a:solidFill>
                  <a:srgbClr val="F2F2F2"/>
                </a:solidFill>
                <a:latin typeface="Times New Roman"/>
                <a:ea typeface="Times New Roman"/>
                <a:cs typeface="Times New Roman"/>
                <a:sym typeface="Times New Roman"/>
              </a:endParaRPr>
            </a:p>
          </p:txBody>
        </p:sp>
        <p:grpSp>
          <p:nvGrpSpPr>
            <p:cNvPr id="555" name="Google Shape;555;p16"/>
            <p:cNvGrpSpPr/>
            <p:nvPr/>
          </p:nvGrpSpPr>
          <p:grpSpPr>
            <a:xfrm>
              <a:off x="5790400" y="1905107"/>
              <a:ext cx="469193" cy="287027"/>
              <a:chOff x="4873620" y="2093913"/>
              <a:chExt cx="269882" cy="165100"/>
            </a:xfrm>
          </p:grpSpPr>
          <p:sp>
            <p:nvSpPr>
              <p:cNvPr id="556" name="Google Shape;556;p16"/>
              <p:cNvSpPr/>
              <p:nvPr/>
            </p:nvSpPr>
            <p:spPr>
              <a:xfrm>
                <a:off x="4873620" y="2127250"/>
                <a:ext cx="112713" cy="131763"/>
              </a:xfrm>
              <a:custGeom>
                <a:rect b="b" l="l" r="r" t="t"/>
                <a:pathLst>
                  <a:path extrusionOk="0" h="35" w="30">
                    <a:moveTo>
                      <a:pt x="2" y="0"/>
                    </a:moveTo>
                    <a:cubicBezTo>
                      <a:pt x="28" y="0"/>
                      <a:pt x="28" y="0"/>
                      <a:pt x="28" y="0"/>
                    </a:cubicBezTo>
                    <a:cubicBezTo>
                      <a:pt x="29" y="0"/>
                      <a:pt x="30" y="1"/>
                      <a:pt x="30" y="1"/>
                    </a:cubicBezTo>
                    <a:cubicBezTo>
                      <a:pt x="30" y="2"/>
                      <a:pt x="29" y="3"/>
                      <a:pt x="28" y="3"/>
                    </a:cubicBezTo>
                    <a:cubicBezTo>
                      <a:pt x="3" y="3"/>
                      <a:pt x="3" y="3"/>
                      <a:pt x="3" y="3"/>
                    </a:cubicBezTo>
                    <a:cubicBezTo>
                      <a:pt x="3" y="33"/>
                      <a:pt x="3" y="33"/>
                      <a:pt x="3" y="33"/>
                    </a:cubicBezTo>
                    <a:cubicBezTo>
                      <a:pt x="3" y="34"/>
                      <a:pt x="3" y="35"/>
                      <a:pt x="2" y="35"/>
                    </a:cubicBezTo>
                    <a:cubicBezTo>
                      <a:pt x="1" y="35"/>
                      <a:pt x="0" y="34"/>
                      <a:pt x="0" y="33"/>
                    </a:cubicBezTo>
                    <a:cubicBezTo>
                      <a:pt x="0" y="1"/>
                      <a:pt x="0" y="1"/>
                      <a:pt x="0" y="1"/>
                    </a:cubicBezTo>
                    <a:cubicBezTo>
                      <a:pt x="0" y="1"/>
                      <a:pt x="1" y="0"/>
                      <a:pt x="2" y="0"/>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4">
                  <a:solidFill>
                    <a:srgbClr val="000000"/>
                  </a:solidFill>
                  <a:latin typeface="Arial"/>
                  <a:ea typeface="Arial"/>
                  <a:cs typeface="Arial"/>
                  <a:sym typeface="Arial"/>
                </a:endParaRPr>
              </a:p>
            </p:txBody>
          </p:sp>
          <p:sp>
            <p:nvSpPr>
              <p:cNvPr id="557" name="Google Shape;557;p16"/>
              <p:cNvSpPr/>
              <p:nvPr/>
            </p:nvSpPr>
            <p:spPr>
              <a:xfrm>
                <a:off x="5046664" y="2093913"/>
                <a:ext cx="96838" cy="112713"/>
              </a:xfrm>
              <a:custGeom>
                <a:rect b="b" l="l" r="r" t="t"/>
                <a:pathLst>
                  <a:path extrusionOk="0" h="30" w="26">
                    <a:moveTo>
                      <a:pt x="1" y="27"/>
                    </a:moveTo>
                    <a:cubicBezTo>
                      <a:pt x="23" y="27"/>
                      <a:pt x="23" y="27"/>
                      <a:pt x="23" y="27"/>
                    </a:cubicBezTo>
                    <a:cubicBezTo>
                      <a:pt x="23" y="2"/>
                      <a:pt x="23" y="2"/>
                      <a:pt x="23" y="2"/>
                    </a:cubicBezTo>
                    <a:cubicBezTo>
                      <a:pt x="23" y="1"/>
                      <a:pt x="23" y="0"/>
                      <a:pt x="24" y="0"/>
                    </a:cubicBezTo>
                    <a:cubicBezTo>
                      <a:pt x="25" y="0"/>
                      <a:pt x="26" y="1"/>
                      <a:pt x="26" y="2"/>
                    </a:cubicBezTo>
                    <a:cubicBezTo>
                      <a:pt x="26" y="28"/>
                      <a:pt x="26" y="28"/>
                      <a:pt x="26" y="28"/>
                    </a:cubicBezTo>
                    <a:cubicBezTo>
                      <a:pt x="26" y="29"/>
                      <a:pt x="25" y="30"/>
                      <a:pt x="24" y="30"/>
                    </a:cubicBezTo>
                    <a:cubicBezTo>
                      <a:pt x="1" y="30"/>
                      <a:pt x="1" y="30"/>
                      <a:pt x="1" y="30"/>
                    </a:cubicBezTo>
                    <a:cubicBezTo>
                      <a:pt x="0" y="30"/>
                      <a:pt x="0" y="29"/>
                      <a:pt x="0" y="28"/>
                    </a:cubicBezTo>
                    <a:cubicBezTo>
                      <a:pt x="0" y="27"/>
                      <a:pt x="0" y="27"/>
                      <a:pt x="1" y="2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4">
                  <a:solidFill>
                    <a:srgbClr val="000000"/>
                  </a:solidFill>
                  <a:latin typeface="Arial"/>
                  <a:ea typeface="Arial"/>
                  <a:cs typeface="Arial"/>
                  <a:sym typeface="Arial"/>
                </a:endParaRPr>
              </a:p>
            </p:txBody>
          </p:sp>
        </p:grpSp>
      </p:grpSp>
      <p:sp>
        <p:nvSpPr>
          <p:cNvPr id="558" name="Google Shape;558;p16"/>
          <p:cNvSpPr/>
          <p:nvPr/>
        </p:nvSpPr>
        <p:spPr>
          <a:xfrm>
            <a:off x="2666368" y="2066245"/>
            <a:ext cx="7925432" cy="774246"/>
          </a:xfrm>
          <a:prstGeom prst="rect">
            <a:avLst/>
          </a:prstGeom>
          <a:noFill/>
          <a:ln cap="flat" cmpd="sng" w="9525">
            <a:solidFill>
              <a:srgbClr val="7F7F7F"/>
            </a:solidFill>
            <a:prstDash val="solid"/>
            <a:miter lim="800000"/>
            <a:headEnd len="sm" w="sm" type="none"/>
            <a:tailEnd len="sm" w="sm" type="none"/>
          </a:ln>
        </p:spPr>
        <p:txBody>
          <a:bodyPr anchorCtr="0" anchor="t" bIns="25700" lIns="51425" spcFirstLastPara="1" rIns="51425" wrap="square" tIns="25700">
            <a:spAutoFit/>
          </a:bodyPr>
          <a:lstStyle/>
          <a:p>
            <a:pPr indent="0" lvl="0" marL="0" marR="0" rtl="0" algn="l">
              <a:lnSpc>
                <a:spcPct val="130000"/>
              </a:lnSpc>
              <a:spcBef>
                <a:spcPts val="0"/>
              </a:spcBef>
              <a:spcAft>
                <a:spcPts val="0"/>
              </a:spcAft>
              <a:buNone/>
            </a:pPr>
            <a:r>
              <a:rPr lang="en-US" sz="1900">
                <a:solidFill>
                  <a:schemeClr val="dk1"/>
                </a:solidFill>
                <a:latin typeface="Times New Roman"/>
                <a:ea typeface="Times New Roman"/>
                <a:cs typeface="Times New Roman"/>
                <a:sym typeface="Times New Roman"/>
              </a:rPr>
              <a:t>Download J2SE (JDK): </a:t>
            </a:r>
            <a:r>
              <a:rPr lang="en-US" sz="1900" u="sng">
                <a:solidFill>
                  <a:schemeClr val="dk1"/>
                </a:solidFill>
                <a:latin typeface="Times New Roman"/>
                <a:ea typeface="Times New Roman"/>
                <a:cs typeface="Times New Roman"/>
                <a:sym typeface="Times New Roman"/>
                <a:hlinkClick r:id="rId5">
                  <a:extLst>
                    <a:ext uri="{A12FA001-AC4F-418D-AE19-62706E023703}">
                      <ahyp:hlinkClr val="tx"/>
                    </a:ext>
                  </a:extLst>
                </a:hlinkClick>
              </a:rPr>
              <a:t>https://www.oracle.com/java/technologies/javase/javase-jdk8-downloads.html</a:t>
            </a:r>
            <a:endParaRPr sz="1900">
              <a:solidFill>
                <a:schemeClr val="dk1"/>
              </a:solidFill>
              <a:latin typeface="Times New Roman"/>
              <a:ea typeface="Times New Roman"/>
              <a:cs typeface="Times New Roman"/>
              <a:sym typeface="Times New Roman"/>
            </a:endParaRPr>
          </a:p>
        </p:txBody>
      </p:sp>
      <p:sp>
        <p:nvSpPr>
          <p:cNvPr id="559" name="Google Shape;559;p16"/>
          <p:cNvSpPr/>
          <p:nvPr/>
        </p:nvSpPr>
        <p:spPr>
          <a:xfrm>
            <a:off x="2666368" y="2954006"/>
            <a:ext cx="7900856" cy="774246"/>
          </a:xfrm>
          <a:prstGeom prst="rect">
            <a:avLst/>
          </a:prstGeom>
          <a:noFill/>
          <a:ln cap="flat" cmpd="sng" w="9525">
            <a:solidFill>
              <a:srgbClr val="000000"/>
            </a:solidFill>
            <a:prstDash val="solid"/>
            <a:miter lim="800000"/>
            <a:headEnd len="sm" w="sm" type="none"/>
            <a:tailEnd len="sm" w="sm" type="none"/>
          </a:ln>
        </p:spPr>
        <p:txBody>
          <a:bodyPr anchorCtr="0" anchor="t" bIns="25700" lIns="51425" spcFirstLastPara="1" rIns="51425" wrap="square" tIns="25700">
            <a:spAutoFit/>
          </a:bodyPr>
          <a:lstStyle/>
          <a:p>
            <a:pPr indent="0" lvl="0" marL="0" marR="0" rtl="0" algn="l">
              <a:lnSpc>
                <a:spcPct val="130000"/>
              </a:lnSpc>
              <a:spcBef>
                <a:spcPts val="0"/>
              </a:spcBef>
              <a:spcAft>
                <a:spcPts val="0"/>
              </a:spcAft>
              <a:buNone/>
            </a:pPr>
            <a:r>
              <a:rPr lang="en-US" sz="1900">
                <a:solidFill>
                  <a:schemeClr val="dk1"/>
                </a:solidFill>
                <a:latin typeface="Times New Roman"/>
                <a:ea typeface="Times New Roman"/>
                <a:cs typeface="Times New Roman"/>
                <a:sym typeface="Times New Roman"/>
              </a:rPr>
              <a:t>Thiết lập biến môi trường This PC -&gt;Properties -&gt; Advanced system settings -&gt; Environments Variables</a:t>
            </a:r>
            <a:endParaRPr sz="1900">
              <a:solidFill>
                <a:schemeClr val="dk1"/>
              </a:solidFill>
              <a:latin typeface="Times New Roman"/>
              <a:ea typeface="Times New Roman"/>
              <a:cs typeface="Times New Roman"/>
              <a:sym typeface="Times New Roman"/>
            </a:endParaRPr>
          </a:p>
        </p:txBody>
      </p:sp>
      <p:sp>
        <p:nvSpPr>
          <p:cNvPr id="560" name="Google Shape;560;p16"/>
          <p:cNvSpPr/>
          <p:nvPr/>
        </p:nvSpPr>
        <p:spPr>
          <a:xfrm>
            <a:off x="2672526" y="3885593"/>
            <a:ext cx="7913116" cy="929095"/>
          </a:xfrm>
          <a:prstGeom prst="rect">
            <a:avLst/>
          </a:prstGeom>
          <a:noFill/>
          <a:ln cap="flat" cmpd="sng" w="9525">
            <a:solidFill>
              <a:srgbClr val="7F7F7F"/>
            </a:solidFill>
            <a:prstDash val="solid"/>
            <a:miter lim="800000"/>
            <a:headEnd len="sm" w="sm" type="none"/>
            <a:tailEnd len="sm" w="sm" type="none"/>
          </a:ln>
        </p:spPr>
        <p:txBody>
          <a:bodyPr anchorCtr="0" anchor="t" bIns="25700" lIns="51425" spcFirstLastPara="1" rIns="51425" wrap="square" tIns="25700">
            <a:spAutoFit/>
          </a:bodyPr>
          <a:lstStyle/>
          <a:p>
            <a:pPr indent="0" lvl="0" marL="0" marR="0" rtl="0" algn="l">
              <a:spcBef>
                <a:spcPts val="0"/>
              </a:spcBef>
              <a:spcAft>
                <a:spcPts val="0"/>
              </a:spcAft>
              <a:buNone/>
            </a:pPr>
            <a:r>
              <a:rPr lang="en-US" sz="1900">
                <a:solidFill>
                  <a:schemeClr val="dk1"/>
                </a:solidFill>
                <a:latin typeface="Times New Roman"/>
                <a:ea typeface="Times New Roman"/>
                <a:cs typeface="Times New Roman"/>
                <a:sym typeface="Times New Roman"/>
              </a:rPr>
              <a:t>Tạo biến JAVA_HOME trong mục System Variables và đặt giá trị là thư mục cài đặt Java </a:t>
            </a:r>
            <a:endParaRPr sz="19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1900">
                <a:solidFill>
                  <a:schemeClr val="dk1"/>
                </a:solidFill>
                <a:latin typeface="Times New Roman"/>
                <a:ea typeface="Times New Roman"/>
                <a:cs typeface="Times New Roman"/>
                <a:sym typeface="Times New Roman"/>
              </a:rPr>
              <a:t>Thêm biến PATH: giá trị  %JAVA_HOME%\bin; </a:t>
            </a:r>
            <a:endParaRPr sz="1900">
              <a:solidFill>
                <a:schemeClr val="dk1"/>
              </a:solidFill>
              <a:latin typeface="Times New Roman"/>
              <a:ea typeface="Times New Roman"/>
              <a:cs typeface="Times New Roman"/>
              <a:sym typeface="Times New Roman"/>
            </a:endParaRPr>
          </a:p>
        </p:txBody>
      </p:sp>
      <p:grpSp>
        <p:nvGrpSpPr>
          <p:cNvPr id="561" name="Google Shape;561;p16"/>
          <p:cNvGrpSpPr/>
          <p:nvPr/>
        </p:nvGrpSpPr>
        <p:grpSpPr>
          <a:xfrm>
            <a:off x="2666368" y="4942499"/>
            <a:ext cx="7919581" cy="2227498"/>
            <a:chOff x="8004051" y="2103566"/>
            <a:chExt cx="6995121" cy="3882982"/>
          </a:xfrm>
        </p:grpSpPr>
        <p:sp>
          <p:nvSpPr>
            <p:cNvPr id="562" name="Google Shape;562;p16"/>
            <p:cNvSpPr txBox="1"/>
            <p:nvPr/>
          </p:nvSpPr>
          <p:spPr>
            <a:xfrm>
              <a:off x="8009219" y="2103566"/>
              <a:ext cx="6989953" cy="1287641"/>
            </a:xfrm>
            <a:prstGeom prst="rect">
              <a:avLst/>
            </a:prstGeom>
            <a:noFill/>
            <a:ln cap="flat" cmpd="sng" w="9525">
              <a:solidFill>
                <a:srgbClr val="7F7F7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Download Eclipse</a:t>
              </a:r>
              <a:endParaRPr/>
            </a:p>
            <a:p>
              <a:pPr indent="0" lvl="0" marL="0" marR="0" rtl="0" algn="l">
                <a:spcBef>
                  <a:spcPts val="0"/>
                </a:spcBef>
                <a:spcAft>
                  <a:spcPts val="0"/>
                </a:spcAft>
                <a:buNone/>
              </a:pPr>
              <a:r>
                <a:rPr lang="en-US" sz="1400" u="sng">
                  <a:solidFill>
                    <a:schemeClr val="dk1"/>
                  </a:solidFill>
                  <a:latin typeface="Times New Roman"/>
                  <a:ea typeface="Times New Roman"/>
                  <a:cs typeface="Times New Roman"/>
                  <a:sym typeface="Times New Roman"/>
                  <a:hlinkClick r:id="rId6">
                    <a:extLst>
                      <a:ext uri="{A12FA001-AC4F-418D-AE19-62706E023703}">
                        <ahyp:hlinkClr val="tx"/>
                      </a:ext>
                    </a:extLst>
                  </a:hlinkClick>
                </a:rPr>
                <a:t>https://www.eclipse.org/downloads/</a:t>
              </a:r>
              <a:endParaRPr sz="1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1" sz="1400">
                <a:solidFill>
                  <a:schemeClr val="dk1"/>
                </a:solidFill>
                <a:latin typeface="Times New Roman"/>
                <a:ea typeface="Times New Roman"/>
                <a:cs typeface="Times New Roman"/>
                <a:sym typeface="Times New Roman"/>
              </a:endParaRPr>
            </a:p>
          </p:txBody>
        </p:sp>
        <p:sp>
          <p:nvSpPr>
            <p:cNvPr id="563" name="Google Shape;563;p16"/>
            <p:cNvSpPr/>
            <p:nvPr/>
          </p:nvSpPr>
          <p:spPr>
            <a:xfrm>
              <a:off x="8004051" y="5456410"/>
              <a:ext cx="3629819" cy="530138"/>
            </a:xfrm>
            <a:prstGeom prst="rect">
              <a:avLst/>
            </a:prstGeom>
            <a:noFill/>
            <a:ln>
              <a:noFill/>
            </a:ln>
          </p:spPr>
          <p:txBody>
            <a:bodyPr anchorCtr="0" anchor="t" bIns="25700" lIns="51425" spcFirstLastPara="1" rIns="51425" wrap="square" tIns="25700">
              <a:spAutoFit/>
            </a:bodyPr>
            <a:lstStyle/>
            <a:p>
              <a:pPr indent="-82550" lvl="2" marL="1085850" marR="0" rtl="0" algn="l">
                <a:lnSpc>
                  <a:spcPct val="130000"/>
                </a:lnSpc>
                <a:spcBef>
                  <a:spcPts val="0"/>
                </a:spcBef>
                <a:spcAft>
                  <a:spcPts val="0"/>
                </a:spcAft>
                <a:buClr>
                  <a:schemeClr val="dk1"/>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545"/>
                                        </p:tgtEl>
                                        <p:attrNameLst>
                                          <p:attrName>style.visibility</p:attrName>
                                        </p:attrNameLst>
                                      </p:cBhvr>
                                      <p:to>
                                        <p:strVal val="visible"/>
                                      </p:to>
                                    </p:set>
                                    <p:anim calcmode="lin" valueType="num">
                                      <p:cBhvr additive="base">
                                        <p:cTn dur="500"/>
                                        <p:tgtEl>
                                          <p:spTgt spid="54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42"/>
                                        </p:tgtEl>
                                        <p:attrNameLst>
                                          <p:attrName>style.visibility</p:attrName>
                                        </p:attrNameLst>
                                      </p:cBhvr>
                                      <p:to>
                                        <p:strVal val="visible"/>
                                      </p:to>
                                    </p:set>
                                    <p:anim calcmode="lin" valueType="num">
                                      <p:cBhvr additive="base">
                                        <p:cTn dur="500"/>
                                        <p:tgtEl>
                                          <p:spTgt spid="54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500"/>
                                        <p:tgtEl>
                                          <p:spTgt spid="5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500"/>
                                        <p:tgtEl>
                                          <p:spTgt spid="5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pic>
        <p:nvPicPr>
          <p:cNvPr id="568" name="Google Shape;568;p17"/>
          <p:cNvPicPr preferRelativeResize="0"/>
          <p:nvPr/>
        </p:nvPicPr>
        <p:blipFill rotWithShape="1">
          <a:blip r:embed="rId3">
            <a:alphaModFix/>
          </a:blip>
          <a:srcRect b="0" l="0" r="0" t="0"/>
          <a:stretch/>
        </p:blipFill>
        <p:spPr>
          <a:xfrm>
            <a:off x="0" y="-17009"/>
            <a:ext cx="12192000" cy="6858000"/>
          </a:xfrm>
          <a:prstGeom prst="rect">
            <a:avLst/>
          </a:prstGeom>
          <a:noFill/>
          <a:ln>
            <a:noFill/>
          </a:ln>
        </p:spPr>
      </p:pic>
      <p:sp>
        <p:nvSpPr>
          <p:cNvPr id="569" name="Google Shape;569;p17"/>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570" name="Google Shape;570;p17"/>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571" name="Google Shape;571;p17"/>
          <p:cNvGrpSpPr/>
          <p:nvPr/>
        </p:nvGrpSpPr>
        <p:grpSpPr>
          <a:xfrm>
            <a:off x="1994890" y="920620"/>
            <a:ext cx="8590752" cy="822739"/>
            <a:chOff x="3129129" y="1121776"/>
            <a:chExt cx="5933741" cy="1171624"/>
          </a:xfrm>
        </p:grpSpPr>
        <p:sp>
          <p:nvSpPr>
            <p:cNvPr id="572" name="Google Shape;572;p17"/>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573" name="Google Shape;573;p17"/>
            <p:cNvSpPr/>
            <p:nvPr/>
          </p:nvSpPr>
          <p:spPr>
            <a:xfrm>
              <a:off x="3289330" y="1253414"/>
              <a:ext cx="5613340" cy="908350"/>
            </a:xfrm>
            <a:prstGeom prst="roundRect">
              <a:avLst>
                <a:gd fmla="val 50000" name="adj"/>
              </a:avLst>
            </a:prstGeom>
            <a:gradFill>
              <a:gsLst>
                <a:gs pos="0">
                  <a:srgbClr val="663A77"/>
                </a:gs>
                <a:gs pos="100000">
                  <a:srgbClr val="A26CB8"/>
                </a:gs>
              </a:gsLst>
              <a:lin ang="0" scaled="0"/>
            </a:gradFill>
            <a:ln cap="flat" cmpd="sng" w="19050">
              <a:solidFill>
                <a:srgbClr val="A26CB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grpSp>
      <p:grpSp>
        <p:nvGrpSpPr>
          <p:cNvPr id="574" name="Google Shape;574;p17"/>
          <p:cNvGrpSpPr/>
          <p:nvPr/>
        </p:nvGrpSpPr>
        <p:grpSpPr>
          <a:xfrm>
            <a:off x="2277849" y="905904"/>
            <a:ext cx="1478653" cy="1285979"/>
            <a:chOff x="3020983" y="881796"/>
            <a:chExt cx="2097410" cy="2097410"/>
          </a:xfrm>
        </p:grpSpPr>
        <p:grpSp>
          <p:nvGrpSpPr>
            <p:cNvPr id="575" name="Google Shape;575;p17"/>
            <p:cNvGrpSpPr/>
            <p:nvPr/>
          </p:nvGrpSpPr>
          <p:grpSpPr>
            <a:xfrm>
              <a:off x="3020983" y="881796"/>
              <a:ext cx="2097410" cy="2097410"/>
              <a:chOff x="3099689" y="1098878"/>
              <a:chExt cx="1995612" cy="1995615"/>
            </a:xfrm>
          </p:grpSpPr>
          <p:grpSp>
            <p:nvGrpSpPr>
              <p:cNvPr id="576" name="Google Shape;576;p17"/>
              <p:cNvGrpSpPr/>
              <p:nvPr/>
            </p:nvGrpSpPr>
            <p:grpSpPr>
              <a:xfrm>
                <a:off x="3099689" y="1098878"/>
                <a:ext cx="1995612" cy="1995615"/>
                <a:chOff x="6804316" y="2574806"/>
                <a:chExt cx="3585705" cy="3585705"/>
              </a:xfrm>
            </p:grpSpPr>
            <p:sp>
              <p:nvSpPr>
                <p:cNvPr id="577" name="Google Shape;577;p17"/>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578" name="Google Shape;578;p17"/>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579" name="Google Shape;579;p17"/>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580" name="Google Shape;580;p17"/>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581" name="Google Shape;581;p17"/>
            <p:cNvSpPr txBox="1"/>
            <p:nvPr/>
          </p:nvSpPr>
          <p:spPr>
            <a:xfrm>
              <a:off x="3437036" y="1269298"/>
              <a:ext cx="774240" cy="61555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663A77"/>
                  </a:solidFill>
                  <a:latin typeface="Impact"/>
                  <a:ea typeface="Impact"/>
                  <a:cs typeface="Impact"/>
                  <a:sym typeface="Impact"/>
                </a:rPr>
                <a:t>04</a:t>
              </a:r>
              <a:endParaRPr sz="2400">
                <a:solidFill>
                  <a:srgbClr val="663A77"/>
                </a:solidFill>
                <a:latin typeface="Impact"/>
                <a:ea typeface="Impact"/>
                <a:cs typeface="Impact"/>
                <a:sym typeface="Impact"/>
              </a:endParaRPr>
            </a:p>
          </p:txBody>
        </p:sp>
      </p:grpSp>
      <p:grpSp>
        <p:nvGrpSpPr>
          <p:cNvPr id="582" name="Google Shape;582;p17"/>
          <p:cNvGrpSpPr/>
          <p:nvPr/>
        </p:nvGrpSpPr>
        <p:grpSpPr>
          <a:xfrm>
            <a:off x="3467443" y="1101156"/>
            <a:ext cx="5883804" cy="1614807"/>
            <a:chOff x="1369861" y="-454131"/>
            <a:chExt cx="4889732" cy="2646265"/>
          </a:xfrm>
        </p:grpSpPr>
        <p:sp>
          <p:nvSpPr>
            <p:cNvPr id="583" name="Google Shape;583;p17"/>
            <p:cNvSpPr txBox="1"/>
            <p:nvPr/>
          </p:nvSpPr>
          <p:spPr>
            <a:xfrm>
              <a:off x="1369861" y="-454131"/>
              <a:ext cx="2977879" cy="756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2F2F2"/>
                  </a:solidFill>
                  <a:latin typeface="Times New Roman"/>
                  <a:ea typeface="Times New Roman"/>
                  <a:cs typeface="Times New Roman"/>
                  <a:sym typeface="Times New Roman"/>
                </a:rPr>
                <a:t>Cài Đặt Môi Trường</a:t>
              </a:r>
              <a:endParaRPr b="1" sz="2400">
                <a:solidFill>
                  <a:srgbClr val="F2F2F2"/>
                </a:solidFill>
                <a:latin typeface="Times New Roman"/>
                <a:ea typeface="Times New Roman"/>
                <a:cs typeface="Times New Roman"/>
                <a:sym typeface="Times New Roman"/>
              </a:endParaRPr>
            </a:p>
          </p:txBody>
        </p:sp>
        <p:grpSp>
          <p:nvGrpSpPr>
            <p:cNvPr id="584" name="Google Shape;584;p17"/>
            <p:cNvGrpSpPr/>
            <p:nvPr/>
          </p:nvGrpSpPr>
          <p:grpSpPr>
            <a:xfrm>
              <a:off x="5790400" y="1905107"/>
              <a:ext cx="469193" cy="287027"/>
              <a:chOff x="4873620" y="2093913"/>
              <a:chExt cx="269882" cy="165100"/>
            </a:xfrm>
          </p:grpSpPr>
          <p:sp>
            <p:nvSpPr>
              <p:cNvPr id="585" name="Google Shape;585;p17"/>
              <p:cNvSpPr/>
              <p:nvPr/>
            </p:nvSpPr>
            <p:spPr>
              <a:xfrm>
                <a:off x="4873620" y="2127250"/>
                <a:ext cx="112713" cy="131763"/>
              </a:xfrm>
              <a:custGeom>
                <a:rect b="b" l="l" r="r" t="t"/>
                <a:pathLst>
                  <a:path extrusionOk="0" h="35" w="30">
                    <a:moveTo>
                      <a:pt x="2" y="0"/>
                    </a:moveTo>
                    <a:cubicBezTo>
                      <a:pt x="28" y="0"/>
                      <a:pt x="28" y="0"/>
                      <a:pt x="28" y="0"/>
                    </a:cubicBezTo>
                    <a:cubicBezTo>
                      <a:pt x="29" y="0"/>
                      <a:pt x="30" y="1"/>
                      <a:pt x="30" y="1"/>
                    </a:cubicBezTo>
                    <a:cubicBezTo>
                      <a:pt x="30" y="2"/>
                      <a:pt x="29" y="3"/>
                      <a:pt x="28" y="3"/>
                    </a:cubicBezTo>
                    <a:cubicBezTo>
                      <a:pt x="3" y="3"/>
                      <a:pt x="3" y="3"/>
                      <a:pt x="3" y="3"/>
                    </a:cubicBezTo>
                    <a:cubicBezTo>
                      <a:pt x="3" y="33"/>
                      <a:pt x="3" y="33"/>
                      <a:pt x="3" y="33"/>
                    </a:cubicBezTo>
                    <a:cubicBezTo>
                      <a:pt x="3" y="34"/>
                      <a:pt x="3" y="35"/>
                      <a:pt x="2" y="35"/>
                    </a:cubicBezTo>
                    <a:cubicBezTo>
                      <a:pt x="1" y="35"/>
                      <a:pt x="0" y="34"/>
                      <a:pt x="0" y="33"/>
                    </a:cubicBezTo>
                    <a:cubicBezTo>
                      <a:pt x="0" y="1"/>
                      <a:pt x="0" y="1"/>
                      <a:pt x="0" y="1"/>
                    </a:cubicBezTo>
                    <a:cubicBezTo>
                      <a:pt x="0" y="1"/>
                      <a:pt x="1" y="0"/>
                      <a:pt x="2" y="0"/>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4">
                  <a:solidFill>
                    <a:srgbClr val="000000"/>
                  </a:solidFill>
                  <a:latin typeface="Arial"/>
                  <a:ea typeface="Arial"/>
                  <a:cs typeface="Arial"/>
                  <a:sym typeface="Arial"/>
                </a:endParaRPr>
              </a:p>
            </p:txBody>
          </p:sp>
          <p:sp>
            <p:nvSpPr>
              <p:cNvPr id="586" name="Google Shape;586;p17"/>
              <p:cNvSpPr/>
              <p:nvPr/>
            </p:nvSpPr>
            <p:spPr>
              <a:xfrm>
                <a:off x="5046664" y="2093913"/>
                <a:ext cx="96838" cy="112713"/>
              </a:xfrm>
              <a:custGeom>
                <a:rect b="b" l="l" r="r" t="t"/>
                <a:pathLst>
                  <a:path extrusionOk="0" h="30" w="26">
                    <a:moveTo>
                      <a:pt x="1" y="27"/>
                    </a:moveTo>
                    <a:cubicBezTo>
                      <a:pt x="23" y="27"/>
                      <a:pt x="23" y="27"/>
                      <a:pt x="23" y="27"/>
                    </a:cubicBezTo>
                    <a:cubicBezTo>
                      <a:pt x="23" y="2"/>
                      <a:pt x="23" y="2"/>
                      <a:pt x="23" y="2"/>
                    </a:cubicBezTo>
                    <a:cubicBezTo>
                      <a:pt x="23" y="1"/>
                      <a:pt x="23" y="0"/>
                      <a:pt x="24" y="0"/>
                    </a:cubicBezTo>
                    <a:cubicBezTo>
                      <a:pt x="25" y="0"/>
                      <a:pt x="26" y="1"/>
                      <a:pt x="26" y="2"/>
                    </a:cubicBezTo>
                    <a:cubicBezTo>
                      <a:pt x="26" y="28"/>
                      <a:pt x="26" y="28"/>
                      <a:pt x="26" y="28"/>
                    </a:cubicBezTo>
                    <a:cubicBezTo>
                      <a:pt x="26" y="29"/>
                      <a:pt x="25" y="30"/>
                      <a:pt x="24" y="30"/>
                    </a:cubicBezTo>
                    <a:cubicBezTo>
                      <a:pt x="1" y="30"/>
                      <a:pt x="1" y="30"/>
                      <a:pt x="1" y="30"/>
                    </a:cubicBezTo>
                    <a:cubicBezTo>
                      <a:pt x="0" y="30"/>
                      <a:pt x="0" y="29"/>
                      <a:pt x="0" y="28"/>
                    </a:cubicBezTo>
                    <a:cubicBezTo>
                      <a:pt x="0" y="27"/>
                      <a:pt x="0" y="27"/>
                      <a:pt x="1" y="2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4">
                  <a:solidFill>
                    <a:srgbClr val="000000"/>
                  </a:solidFill>
                  <a:latin typeface="Arial"/>
                  <a:ea typeface="Arial"/>
                  <a:cs typeface="Arial"/>
                  <a:sym typeface="Arial"/>
                </a:endParaRPr>
              </a:p>
            </p:txBody>
          </p:sp>
        </p:grpSp>
      </p:grpSp>
      <p:sp>
        <p:nvSpPr>
          <p:cNvPr id="587" name="Google Shape;587;p17"/>
          <p:cNvSpPr/>
          <p:nvPr/>
        </p:nvSpPr>
        <p:spPr>
          <a:xfrm>
            <a:off x="2666368" y="6865879"/>
            <a:ext cx="4109528" cy="304117"/>
          </a:xfrm>
          <a:prstGeom prst="rect">
            <a:avLst/>
          </a:prstGeom>
          <a:noFill/>
          <a:ln>
            <a:noFill/>
          </a:ln>
        </p:spPr>
        <p:txBody>
          <a:bodyPr anchorCtr="0" anchor="t" bIns="25700" lIns="51425" spcFirstLastPara="1" rIns="51425" wrap="square" tIns="25700">
            <a:spAutoFit/>
          </a:bodyPr>
          <a:lstStyle/>
          <a:p>
            <a:pPr indent="-82550" lvl="2" marL="1085850" marR="0" rtl="0" algn="l">
              <a:lnSpc>
                <a:spcPct val="130000"/>
              </a:lnSpc>
              <a:spcBef>
                <a:spcPts val="0"/>
              </a:spcBef>
              <a:spcAft>
                <a:spcPts val="0"/>
              </a:spcAft>
              <a:buClr>
                <a:schemeClr val="dk1"/>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pic>
        <p:nvPicPr>
          <p:cNvPr descr="https://techvccloud.mediacdn.vn/2018/12/13/jdk-vs-jre-in-java-15447005904171989188635.jpg" id="588" name="Google Shape;588;p17"/>
          <p:cNvPicPr preferRelativeResize="0"/>
          <p:nvPr/>
        </p:nvPicPr>
        <p:blipFill rotWithShape="1">
          <a:blip r:embed="rId5">
            <a:alphaModFix/>
          </a:blip>
          <a:srcRect b="0" l="0" r="0" t="0"/>
          <a:stretch/>
        </p:blipFill>
        <p:spPr>
          <a:xfrm>
            <a:off x="2117050" y="1814172"/>
            <a:ext cx="8018537" cy="451042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574"/>
                                        </p:tgtEl>
                                        <p:attrNameLst>
                                          <p:attrName>style.visibility</p:attrName>
                                        </p:attrNameLst>
                                      </p:cBhvr>
                                      <p:to>
                                        <p:strVal val="visible"/>
                                      </p:to>
                                    </p:set>
                                    <p:anim calcmode="lin" valueType="num">
                                      <p:cBhvr additive="base">
                                        <p:cTn dur="500"/>
                                        <p:tgtEl>
                                          <p:spTgt spid="57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71"/>
                                        </p:tgtEl>
                                        <p:attrNameLst>
                                          <p:attrName>style.visibility</p:attrName>
                                        </p:attrNameLst>
                                      </p:cBhvr>
                                      <p:to>
                                        <p:strVal val="visible"/>
                                      </p:to>
                                    </p:set>
                                    <p:anim calcmode="lin" valueType="num">
                                      <p:cBhvr additive="base">
                                        <p:cTn dur="500"/>
                                        <p:tgtEl>
                                          <p:spTgt spid="57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pic>
        <p:nvPicPr>
          <p:cNvPr id="593" name="Google Shape;593;p18"/>
          <p:cNvPicPr preferRelativeResize="0"/>
          <p:nvPr/>
        </p:nvPicPr>
        <p:blipFill rotWithShape="1">
          <a:blip r:embed="rId3">
            <a:alphaModFix/>
          </a:blip>
          <a:srcRect b="0" l="0" r="0" t="0"/>
          <a:stretch/>
        </p:blipFill>
        <p:spPr>
          <a:xfrm>
            <a:off x="0" y="-17009"/>
            <a:ext cx="12192000" cy="6858000"/>
          </a:xfrm>
          <a:prstGeom prst="rect">
            <a:avLst/>
          </a:prstGeom>
          <a:noFill/>
          <a:ln>
            <a:noFill/>
          </a:ln>
        </p:spPr>
      </p:pic>
      <p:sp>
        <p:nvSpPr>
          <p:cNvPr id="594" name="Google Shape;594;p18"/>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595" name="Google Shape;595;p18"/>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596" name="Google Shape;596;p18"/>
          <p:cNvGrpSpPr/>
          <p:nvPr/>
        </p:nvGrpSpPr>
        <p:grpSpPr>
          <a:xfrm>
            <a:off x="1994890" y="920620"/>
            <a:ext cx="8590752" cy="822739"/>
            <a:chOff x="3129129" y="1121776"/>
            <a:chExt cx="5933741" cy="1171624"/>
          </a:xfrm>
        </p:grpSpPr>
        <p:sp>
          <p:nvSpPr>
            <p:cNvPr id="597" name="Google Shape;597;p18"/>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598" name="Google Shape;598;p18"/>
            <p:cNvSpPr/>
            <p:nvPr/>
          </p:nvSpPr>
          <p:spPr>
            <a:xfrm>
              <a:off x="3289330" y="1253414"/>
              <a:ext cx="5613340" cy="908350"/>
            </a:xfrm>
            <a:prstGeom prst="roundRect">
              <a:avLst>
                <a:gd fmla="val 50000" name="adj"/>
              </a:avLst>
            </a:prstGeom>
            <a:gradFill>
              <a:gsLst>
                <a:gs pos="0">
                  <a:srgbClr val="663A77"/>
                </a:gs>
                <a:gs pos="100000">
                  <a:srgbClr val="A26CB8"/>
                </a:gs>
              </a:gsLst>
              <a:lin ang="0" scaled="0"/>
            </a:gradFill>
            <a:ln cap="flat" cmpd="sng" w="19050">
              <a:solidFill>
                <a:srgbClr val="A26CB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grpSp>
      <p:grpSp>
        <p:nvGrpSpPr>
          <p:cNvPr id="599" name="Google Shape;599;p18"/>
          <p:cNvGrpSpPr/>
          <p:nvPr/>
        </p:nvGrpSpPr>
        <p:grpSpPr>
          <a:xfrm>
            <a:off x="2277849" y="905904"/>
            <a:ext cx="1478653" cy="1285979"/>
            <a:chOff x="3020983" y="881796"/>
            <a:chExt cx="2097410" cy="2097410"/>
          </a:xfrm>
        </p:grpSpPr>
        <p:grpSp>
          <p:nvGrpSpPr>
            <p:cNvPr id="600" name="Google Shape;600;p18"/>
            <p:cNvGrpSpPr/>
            <p:nvPr/>
          </p:nvGrpSpPr>
          <p:grpSpPr>
            <a:xfrm>
              <a:off x="3020983" y="881796"/>
              <a:ext cx="2097410" cy="2097410"/>
              <a:chOff x="3099689" y="1098878"/>
              <a:chExt cx="1995612" cy="1995615"/>
            </a:xfrm>
          </p:grpSpPr>
          <p:grpSp>
            <p:nvGrpSpPr>
              <p:cNvPr id="601" name="Google Shape;601;p18"/>
              <p:cNvGrpSpPr/>
              <p:nvPr/>
            </p:nvGrpSpPr>
            <p:grpSpPr>
              <a:xfrm>
                <a:off x="3099689" y="1098878"/>
                <a:ext cx="1995612" cy="1995615"/>
                <a:chOff x="6804316" y="2574806"/>
                <a:chExt cx="3585705" cy="3585705"/>
              </a:xfrm>
            </p:grpSpPr>
            <p:sp>
              <p:nvSpPr>
                <p:cNvPr id="602" name="Google Shape;602;p18"/>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603" name="Google Shape;603;p18"/>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604" name="Google Shape;604;p18"/>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605" name="Google Shape;605;p18"/>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606" name="Google Shape;606;p18"/>
            <p:cNvSpPr txBox="1"/>
            <p:nvPr/>
          </p:nvSpPr>
          <p:spPr>
            <a:xfrm>
              <a:off x="3437036" y="1269298"/>
              <a:ext cx="774240" cy="61555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663A77"/>
                  </a:solidFill>
                  <a:latin typeface="Impact"/>
                  <a:ea typeface="Impact"/>
                  <a:cs typeface="Impact"/>
                  <a:sym typeface="Impact"/>
                </a:rPr>
                <a:t>04</a:t>
              </a:r>
              <a:endParaRPr sz="2400">
                <a:solidFill>
                  <a:srgbClr val="663A77"/>
                </a:solidFill>
                <a:latin typeface="Impact"/>
                <a:ea typeface="Impact"/>
                <a:cs typeface="Impact"/>
                <a:sym typeface="Impact"/>
              </a:endParaRPr>
            </a:p>
          </p:txBody>
        </p:sp>
      </p:grpSp>
      <p:grpSp>
        <p:nvGrpSpPr>
          <p:cNvPr id="607" name="Google Shape;607;p18"/>
          <p:cNvGrpSpPr/>
          <p:nvPr/>
        </p:nvGrpSpPr>
        <p:grpSpPr>
          <a:xfrm>
            <a:off x="3467443" y="1101156"/>
            <a:ext cx="5883804" cy="1614807"/>
            <a:chOff x="1369861" y="-454131"/>
            <a:chExt cx="4889732" cy="2646265"/>
          </a:xfrm>
        </p:grpSpPr>
        <p:sp>
          <p:nvSpPr>
            <p:cNvPr id="608" name="Google Shape;608;p18"/>
            <p:cNvSpPr txBox="1"/>
            <p:nvPr/>
          </p:nvSpPr>
          <p:spPr>
            <a:xfrm>
              <a:off x="1369861" y="-454131"/>
              <a:ext cx="2977879" cy="756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F2F2F2"/>
                  </a:solidFill>
                  <a:latin typeface="Times New Roman"/>
                  <a:ea typeface="Times New Roman"/>
                  <a:cs typeface="Times New Roman"/>
                  <a:sym typeface="Times New Roman"/>
                </a:rPr>
                <a:t>Cài Đặt Môi Trường</a:t>
              </a:r>
              <a:endParaRPr b="1" sz="2400">
                <a:solidFill>
                  <a:srgbClr val="F2F2F2"/>
                </a:solidFill>
                <a:latin typeface="Times New Roman"/>
                <a:ea typeface="Times New Roman"/>
                <a:cs typeface="Times New Roman"/>
                <a:sym typeface="Times New Roman"/>
              </a:endParaRPr>
            </a:p>
          </p:txBody>
        </p:sp>
        <p:grpSp>
          <p:nvGrpSpPr>
            <p:cNvPr id="609" name="Google Shape;609;p18"/>
            <p:cNvGrpSpPr/>
            <p:nvPr/>
          </p:nvGrpSpPr>
          <p:grpSpPr>
            <a:xfrm>
              <a:off x="5790400" y="1905107"/>
              <a:ext cx="469193" cy="287027"/>
              <a:chOff x="4873620" y="2093913"/>
              <a:chExt cx="269882" cy="165100"/>
            </a:xfrm>
          </p:grpSpPr>
          <p:sp>
            <p:nvSpPr>
              <p:cNvPr id="610" name="Google Shape;610;p18"/>
              <p:cNvSpPr/>
              <p:nvPr/>
            </p:nvSpPr>
            <p:spPr>
              <a:xfrm>
                <a:off x="4873620" y="2127250"/>
                <a:ext cx="112713" cy="131763"/>
              </a:xfrm>
              <a:custGeom>
                <a:rect b="b" l="l" r="r" t="t"/>
                <a:pathLst>
                  <a:path extrusionOk="0" h="35" w="30">
                    <a:moveTo>
                      <a:pt x="2" y="0"/>
                    </a:moveTo>
                    <a:cubicBezTo>
                      <a:pt x="28" y="0"/>
                      <a:pt x="28" y="0"/>
                      <a:pt x="28" y="0"/>
                    </a:cubicBezTo>
                    <a:cubicBezTo>
                      <a:pt x="29" y="0"/>
                      <a:pt x="30" y="1"/>
                      <a:pt x="30" y="1"/>
                    </a:cubicBezTo>
                    <a:cubicBezTo>
                      <a:pt x="30" y="2"/>
                      <a:pt x="29" y="3"/>
                      <a:pt x="28" y="3"/>
                    </a:cubicBezTo>
                    <a:cubicBezTo>
                      <a:pt x="3" y="3"/>
                      <a:pt x="3" y="3"/>
                      <a:pt x="3" y="3"/>
                    </a:cubicBezTo>
                    <a:cubicBezTo>
                      <a:pt x="3" y="33"/>
                      <a:pt x="3" y="33"/>
                      <a:pt x="3" y="33"/>
                    </a:cubicBezTo>
                    <a:cubicBezTo>
                      <a:pt x="3" y="34"/>
                      <a:pt x="3" y="35"/>
                      <a:pt x="2" y="35"/>
                    </a:cubicBezTo>
                    <a:cubicBezTo>
                      <a:pt x="1" y="35"/>
                      <a:pt x="0" y="34"/>
                      <a:pt x="0" y="33"/>
                    </a:cubicBezTo>
                    <a:cubicBezTo>
                      <a:pt x="0" y="1"/>
                      <a:pt x="0" y="1"/>
                      <a:pt x="0" y="1"/>
                    </a:cubicBezTo>
                    <a:cubicBezTo>
                      <a:pt x="0" y="1"/>
                      <a:pt x="1" y="0"/>
                      <a:pt x="2" y="0"/>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4">
                  <a:solidFill>
                    <a:srgbClr val="000000"/>
                  </a:solidFill>
                  <a:latin typeface="Arial"/>
                  <a:ea typeface="Arial"/>
                  <a:cs typeface="Arial"/>
                  <a:sym typeface="Arial"/>
                </a:endParaRPr>
              </a:p>
            </p:txBody>
          </p:sp>
          <p:sp>
            <p:nvSpPr>
              <p:cNvPr id="611" name="Google Shape;611;p18"/>
              <p:cNvSpPr/>
              <p:nvPr/>
            </p:nvSpPr>
            <p:spPr>
              <a:xfrm>
                <a:off x="5046664" y="2093913"/>
                <a:ext cx="96838" cy="112713"/>
              </a:xfrm>
              <a:custGeom>
                <a:rect b="b" l="l" r="r" t="t"/>
                <a:pathLst>
                  <a:path extrusionOk="0" h="30" w="26">
                    <a:moveTo>
                      <a:pt x="1" y="27"/>
                    </a:moveTo>
                    <a:cubicBezTo>
                      <a:pt x="23" y="27"/>
                      <a:pt x="23" y="27"/>
                      <a:pt x="23" y="27"/>
                    </a:cubicBezTo>
                    <a:cubicBezTo>
                      <a:pt x="23" y="2"/>
                      <a:pt x="23" y="2"/>
                      <a:pt x="23" y="2"/>
                    </a:cubicBezTo>
                    <a:cubicBezTo>
                      <a:pt x="23" y="1"/>
                      <a:pt x="23" y="0"/>
                      <a:pt x="24" y="0"/>
                    </a:cubicBezTo>
                    <a:cubicBezTo>
                      <a:pt x="25" y="0"/>
                      <a:pt x="26" y="1"/>
                      <a:pt x="26" y="2"/>
                    </a:cubicBezTo>
                    <a:cubicBezTo>
                      <a:pt x="26" y="28"/>
                      <a:pt x="26" y="28"/>
                      <a:pt x="26" y="28"/>
                    </a:cubicBezTo>
                    <a:cubicBezTo>
                      <a:pt x="26" y="29"/>
                      <a:pt x="25" y="30"/>
                      <a:pt x="24" y="30"/>
                    </a:cubicBezTo>
                    <a:cubicBezTo>
                      <a:pt x="1" y="30"/>
                      <a:pt x="1" y="30"/>
                      <a:pt x="1" y="30"/>
                    </a:cubicBezTo>
                    <a:cubicBezTo>
                      <a:pt x="0" y="30"/>
                      <a:pt x="0" y="29"/>
                      <a:pt x="0" y="28"/>
                    </a:cubicBezTo>
                    <a:cubicBezTo>
                      <a:pt x="0" y="27"/>
                      <a:pt x="0" y="27"/>
                      <a:pt x="1" y="2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014">
                  <a:solidFill>
                    <a:srgbClr val="000000"/>
                  </a:solidFill>
                  <a:latin typeface="Arial"/>
                  <a:ea typeface="Arial"/>
                  <a:cs typeface="Arial"/>
                  <a:sym typeface="Arial"/>
                </a:endParaRPr>
              </a:p>
            </p:txBody>
          </p:sp>
        </p:grpSp>
      </p:grpSp>
      <p:sp>
        <p:nvSpPr>
          <p:cNvPr id="612" name="Google Shape;612;p18"/>
          <p:cNvSpPr/>
          <p:nvPr/>
        </p:nvSpPr>
        <p:spPr>
          <a:xfrm>
            <a:off x="2666368" y="6865879"/>
            <a:ext cx="4109528" cy="304117"/>
          </a:xfrm>
          <a:prstGeom prst="rect">
            <a:avLst/>
          </a:prstGeom>
          <a:noFill/>
          <a:ln>
            <a:noFill/>
          </a:ln>
        </p:spPr>
        <p:txBody>
          <a:bodyPr anchorCtr="0" anchor="t" bIns="25700" lIns="51425" spcFirstLastPara="1" rIns="51425" wrap="square" tIns="25700">
            <a:spAutoFit/>
          </a:bodyPr>
          <a:lstStyle/>
          <a:p>
            <a:pPr indent="-82550" lvl="2" marL="1085850" marR="0" rtl="0" algn="l">
              <a:lnSpc>
                <a:spcPct val="130000"/>
              </a:lnSpc>
              <a:spcBef>
                <a:spcPts val="0"/>
              </a:spcBef>
              <a:spcAft>
                <a:spcPts val="0"/>
              </a:spcAft>
              <a:buClr>
                <a:schemeClr val="dk1"/>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graphicFrame>
        <p:nvGraphicFramePr>
          <p:cNvPr id="613" name="Google Shape;613;p18"/>
          <p:cNvGraphicFramePr/>
          <p:nvPr/>
        </p:nvGraphicFramePr>
        <p:xfrm>
          <a:off x="1994890" y="1825625"/>
          <a:ext cx="3000000" cy="3000000"/>
        </p:xfrm>
        <a:graphic>
          <a:graphicData uri="http://schemas.openxmlformats.org/drawingml/2006/table">
            <a:tbl>
              <a:tblPr>
                <a:noFill/>
                <a:tableStyleId>{CDD55F45-56E2-444B-85A5-0D09223062F2}</a:tableStyleId>
              </a:tblPr>
              <a:tblGrid>
                <a:gridCol w="2786275"/>
                <a:gridCol w="2786275"/>
                <a:gridCol w="2786275"/>
              </a:tblGrid>
              <a:tr h="110850">
                <a:tc>
                  <a:txBody>
                    <a:bodyPr/>
                    <a:lstStyle/>
                    <a:p>
                      <a:pPr indent="0" lvl="0" marL="0" marR="0" rtl="0" algn="ctr">
                        <a:spcBef>
                          <a:spcPts val="0"/>
                        </a:spcBef>
                        <a:spcAft>
                          <a:spcPts val="0"/>
                        </a:spcAft>
                        <a:buNone/>
                      </a:pPr>
                      <a:r>
                        <a:rPr b="1" lang="en-US" sz="1100" u="none" cap="none" strike="noStrike">
                          <a:solidFill>
                            <a:srgbClr val="111111"/>
                          </a:solidFill>
                          <a:latin typeface="Times New Roman"/>
                          <a:ea typeface="Times New Roman"/>
                          <a:cs typeface="Times New Roman"/>
                          <a:sym typeface="Times New Roman"/>
                        </a:rPr>
                        <a:t>JDK</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lang="en-US" sz="1100" u="none" cap="none" strike="noStrike">
                          <a:solidFill>
                            <a:srgbClr val="111111"/>
                          </a:solidFill>
                          <a:latin typeface="Times New Roman"/>
                          <a:ea typeface="Times New Roman"/>
                          <a:cs typeface="Times New Roman"/>
                          <a:sym typeface="Times New Roman"/>
                        </a:rPr>
                        <a:t>JRE</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1" lang="en-US" sz="1100" u="none" cap="none" strike="noStrike">
                          <a:solidFill>
                            <a:srgbClr val="111111"/>
                          </a:solidFill>
                          <a:latin typeface="Times New Roman"/>
                          <a:ea typeface="Times New Roman"/>
                          <a:cs typeface="Times New Roman"/>
                          <a:sym typeface="Times New Roman"/>
                        </a:rPr>
                        <a:t>JVM</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776025">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Là một bộ công cụ phát triển phần mềm giúp cho việc phát triển các ứng dụng bằng Java. Bên cạnh JRE, JDK bao gồm các công cụ phát triển khác.</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Là một loại gói phần mềm cung cấp thư viện lớp Java với JVM. Ngoài ra, nó còn bao gồm các thành phần khác để chạy các ứng dụng Java.</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Là một máy ảo độc lập với nền tảng với một trình tải, runtime data và bộ thông dịch (Java interpret)</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692900">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JDK phụ thuộc vào nền tảng.Với mỗi nền tảng hệ điều hành (Linux, Windows, Mac, vv.), người dùng cần cài đặt một JDK khác nhau.</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JRE cũng phụ thuộc vào nền tảng, giống như JDK.</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JVM là độc lập với nền tảng,  người dùng không cần phải cài đặt JVM khác nhau cho mỗi nền tảng hệ điều hành.</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26600">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JDK chủ yếu hỗ trợ thực thi mã nguồn. Chức năng chính của JDK là hỗ trợ phát triển ứng dụng.</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JRE có trách nhiệm chính là tạo môi trường để thực thi mã nguồn.</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JVM chỉ định tất cả các triển khai. Nó có trách nhiệm cung cấp tất cả các triển khai này cho JRE.</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692900">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JDK bao gồm nhiều công cụ để gỡ lỗi, giám sát và phát triển các ứng dụng Java.</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JRE chứa các tệp hỗ trợ khác nhau cho JVM và các thư viện lớp giúp JVM chạy chương trình.</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JVM không bao gồm bất kỳ công cụ phát triển phần mềm nào. Nó chỉ cung cấp môi trường thực thi mã Java trên nền tảng khác nhau.</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692900">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JDK là siêu tập của JRE, điều này có nghĩa là JDK bao gồm tất cả các thành phần của JRE và các công cụ phát triển khác.</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JRE là phần con của JDK, chỉ bao gồm các thành phần cần thiết để chạy các ứng dụng Java, bao gồm JVM và các thư viện lớp.</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JVM là một phần con của JRE, chỉ cung cấp môi trường thực thi mã Java và không bao gồm bất kỳ công cụ phát triển phần mềm nào.</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859175">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JDK đi kèm với trình cài đặt cho hệ điều hành. Khi cài đặt JDK, các công cụ phát triển và JRE sẽ được cài đặt cùng với nó.</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JRE chỉ chứa môi trường để thực thi mã nguồn. Nó không bao gồm các công cụ phát triển khác như JDK.</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100" u="none" cap="none" strike="noStrike">
                          <a:solidFill>
                            <a:srgbClr val="111111"/>
                          </a:solidFill>
                          <a:latin typeface="Times New Roman"/>
                          <a:ea typeface="Times New Roman"/>
                          <a:cs typeface="Times New Roman"/>
                          <a:sym typeface="Times New Roman"/>
                        </a:rPr>
                        <a:t>JVM được gói trong cả JDK và JRE. Điều này có nghĩa là khi cài đặt JDK hoặc JRE, JVM sẽ được cài đặt kèm theo để cung cấp môi trường thực thi mã Java.</a:t>
                      </a:r>
                      <a:endParaRPr/>
                    </a:p>
                  </a:txBody>
                  <a:tcPr marT="13850" marB="13850" marR="27725" marL="277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599"/>
                                        </p:tgtEl>
                                        <p:attrNameLst>
                                          <p:attrName>style.visibility</p:attrName>
                                        </p:attrNameLst>
                                      </p:cBhvr>
                                      <p:to>
                                        <p:strVal val="visible"/>
                                      </p:to>
                                    </p:set>
                                    <p:anim calcmode="lin" valueType="num">
                                      <p:cBhvr additive="base">
                                        <p:cTn dur="500"/>
                                        <p:tgtEl>
                                          <p:spTgt spid="59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596"/>
                                        </p:tgtEl>
                                        <p:attrNameLst>
                                          <p:attrName>style.visibility</p:attrName>
                                        </p:attrNameLst>
                                      </p:cBhvr>
                                      <p:to>
                                        <p:strVal val="visible"/>
                                      </p:to>
                                    </p:set>
                                    <p:anim calcmode="lin" valueType="num">
                                      <p:cBhvr additive="base">
                                        <p:cTn dur="500"/>
                                        <p:tgtEl>
                                          <p:spTgt spid="596"/>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pic>
        <p:nvPicPr>
          <p:cNvPr id="618" name="Google Shape;618;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19" name="Google Shape;619;p19"/>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620" name="Google Shape;620;p19"/>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621" name="Google Shape;621;p19"/>
          <p:cNvGrpSpPr/>
          <p:nvPr/>
        </p:nvGrpSpPr>
        <p:grpSpPr>
          <a:xfrm>
            <a:off x="1236277" y="914400"/>
            <a:ext cx="9082082" cy="990540"/>
            <a:chOff x="3129129" y="1121776"/>
            <a:chExt cx="5933741" cy="1171624"/>
          </a:xfrm>
        </p:grpSpPr>
        <p:sp>
          <p:nvSpPr>
            <p:cNvPr id="622" name="Google Shape;622;p19"/>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623" name="Google Shape;623;p19"/>
            <p:cNvSpPr/>
            <p:nvPr/>
          </p:nvSpPr>
          <p:spPr>
            <a:xfrm>
              <a:off x="3289329" y="1233893"/>
              <a:ext cx="5613340" cy="908350"/>
            </a:xfrm>
            <a:prstGeom prst="roundRect">
              <a:avLst>
                <a:gd fmla="val 50000" name="adj"/>
              </a:avLst>
            </a:prstGeom>
            <a:solidFill>
              <a:srgbClr val="910F1D"/>
            </a:solidFill>
            <a:ln cap="flat" cmpd="sng" w="19050">
              <a:solidFill>
                <a:srgbClr val="A26CB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FFAA2D"/>
                  </a:solidFill>
                  <a:latin typeface="Times New Roman"/>
                  <a:ea typeface="Times New Roman"/>
                  <a:cs typeface="Times New Roman"/>
                  <a:sym typeface="Times New Roman"/>
                </a:rPr>
                <a:t>Chương Trình Java Đầu Tiên</a:t>
              </a:r>
              <a:endParaRPr b="1" sz="2400">
                <a:solidFill>
                  <a:srgbClr val="FFAA2D"/>
                </a:solidFill>
                <a:latin typeface="Times New Roman"/>
                <a:ea typeface="Times New Roman"/>
                <a:cs typeface="Times New Roman"/>
                <a:sym typeface="Times New Roman"/>
              </a:endParaRPr>
            </a:p>
          </p:txBody>
        </p:sp>
      </p:grpSp>
      <p:grpSp>
        <p:nvGrpSpPr>
          <p:cNvPr id="624" name="Google Shape;624;p19"/>
          <p:cNvGrpSpPr/>
          <p:nvPr/>
        </p:nvGrpSpPr>
        <p:grpSpPr>
          <a:xfrm>
            <a:off x="1500590" y="878015"/>
            <a:ext cx="1696175" cy="1475767"/>
            <a:chOff x="3020983" y="881796"/>
            <a:chExt cx="2097410" cy="2097410"/>
          </a:xfrm>
        </p:grpSpPr>
        <p:grpSp>
          <p:nvGrpSpPr>
            <p:cNvPr id="625" name="Google Shape;625;p19"/>
            <p:cNvGrpSpPr/>
            <p:nvPr/>
          </p:nvGrpSpPr>
          <p:grpSpPr>
            <a:xfrm>
              <a:off x="3020983" y="881796"/>
              <a:ext cx="2097410" cy="2097410"/>
              <a:chOff x="3099689" y="1098878"/>
              <a:chExt cx="1995612" cy="1995615"/>
            </a:xfrm>
          </p:grpSpPr>
          <p:grpSp>
            <p:nvGrpSpPr>
              <p:cNvPr id="626" name="Google Shape;626;p19"/>
              <p:cNvGrpSpPr/>
              <p:nvPr/>
            </p:nvGrpSpPr>
            <p:grpSpPr>
              <a:xfrm>
                <a:off x="3099689" y="1098878"/>
                <a:ext cx="1995612" cy="1995615"/>
                <a:chOff x="6804316" y="2574806"/>
                <a:chExt cx="3585705" cy="3585705"/>
              </a:xfrm>
            </p:grpSpPr>
            <p:sp>
              <p:nvSpPr>
                <p:cNvPr id="627" name="Google Shape;627;p19"/>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628" name="Google Shape;628;p19"/>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629" name="Google Shape;629;p19"/>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630" name="Google Shape;630;p19"/>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631" name="Google Shape;631;p19"/>
            <p:cNvSpPr txBox="1"/>
            <p:nvPr/>
          </p:nvSpPr>
          <p:spPr>
            <a:xfrm>
              <a:off x="3487501" y="1379030"/>
              <a:ext cx="688150" cy="5249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DA172B"/>
                  </a:solidFill>
                  <a:latin typeface="Impact"/>
                  <a:ea typeface="Impact"/>
                  <a:cs typeface="Impact"/>
                  <a:sym typeface="Impact"/>
                </a:rPr>
                <a:t>05</a:t>
              </a:r>
              <a:endParaRPr sz="1800">
                <a:solidFill>
                  <a:srgbClr val="DA172B"/>
                </a:solidFill>
                <a:latin typeface="Impact"/>
                <a:ea typeface="Impact"/>
                <a:cs typeface="Impact"/>
                <a:sym typeface="Impact"/>
              </a:endParaRPr>
            </a:p>
          </p:txBody>
        </p:sp>
      </p:grpSp>
      <p:pic>
        <p:nvPicPr>
          <p:cNvPr id="632" name="Google Shape;632;p19"/>
          <p:cNvPicPr preferRelativeResize="0"/>
          <p:nvPr/>
        </p:nvPicPr>
        <p:blipFill rotWithShape="1">
          <a:blip r:embed="rId5">
            <a:alphaModFix/>
          </a:blip>
          <a:srcRect b="10117" l="0" r="5819" t="10370"/>
          <a:stretch/>
        </p:blipFill>
        <p:spPr>
          <a:xfrm>
            <a:off x="2332400" y="1904941"/>
            <a:ext cx="6957259" cy="4208238"/>
          </a:xfrm>
          <a:prstGeom prst="rect">
            <a:avLst/>
          </a:prstGeom>
          <a:noFill/>
          <a:ln>
            <a:noFill/>
          </a:ln>
        </p:spPr>
      </p:pic>
      <p:sp>
        <p:nvSpPr>
          <p:cNvPr id="633" name="Google Shape;633;p19"/>
          <p:cNvSpPr/>
          <p:nvPr/>
        </p:nvSpPr>
        <p:spPr>
          <a:xfrm>
            <a:off x="7652332" y="1973639"/>
            <a:ext cx="2627238" cy="1433279"/>
          </a:xfrm>
          <a:prstGeom prst="roundRect">
            <a:avLst>
              <a:gd fmla="val 16667" name="adj"/>
            </a:avLst>
          </a:prstGeom>
          <a:solidFill>
            <a:schemeClr val="lt1"/>
          </a:solidFill>
          <a:ln cap="flat" cmpd="sng" w="12700">
            <a:solidFill>
              <a:srgbClr val="DA172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Times New Roman"/>
                <a:ea typeface="Times New Roman"/>
                <a:cs typeface="Times New Roman"/>
                <a:sym typeface="Times New Roman"/>
              </a:rPr>
              <a:t>Comment(chú thích) không được biên dịch</a:t>
            </a:r>
            <a:endParaRPr sz="2800">
              <a:solidFill>
                <a:schemeClr val="dk1"/>
              </a:solidFill>
              <a:latin typeface="Times New Roman"/>
              <a:ea typeface="Times New Roman"/>
              <a:cs typeface="Times New Roman"/>
              <a:sym typeface="Times New Roman"/>
            </a:endParaRPr>
          </a:p>
        </p:txBody>
      </p:sp>
      <p:cxnSp>
        <p:nvCxnSpPr>
          <p:cNvPr id="634" name="Google Shape;634;p19"/>
          <p:cNvCxnSpPr>
            <a:endCxn id="633" idx="1"/>
          </p:cNvCxnSpPr>
          <p:nvPr/>
        </p:nvCxnSpPr>
        <p:spPr>
          <a:xfrm flipH="1" rot="10800000">
            <a:off x="5578732" y="2690279"/>
            <a:ext cx="2073600" cy="226500"/>
          </a:xfrm>
          <a:prstGeom prst="straightConnector1">
            <a:avLst/>
          </a:prstGeom>
          <a:noFill/>
          <a:ln cap="flat" cmpd="sng" w="9525">
            <a:solidFill>
              <a:srgbClr val="DA172B"/>
            </a:solidFill>
            <a:prstDash val="solid"/>
            <a:miter lim="800000"/>
            <a:headEnd len="sm" w="sm" type="none"/>
            <a:tailEnd len="med" w="med" type="triangle"/>
          </a:ln>
        </p:spPr>
      </p:cxnSp>
      <p:cxnSp>
        <p:nvCxnSpPr>
          <p:cNvPr id="635" name="Google Shape;635;p19"/>
          <p:cNvCxnSpPr>
            <a:endCxn id="636" idx="0"/>
          </p:cNvCxnSpPr>
          <p:nvPr/>
        </p:nvCxnSpPr>
        <p:spPr>
          <a:xfrm>
            <a:off x="5810961" y="4092438"/>
            <a:ext cx="2733600" cy="326400"/>
          </a:xfrm>
          <a:prstGeom prst="straightConnector1">
            <a:avLst/>
          </a:prstGeom>
          <a:noFill/>
          <a:ln cap="flat" cmpd="sng" w="9525">
            <a:solidFill>
              <a:srgbClr val="DA172B"/>
            </a:solidFill>
            <a:prstDash val="solid"/>
            <a:miter lim="800000"/>
            <a:headEnd len="sm" w="sm" type="none"/>
            <a:tailEnd len="med" w="med" type="triangle"/>
          </a:ln>
        </p:spPr>
      </p:cxnSp>
      <p:sp>
        <p:nvSpPr>
          <p:cNvPr id="636" name="Google Shape;636;p19"/>
          <p:cNvSpPr/>
          <p:nvPr/>
        </p:nvSpPr>
        <p:spPr>
          <a:xfrm>
            <a:off x="6597135" y="4418838"/>
            <a:ext cx="3894852" cy="1711109"/>
          </a:xfrm>
          <a:prstGeom prst="roundRect">
            <a:avLst>
              <a:gd fmla="val 16667" name="adj"/>
            </a:avLst>
          </a:prstGeom>
          <a:solidFill>
            <a:schemeClr val="lt1"/>
          </a:solidFill>
          <a:ln cap="flat" cmpd="sng" w="12700">
            <a:solidFill>
              <a:srgbClr val="DA172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600">
                <a:solidFill>
                  <a:schemeClr val="dk1"/>
                </a:solidFill>
                <a:latin typeface="Arial"/>
                <a:ea typeface="Arial"/>
                <a:cs typeface="Arial"/>
                <a:sym typeface="Arial"/>
              </a:rPr>
              <a:t>Hàm main – là hàm đầu não của mọi chương trình Java.được thực thi đầu tiên sau khi chạy</a:t>
            </a:r>
            <a:endParaRPr sz="2600">
              <a:solidFill>
                <a:schemeClr val="dk1"/>
              </a:solidFill>
              <a:latin typeface="Arial"/>
              <a:ea typeface="Arial"/>
              <a:cs typeface="Arial"/>
              <a:sym typeface="Arial"/>
            </a:endParaRPr>
          </a:p>
        </p:txBody>
      </p:sp>
      <p:sp>
        <p:nvSpPr>
          <p:cNvPr id="637" name="Google Shape;637;p19"/>
          <p:cNvSpPr/>
          <p:nvPr/>
        </p:nvSpPr>
        <p:spPr>
          <a:xfrm>
            <a:off x="1066800" y="3475618"/>
            <a:ext cx="1630481" cy="1886440"/>
          </a:xfrm>
          <a:prstGeom prst="roundRect">
            <a:avLst>
              <a:gd fmla="val 16667" name="adj"/>
            </a:avLst>
          </a:prstGeom>
          <a:solidFill>
            <a:schemeClr val="lt1"/>
          </a:solidFill>
          <a:ln cap="flat" cmpd="sng" w="12700">
            <a:solidFill>
              <a:srgbClr val="DA172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600">
                <a:solidFill>
                  <a:schemeClr val="dk1"/>
                </a:solidFill>
                <a:latin typeface="Arial"/>
                <a:ea typeface="Arial"/>
                <a:cs typeface="Arial"/>
                <a:sym typeface="Arial"/>
              </a:rPr>
              <a:t>Câu lệnh in 1 giá trị ra console</a:t>
            </a:r>
            <a:endParaRPr/>
          </a:p>
        </p:txBody>
      </p:sp>
      <p:cxnSp>
        <p:nvCxnSpPr>
          <p:cNvPr id="638" name="Google Shape;638;p19"/>
          <p:cNvCxnSpPr>
            <a:endCxn id="637" idx="3"/>
          </p:cNvCxnSpPr>
          <p:nvPr/>
        </p:nvCxnSpPr>
        <p:spPr>
          <a:xfrm flipH="1">
            <a:off x="2697281" y="4328538"/>
            <a:ext cx="656700" cy="90300"/>
          </a:xfrm>
          <a:prstGeom prst="straightConnector1">
            <a:avLst/>
          </a:prstGeom>
          <a:noFill/>
          <a:ln cap="flat" cmpd="sng" w="9525">
            <a:solidFill>
              <a:srgbClr val="DA172B"/>
            </a:solidFill>
            <a:prstDash val="solid"/>
            <a:miter lim="800000"/>
            <a:headEnd len="sm" w="sm" type="none"/>
            <a:tailEnd len="med" w="med" type="triangl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624"/>
                                        </p:tgtEl>
                                        <p:attrNameLst>
                                          <p:attrName>style.visibility</p:attrName>
                                        </p:attrNameLst>
                                      </p:cBhvr>
                                      <p:to>
                                        <p:strVal val="visible"/>
                                      </p:to>
                                    </p:set>
                                    <p:anim calcmode="lin" valueType="num">
                                      <p:cBhvr additive="base">
                                        <p:cTn dur="500"/>
                                        <p:tgtEl>
                                          <p:spTgt spid="62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621"/>
                                        </p:tgtEl>
                                        <p:attrNameLst>
                                          <p:attrName>style.visibility</p:attrName>
                                        </p:attrNameLst>
                                      </p:cBhvr>
                                      <p:to>
                                        <p:strVal val="visible"/>
                                      </p:to>
                                    </p:set>
                                    <p:anim calcmode="lin" valueType="num">
                                      <p:cBhvr additive="base">
                                        <p:cTn dur="500"/>
                                        <p:tgtEl>
                                          <p:spTgt spid="62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pic>
        <p:nvPicPr>
          <p:cNvPr id="643" name="Google Shape;643;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44" name="Google Shape;644;p20"/>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645" name="Google Shape;645;p20"/>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646" name="Google Shape;646;p20"/>
          <p:cNvGrpSpPr/>
          <p:nvPr/>
        </p:nvGrpSpPr>
        <p:grpSpPr>
          <a:xfrm>
            <a:off x="1236277" y="914400"/>
            <a:ext cx="9082082" cy="990540"/>
            <a:chOff x="3129129" y="1121776"/>
            <a:chExt cx="5933741" cy="1171624"/>
          </a:xfrm>
        </p:grpSpPr>
        <p:sp>
          <p:nvSpPr>
            <p:cNvPr id="647" name="Google Shape;647;p20"/>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648" name="Google Shape;648;p20"/>
            <p:cNvSpPr/>
            <p:nvPr/>
          </p:nvSpPr>
          <p:spPr>
            <a:xfrm>
              <a:off x="3289329" y="1233893"/>
              <a:ext cx="5613340" cy="908350"/>
            </a:xfrm>
            <a:prstGeom prst="roundRect">
              <a:avLst>
                <a:gd fmla="val 50000" name="adj"/>
              </a:avLst>
            </a:prstGeom>
            <a:solidFill>
              <a:srgbClr val="910F1D"/>
            </a:solidFill>
            <a:ln cap="flat" cmpd="sng" w="19050">
              <a:solidFill>
                <a:srgbClr val="A26CB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FFAA2D"/>
                  </a:solidFill>
                  <a:latin typeface="Times New Roman"/>
                  <a:ea typeface="Times New Roman"/>
                  <a:cs typeface="Times New Roman"/>
                  <a:sym typeface="Times New Roman"/>
                </a:rPr>
                <a:t>Chương Trình Java Đầu Tiên</a:t>
              </a:r>
              <a:endParaRPr b="1" sz="2400">
                <a:solidFill>
                  <a:srgbClr val="FFAA2D"/>
                </a:solidFill>
                <a:latin typeface="Times New Roman"/>
                <a:ea typeface="Times New Roman"/>
                <a:cs typeface="Times New Roman"/>
                <a:sym typeface="Times New Roman"/>
              </a:endParaRPr>
            </a:p>
          </p:txBody>
        </p:sp>
      </p:grpSp>
      <p:grpSp>
        <p:nvGrpSpPr>
          <p:cNvPr id="649" name="Google Shape;649;p20"/>
          <p:cNvGrpSpPr/>
          <p:nvPr/>
        </p:nvGrpSpPr>
        <p:grpSpPr>
          <a:xfrm>
            <a:off x="1500590" y="878015"/>
            <a:ext cx="1696175" cy="1475767"/>
            <a:chOff x="3020983" y="881796"/>
            <a:chExt cx="2097410" cy="2097410"/>
          </a:xfrm>
        </p:grpSpPr>
        <p:grpSp>
          <p:nvGrpSpPr>
            <p:cNvPr id="650" name="Google Shape;650;p20"/>
            <p:cNvGrpSpPr/>
            <p:nvPr/>
          </p:nvGrpSpPr>
          <p:grpSpPr>
            <a:xfrm>
              <a:off x="3020983" y="881796"/>
              <a:ext cx="2097410" cy="2097410"/>
              <a:chOff x="3099689" y="1098878"/>
              <a:chExt cx="1995612" cy="1995615"/>
            </a:xfrm>
          </p:grpSpPr>
          <p:grpSp>
            <p:nvGrpSpPr>
              <p:cNvPr id="651" name="Google Shape;651;p20"/>
              <p:cNvGrpSpPr/>
              <p:nvPr/>
            </p:nvGrpSpPr>
            <p:grpSpPr>
              <a:xfrm>
                <a:off x="3099689" y="1098878"/>
                <a:ext cx="1995612" cy="1995615"/>
                <a:chOff x="6804316" y="2574806"/>
                <a:chExt cx="3585705" cy="3585705"/>
              </a:xfrm>
            </p:grpSpPr>
            <p:sp>
              <p:nvSpPr>
                <p:cNvPr id="652" name="Google Shape;652;p20"/>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653" name="Google Shape;653;p20"/>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654" name="Google Shape;654;p20"/>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655" name="Google Shape;655;p20"/>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656" name="Google Shape;656;p20"/>
            <p:cNvSpPr txBox="1"/>
            <p:nvPr/>
          </p:nvSpPr>
          <p:spPr>
            <a:xfrm>
              <a:off x="3487501" y="1379030"/>
              <a:ext cx="688150" cy="5249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DA172B"/>
                  </a:solidFill>
                  <a:latin typeface="Impact"/>
                  <a:ea typeface="Impact"/>
                  <a:cs typeface="Impact"/>
                  <a:sym typeface="Impact"/>
                </a:rPr>
                <a:t>05</a:t>
              </a:r>
              <a:endParaRPr sz="1800">
                <a:solidFill>
                  <a:srgbClr val="DA172B"/>
                </a:solidFill>
                <a:latin typeface="Impact"/>
                <a:ea typeface="Impact"/>
                <a:cs typeface="Impact"/>
                <a:sym typeface="Impact"/>
              </a:endParaRPr>
            </a:p>
          </p:txBody>
        </p:sp>
      </p:grpSp>
      <p:sp>
        <p:nvSpPr>
          <p:cNvPr id="657" name="Google Shape;657;p20"/>
          <p:cNvSpPr/>
          <p:nvPr/>
        </p:nvSpPr>
        <p:spPr>
          <a:xfrm>
            <a:off x="1236277" y="1964157"/>
            <a:ext cx="8782050" cy="5826125"/>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Phương thức main(): </a:t>
            </a:r>
            <a:r>
              <a:rPr lang="en-US" sz="2400">
                <a:solidFill>
                  <a:schemeClr val="dk1"/>
                </a:solidFill>
                <a:latin typeface="Times New Roman"/>
                <a:ea typeface="Times New Roman"/>
                <a:cs typeface="Times New Roman"/>
                <a:sym typeface="Times New Roman"/>
              </a:rPr>
              <a:t>là điểm bắt đầu thực thi một ứng dụng.</a:t>
            </a:r>
            <a:endParaRPr/>
          </a:p>
          <a:p>
            <a:pPr indent="-457200" lvl="0" marL="457200" marR="0" rtl="0" algn="l">
              <a:spcBef>
                <a:spcPts val="48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Mỗi ứng dụng Java phải chứa một phương thức main có dạng như sau: </a:t>
            </a:r>
            <a:r>
              <a:rPr b="1" lang="en-US" sz="2400">
                <a:solidFill>
                  <a:schemeClr val="dk1"/>
                </a:solidFill>
                <a:latin typeface="Times New Roman"/>
                <a:ea typeface="Times New Roman"/>
                <a:cs typeface="Times New Roman"/>
                <a:sym typeface="Times New Roman"/>
              </a:rPr>
              <a:t>public static void main(String[] args)</a:t>
            </a:r>
            <a:endParaRPr/>
          </a:p>
          <a:p>
            <a:pPr indent="-457200" lvl="0" marL="457200" marR="0" rtl="0" algn="l">
              <a:spcBef>
                <a:spcPts val="48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Phương thức main chứa ba bổ từ đặc tả sau:</a:t>
            </a:r>
            <a:endParaRPr/>
          </a:p>
          <a:p>
            <a:pPr indent="-457200" lvl="0" marL="457200" marR="0" rtl="0" algn="l">
              <a:spcBef>
                <a:spcPts val="480"/>
              </a:spcBef>
              <a:spcAft>
                <a:spcPts val="0"/>
              </a:spcAft>
              <a:buNone/>
            </a:pPr>
            <a:r>
              <a:rPr b="1" lang="en-US" sz="2400">
                <a:solidFill>
                  <a:schemeClr val="dk1"/>
                </a:solidFill>
                <a:latin typeface="Times New Roman"/>
                <a:ea typeface="Times New Roman"/>
                <a:cs typeface="Times New Roman"/>
                <a:sym typeface="Times New Roman"/>
              </a:rPr>
              <a:t>	- public: </a:t>
            </a:r>
            <a:r>
              <a:rPr lang="en-US" sz="2400">
                <a:solidFill>
                  <a:schemeClr val="dk1"/>
                </a:solidFill>
                <a:latin typeface="Times New Roman"/>
                <a:ea typeface="Times New Roman"/>
                <a:cs typeface="Times New Roman"/>
                <a:sym typeface="Times New Roman"/>
              </a:rPr>
              <a:t>chỉ ra rằng phương thức main có thể được gọi bởi bất kỳ đối tượng nào.</a:t>
            </a:r>
            <a:endParaRPr/>
          </a:p>
          <a:p>
            <a:pPr indent="-457200" lvl="0" marL="457200" marR="0" rtl="0" algn="l">
              <a:spcBef>
                <a:spcPts val="480"/>
              </a:spcBef>
              <a:spcAft>
                <a:spcPts val="0"/>
              </a:spcAft>
              <a:buNone/>
            </a:pPr>
            <a:r>
              <a:rPr b="1" lang="en-US" sz="2400">
                <a:solidFill>
                  <a:schemeClr val="dk1"/>
                </a:solidFill>
                <a:latin typeface="Times New Roman"/>
                <a:ea typeface="Times New Roman"/>
                <a:cs typeface="Times New Roman"/>
                <a:sym typeface="Times New Roman"/>
              </a:rPr>
              <a:t>	- static: </a:t>
            </a:r>
            <a:r>
              <a:rPr lang="en-US" sz="2400">
                <a:solidFill>
                  <a:schemeClr val="dk1"/>
                </a:solidFill>
                <a:latin typeface="Times New Roman"/>
                <a:ea typeface="Times New Roman"/>
                <a:cs typeface="Times New Roman"/>
                <a:sym typeface="Times New Roman"/>
              </a:rPr>
              <a:t>chỉ ra rằng phương thức main là một phương thức lớp.</a:t>
            </a:r>
            <a:endParaRPr/>
          </a:p>
          <a:p>
            <a:pPr indent="-457200" lvl="0" marL="457200" marR="0" rtl="0" algn="l">
              <a:spcBef>
                <a:spcPts val="480"/>
              </a:spcBef>
              <a:spcAft>
                <a:spcPts val="0"/>
              </a:spcAft>
              <a:buNone/>
            </a:pPr>
            <a:r>
              <a:rPr b="1" lang="en-US" sz="2400">
                <a:solidFill>
                  <a:schemeClr val="dk1"/>
                </a:solidFill>
                <a:latin typeface="Times New Roman"/>
                <a:ea typeface="Times New Roman"/>
                <a:cs typeface="Times New Roman"/>
                <a:sym typeface="Times New Roman"/>
              </a:rPr>
              <a:t>	- void: </a:t>
            </a:r>
            <a:r>
              <a:rPr lang="en-US" sz="2400">
                <a:solidFill>
                  <a:schemeClr val="dk1"/>
                </a:solidFill>
                <a:latin typeface="Times New Roman"/>
                <a:ea typeface="Times New Roman"/>
                <a:cs typeface="Times New Roman"/>
                <a:sym typeface="Times New Roman"/>
              </a:rPr>
              <a:t>chỉ ra rằng phương thức main sẽ không trả về bất kỳ một giá trị nào.</a:t>
            </a:r>
            <a:endParaRPr/>
          </a:p>
          <a:p>
            <a:pPr indent="-279400" lvl="0" marL="457200" marR="0" rtl="0" algn="l">
              <a:spcBef>
                <a:spcPts val="675"/>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649"/>
                                        </p:tgtEl>
                                        <p:attrNameLst>
                                          <p:attrName>style.visibility</p:attrName>
                                        </p:attrNameLst>
                                      </p:cBhvr>
                                      <p:to>
                                        <p:strVal val="visible"/>
                                      </p:to>
                                    </p:set>
                                    <p:anim calcmode="lin" valueType="num">
                                      <p:cBhvr additive="base">
                                        <p:cTn dur="500"/>
                                        <p:tgtEl>
                                          <p:spTgt spid="64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646"/>
                                        </p:tgtEl>
                                        <p:attrNameLst>
                                          <p:attrName>style.visibility</p:attrName>
                                        </p:attrNameLst>
                                      </p:cBhvr>
                                      <p:to>
                                        <p:strVal val="visible"/>
                                      </p:to>
                                    </p:set>
                                    <p:anim calcmode="lin" valueType="num">
                                      <p:cBhvr additive="base">
                                        <p:cTn dur="500"/>
                                        <p:tgtEl>
                                          <p:spTgt spid="64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pic>
        <p:nvPicPr>
          <p:cNvPr id="662" name="Google Shape;662;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63" name="Google Shape;663;p21"/>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664" name="Google Shape;664;p21"/>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665" name="Google Shape;665;p21"/>
          <p:cNvGrpSpPr/>
          <p:nvPr/>
        </p:nvGrpSpPr>
        <p:grpSpPr>
          <a:xfrm>
            <a:off x="1236277" y="914400"/>
            <a:ext cx="9082082" cy="990540"/>
            <a:chOff x="3129129" y="1121776"/>
            <a:chExt cx="5933741" cy="1171624"/>
          </a:xfrm>
        </p:grpSpPr>
        <p:sp>
          <p:nvSpPr>
            <p:cNvPr id="666" name="Google Shape;666;p21"/>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667" name="Google Shape;667;p21"/>
            <p:cNvSpPr/>
            <p:nvPr/>
          </p:nvSpPr>
          <p:spPr>
            <a:xfrm>
              <a:off x="3289329" y="1233893"/>
              <a:ext cx="5613340" cy="908350"/>
            </a:xfrm>
            <a:prstGeom prst="roundRect">
              <a:avLst>
                <a:gd fmla="val 50000" name="adj"/>
              </a:avLst>
            </a:prstGeom>
            <a:solidFill>
              <a:srgbClr val="910F1D"/>
            </a:solidFill>
            <a:ln cap="flat" cmpd="sng" w="19050">
              <a:solidFill>
                <a:srgbClr val="A26CB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FFAA2D"/>
                  </a:solidFill>
                  <a:latin typeface="Times New Roman"/>
                  <a:ea typeface="Times New Roman"/>
                  <a:cs typeface="Times New Roman"/>
                  <a:sym typeface="Times New Roman"/>
                </a:rPr>
                <a:t>Chương Trình Java Đầu Tiên</a:t>
              </a:r>
              <a:endParaRPr b="1" sz="2400">
                <a:solidFill>
                  <a:srgbClr val="FFAA2D"/>
                </a:solidFill>
                <a:latin typeface="Times New Roman"/>
                <a:ea typeface="Times New Roman"/>
                <a:cs typeface="Times New Roman"/>
                <a:sym typeface="Times New Roman"/>
              </a:endParaRPr>
            </a:p>
          </p:txBody>
        </p:sp>
      </p:grpSp>
      <p:grpSp>
        <p:nvGrpSpPr>
          <p:cNvPr id="668" name="Google Shape;668;p21"/>
          <p:cNvGrpSpPr/>
          <p:nvPr/>
        </p:nvGrpSpPr>
        <p:grpSpPr>
          <a:xfrm>
            <a:off x="1500590" y="878015"/>
            <a:ext cx="1696175" cy="1475767"/>
            <a:chOff x="3020983" y="881796"/>
            <a:chExt cx="2097410" cy="2097410"/>
          </a:xfrm>
        </p:grpSpPr>
        <p:grpSp>
          <p:nvGrpSpPr>
            <p:cNvPr id="669" name="Google Shape;669;p21"/>
            <p:cNvGrpSpPr/>
            <p:nvPr/>
          </p:nvGrpSpPr>
          <p:grpSpPr>
            <a:xfrm>
              <a:off x="3020983" y="881796"/>
              <a:ext cx="2097410" cy="2097410"/>
              <a:chOff x="3099689" y="1098878"/>
              <a:chExt cx="1995612" cy="1995615"/>
            </a:xfrm>
          </p:grpSpPr>
          <p:grpSp>
            <p:nvGrpSpPr>
              <p:cNvPr id="670" name="Google Shape;670;p21"/>
              <p:cNvGrpSpPr/>
              <p:nvPr/>
            </p:nvGrpSpPr>
            <p:grpSpPr>
              <a:xfrm>
                <a:off x="3099689" y="1098878"/>
                <a:ext cx="1995612" cy="1995615"/>
                <a:chOff x="6804316" y="2574806"/>
                <a:chExt cx="3585705" cy="3585705"/>
              </a:xfrm>
            </p:grpSpPr>
            <p:sp>
              <p:nvSpPr>
                <p:cNvPr id="671" name="Google Shape;671;p21"/>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672" name="Google Shape;672;p21"/>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673" name="Google Shape;673;p21"/>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674" name="Google Shape;674;p21"/>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675" name="Google Shape;675;p21"/>
            <p:cNvSpPr txBox="1"/>
            <p:nvPr/>
          </p:nvSpPr>
          <p:spPr>
            <a:xfrm>
              <a:off x="3487501" y="1379030"/>
              <a:ext cx="688150" cy="5249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DA172B"/>
                  </a:solidFill>
                  <a:latin typeface="Impact"/>
                  <a:ea typeface="Impact"/>
                  <a:cs typeface="Impact"/>
                  <a:sym typeface="Impact"/>
                </a:rPr>
                <a:t>05</a:t>
              </a:r>
              <a:endParaRPr sz="1800">
                <a:solidFill>
                  <a:srgbClr val="DA172B"/>
                </a:solidFill>
                <a:latin typeface="Impact"/>
                <a:ea typeface="Impact"/>
                <a:cs typeface="Impact"/>
                <a:sym typeface="Impact"/>
              </a:endParaRPr>
            </a:p>
          </p:txBody>
        </p:sp>
      </p:grpSp>
      <p:sp>
        <p:nvSpPr>
          <p:cNvPr id="676" name="Google Shape;676;p21"/>
          <p:cNvSpPr/>
          <p:nvPr/>
        </p:nvSpPr>
        <p:spPr>
          <a:xfrm>
            <a:off x="981625" y="1783731"/>
            <a:ext cx="8782200" cy="58260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Ngôn ngữ Java hỗ trợ ba kiểu chú thích sau:</a:t>
            </a:r>
            <a:endParaRPr/>
          </a:p>
          <a:p>
            <a:pPr indent="-342900" lvl="0" marL="342900" marR="0" rtl="0" algn="l">
              <a:spcBef>
                <a:spcPts val="480"/>
              </a:spcBef>
              <a:spcAft>
                <a:spcPts val="0"/>
              </a:spcAft>
              <a:buNone/>
            </a:pPr>
            <a:r>
              <a:rPr lang="en-US" sz="2400">
                <a:solidFill>
                  <a:schemeClr val="dk1"/>
                </a:solidFill>
                <a:latin typeface="Times New Roman"/>
                <a:ea typeface="Times New Roman"/>
                <a:cs typeface="Times New Roman"/>
                <a:sym typeface="Times New Roman"/>
              </a:rPr>
              <a:t>		/* </a:t>
            </a:r>
            <a:r>
              <a:rPr i="1" lang="en-US" sz="2400">
                <a:solidFill>
                  <a:schemeClr val="dk1"/>
                </a:solidFill>
                <a:latin typeface="Times New Roman"/>
                <a:ea typeface="Times New Roman"/>
                <a:cs typeface="Times New Roman"/>
                <a:sym typeface="Times New Roman"/>
              </a:rPr>
              <a:t>text </a:t>
            </a:r>
            <a:r>
              <a:rPr lang="en-US" sz="2400">
                <a:solidFill>
                  <a:schemeClr val="dk1"/>
                </a:solidFill>
                <a:latin typeface="Times New Roman"/>
                <a:ea typeface="Times New Roman"/>
                <a:cs typeface="Times New Roman"/>
                <a:sym typeface="Times New Roman"/>
              </a:rPr>
              <a:t>*/</a:t>
            </a:r>
            <a:endParaRPr/>
          </a:p>
          <a:p>
            <a:pPr indent="-342900" lvl="0" marL="342900" marR="0" rtl="0" algn="l">
              <a:spcBef>
                <a:spcPts val="480"/>
              </a:spcBef>
              <a:spcAft>
                <a:spcPts val="0"/>
              </a:spcAft>
              <a:buNone/>
            </a:pPr>
            <a:r>
              <a:rPr lang="en-US" sz="2400">
                <a:solidFill>
                  <a:schemeClr val="dk1"/>
                </a:solidFill>
                <a:latin typeface="Times New Roman"/>
                <a:ea typeface="Times New Roman"/>
                <a:cs typeface="Times New Roman"/>
                <a:sym typeface="Times New Roman"/>
              </a:rPr>
              <a:t>		// text</a:t>
            </a:r>
            <a:endParaRPr/>
          </a:p>
          <a:p>
            <a:pPr indent="-342900" lvl="0" marL="342900" marR="0" rtl="0" algn="l">
              <a:spcBef>
                <a:spcPts val="480"/>
              </a:spcBef>
              <a:spcAft>
                <a:spcPts val="0"/>
              </a:spcAft>
              <a:buNone/>
            </a:pPr>
            <a:r>
              <a:rPr lang="en-US" sz="2400">
                <a:solidFill>
                  <a:schemeClr val="dk1"/>
                </a:solidFill>
                <a:latin typeface="Times New Roman"/>
                <a:ea typeface="Times New Roman"/>
                <a:cs typeface="Times New Roman"/>
                <a:sym typeface="Times New Roman"/>
              </a:rPr>
              <a:t>		/** documentation */  công cụ javadoc trong bộ JDK sử dụng chú thích này để chuẩn bị cho việc tự động phát sinh tài liệu.</a:t>
            </a:r>
            <a:endParaRPr sz="2400">
              <a:solidFill>
                <a:schemeClr val="dk1"/>
              </a:solidFill>
              <a:latin typeface="Times New Roman"/>
              <a:ea typeface="Times New Roman"/>
              <a:cs typeface="Times New Roman"/>
              <a:sym typeface="Times New Roman"/>
            </a:endParaRPr>
          </a:p>
          <a:p>
            <a:pPr indent="-342900" lvl="0" marL="342900" marR="0" rtl="0" algn="l">
              <a:spcBef>
                <a:spcPts val="48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Dấu mở và đóng ngoặc nhọn “{“ và “}” là bắt đầu và kết thúc một khối lệnh.</a:t>
            </a:r>
            <a:endParaRPr/>
          </a:p>
          <a:p>
            <a:pPr indent="-342900" lvl="0" marL="342900" marR="0" rtl="0" algn="l">
              <a:spcBef>
                <a:spcPts val="48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Dấu chấm phẩy “;” để kết thúc một dòng lệnh.</a:t>
            </a:r>
            <a:endParaRPr/>
          </a:p>
          <a:p>
            <a:pPr indent="-342900" lvl="0" marL="342900" marR="0" rtl="0" algn="l">
              <a:spcBef>
                <a:spcPts val="48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Java được tổ chức theo lớp (class). Các lệnh và các hàm (kể cả hàm main) phải thuộc một lớp nào đó, chúng không được đứng bên ngoài của lớp.</a:t>
            </a:r>
            <a:endParaRPr/>
          </a:p>
          <a:p>
            <a:pPr indent="-165100" lvl="0" marL="342900" marR="0" rtl="0" algn="l">
              <a:spcBef>
                <a:spcPts val="675"/>
              </a:spcBef>
              <a:spcAft>
                <a:spcPts val="0"/>
              </a:spcAft>
              <a:buClr>
                <a:schemeClr val="dk1"/>
              </a:buClr>
              <a:buSzPts val="2800"/>
              <a:buFont typeface="Arial"/>
              <a:buNone/>
            </a:pPr>
            <a:r>
              <a:t/>
            </a:r>
            <a:endParaRPr sz="28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668"/>
                                        </p:tgtEl>
                                        <p:attrNameLst>
                                          <p:attrName>style.visibility</p:attrName>
                                        </p:attrNameLst>
                                      </p:cBhvr>
                                      <p:to>
                                        <p:strVal val="visible"/>
                                      </p:to>
                                    </p:set>
                                    <p:anim calcmode="lin" valueType="num">
                                      <p:cBhvr additive="base">
                                        <p:cTn dur="500"/>
                                        <p:tgtEl>
                                          <p:spTgt spid="66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665"/>
                                        </p:tgtEl>
                                        <p:attrNameLst>
                                          <p:attrName>style.visibility</p:attrName>
                                        </p:attrNameLst>
                                      </p:cBhvr>
                                      <p:to>
                                        <p:strVal val="visible"/>
                                      </p:to>
                                    </p:set>
                                    <p:anim calcmode="lin" valueType="num">
                                      <p:cBhvr additive="base">
                                        <p:cTn dur="500"/>
                                        <p:tgtEl>
                                          <p:spTgt spid="66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pic>
        <p:nvPicPr>
          <p:cNvPr id="681" name="Google Shape;681;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82" name="Google Shape;682;p22"/>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683" name="Google Shape;683;p22"/>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684" name="Google Shape;684;p22"/>
          <p:cNvGrpSpPr/>
          <p:nvPr/>
        </p:nvGrpSpPr>
        <p:grpSpPr>
          <a:xfrm>
            <a:off x="1236277" y="914400"/>
            <a:ext cx="9082082" cy="990540"/>
            <a:chOff x="3129129" y="1121776"/>
            <a:chExt cx="5933741" cy="1171624"/>
          </a:xfrm>
        </p:grpSpPr>
        <p:sp>
          <p:nvSpPr>
            <p:cNvPr id="685" name="Google Shape;685;p22"/>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686" name="Google Shape;686;p22"/>
            <p:cNvSpPr/>
            <p:nvPr/>
          </p:nvSpPr>
          <p:spPr>
            <a:xfrm>
              <a:off x="3289329" y="1233893"/>
              <a:ext cx="5613340" cy="908350"/>
            </a:xfrm>
            <a:prstGeom prst="roundRect">
              <a:avLst>
                <a:gd fmla="val 50000" name="adj"/>
              </a:avLst>
            </a:prstGeom>
            <a:solidFill>
              <a:srgbClr val="910F1D"/>
            </a:solidFill>
            <a:ln cap="flat" cmpd="sng" w="19050">
              <a:solidFill>
                <a:srgbClr val="A26CB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FFAA2D"/>
                  </a:solidFill>
                  <a:latin typeface="Times New Roman"/>
                  <a:ea typeface="Times New Roman"/>
                  <a:cs typeface="Times New Roman"/>
                  <a:sym typeface="Times New Roman"/>
                </a:rPr>
                <a:t>Chương Trình Java Đầu Tiên</a:t>
              </a:r>
              <a:endParaRPr b="1" sz="2400">
                <a:solidFill>
                  <a:srgbClr val="FFAA2D"/>
                </a:solidFill>
                <a:latin typeface="Times New Roman"/>
                <a:ea typeface="Times New Roman"/>
                <a:cs typeface="Times New Roman"/>
                <a:sym typeface="Times New Roman"/>
              </a:endParaRPr>
            </a:p>
          </p:txBody>
        </p:sp>
      </p:grpSp>
      <p:grpSp>
        <p:nvGrpSpPr>
          <p:cNvPr id="687" name="Google Shape;687;p22"/>
          <p:cNvGrpSpPr/>
          <p:nvPr/>
        </p:nvGrpSpPr>
        <p:grpSpPr>
          <a:xfrm>
            <a:off x="1500590" y="878015"/>
            <a:ext cx="1696175" cy="1475767"/>
            <a:chOff x="3020983" y="881796"/>
            <a:chExt cx="2097410" cy="2097410"/>
          </a:xfrm>
        </p:grpSpPr>
        <p:grpSp>
          <p:nvGrpSpPr>
            <p:cNvPr id="688" name="Google Shape;688;p22"/>
            <p:cNvGrpSpPr/>
            <p:nvPr/>
          </p:nvGrpSpPr>
          <p:grpSpPr>
            <a:xfrm>
              <a:off x="3020983" y="881796"/>
              <a:ext cx="2097410" cy="2097410"/>
              <a:chOff x="3099689" y="1098878"/>
              <a:chExt cx="1995612" cy="1995615"/>
            </a:xfrm>
          </p:grpSpPr>
          <p:grpSp>
            <p:nvGrpSpPr>
              <p:cNvPr id="689" name="Google Shape;689;p22"/>
              <p:cNvGrpSpPr/>
              <p:nvPr/>
            </p:nvGrpSpPr>
            <p:grpSpPr>
              <a:xfrm>
                <a:off x="3099689" y="1098878"/>
                <a:ext cx="1995612" cy="1995615"/>
                <a:chOff x="6804316" y="2574806"/>
                <a:chExt cx="3585705" cy="3585705"/>
              </a:xfrm>
            </p:grpSpPr>
            <p:sp>
              <p:nvSpPr>
                <p:cNvPr id="690" name="Google Shape;690;p22"/>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691" name="Google Shape;691;p22"/>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692" name="Google Shape;692;p22"/>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693" name="Google Shape;693;p22"/>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694" name="Google Shape;694;p22"/>
            <p:cNvSpPr txBox="1"/>
            <p:nvPr/>
          </p:nvSpPr>
          <p:spPr>
            <a:xfrm>
              <a:off x="3487501" y="1379030"/>
              <a:ext cx="688150" cy="5249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DA172B"/>
                  </a:solidFill>
                  <a:latin typeface="Impact"/>
                  <a:ea typeface="Impact"/>
                  <a:cs typeface="Impact"/>
                  <a:sym typeface="Impact"/>
                </a:rPr>
                <a:t>05</a:t>
              </a:r>
              <a:endParaRPr sz="1800">
                <a:solidFill>
                  <a:srgbClr val="DA172B"/>
                </a:solidFill>
                <a:latin typeface="Impact"/>
                <a:ea typeface="Impact"/>
                <a:cs typeface="Impact"/>
                <a:sym typeface="Impact"/>
              </a:endParaRPr>
            </a:p>
          </p:txBody>
        </p:sp>
      </p:grpSp>
      <p:sp>
        <p:nvSpPr>
          <p:cNvPr id="695" name="Google Shape;695;p22"/>
          <p:cNvSpPr txBox="1"/>
          <p:nvPr/>
        </p:nvSpPr>
        <p:spPr>
          <a:xfrm>
            <a:off x="1138238" y="2285623"/>
            <a:ext cx="8348662" cy="3103563"/>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Biên dịch chương trình</a:t>
            </a:r>
            <a:endParaRPr sz="2800">
              <a:solidFill>
                <a:schemeClr val="dk1"/>
              </a:solidFill>
              <a:latin typeface="Times New Roman"/>
              <a:ea typeface="Times New Roman"/>
              <a:cs typeface="Times New Roman"/>
              <a:sym typeface="Times New Roman"/>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Vào chế độ Console của Windows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Gõ câu lệnh </a:t>
            </a:r>
            <a:r>
              <a:rPr b="1" i="1" lang="en-US" sz="2400" u="none" cap="none" strike="noStrike">
                <a:solidFill>
                  <a:schemeClr val="dk1"/>
                </a:solidFill>
                <a:latin typeface="Times New Roman"/>
                <a:ea typeface="Times New Roman"/>
                <a:cs typeface="Times New Roman"/>
                <a:sym typeface="Times New Roman"/>
              </a:rPr>
              <a:t>javac HelloWorld.java</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Nếu không có thông báo lỗi, file </a:t>
            </a:r>
            <a:r>
              <a:rPr b="0" i="1" lang="en-US" sz="2400" u="none" cap="none" strike="noStrike">
                <a:solidFill>
                  <a:schemeClr val="dk1"/>
                </a:solidFill>
                <a:latin typeface="Times New Roman"/>
                <a:ea typeface="Times New Roman"/>
                <a:cs typeface="Times New Roman"/>
                <a:sym typeface="Times New Roman"/>
              </a:rPr>
              <a:t>Hello.class</a:t>
            </a:r>
            <a:r>
              <a:rPr b="0" i="0" lang="en-US" sz="2400" u="none" cap="none" strike="noStrike">
                <a:solidFill>
                  <a:schemeClr val="dk1"/>
                </a:solidFill>
                <a:latin typeface="Times New Roman"/>
                <a:ea typeface="Times New Roman"/>
                <a:cs typeface="Times New Roman"/>
                <a:sym typeface="Times New Roman"/>
              </a:rPr>
              <a:t> sẽ được tạo ra</a:t>
            </a:r>
            <a:endParaRPr b="0" i="0" sz="2400" u="none" cap="none" strike="noStrike">
              <a:solidFill>
                <a:schemeClr val="dk1"/>
              </a:solidFill>
              <a:latin typeface="Times New Roman"/>
              <a:ea typeface="Times New Roman"/>
              <a:cs typeface="Times New Roman"/>
              <a:sym typeface="Times New Roman"/>
            </a:endParaRPr>
          </a:p>
          <a:p>
            <a:pPr indent="-228600" lvl="0" marL="228600" marR="0" rtl="0" algn="l">
              <a:lnSpc>
                <a:spcPct val="90000"/>
              </a:lnSpc>
              <a:spcBef>
                <a:spcPts val="100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Thực thi chương trình</a:t>
            </a:r>
            <a:endParaRPr sz="2800">
              <a:solidFill>
                <a:schemeClr val="dk1"/>
              </a:solidFill>
              <a:latin typeface="Times New Roman"/>
              <a:ea typeface="Times New Roman"/>
              <a:cs typeface="Times New Roman"/>
              <a:sym typeface="Times New Roman"/>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Gõ câu lệnh </a:t>
            </a:r>
            <a:r>
              <a:rPr b="1" i="1" lang="en-US" sz="2400" u="none" cap="none" strike="noStrike">
                <a:solidFill>
                  <a:schemeClr val="dk1"/>
                </a:solidFill>
                <a:latin typeface="Times New Roman"/>
                <a:ea typeface="Times New Roman"/>
                <a:cs typeface="Times New Roman"/>
                <a:sym typeface="Times New Roman"/>
              </a:rPr>
              <a:t>java HelloWorld</a:t>
            </a:r>
            <a:r>
              <a:rPr b="0" i="1" lang="en-US" sz="2400" u="none" cap="none" strike="noStrike">
                <a:solidFill>
                  <a:schemeClr val="dk1"/>
                </a:solidFill>
                <a:latin typeface="Times New Roman"/>
                <a:ea typeface="Times New Roman"/>
                <a:cs typeface="Times New Roman"/>
                <a:sym typeface="Times New Roman"/>
              </a:rPr>
              <a:t> (không cần .class)</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687"/>
                                        </p:tgtEl>
                                        <p:attrNameLst>
                                          <p:attrName>style.visibility</p:attrName>
                                        </p:attrNameLst>
                                      </p:cBhvr>
                                      <p:to>
                                        <p:strVal val="visible"/>
                                      </p:to>
                                    </p:set>
                                    <p:anim calcmode="lin" valueType="num">
                                      <p:cBhvr additive="base">
                                        <p:cTn dur="500"/>
                                        <p:tgtEl>
                                          <p:spTgt spid="68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684"/>
                                        </p:tgtEl>
                                        <p:attrNameLst>
                                          <p:attrName>style.visibility</p:attrName>
                                        </p:attrNameLst>
                                      </p:cBhvr>
                                      <p:to>
                                        <p:strVal val="visible"/>
                                      </p:to>
                                    </p:set>
                                    <p:anim calcmode="lin" valueType="num">
                                      <p:cBhvr additive="base">
                                        <p:cTn dur="500"/>
                                        <p:tgtEl>
                                          <p:spTgt spid="68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pic>
        <p:nvPicPr>
          <p:cNvPr id="700" name="Google Shape;700;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01" name="Google Shape;701;p23"/>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702" name="Google Shape;702;p23"/>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703" name="Google Shape;703;p23"/>
          <p:cNvGrpSpPr/>
          <p:nvPr/>
        </p:nvGrpSpPr>
        <p:grpSpPr>
          <a:xfrm>
            <a:off x="1236277" y="914400"/>
            <a:ext cx="9082082" cy="990540"/>
            <a:chOff x="3129129" y="1121776"/>
            <a:chExt cx="5933741" cy="1171624"/>
          </a:xfrm>
        </p:grpSpPr>
        <p:sp>
          <p:nvSpPr>
            <p:cNvPr id="704" name="Google Shape;704;p23"/>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705" name="Google Shape;705;p23"/>
            <p:cNvSpPr/>
            <p:nvPr/>
          </p:nvSpPr>
          <p:spPr>
            <a:xfrm>
              <a:off x="3289329" y="1233893"/>
              <a:ext cx="5613340" cy="908350"/>
            </a:xfrm>
            <a:prstGeom prst="roundRect">
              <a:avLst>
                <a:gd fmla="val 50000" name="adj"/>
              </a:avLst>
            </a:prstGeom>
            <a:solidFill>
              <a:srgbClr val="910F1D"/>
            </a:solidFill>
            <a:ln cap="flat" cmpd="sng" w="19050">
              <a:solidFill>
                <a:srgbClr val="A26CB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FFAA2D"/>
                  </a:solidFill>
                  <a:latin typeface="Times New Roman"/>
                  <a:ea typeface="Times New Roman"/>
                  <a:cs typeface="Times New Roman"/>
                  <a:sym typeface="Times New Roman"/>
                </a:rPr>
                <a:t>Chương Trình Java Đầu Tiên</a:t>
              </a:r>
              <a:endParaRPr b="1" sz="2400">
                <a:solidFill>
                  <a:srgbClr val="FFAA2D"/>
                </a:solidFill>
                <a:latin typeface="Times New Roman"/>
                <a:ea typeface="Times New Roman"/>
                <a:cs typeface="Times New Roman"/>
                <a:sym typeface="Times New Roman"/>
              </a:endParaRPr>
            </a:p>
          </p:txBody>
        </p:sp>
      </p:grpSp>
      <p:grpSp>
        <p:nvGrpSpPr>
          <p:cNvPr id="706" name="Google Shape;706;p23"/>
          <p:cNvGrpSpPr/>
          <p:nvPr/>
        </p:nvGrpSpPr>
        <p:grpSpPr>
          <a:xfrm>
            <a:off x="1500590" y="878015"/>
            <a:ext cx="1696175" cy="1475767"/>
            <a:chOff x="3020983" y="881796"/>
            <a:chExt cx="2097410" cy="2097410"/>
          </a:xfrm>
        </p:grpSpPr>
        <p:grpSp>
          <p:nvGrpSpPr>
            <p:cNvPr id="707" name="Google Shape;707;p23"/>
            <p:cNvGrpSpPr/>
            <p:nvPr/>
          </p:nvGrpSpPr>
          <p:grpSpPr>
            <a:xfrm>
              <a:off x="3020983" y="881796"/>
              <a:ext cx="2097410" cy="2097410"/>
              <a:chOff x="3099689" y="1098878"/>
              <a:chExt cx="1995612" cy="1995615"/>
            </a:xfrm>
          </p:grpSpPr>
          <p:grpSp>
            <p:nvGrpSpPr>
              <p:cNvPr id="708" name="Google Shape;708;p23"/>
              <p:cNvGrpSpPr/>
              <p:nvPr/>
            </p:nvGrpSpPr>
            <p:grpSpPr>
              <a:xfrm>
                <a:off x="3099689" y="1098878"/>
                <a:ext cx="1995612" cy="1995615"/>
                <a:chOff x="6804316" y="2574806"/>
                <a:chExt cx="3585705" cy="3585705"/>
              </a:xfrm>
            </p:grpSpPr>
            <p:sp>
              <p:nvSpPr>
                <p:cNvPr id="709" name="Google Shape;709;p23"/>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710" name="Google Shape;710;p23"/>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711" name="Google Shape;711;p23"/>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712" name="Google Shape;712;p23"/>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713" name="Google Shape;713;p23"/>
            <p:cNvSpPr txBox="1"/>
            <p:nvPr/>
          </p:nvSpPr>
          <p:spPr>
            <a:xfrm>
              <a:off x="3487501" y="1379030"/>
              <a:ext cx="688150" cy="5249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DA172B"/>
                  </a:solidFill>
                  <a:latin typeface="Impact"/>
                  <a:ea typeface="Impact"/>
                  <a:cs typeface="Impact"/>
                  <a:sym typeface="Impact"/>
                </a:rPr>
                <a:t>05</a:t>
              </a:r>
              <a:endParaRPr sz="1800">
                <a:solidFill>
                  <a:srgbClr val="DA172B"/>
                </a:solidFill>
                <a:latin typeface="Impact"/>
                <a:ea typeface="Impact"/>
                <a:cs typeface="Impact"/>
                <a:sym typeface="Impact"/>
              </a:endParaRPr>
            </a:p>
          </p:txBody>
        </p:sp>
      </p:grpSp>
      <p:pic>
        <p:nvPicPr>
          <p:cNvPr id="714" name="Google Shape;714;p23"/>
          <p:cNvPicPr preferRelativeResize="0"/>
          <p:nvPr/>
        </p:nvPicPr>
        <p:blipFill rotWithShape="1">
          <a:blip r:embed="rId5">
            <a:alphaModFix/>
          </a:blip>
          <a:srcRect b="0" l="0" r="0" t="0"/>
          <a:stretch/>
        </p:blipFill>
        <p:spPr>
          <a:xfrm>
            <a:off x="1991669" y="1877627"/>
            <a:ext cx="7419975" cy="51149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706"/>
                                        </p:tgtEl>
                                        <p:attrNameLst>
                                          <p:attrName>style.visibility</p:attrName>
                                        </p:attrNameLst>
                                      </p:cBhvr>
                                      <p:to>
                                        <p:strVal val="visible"/>
                                      </p:to>
                                    </p:set>
                                    <p:anim calcmode="lin" valueType="num">
                                      <p:cBhvr additive="base">
                                        <p:cTn dur="500"/>
                                        <p:tgtEl>
                                          <p:spTgt spid="70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703"/>
                                        </p:tgtEl>
                                        <p:attrNameLst>
                                          <p:attrName>style.visibility</p:attrName>
                                        </p:attrNameLst>
                                      </p:cBhvr>
                                      <p:to>
                                        <p:strVal val="visible"/>
                                      </p:to>
                                    </p:set>
                                    <p:anim calcmode="lin" valueType="num">
                                      <p:cBhvr additive="base">
                                        <p:cTn dur="500"/>
                                        <p:tgtEl>
                                          <p:spTgt spid="70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pic>
        <p:nvPicPr>
          <p:cNvPr id="719" name="Google Shape;719;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20" name="Google Shape;720;p24"/>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721" name="Google Shape;721;p24"/>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grpSp>
        <p:nvGrpSpPr>
          <p:cNvPr id="722" name="Google Shape;722;p24"/>
          <p:cNvGrpSpPr/>
          <p:nvPr/>
        </p:nvGrpSpPr>
        <p:grpSpPr>
          <a:xfrm>
            <a:off x="1236277" y="914400"/>
            <a:ext cx="9082082" cy="990540"/>
            <a:chOff x="3129129" y="1121776"/>
            <a:chExt cx="5933741" cy="1171624"/>
          </a:xfrm>
        </p:grpSpPr>
        <p:sp>
          <p:nvSpPr>
            <p:cNvPr id="723" name="Google Shape;723;p24"/>
            <p:cNvSpPr/>
            <p:nvPr/>
          </p:nvSpPr>
          <p:spPr>
            <a:xfrm>
              <a:off x="3129129" y="1121776"/>
              <a:ext cx="5933741" cy="1171624"/>
            </a:xfrm>
            <a:prstGeom prst="roundRect">
              <a:avLst>
                <a:gd fmla="val 50000" name="adj"/>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rgbClr val="FFAA2D"/>
                </a:solidFill>
                <a:latin typeface="Arial"/>
                <a:ea typeface="Arial"/>
                <a:cs typeface="Arial"/>
                <a:sym typeface="Arial"/>
              </a:endParaRPr>
            </a:p>
          </p:txBody>
        </p:sp>
        <p:sp>
          <p:nvSpPr>
            <p:cNvPr id="724" name="Google Shape;724;p24"/>
            <p:cNvSpPr/>
            <p:nvPr/>
          </p:nvSpPr>
          <p:spPr>
            <a:xfrm>
              <a:off x="3289329" y="1233893"/>
              <a:ext cx="5613340" cy="908350"/>
            </a:xfrm>
            <a:prstGeom prst="roundRect">
              <a:avLst>
                <a:gd fmla="val 50000" name="adj"/>
              </a:avLst>
            </a:prstGeom>
            <a:solidFill>
              <a:srgbClr val="910F1D"/>
            </a:solidFill>
            <a:ln cap="flat" cmpd="sng" w="19050">
              <a:solidFill>
                <a:srgbClr val="A26CB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FFAA2D"/>
                  </a:solidFill>
                  <a:latin typeface="Times New Roman"/>
                  <a:ea typeface="Times New Roman"/>
                  <a:cs typeface="Times New Roman"/>
                  <a:sym typeface="Times New Roman"/>
                </a:rPr>
                <a:t>Chương Trình Java Đầu Tiên</a:t>
              </a:r>
              <a:endParaRPr b="1" sz="2400">
                <a:solidFill>
                  <a:srgbClr val="FFAA2D"/>
                </a:solidFill>
                <a:latin typeface="Times New Roman"/>
                <a:ea typeface="Times New Roman"/>
                <a:cs typeface="Times New Roman"/>
                <a:sym typeface="Times New Roman"/>
              </a:endParaRPr>
            </a:p>
          </p:txBody>
        </p:sp>
      </p:grpSp>
      <p:grpSp>
        <p:nvGrpSpPr>
          <p:cNvPr id="725" name="Google Shape;725;p24"/>
          <p:cNvGrpSpPr/>
          <p:nvPr/>
        </p:nvGrpSpPr>
        <p:grpSpPr>
          <a:xfrm>
            <a:off x="1500590" y="878015"/>
            <a:ext cx="1696175" cy="1475767"/>
            <a:chOff x="3020983" y="881796"/>
            <a:chExt cx="2097410" cy="2097410"/>
          </a:xfrm>
        </p:grpSpPr>
        <p:grpSp>
          <p:nvGrpSpPr>
            <p:cNvPr id="726" name="Google Shape;726;p24"/>
            <p:cNvGrpSpPr/>
            <p:nvPr/>
          </p:nvGrpSpPr>
          <p:grpSpPr>
            <a:xfrm>
              <a:off x="3020983" y="881796"/>
              <a:ext cx="2097410" cy="2097410"/>
              <a:chOff x="3099689" y="1098878"/>
              <a:chExt cx="1995612" cy="1995615"/>
            </a:xfrm>
          </p:grpSpPr>
          <p:grpSp>
            <p:nvGrpSpPr>
              <p:cNvPr id="727" name="Google Shape;727;p24"/>
              <p:cNvGrpSpPr/>
              <p:nvPr/>
            </p:nvGrpSpPr>
            <p:grpSpPr>
              <a:xfrm>
                <a:off x="3099689" y="1098878"/>
                <a:ext cx="1995612" cy="1995615"/>
                <a:chOff x="6804316" y="2574806"/>
                <a:chExt cx="3585705" cy="3585705"/>
              </a:xfrm>
            </p:grpSpPr>
            <p:sp>
              <p:nvSpPr>
                <p:cNvPr id="728" name="Google Shape;728;p24"/>
                <p:cNvSpPr/>
                <p:nvPr/>
              </p:nvSpPr>
              <p:spPr>
                <a:xfrm rot="-2700000">
                  <a:off x="7501948" y="2927402"/>
                  <a:ext cx="2190440" cy="2880512"/>
                </a:xfrm>
                <a:custGeom>
                  <a:rect b="b" l="l" r="r" t="t"/>
                  <a:pathLst>
                    <a:path extrusionOk="0" h="2070736" w="1696474">
                      <a:moveTo>
                        <a:pt x="13249" y="1035368"/>
                      </a:moveTo>
                      <a:cubicBezTo>
                        <a:pt x="112309" y="471170"/>
                        <a:pt x="388098" y="0"/>
                        <a:pt x="850497" y="0"/>
                      </a:cubicBezTo>
                      <a:cubicBezTo>
                        <a:pt x="1312896" y="0"/>
                        <a:pt x="1611545" y="478790"/>
                        <a:pt x="1687745" y="1035368"/>
                      </a:cubicBezTo>
                      <a:cubicBezTo>
                        <a:pt x="1765308" y="1601901"/>
                        <a:pt x="1312896" y="2070736"/>
                        <a:pt x="850497" y="2070736"/>
                      </a:cubicBezTo>
                      <a:cubicBezTo>
                        <a:pt x="388098" y="2070736"/>
                        <a:pt x="-85811" y="1599566"/>
                        <a:pt x="13249" y="1035368"/>
                      </a:cubicBezTo>
                      <a:close/>
                    </a:path>
                  </a:pathLst>
                </a:custGeom>
                <a:gradFill>
                  <a:gsLst>
                    <a:gs pos="0">
                      <a:schemeClr val="dk1"/>
                    </a:gs>
                    <a:gs pos="17000">
                      <a:srgbClr val="000000">
                        <a:alpha val="45882"/>
                      </a:srgbClr>
                    </a:gs>
                    <a:gs pos="34000">
                      <a:srgbClr val="000000">
                        <a:alpha val="42745"/>
                      </a:srgbClr>
                    </a:gs>
                    <a:gs pos="51000">
                      <a:srgbClr val="000000">
                        <a:alpha val="20000"/>
                      </a:srgbClr>
                    </a:gs>
                    <a:gs pos="65000">
                      <a:srgbClr val="000000">
                        <a:alpha val="9803"/>
                      </a:srgbClr>
                    </a:gs>
                    <a:gs pos="78000">
                      <a:srgbClr val="000000">
                        <a:alpha val="4705"/>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729" name="Google Shape;729;p24"/>
                <p:cNvSpPr/>
                <p:nvPr/>
              </p:nvSpPr>
              <p:spPr>
                <a:xfrm>
                  <a:off x="7567583" y="3243359"/>
                  <a:ext cx="1344545" cy="1344543"/>
                </a:xfrm>
                <a:prstGeom prst="ellipse">
                  <a:avLst/>
                </a:prstGeom>
                <a:gradFill>
                  <a:gsLst>
                    <a:gs pos="0">
                      <a:srgbClr val="FFFFFF">
                        <a:alpha val="98823"/>
                      </a:srgbClr>
                    </a:gs>
                    <a:gs pos="43000">
                      <a:srgbClr val="F7F7F7"/>
                    </a:gs>
                    <a:gs pos="100000">
                      <a:srgbClr val="B8C0C0"/>
                    </a:gs>
                  </a:gsLst>
                  <a:lin ang="2700000" scaled="0"/>
                </a:gradFill>
                <a:ln>
                  <a:noFill/>
                </a:ln>
                <a:effectLst>
                  <a:outerShdw blurRad="139700" rotWithShape="0" algn="tl" dir="2700000" dist="88900">
                    <a:srgbClr val="494949">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sp>
              <p:nvSpPr>
                <p:cNvPr id="730" name="Google Shape;730;p24"/>
                <p:cNvSpPr/>
                <p:nvPr/>
              </p:nvSpPr>
              <p:spPr>
                <a:xfrm>
                  <a:off x="7380501" y="3019185"/>
                  <a:ext cx="1596494" cy="1596494"/>
                </a:xfrm>
                <a:prstGeom prst="ellipse">
                  <a:avLst/>
                </a:prstGeom>
                <a:gradFill>
                  <a:gsLst>
                    <a:gs pos="0">
                      <a:srgbClr val="FFFFFF">
                        <a:alpha val="98823"/>
                      </a:srgbClr>
                    </a:gs>
                    <a:gs pos="11000">
                      <a:srgbClr val="FFFFFF">
                        <a:alpha val="98823"/>
                      </a:srgbClr>
                    </a:gs>
                    <a:gs pos="39000">
                      <a:schemeClr val="lt1"/>
                    </a:gs>
                    <a:gs pos="52999">
                      <a:srgbClr val="F7F7F7"/>
                    </a:gs>
                    <a:gs pos="100000">
                      <a:srgbClr val="B8C0C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731" name="Google Shape;731;p24"/>
              <p:cNvSpPr/>
              <p:nvPr/>
            </p:nvSpPr>
            <p:spPr>
              <a:xfrm>
                <a:off x="3222820" y="1148080"/>
                <a:ext cx="1284820" cy="1284821"/>
              </a:xfrm>
              <a:prstGeom prst="ellipse">
                <a:avLst/>
              </a:prstGeom>
              <a:solidFill>
                <a:schemeClr val="lt1">
                  <a:alpha val="13725"/>
                </a:schemeClr>
              </a:solidFill>
              <a:ln cap="flat" cmpd="sng" w="15875">
                <a:solidFill>
                  <a:schemeClr val="lt1"/>
                </a:solidFill>
                <a:prstDash val="solid"/>
                <a:miter lim="800000"/>
                <a:headEnd len="sm" w="sm" type="none"/>
                <a:tailEnd len="sm" w="sm" type="none"/>
              </a:ln>
              <a:effectLst>
                <a:outerShdw blurRad="215900" rotWithShape="0" algn="tl" dir="2700000" dist="88900">
                  <a:srgbClr val="000000">
                    <a:alpha val="1098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4">
                  <a:solidFill>
                    <a:schemeClr val="lt1"/>
                  </a:solidFill>
                  <a:latin typeface="Arial"/>
                  <a:ea typeface="Arial"/>
                  <a:cs typeface="Arial"/>
                  <a:sym typeface="Arial"/>
                </a:endParaRPr>
              </a:p>
            </p:txBody>
          </p:sp>
        </p:grpSp>
        <p:sp>
          <p:nvSpPr>
            <p:cNvPr id="732" name="Google Shape;732;p24"/>
            <p:cNvSpPr txBox="1"/>
            <p:nvPr/>
          </p:nvSpPr>
          <p:spPr>
            <a:xfrm>
              <a:off x="3487501" y="1379030"/>
              <a:ext cx="688150" cy="5249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DA172B"/>
                  </a:solidFill>
                  <a:latin typeface="Impact"/>
                  <a:ea typeface="Impact"/>
                  <a:cs typeface="Impact"/>
                  <a:sym typeface="Impact"/>
                </a:rPr>
                <a:t>05</a:t>
              </a:r>
              <a:endParaRPr sz="1800">
                <a:solidFill>
                  <a:srgbClr val="DA172B"/>
                </a:solidFill>
                <a:latin typeface="Impact"/>
                <a:ea typeface="Impact"/>
                <a:cs typeface="Impact"/>
                <a:sym typeface="Impact"/>
              </a:endParaRPr>
            </a:p>
          </p:txBody>
        </p:sp>
      </p:grpSp>
      <p:sp>
        <p:nvSpPr>
          <p:cNvPr id="733" name="Google Shape;733;p24"/>
          <p:cNvSpPr txBox="1"/>
          <p:nvPr/>
        </p:nvSpPr>
        <p:spPr>
          <a:xfrm>
            <a:off x="1138238" y="2285623"/>
            <a:ext cx="8348662" cy="3103563"/>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lang="en-US" sz="2800">
                <a:solidFill>
                  <a:schemeClr val="dk1"/>
                </a:solidFill>
                <a:latin typeface="Times New Roman"/>
                <a:ea typeface="Times New Roman"/>
                <a:cs typeface="Times New Roman"/>
                <a:sym typeface="Times New Roman"/>
              </a:rPr>
              <a:t>Làm bài tập trên lớp theo file</a:t>
            </a:r>
            <a:endParaRPr i="1" sz="28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725"/>
                                        </p:tgtEl>
                                        <p:attrNameLst>
                                          <p:attrName>style.visibility</p:attrName>
                                        </p:attrNameLst>
                                      </p:cBhvr>
                                      <p:to>
                                        <p:strVal val="visible"/>
                                      </p:to>
                                    </p:set>
                                    <p:anim calcmode="lin" valueType="num">
                                      <p:cBhvr additive="base">
                                        <p:cTn dur="500"/>
                                        <p:tgtEl>
                                          <p:spTgt spid="72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722"/>
                                        </p:tgtEl>
                                        <p:attrNameLst>
                                          <p:attrName>style.visibility</p:attrName>
                                        </p:attrNameLst>
                                      </p:cBhvr>
                                      <p:to>
                                        <p:strVal val="visible"/>
                                      </p:to>
                                    </p:set>
                                    <p:anim calcmode="lin" valueType="num">
                                      <p:cBhvr additive="base">
                                        <p:cTn dur="500"/>
                                        <p:tgtEl>
                                          <p:spTgt spid="72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pic>
        <p:nvPicPr>
          <p:cNvPr id="738" name="Google Shape;738;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39" name="Google Shape;739;p25"/>
          <p:cNvSpPr txBox="1"/>
          <p:nvPr/>
        </p:nvSpPr>
        <p:spPr>
          <a:xfrm>
            <a:off x="8077200" y="533400"/>
            <a:ext cx="289560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F37422"/>
                </a:solidFill>
                <a:latin typeface="Arial"/>
                <a:ea typeface="Arial"/>
                <a:cs typeface="Arial"/>
                <a:sym typeface="Arial"/>
              </a:rPr>
              <a:t>Tổng quan Java</a:t>
            </a:r>
            <a:endParaRPr sz="1700">
              <a:solidFill>
                <a:srgbClr val="F37422"/>
              </a:solidFill>
              <a:latin typeface="Arial"/>
              <a:ea typeface="Arial"/>
              <a:cs typeface="Arial"/>
              <a:sym typeface="Arial"/>
            </a:endParaRPr>
          </a:p>
        </p:txBody>
      </p:sp>
      <p:pic>
        <p:nvPicPr>
          <p:cNvPr id="740" name="Google Shape;740;p25"/>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pic>
        <p:nvPicPr>
          <p:cNvPr descr="Hỏi - đáp: Lộ trình du học với ngân sách thấp" id="741" name="Google Shape;741;p25"/>
          <p:cNvPicPr preferRelativeResize="0"/>
          <p:nvPr/>
        </p:nvPicPr>
        <p:blipFill rotWithShape="1">
          <a:blip r:embed="rId5">
            <a:alphaModFix/>
          </a:blip>
          <a:srcRect b="0" l="0" r="0" t="0"/>
          <a:stretch/>
        </p:blipFill>
        <p:spPr>
          <a:xfrm>
            <a:off x="1828800" y="1447800"/>
            <a:ext cx="7515616" cy="447707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9Slide - 2019">
      <a:dk1>
        <a:srgbClr val="000000"/>
      </a:dk1>
      <a:lt1>
        <a:srgbClr val="FFFFFF"/>
      </a:lt1>
      <a:dk2>
        <a:srgbClr val="092D6C"/>
      </a:dk2>
      <a:lt2>
        <a:srgbClr val="FCECD0"/>
      </a:lt2>
      <a:accent1>
        <a:srgbClr val="4FC1E9"/>
      </a:accent1>
      <a:accent2>
        <a:srgbClr val="48CFAD"/>
      </a:accent2>
      <a:accent3>
        <a:srgbClr val="A0D468"/>
      </a:accent3>
      <a:accent4>
        <a:srgbClr val="FFCE54"/>
      </a:accent4>
      <a:accent5>
        <a:srgbClr val="FC6E51"/>
      </a:accent5>
      <a:accent6>
        <a:srgbClr val="ED5565"/>
      </a:accent6>
      <a:hlink>
        <a:srgbClr val="5D9CEC"/>
      </a:hlink>
      <a:folHlink>
        <a:srgbClr val="AC92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2020-08-07T13:14:06Z</dcterms:created>
  <dc:creator>Admin</dc:creator>
</cp:coreProperties>
</file>