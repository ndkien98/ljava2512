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" y="0"/>
            <a:ext cx="12175236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19200" y="996696"/>
            <a:ext cx="9144000" cy="614680"/>
          </a:xfrm>
          <a:custGeom>
            <a:avLst/>
            <a:gdLst/>
            <a:ahLst/>
            <a:cxnLst/>
            <a:rect l="l" t="t" r="r" b="b"/>
            <a:pathLst>
              <a:path w="9144000" h="614680">
                <a:moveTo>
                  <a:pt x="8836914" y="0"/>
                </a:moveTo>
                <a:lnTo>
                  <a:pt x="307086" y="0"/>
                </a:lnTo>
                <a:lnTo>
                  <a:pt x="261719" y="3330"/>
                </a:lnTo>
                <a:lnTo>
                  <a:pt x="218415" y="13006"/>
                </a:lnTo>
                <a:lnTo>
                  <a:pt x="177649" y="28550"/>
                </a:lnTo>
                <a:lnTo>
                  <a:pt x="139898" y="49487"/>
                </a:lnTo>
                <a:lnTo>
                  <a:pt x="105636" y="75341"/>
                </a:lnTo>
                <a:lnTo>
                  <a:pt x="75341" y="105636"/>
                </a:lnTo>
                <a:lnTo>
                  <a:pt x="49487" y="139898"/>
                </a:lnTo>
                <a:lnTo>
                  <a:pt x="28550" y="177649"/>
                </a:lnTo>
                <a:lnTo>
                  <a:pt x="13006" y="218415"/>
                </a:lnTo>
                <a:lnTo>
                  <a:pt x="3330" y="261719"/>
                </a:lnTo>
                <a:lnTo>
                  <a:pt x="0" y="307086"/>
                </a:lnTo>
                <a:lnTo>
                  <a:pt x="3330" y="352452"/>
                </a:lnTo>
                <a:lnTo>
                  <a:pt x="13006" y="395756"/>
                </a:lnTo>
                <a:lnTo>
                  <a:pt x="28550" y="436522"/>
                </a:lnTo>
                <a:lnTo>
                  <a:pt x="49487" y="474273"/>
                </a:lnTo>
                <a:lnTo>
                  <a:pt x="75341" y="508535"/>
                </a:lnTo>
                <a:lnTo>
                  <a:pt x="105636" y="538830"/>
                </a:lnTo>
                <a:lnTo>
                  <a:pt x="139898" y="564684"/>
                </a:lnTo>
                <a:lnTo>
                  <a:pt x="177649" y="585621"/>
                </a:lnTo>
                <a:lnTo>
                  <a:pt x="218415" y="601165"/>
                </a:lnTo>
                <a:lnTo>
                  <a:pt x="261719" y="610841"/>
                </a:lnTo>
                <a:lnTo>
                  <a:pt x="307086" y="614171"/>
                </a:lnTo>
                <a:lnTo>
                  <a:pt x="8836914" y="614171"/>
                </a:lnTo>
                <a:lnTo>
                  <a:pt x="8882280" y="610841"/>
                </a:lnTo>
                <a:lnTo>
                  <a:pt x="8925584" y="601165"/>
                </a:lnTo>
                <a:lnTo>
                  <a:pt x="8966350" y="585621"/>
                </a:lnTo>
                <a:lnTo>
                  <a:pt x="9004101" y="564684"/>
                </a:lnTo>
                <a:lnTo>
                  <a:pt x="9038363" y="538830"/>
                </a:lnTo>
                <a:lnTo>
                  <a:pt x="9068658" y="508535"/>
                </a:lnTo>
                <a:lnTo>
                  <a:pt x="9094512" y="474273"/>
                </a:lnTo>
                <a:lnTo>
                  <a:pt x="9115449" y="436522"/>
                </a:lnTo>
                <a:lnTo>
                  <a:pt x="9130993" y="395756"/>
                </a:lnTo>
                <a:lnTo>
                  <a:pt x="9140669" y="352452"/>
                </a:lnTo>
                <a:lnTo>
                  <a:pt x="9144000" y="307086"/>
                </a:lnTo>
                <a:lnTo>
                  <a:pt x="9140669" y="261719"/>
                </a:lnTo>
                <a:lnTo>
                  <a:pt x="9130993" y="218415"/>
                </a:lnTo>
                <a:lnTo>
                  <a:pt x="9115449" y="177649"/>
                </a:lnTo>
                <a:lnTo>
                  <a:pt x="9094512" y="139898"/>
                </a:lnTo>
                <a:lnTo>
                  <a:pt x="9068658" y="105636"/>
                </a:lnTo>
                <a:lnTo>
                  <a:pt x="9038363" y="75341"/>
                </a:lnTo>
                <a:lnTo>
                  <a:pt x="9004101" y="49487"/>
                </a:lnTo>
                <a:lnTo>
                  <a:pt x="8966350" y="28550"/>
                </a:lnTo>
                <a:lnTo>
                  <a:pt x="8925584" y="13006"/>
                </a:lnTo>
                <a:lnTo>
                  <a:pt x="8882280" y="3330"/>
                </a:lnTo>
                <a:lnTo>
                  <a:pt x="8836914" y="0"/>
                </a:lnTo>
                <a:close/>
              </a:path>
            </a:pathLst>
          </a:custGeom>
          <a:solidFill>
            <a:srgbClr val="F374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6088" y="1065275"/>
            <a:ext cx="8653271" cy="4785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6944" y="1056258"/>
            <a:ext cx="8670416" cy="495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66469" y="1075385"/>
            <a:ext cx="4971415" cy="378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19200" y="996696"/>
            <a:ext cx="9144000" cy="614680"/>
          </a:xfrm>
          <a:custGeom>
            <a:avLst/>
            <a:gdLst/>
            <a:ahLst/>
            <a:cxnLst/>
            <a:rect l="l" t="t" r="r" b="b"/>
            <a:pathLst>
              <a:path w="9144000" h="614680">
                <a:moveTo>
                  <a:pt x="8836914" y="0"/>
                </a:moveTo>
                <a:lnTo>
                  <a:pt x="307086" y="0"/>
                </a:lnTo>
                <a:lnTo>
                  <a:pt x="261719" y="3330"/>
                </a:lnTo>
                <a:lnTo>
                  <a:pt x="218415" y="13006"/>
                </a:lnTo>
                <a:lnTo>
                  <a:pt x="177649" y="28550"/>
                </a:lnTo>
                <a:lnTo>
                  <a:pt x="139898" y="49487"/>
                </a:lnTo>
                <a:lnTo>
                  <a:pt x="105636" y="75341"/>
                </a:lnTo>
                <a:lnTo>
                  <a:pt x="75341" y="105636"/>
                </a:lnTo>
                <a:lnTo>
                  <a:pt x="49487" y="139898"/>
                </a:lnTo>
                <a:lnTo>
                  <a:pt x="28550" y="177649"/>
                </a:lnTo>
                <a:lnTo>
                  <a:pt x="13006" y="218415"/>
                </a:lnTo>
                <a:lnTo>
                  <a:pt x="3330" y="261719"/>
                </a:lnTo>
                <a:lnTo>
                  <a:pt x="0" y="307086"/>
                </a:lnTo>
                <a:lnTo>
                  <a:pt x="3330" y="352452"/>
                </a:lnTo>
                <a:lnTo>
                  <a:pt x="13006" y="395756"/>
                </a:lnTo>
                <a:lnTo>
                  <a:pt x="28550" y="436522"/>
                </a:lnTo>
                <a:lnTo>
                  <a:pt x="49487" y="474273"/>
                </a:lnTo>
                <a:lnTo>
                  <a:pt x="75341" y="508535"/>
                </a:lnTo>
                <a:lnTo>
                  <a:pt x="105636" y="538830"/>
                </a:lnTo>
                <a:lnTo>
                  <a:pt x="139898" y="564684"/>
                </a:lnTo>
                <a:lnTo>
                  <a:pt x="177649" y="585621"/>
                </a:lnTo>
                <a:lnTo>
                  <a:pt x="218415" y="601165"/>
                </a:lnTo>
                <a:lnTo>
                  <a:pt x="261719" y="610841"/>
                </a:lnTo>
                <a:lnTo>
                  <a:pt x="307086" y="614171"/>
                </a:lnTo>
                <a:lnTo>
                  <a:pt x="8836914" y="614171"/>
                </a:lnTo>
                <a:lnTo>
                  <a:pt x="8882280" y="610841"/>
                </a:lnTo>
                <a:lnTo>
                  <a:pt x="8925584" y="601165"/>
                </a:lnTo>
                <a:lnTo>
                  <a:pt x="8966350" y="585621"/>
                </a:lnTo>
                <a:lnTo>
                  <a:pt x="9004101" y="564684"/>
                </a:lnTo>
                <a:lnTo>
                  <a:pt x="9038363" y="538830"/>
                </a:lnTo>
                <a:lnTo>
                  <a:pt x="9068658" y="508535"/>
                </a:lnTo>
                <a:lnTo>
                  <a:pt x="9094512" y="474273"/>
                </a:lnTo>
                <a:lnTo>
                  <a:pt x="9115449" y="436522"/>
                </a:lnTo>
                <a:lnTo>
                  <a:pt x="9130993" y="395756"/>
                </a:lnTo>
                <a:lnTo>
                  <a:pt x="9140669" y="352452"/>
                </a:lnTo>
                <a:lnTo>
                  <a:pt x="9144000" y="307086"/>
                </a:lnTo>
                <a:lnTo>
                  <a:pt x="9140669" y="261719"/>
                </a:lnTo>
                <a:lnTo>
                  <a:pt x="9130993" y="218415"/>
                </a:lnTo>
                <a:lnTo>
                  <a:pt x="9115449" y="177649"/>
                </a:lnTo>
                <a:lnTo>
                  <a:pt x="9094512" y="139898"/>
                </a:lnTo>
                <a:lnTo>
                  <a:pt x="9068658" y="105636"/>
                </a:lnTo>
                <a:lnTo>
                  <a:pt x="9038363" y="75341"/>
                </a:lnTo>
                <a:lnTo>
                  <a:pt x="9004101" y="49487"/>
                </a:lnTo>
                <a:lnTo>
                  <a:pt x="8966350" y="28550"/>
                </a:lnTo>
                <a:lnTo>
                  <a:pt x="8925584" y="13006"/>
                </a:lnTo>
                <a:lnTo>
                  <a:pt x="8882280" y="3330"/>
                </a:lnTo>
                <a:lnTo>
                  <a:pt x="8836914" y="0"/>
                </a:lnTo>
                <a:close/>
              </a:path>
            </a:pathLst>
          </a:custGeom>
          <a:solidFill>
            <a:srgbClr val="F374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66088" y="1065276"/>
            <a:ext cx="8653271" cy="4785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56943" y="1056259"/>
            <a:ext cx="8670416" cy="495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3445" y="1075385"/>
            <a:ext cx="55880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4923" y="2481452"/>
            <a:ext cx="8162925" cy="293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6.png"/><Relationship Id="rId7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0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3954" y="2655299"/>
            <a:ext cx="3952240" cy="2296141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1506855" algn="l"/>
              </a:tabLst>
            </a:pPr>
            <a:r>
              <a:rPr sz="6000" b="0" spc="-20" dirty="0">
                <a:solidFill>
                  <a:srgbClr val="15498D"/>
                </a:solidFill>
                <a:latin typeface="Liberation Sans Narrow"/>
                <a:cs typeface="Liberation Sans Narrow"/>
              </a:rPr>
              <a:t>Java</a:t>
            </a:r>
            <a:br>
              <a:rPr lang="en-US" sz="6000" b="0" dirty="0">
                <a:solidFill>
                  <a:srgbClr val="15498D"/>
                </a:solidFill>
                <a:latin typeface="Liberation Sans Narrow"/>
                <a:cs typeface="Liberation Sans Narrow"/>
              </a:rPr>
            </a:br>
            <a:r>
              <a:rPr sz="6000" b="0" spc="-10" dirty="0">
                <a:solidFill>
                  <a:srgbClr val="15498D"/>
                </a:solidFill>
                <a:latin typeface="Liberation Sans Narrow"/>
                <a:cs typeface="Liberation Sans Narrow"/>
              </a:rPr>
              <a:t>Backend</a:t>
            </a:r>
            <a:endParaRPr sz="6000" dirty="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700" b="0" dirty="0">
                <a:solidFill>
                  <a:srgbClr val="F37421"/>
                </a:solidFill>
                <a:latin typeface="Arial"/>
                <a:cs typeface="Arial"/>
              </a:rPr>
              <a:t>Phùng</a:t>
            </a:r>
            <a:r>
              <a:rPr sz="1700" b="0" spc="-75" dirty="0">
                <a:solidFill>
                  <a:srgbClr val="F37421"/>
                </a:solidFill>
                <a:latin typeface="Arial"/>
                <a:cs typeface="Arial"/>
              </a:rPr>
              <a:t> </a:t>
            </a:r>
            <a:r>
              <a:rPr sz="1700" b="0" dirty="0">
                <a:solidFill>
                  <a:srgbClr val="F37421"/>
                </a:solidFill>
                <a:latin typeface="Arial"/>
                <a:cs typeface="Arial"/>
              </a:rPr>
              <a:t>Thế</a:t>
            </a:r>
            <a:r>
              <a:rPr sz="1700" b="0" spc="-45" dirty="0">
                <a:solidFill>
                  <a:srgbClr val="F37421"/>
                </a:solidFill>
                <a:latin typeface="Arial"/>
                <a:cs typeface="Arial"/>
              </a:rPr>
              <a:t> </a:t>
            </a:r>
            <a:r>
              <a:rPr sz="1700" b="0" spc="-10" dirty="0">
                <a:solidFill>
                  <a:srgbClr val="F37421"/>
                </a:solidFill>
                <a:latin typeface="Arial"/>
                <a:cs typeface="Arial"/>
              </a:rPr>
              <a:t>Quang</a:t>
            </a:r>
            <a:endParaRPr sz="17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914400"/>
            <a:ext cx="7444740" cy="502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19300" y="1530097"/>
            <a:ext cx="7610855" cy="3651504"/>
            <a:chOff x="2019300" y="1530096"/>
            <a:chExt cx="7610855" cy="3803903"/>
          </a:xfrm>
        </p:grpSpPr>
        <p:sp>
          <p:nvSpPr>
            <p:cNvPr id="3" name="object 3"/>
            <p:cNvSpPr/>
            <p:nvPr/>
          </p:nvSpPr>
          <p:spPr>
            <a:xfrm>
              <a:off x="2033016" y="1600200"/>
              <a:ext cx="746760" cy="600710"/>
            </a:xfrm>
            <a:custGeom>
              <a:avLst/>
              <a:gdLst/>
              <a:ahLst/>
              <a:cxnLst/>
              <a:rect l="l" t="t" r="r" b="b"/>
              <a:pathLst>
                <a:path w="746760" h="600710">
                  <a:moveTo>
                    <a:pt x="663320" y="0"/>
                  </a:moveTo>
                  <a:lnTo>
                    <a:pt x="83438" y="0"/>
                  </a:lnTo>
                  <a:lnTo>
                    <a:pt x="50952" y="6554"/>
                  </a:lnTo>
                  <a:lnTo>
                    <a:pt x="24431" y="24431"/>
                  </a:lnTo>
                  <a:lnTo>
                    <a:pt x="6554" y="50952"/>
                  </a:lnTo>
                  <a:lnTo>
                    <a:pt x="0" y="83438"/>
                  </a:lnTo>
                  <a:lnTo>
                    <a:pt x="0" y="517016"/>
                  </a:lnTo>
                  <a:lnTo>
                    <a:pt x="6554" y="549503"/>
                  </a:lnTo>
                  <a:lnTo>
                    <a:pt x="24431" y="576024"/>
                  </a:lnTo>
                  <a:lnTo>
                    <a:pt x="50952" y="593901"/>
                  </a:lnTo>
                  <a:lnTo>
                    <a:pt x="83438" y="600455"/>
                  </a:lnTo>
                  <a:lnTo>
                    <a:pt x="663320" y="600455"/>
                  </a:lnTo>
                  <a:lnTo>
                    <a:pt x="695807" y="593901"/>
                  </a:lnTo>
                  <a:lnTo>
                    <a:pt x="722328" y="576024"/>
                  </a:lnTo>
                  <a:lnTo>
                    <a:pt x="740205" y="549503"/>
                  </a:lnTo>
                  <a:lnTo>
                    <a:pt x="746759" y="517016"/>
                  </a:lnTo>
                  <a:lnTo>
                    <a:pt x="746759" y="83438"/>
                  </a:lnTo>
                  <a:lnTo>
                    <a:pt x="740205" y="50952"/>
                  </a:lnTo>
                  <a:lnTo>
                    <a:pt x="722328" y="24431"/>
                  </a:lnTo>
                  <a:lnTo>
                    <a:pt x="695807" y="6554"/>
                  </a:lnTo>
                  <a:lnTo>
                    <a:pt x="663320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77211" y="3070860"/>
              <a:ext cx="733425" cy="711835"/>
            </a:xfrm>
            <a:custGeom>
              <a:avLst/>
              <a:gdLst/>
              <a:ahLst/>
              <a:cxnLst/>
              <a:rect l="l" t="t" r="r" b="b"/>
              <a:pathLst>
                <a:path w="733425" h="711835">
                  <a:moveTo>
                    <a:pt x="634238" y="0"/>
                  </a:moveTo>
                  <a:lnTo>
                    <a:pt x="98806" y="0"/>
                  </a:lnTo>
                  <a:lnTo>
                    <a:pt x="60328" y="7758"/>
                  </a:lnTo>
                  <a:lnTo>
                    <a:pt x="28924" y="28924"/>
                  </a:lnTo>
                  <a:lnTo>
                    <a:pt x="7758" y="60328"/>
                  </a:lnTo>
                  <a:lnTo>
                    <a:pt x="0" y="98805"/>
                  </a:lnTo>
                  <a:lnTo>
                    <a:pt x="0" y="612901"/>
                  </a:lnTo>
                  <a:lnTo>
                    <a:pt x="7758" y="651379"/>
                  </a:lnTo>
                  <a:lnTo>
                    <a:pt x="28924" y="682783"/>
                  </a:lnTo>
                  <a:lnTo>
                    <a:pt x="60328" y="703949"/>
                  </a:lnTo>
                  <a:lnTo>
                    <a:pt x="98806" y="711707"/>
                  </a:lnTo>
                  <a:lnTo>
                    <a:pt x="634238" y="711707"/>
                  </a:lnTo>
                  <a:lnTo>
                    <a:pt x="672715" y="703949"/>
                  </a:lnTo>
                  <a:lnTo>
                    <a:pt x="704119" y="682783"/>
                  </a:lnTo>
                  <a:lnTo>
                    <a:pt x="725285" y="651379"/>
                  </a:lnTo>
                  <a:lnTo>
                    <a:pt x="733044" y="612901"/>
                  </a:lnTo>
                  <a:lnTo>
                    <a:pt x="733044" y="98805"/>
                  </a:lnTo>
                  <a:lnTo>
                    <a:pt x="725285" y="60328"/>
                  </a:lnTo>
                  <a:lnTo>
                    <a:pt x="704119" y="28924"/>
                  </a:lnTo>
                  <a:lnTo>
                    <a:pt x="672715" y="7758"/>
                  </a:lnTo>
                  <a:lnTo>
                    <a:pt x="634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8444" y="3064763"/>
              <a:ext cx="723900" cy="670560"/>
            </a:xfrm>
            <a:custGeom>
              <a:avLst/>
              <a:gdLst/>
              <a:ahLst/>
              <a:cxnLst/>
              <a:rect l="l" t="t" r="r" b="b"/>
              <a:pathLst>
                <a:path w="723900" h="670560">
                  <a:moveTo>
                    <a:pt x="630808" y="0"/>
                  </a:moveTo>
                  <a:lnTo>
                    <a:pt x="93091" y="0"/>
                  </a:lnTo>
                  <a:lnTo>
                    <a:pt x="56846" y="7312"/>
                  </a:lnTo>
                  <a:lnTo>
                    <a:pt x="27257" y="27257"/>
                  </a:lnTo>
                  <a:lnTo>
                    <a:pt x="7312" y="56846"/>
                  </a:lnTo>
                  <a:lnTo>
                    <a:pt x="0" y="93090"/>
                  </a:lnTo>
                  <a:lnTo>
                    <a:pt x="0" y="577469"/>
                  </a:lnTo>
                  <a:lnTo>
                    <a:pt x="7312" y="613713"/>
                  </a:lnTo>
                  <a:lnTo>
                    <a:pt x="27257" y="643302"/>
                  </a:lnTo>
                  <a:lnTo>
                    <a:pt x="56846" y="663247"/>
                  </a:lnTo>
                  <a:lnTo>
                    <a:pt x="93091" y="670560"/>
                  </a:lnTo>
                  <a:lnTo>
                    <a:pt x="630808" y="670560"/>
                  </a:lnTo>
                  <a:lnTo>
                    <a:pt x="667053" y="663247"/>
                  </a:lnTo>
                  <a:lnTo>
                    <a:pt x="696642" y="643302"/>
                  </a:lnTo>
                  <a:lnTo>
                    <a:pt x="716587" y="613713"/>
                  </a:lnTo>
                  <a:lnTo>
                    <a:pt x="723900" y="577469"/>
                  </a:lnTo>
                  <a:lnTo>
                    <a:pt x="723900" y="93090"/>
                  </a:lnTo>
                  <a:lnTo>
                    <a:pt x="716587" y="56846"/>
                  </a:lnTo>
                  <a:lnTo>
                    <a:pt x="696642" y="27257"/>
                  </a:lnTo>
                  <a:lnTo>
                    <a:pt x="667053" y="7312"/>
                  </a:lnTo>
                  <a:lnTo>
                    <a:pt x="630808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1047" y="1549908"/>
              <a:ext cx="6579108" cy="7589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4367" y="1530096"/>
              <a:ext cx="3715511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1339" y="1600200"/>
              <a:ext cx="6423660" cy="6035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2572" y="3029712"/>
              <a:ext cx="6577583" cy="7985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7416" y="3029712"/>
              <a:ext cx="4942332" cy="9022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02863" y="3080004"/>
              <a:ext cx="6422136" cy="6431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16351" y="1600200"/>
              <a:ext cx="284988" cy="2135123"/>
            </a:xfrm>
            <a:custGeom>
              <a:avLst/>
              <a:gdLst/>
              <a:ahLst/>
              <a:cxnLst/>
              <a:rect l="l" t="t" r="r" b="b"/>
              <a:pathLst>
                <a:path w="277494" h="3698875">
                  <a:moveTo>
                    <a:pt x="277368" y="0"/>
                  </a:moveTo>
                  <a:lnTo>
                    <a:pt x="0" y="0"/>
                  </a:lnTo>
                  <a:lnTo>
                    <a:pt x="0" y="3698748"/>
                  </a:lnTo>
                  <a:lnTo>
                    <a:pt x="277368" y="3698748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36064" y="2292096"/>
              <a:ext cx="723900" cy="640080"/>
            </a:xfrm>
            <a:custGeom>
              <a:avLst/>
              <a:gdLst/>
              <a:ahLst/>
              <a:cxnLst/>
              <a:rect l="l" t="t" r="r" b="b"/>
              <a:pathLst>
                <a:path w="723900" h="640080">
                  <a:moveTo>
                    <a:pt x="6350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551179"/>
                  </a:lnTo>
                  <a:lnTo>
                    <a:pt x="6979" y="585805"/>
                  </a:lnTo>
                  <a:lnTo>
                    <a:pt x="26019" y="614060"/>
                  </a:lnTo>
                  <a:lnTo>
                    <a:pt x="54274" y="633100"/>
                  </a:lnTo>
                  <a:lnTo>
                    <a:pt x="88900" y="640079"/>
                  </a:lnTo>
                  <a:lnTo>
                    <a:pt x="635000" y="640079"/>
                  </a:lnTo>
                  <a:lnTo>
                    <a:pt x="669625" y="633100"/>
                  </a:lnTo>
                  <a:lnTo>
                    <a:pt x="697880" y="614060"/>
                  </a:lnTo>
                  <a:lnTo>
                    <a:pt x="716920" y="585805"/>
                  </a:lnTo>
                  <a:lnTo>
                    <a:pt x="723900" y="551179"/>
                  </a:lnTo>
                  <a:lnTo>
                    <a:pt x="723900" y="88900"/>
                  </a:lnTo>
                  <a:lnTo>
                    <a:pt x="716920" y="54274"/>
                  </a:lnTo>
                  <a:lnTo>
                    <a:pt x="697880" y="26019"/>
                  </a:lnTo>
                  <a:lnTo>
                    <a:pt x="669625" y="6979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8539" y="2808732"/>
              <a:ext cx="5379720" cy="1341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8855" y="2241804"/>
              <a:ext cx="6591300" cy="7955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33700" y="2240280"/>
              <a:ext cx="6100572" cy="902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89147" y="2292096"/>
              <a:ext cx="6435852" cy="6400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28444" y="3877056"/>
              <a:ext cx="715010" cy="673735"/>
            </a:xfrm>
            <a:custGeom>
              <a:avLst/>
              <a:gdLst/>
              <a:ahLst/>
              <a:cxnLst/>
              <a:rect l="l" t="t" r="r" b="b"/>
              <a:pathLst>
                <a:path w="715010" h="673735">
                  <a:moveTo>
                    <a:pt x="621157" y="0"/>
                  </a:moveTo>
                  <a:lnTo>
                    <a:pt x="93599" y="0"/>
                  </a:lnTo>
                  <a:lnTo>
                    <a:pt x="57167" y="7356"/>
                  </a:lnTo>
                  <a:lnTo>
                    <a:pt x="27416" y="27416"/>
                  </a:lnTo>
                  <a:lnTo>
                    <a:pt x="7356" y="57167"/>
                  </a:lnTo>
                  <a:lnTo>
                    <a:pt x="0" y="93599"/>
                  </a:lnTo>
                  <a:lnTo>
                    <a:pt x="0" y="580009"/>
                  </a:lnTo>
                  <a:lnTo>
                    <a:pt x="7356" y="616440"/>
                  </a:lnTo>
                  <a:lnTo>
                    <a:pt x="27416" y="646191"/>
                  </a:lnTo>
                  <a:lnTo>
                    <a:pt x="57167" y="666251"/>
                  </a:lnTo>
                  <a:lnTo>
                    <a:pt x="93599" y="673608"/>
                  </a:lnTo>
                  <a:lnTo>
                    <a:pt x="621157" y="673608"/>
                  </a:lnTo>
                  <a:lnTo>
                    <a:pt x="657588" y="666251"/>
                  </a:lnTo>
                  <a:lnTo>
                    <a:pt x="687339" y="646191"/>
                  </a:lnTo>
                  <a:lnTo>
                    <a:pt x="707399" y="616440"/>
                  </a:lnTo>
                  <a:lnTo>
                    <a:pt x="714756" y="580009"/>
                  </a:lnTo>
                  <a:lnTo>
                    <a:pt x="714756" y="93599"/>
                  </a:lnTo>
                  <a:lnTo>
                    <a:pt x="707399" y="57167"/>
                  </a:lnTo>
                  <a:lnTo>
                    <a:pt x="687339" y="27416"/>
                  </a:lnTo>
                  <a:lnTo>
                    <a:pt x="657588" y="7356"/>
                  </a:lnTo>
                  <a:lnTo>
                    <a:pt x="621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9300" y="4571999"/>
              <a:ext cx="715010" cy="762000"/>
            </a:xfrm>
            <a:custGeom>
              <a:avLst/>
              <a:gdLst/>
              <a:ahLst/>
              <a:cxnLst/>
              <a:rect l="l" t="t" r="r" b="b"/>
              <a:pathLst>
                <a:path w="715010" h="762000">
                  <a:moveTo>
                    <a:pt x="714756" y="93345"/>
                  </a:moveTo>
                  <a:lnTo>
                    <a:pt x="707415" y="57010"/>
                  </a:lnTo>
                  <a:lnTo>
                    <a:pt x="687412" y="27343"/>
                  </a:lnTo>
                  <a:lnTo>
                    <a:pt x="657745" y="7340"/>
                  </a:lnTo>
                  <a:lnTo>
                    <a:pt x="621411" y="0"/>
                  </a:lnTo>
                  <a:lnTo>
                    <a:pt x="93345" y="0"/>
                  </a:lnTo>
                  <a:lnTo>
                    <a:pt x="56997" y="7340"/>
                  </a:lnTo>
                  <a:lnTo>
                    <a:pt x="27330" y="27343"/>
                  </a:lnTo>
                  <a:lnTo>
                    <a:pt x="7327" y="57010"/>
                  </a:lnTo>
                  <a:lnTo>
                    <a:pt x="0" y="93345"/>
                  </a:lnTo>
                  <a:lnTo>
                    <a:pt x="0" y="578739"/>
                  </a:lnTo>
                  <a:lnTo>
                    <a:pt x="7327" y="615086"/>
                  </a:lnTo>
                  <a:lnTo>
                    <a:pt x="16764" y="629081"/>
                  </a:lnTo>
                  <a:lnTo>
                    <a:pt x="16764" y="670306"/>
                  </a:lnTo>
                  <a:lnTo>
                    <a:pt x="23964" y="706018"/>
                  </a:lnTo>
                  <a:lnTo>
                    <a:pt x="43599" y="735164"/>
                  </a:lnTo>
                  <a:lnTo>
                    <a:pt x="72745" y="754799"/>
                  </a:lnTo>
                  <a:lnTo>
                    <a:pt x="108458" y="762000"/>
                  </a:lnTo>
                  <a:lnTo>
                    <a:pt x="616966" y="762000"/>
                  </a:lnTo>
                  <a:lnTo>
                    <a:pt x="652665" y="754799"/>
                  </a:lnTo>
                  <a:lnTo>
                    <a:pt x="681812" y="735164"/>
                  </a:lnTo>
                  <a:lnTo>
                    <a:pt x="701446" y="706018"/>
                  </a:lnTo>
                  <a:lnTo>
                    <a:pt x="708660" y="670306"/>
                  </a:lnTo>
                  <a:lnTo>
                    <a:pt x="708660" y="608926"/>
                  </a:lnTo>
                  <a:lnTo>
                    <a:pt x="714756" y="578739"/>
                  </a:lnTo>
                  <a:lnTo>
                    <a:pt x="714756" y="93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185797" y="1673479"/>
            <a:ext cx="7135495" cy="19460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5525" indent="-1010919">
              <a:lnSpc>
                <a:spcPct val="100000"/>
              </a:lnSpc>
              <a:spcBef>
                <a:spcPts val="2840"/>
              </a:spcBef>
              <a:buClr>
                <a:srgbClr val="FFFFFF"/>
              </a:buClr>
              <a:buFont typeface="Impact"/>
              <a:buAutoNum type="arabicPeriod"/>
              <a:tabLst>
                <a:tab pos="1025525" algn="l"/>
              </a:tabLst>
            </a:pPr>
            <a:r>
              <a:rPr lang="vi-VN" sz="2800" b="1" dirty="0">
                <a:solidFill>
                  <a:srgbClr val="E86F70"/>
                </a:solidFill>
                <a:latin typeface="Times New Roman"/>
                <a:cs typeface="Times New Roman"/>
              </a:rPr>
              <a:t>Thao</a:t>
            </a:r>
            <a:r>
              <a:rPr lang="vi-VN" sz="2800" b="1" spc="-80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2800" b="1" dirty="0">
                <a:solidFill>
                  <a:srgbClr val="E86F70"/>
                </a:solidFill>
                <a:latin typeface="Times New Roman"/>
                <a:cs typeface="Times New Roman"/>
              </a:rPr>
              <a:t>Tác</a:t>
            </a:r>
            <a:r>
              <a:rPr lang="vi-VN" sz="2800" b="1" spc="-55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2800" b="1" dirty="0">
                <a:solidFill>
                  <a:srgbClr val="E86F70"/>
                </a:solidFill>
                <a:latin typeface="Times New Roman"/>
                <a:cs typeface="Times New Roman"/>
              </a:rPr>
              <a:t>Cơ</a:t>
            </a:r>
            <a:r>
              <a:rPr lang="vi-VN" sz="2800" b="1" spc="-35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2800" b="1" dirty="0">
                <a:solidFill>
                  <a:srgbClr val="E86F70"/>
                </a:solidFill>
                <a:latin typeface="Times New Roman"/>
                <a:cs typeface="Times New Roman"/>
              </a:rPr>
              <a:t>Bản</a:t>
            </a:r>
            <a:r>
              <a:rPr lang="vi-VN" sz="2800" b="1" spc="-75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2800" b="1" dirty="0">
                <a:solidFill>
                  <a:srgbClr val="E86F70"/>
                </a:solidFill>
                <a:latin typeface="Times New Roman"/>
                <a:cs typeface="Times New Roman"/>
              </a:rPr>
              <a:t>Với</a:t>
            </a:r>
            <a:r>
              <a:rPr lang="vi-VN" sz="2800" b="1" spc="-35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2800" b="1" spc="-20" dirty="0">
                <a:solidFill>
                  <a:srgbClr val="E86F70"/>
                </a:solidFill>
                <a:latin typeface="Times New Roman"/>
                <a:cs typeface="Times New Roman"/>
              </a:rPr>
              <a:t>CSDL</a:t>
            </a:r>
            <a:endParaRPr lang="vi-VN" sz="2800" dirty="0">
              <a:latin typeface="Times New Roman"/>
              <a:cs typeface="Times New Roman"/>
            </a:endParaRPr>
          </a:p>
          <a:p>
            <a:pPr marL="1024890" indent="-995680">
              <a:lnSpc>
                <a:spcPct val="100000"/>
              </a:lnSpc>
              <a:spcBef>
                <a:spcPts val="2950"/>
              </a:spcBef>
              <a:buClr>
                <a:srgbClr val="FFFFFF"/>
              </a:buClr>
              <a:buFont typeface="Impact"/>
              <a:buAutoNum type="arabicPeriod"/>
              <a:tabLst>
                <a:tab pos="1024890" algn="l"/>
              </a:tabLst>
            </a:pPr>
            <a:r>
              <a:rPr lang="vi-VN" sz="4200" b="1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Câu</a:t>
            </a:r>
            <a:r>
              <a:rPr lang="vi-VN" sz="4200" b="1" spc="-89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Lệnh</a:t>
            </a:r>
            <a:r>
              <a:rPr lang="vi-VN" sz="4200" b="1" spc="-142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spc="-75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Truy</a:t>
            </a:r>
            <a:r>
              <a:rPr lang="vi-VN" sz="4200" b="1" spc="-179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Vấn</a:t>
            </a:r>
            <a:r>
              <a:rPr lang="vi-VN" sz="4200" b="1" spc="-82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Cơ</a:t>
            </a:r>
            <a:r>
              <a:rPr lang="vi-VN" sz="4200" b="1" spc="-97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Bản</a:t>
            </a:r>
            <a:r>
              <a:rPr lang="vi-VN" sz="4200" b="1" spc="-165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spc="-52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Trong</a:t>
            </a:r>
            <a:r>
              <a:rPr lang="vi-VN" sz="4200" b="1" spc="-112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vi-VN" sz="4200" b="1" spc="-37" baseline="1984" dirty="0">
                <a:solidFill>
                  <a:srgbClr val="E86F70"/>
                </a:solidFill>
                <a:latin typeface="Times New Roman"/>
                <a:cs typeface="Times New Roman"/>
              </a:rPr>
              <a:t>SQL</a:t>
            </a:r>
            <a:endParaRPr lang="vi-VN" sz="4200" baseline="1984" dirty="0">
              <a:latin typeface="Times New Roman"/>
              <a:cs typeface="Times New Roman"/>
            </a:endParaRPr>
          </a:p>
          <a:p>
            <a:pPr marL="1026160" indent="-1013460">
              <a:lnSpc>
                <a:spcPct val="100000"/>
              </a:lnSpc>
              <a:spcBef>
                <a:spcPts val="1970"/>
              </a:spcBef>
              <a:buClr>
                <a:srgbClr val="FFFFFF"/>
              </a:buClr>
              <a:buFont typeface="Impact"/>
              <a:buAutoNum type="arabicPeriod"/>
              <a:tabLst>
                <a:tab pos="1026160" algn="l"/>
              </a:tabLst>
            </a:pPr>
            <a:r>
              <a:rPr lang="en-US" sz="2800" b="1" spc="-65" dirty="0" err="1">
                <a:solidFill>
                  <a:srgbClr val="E86F70"/>
                </a:solidFill>
                <a:latin typeface="Times New Roman"/>
                <a:cs typeface="Times New Roman"/>
              </a:rPr>
              <a:t>Toán</a:t>
            </a:r>
            <a:r>
              <a:rPr lang="en-US" sz="2800" b="1" spc="-110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srgbClr val="E86F70"/>
                </a:solidFill>
                <a:latin typeface="Times New Roman"/>
                <a:cs typeface="Times New Roman"/>
              </a:rPr>
              <a:t>Tử</a:t>
            </a:r>
            <a:r>
              <a:rPr lang="en-US" sz="2800" b="1" spc="-100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en-US" sz="2800" b="1" spc="-40" dirty="0" err="1">
                <a:solidFill>
                  <a:srgbClr val="E86F70"/>
                </a:solidFill>
                <a:latin typeface="Times New Roman"/>
                <a:cs typeface="Times New Roman"/>
              </a:rPr>
              <a:t>Trong</a:t>
            </a:r>
            <a:r>
              <a:rPr lang="en-US" sz="2800" b="1" spc="-50" dirty="0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lang="en-US" sz="2800" b="1" spc="-25" dirty="0">
                <a:solidFill>
                  <a:srgbClr val="E86F70"/>
                </a:solidFill>
                <a:latin typeface="Times New Roman"/>
                <a:cs typeface="Times New Roman"/>
              </a:rPr>
              <a:t>SQL</a:t>
            </a:r>
            <a:endParaRPr lang="en-US"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5" y="827532"/>
              <a:ext cx="1242060" cy="118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4970" y="1075385"/>
            <a:ext cx="6322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46275" algn="l"/>
              </a:tabLst>
            </a:pPr>
            <a:r>
              <a:rPr b="0" spc="-25" dirty="0">
                <a:latin typeface="Impact"/>
                <a:cs typeface="Impact"/>
              </a:rPr>
              <a:t>0</a:t>
            </a:r>
            <a:r>
              <a:rPr lang="en-US" b="0" spc="-25" dirty="0">
                <a:latin typeface="Impact"/>
                <a:cs typeface="Impact"/>
              </a:rPr>
              <a:t>1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baseline="1984" dirty="0"/>
              <a:t>Thao</a:t>
            </a:r>
            <a:r>
              <a:rPr sz="4200" spc="-135" baseline="1984" dirty="0"/>
              <a:t> </a:t>
            </a:r>
            <a:r>
              <a:rPr sz="4200" baseline="1984" dirty="0"/>
              <a:t>Tác</a:t>
            </a:r>
            <a:r>
              <a:rPr sz="4200" spc="-89" baseline="1984" dirty="0"/>
              <a:t> </a:t>
            </a:r>
            <a:r>
              <a:rPr sz="4200" baseline="1984" dirty="0"/>
              <a:t>Cơ</a:t>
            </a:r>
            <a:r>
              <a:rPr sz="4200" spc="-52" baseline="1984" dirty="0"/>
              <a:t> </a:t>
            </a:r>
            <a:r>
              <a:rPr sz="4200" baseline="1984" dirty="0"/>
              <a:t>Bản</a:t>
            </a:r>
            <a:r>
              <a:rPr sz="4200" spc="-120" baseline="1984" dirty="0"/>
              <a:t> </a:t>
            </a:r>
            <a:r>
              <a:rPr sz="4200" baseline="1984" dirty="0"/>
              <a:t>Với</a:t>
            </a:r>
            <a:r>
              <a:rPr sz="4200" spc="-60" baseline="1984" dirty="0"/>
              <a:t> </a:t>
            </a:r>
            <a:r>
              <a:rPr sz="4200" spc="-30" baseline="1984" dirty="0"/>
              <a:t>CSDL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469" y="1680209"/>
            <a:ext cx="7918450" cy="3912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Các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thành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phần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cơ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bản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trong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CSDL:</a:t>
            </a:r>
            <a:endParaRPr sz="2400">
              <a:latin typeface="Times New Roman"/>
              <a:cs typeface="Times New Roman"/>
            </a:endParaRPr>
          </a:p>
          <a:p>
            <a:pPr marL="754380" marR="82550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30" dirty="0">
                <a:latin typeface="Times New Roman"/>
                <a:cs typeface="Times New Roman"/>
              </a:rPr>
              <a:t>Database/Schema(CSDL):</a:t>
            </a:r>
            <a:r>
              <a:rPr sz="2400" b="1" spc="-19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một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cơ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sở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chứa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tất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cả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các </a:t>
            </a:r>
            <a:r>
              <a:rPr sz="2400" spc="-105" dirty="0">
                <a:latin typeface="Times New Roman"/>
                <a:cs typeface="Times New Roman"/>
              </a:rPr>
              <a:t>bảng.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Có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thể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tạo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nhiều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database.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Mỗi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database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mang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ý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nghĩa, </a:t>
            </a:r>
            <a:r>
              <a:rPr sz="2400" spc="-95" dirty="0">
                <a:latin typeface="Times New Roman"/>
                <a:cs typeface="Times New Roman"/>
              </a:rPr>
              <a:t>nhiệm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vụ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nhất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định</a:t>
            </a:r>
            <a:endParaRPr sz="2400">
              <a:latin typeface="Times New Roman"/>
              <a:cs typeface="Times New Roman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40" dirty="0">
                <a:latin typeface="Times New Roman"/>
                <a:cs typeface="Times New Roman"/>
              </a:rPr>
              <a:t>Bảng(Table)</a:t>
            </a:r>
            <a:r>
              <a:rPr sz="2400" b="1" spc="-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bảng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tương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đương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như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Class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 </a:t>
            </a:r>
            <a:r>
              <a:rPr sz="2400" spc="-70" dirty="0">
                <a:latin typeface="Times New Roman"/>
                <a:cs typeface="Times New Roman"/>
              </a:rPr>
              <a:t>Là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nơi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đặc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tả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lưu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trữ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thuộc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tính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của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đối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tượng.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Các </a:t>
            </a:r>
            <a:r>
              <a:rPr sz="2400" spc="-120" dirty="0">
                <a:latin typeface="Times New Roman"/>
                <a:cs typeface="Times New Roman"/>
              </a:rPr>
              <a:t>cột(Column)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chính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b="1" spc="-130" dirty="0">
                <a:latin typeface="Times New Roman"/>
                <a:cs typeface="Times New Roman"/>
              </a:rPr>
              <a:t>t</a:t>
            </a:r>
            <a:r>
              <a:rPr sz="2400" spc="-130" dirty="0">
                <a:latin typeface="Times New Roman"/>
                <a:cs typeface="Times New Roman"/>
              </a:rPr>
              <a:t>ribute(Thuộc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tính)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giống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với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Class.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Table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chỉ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lưu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trữ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thông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tin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đối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tượng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chứ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không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hành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động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đối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tượng.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=&gt;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Chỉ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thuộc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tính(a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b="1" spc="-135" dirty="0">
                <a:latin typeface="Times New Roman"/>
                <a:cs typeface="Times New Roman"/>
              </a:rPr>
              <a:t>t</a:t>
            </a:r>
            <a:r>
              <a:rPr sz="2400" spc="-135" dirty="0">
                <a:latin typeface="Times New Roman"/>
                <a:cs typeface="Times New Roman"/>
              </a:rPr>
              <a:t>ribute)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mà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không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có </a:t>
            </a:r>
            <a:r>
              <a:rPr sz="2400" spc="-35" dirty="0">
                <a:latin typeface="Times New Roman"/>
                <a:cs typeface="Times New Roman"/>
              </a:rPr>
              <a:t>method(Hàm)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5" y="827532"/>
              <a:ext cx="1242060" cy="118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4970" y="1075385"/>
            <a:ext cx="6322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46275" algn="l"/>
              </a:tabLst>
            </a:pPr>
            <a:r>
              <a:rPr lang="en-US" b="0" spc="-25" dirty="0">
                <a:latin typeface="Impact"/>
                <a:cs typeface="Impact"/>
              </a:rPr>
              <a:t>01 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baseline="1984" dirty="0"/>
              <a:t>Thao</a:t>
            </a:r>
            <a:r>
              <a:rPr sz="4200" spc="-135" baseline="1984" dirty="0"/>
              <a:t> </a:t>
            </a:r>
            <a:r>
              <a:rPr sz="4200" baseline="1984" dirty="0"/>
              <a:t>Tác</a:t>
            </a:r>
            <a:r>
              <a:rPr sz="4200" spc="-89" baseline="1984" dirty="0"/>
              <a:t> </a:t>
            </a:r>
            <a:r>
              <a:rPr sz="4200" baseline="1984" dirty="0"/>
              <a:t>Cơ</a:t>
            </a:r>
            <a:r>
              <a:rPr sz="4200" spc="-52" baseline="1984" dirty="0"/>
              <a:t> </a:t>
            </a:r>
            <a:r>
              <a:rPr sz="4200" baseline="1984" dirty="0"/>
              <a:t>Bản</a:t>
            </a:r>
            <a:r>
              <a:rPr sz="4200" spc="-120" baseline="1984" dirty="0"/>
              <a:t> </a:t>
            </a:r>
            <a:r>
              <a:rPr sz="4200" baseline="1984" dirty="0"/>
              <a:t>Với</a:t>
            </a:r>
            <a:r>
              <a:rPr sz="4200" spc="-60" baseline="1984" dirty="0"/>
              <a:t> </a:t>
            </a:r>
            <a:r>
              <a:rPr sz="4200" spc="-30" baseline="1984" dirty="0"/>
              <a:t>CSDL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469" y="1756028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Ngôn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ngữ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SQL: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9200" y="1905000"/>
            <a:ext cx="1447800" cy="762000"/>
          </a:xfrm>
          <a:prstGeom prst="rect">
            <a:avLst/>
          </a:prstGeom>
          <a:solidFill>
            <a:srgbClr val="FB6D51"/>
          </a:solidFill>
          <a:ln w="12192">
            <a:solidFill>
              <a:srgbClr val="B84F39"/>
            </a:solidFill>
          </a:ln>
        </p:spPr>
        <p:txBody>
          <a:bodyPr vert="horz" wrap="square" lIns="0" tIns="187960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1480"/>
              </a:spcBef>
            </a:pPr>
            <a:r>
              <a:rPr sz="24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SQL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200" y="3200400"/>
            <a:ext cx="4267200" cy="762000"/>
          </a:xfrm>
          <a:prstGeom prst="rect">
            <a:avLst/>
          </a:prstGeom>
          <a:solidFill>
            <a:srgbClr val="FB6D51"/>
          </a:solidFill>
          <a:ln w="12192">
            <a:solidFill>
              <a:srgbClr val="B84F3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R="53340" algn="ctr">
              <a:lnSpc>
                <a:spcPct val="100000"/>
              </a:lnSpc>
              <a:spcBef>
                <a:spcPts val="40"/>
              </a:spcBef>
            </a:pP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endParaRPr sz="2400">
              <a:latin typeface="Times New Roman"/>
              <a:cs typeface="Times New Roman"/>
            </a:endParaRPr>
          </a:p>
          <a:p>
            <a:pPr marR="69215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(Data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Definition</a:t>
            </a:r>
            <a:r>
              <a:rPr sz="2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3200" y="4267200"/>
            <a:ext cx="4267200" cy="762000"/>
          </a:xfrm>
          <a:prstGeom prst="rect">
            <a:avLst/>
          </a:prstGeom>
          <a:solidFill>
            <a:srgbClr val="FB6D51"/>
          </a:solidFill>
          <a:ln w="12192">
            <a:solidFill>
              <a:srgbClr val="B84F3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R="51435" algn="ctr">
              <a:lnSpc>
                <a:spcPct val="100000"/>
              </a:lnSpc>
              <a:spcBef>
                <a:spcPts val="40"/>
              </a:spcBef>
            </a:pP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DML</a:t>
            </a:r>
            <a:endParaRPr sz="2400">
              <a:latin typeface="Times New Roman"/>
              <a:cs typeface="Times New Roman"/>
            </a:endParaRPr>
          </a:p>
          <a:p>
            <a:pPr marR="6604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(Data</a:t>
            </a:r>
            <a:r>
              <a:rPr sz="2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r>
              <a:rPr sz="2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200" y="5334000"/>
            <a:ext cx="4267200" cy="762000"/>
          </a:xfrm>
          <a:prstGeom prst="rect">
            <a:avLst/>
          </a:prstGeom>
          <a:solidFill>
            <a:srgbClr val="FB6D51"/>
          </a:solidFill>
          <a:ln w="12192">
            <a:solidFill>
              <a:srgbClr val="B84F39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R="53340" algn="ctr">
              <a:lnSpc>
                <a:spcPct val="100000"/>
              </a:lnSpc>
              <a:spcBef>
                <a:spcPts val="45"/>
              </a:spcBef>
            </a:pP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DCL</a:t>
            </a:r>
            <a:endParaRPr sz="2400">
              <a:latin typeface="Times New Roman"/>
              <a:cs typeface="Times New Roman"/>
            </a:endParaRPr>
          </a:p>
          <a:p>
            <a:pPr marR="6858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(Data</a:t>
            </a:r>
            <a:r>
              <a:rPr sz="2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24144" y="2638043"/>
            <a:ext cx="829310" cy="3134995"/>
          </a:xfrm>
          <a:custGeom>
            <a:avLst/>
            <a:gdLst/>
            <a:ahLst/>
            <a:cxnLst/>
            <a:rect l="l" t="t" r="r" b="b"/>
            <a:pathLst>
              <a:path w="829309" h="3134995">
                <a:moveTo>
                  <a:pt x="829056" y="943356"/>
                </a:moveTo>
                <a:lnTo>
                  <a:pt x="771144" y="914412"/>
                </a:lnTo>
                <a:lnTo>
                  <a:pt x="713232" y="885444"/>
                </a:lnTo>
                <a:lnTo>
                  <a:pt x="713232" y="914412"/>
                </a:lnTo>
                <a:lnTo>
                  <a:pt x="57912" y="914412"/>
                </a:lnTo>
                <a:lnTo>
                  <a:pt x="57912" y="0"/>
                </a:lnTo>
                <a:lnTo>
                  <a:pt x="0" y="0"/>
                </a:lnTo>
                <a:lnTo>
                  <a:pt x="0" y="972312"/>
                </a:lnTo>
                <a:lnTo>
                  <a:pt x="0" y="2039112"/>
                </a:lnTo>
                <a:lnTo>
                  <a:pt x="0" y="3105912"/>
                </a:lnTo>
                <a:lnTo>
                  <a:pt x="713232" y="3105912"/>
                </a:lnTo>
                <a:lnTo>
                  <a:pt x="713232" y="3134868"/>
                </a:lnTo>
                <a:lnTo>
                  <a:pt x="771144" y="3105912"/>
                </a:lnTo>
                <a:lnTo>
                  <a:pt x="829056" y="3076956"/>
                </a:lnTo>
                <a:lnTo>
                  <a:pt x="771144" y="3048000"/>
                </a:lnTo>
                <a:lnTo>
                  <a:pt x="713232" y="3019044"/>
                </a:lnTo>
                <a:lnTo>
                  <a:pt x="713232" y="3048000"/>
                </a:lnTo>
                <a:lnTo>
                  <a:pt x="57912" y="3048000"/>
                </a:lnTo>
                <a:lnTo>
                  <a:pt x="57912" y="2039112"/>
                </a:lnTo>
                <a:lnTo>
                  <a:pt x="713232" y="2039112"/>
                </a:lnTo>
                <a:lnTo>
                  <a:pt x="713232" y="2068068"/>
                </a:lnTo>
                <a:lnTo>
                  <a:pt x="771144" y="2039112"/>
                </a:lnTo>
                <a:lnTo>
                  <a:pt x="829056" y="2010156"/>
                </a:lnTo>
                <a:lnTo>
                  <a:pt x="771144" y="1981200"/>
                </a:lnTo>
                <a:lnTo>
                  <a:pt x="713232" y="1952244"/>
                </a:lnTo>
                <a:lnTo>
                  <a:pt x="713232" y="1981200"/>
                </a:lnTo>
                <a:lnTo>
                  <a:pt x="57912" y="1981200"/>
                </a:lnTo>
                <a:lnTo>
                  <a:pt x="57912" y="972312"/>
                </a:lnTo>
                <a:lnTo>
                  <a:pt x="713232" y="972312"/>
                </a:lnTo>
                <a:lnTo>
                  <a:pt x="713232" y="1001268"/>
                </a:lnTo>
                <a:lnTo>
                  <a:pt x="771144" y="972312"/>
                </a:lnTo>
                <a:lnTo>
                  <a:pt x="829056" y="943356"/>
                </a:lnTo>
                <a:close/>
              </a:path>
            </a:pathLst>
          </a:custGeom>
          <a:solidFill>
            <a:srgbClr val="FB6D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0323" y="2892551"/>
            <a:ext cx="3715512" cy="31562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5" y="827532"/>
              <a:ext cx="1242060" cy="118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4970" y="1075385"/>
            <a:ext cx="6322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46275" algn="l"/>
              </a:tabLst>
            </a:pPr>
            <a:r>
              <a:rPr lang="en-US" b="0" spc="-25" dirty="0">
                <a:latin typeface="Impact"/>
                <a:cs typeface="Impact"/>
              </a:rPr>
              <a:t>01 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baseline="1984" dirty="0"/>
              <a:t>Thao</a:t>
            </a:r>
            <a:r>
              <a:rPr sz="4200" spc="-135" baseline="1984" dirty="0"/>
              <a:t> </a:t>
            </a:r>
            <a:r>
              <a:rPr sz="4200" baseline="1984" dirty="0"/>
              <a:t>Tác</a:t>
            </a:r>
            <a:r>
              <a:rPr sz="4200" spc="-89" baseline="1984" dirty="0"/>
              <a:t> </a:t>
            </a:r>
            <a:r>
              <a:rPr sz="4200" baseline="1984" dirty="0"/>
              <a:t>Cơ</a:t>
            </a:r>
            <a:r>
              <a:rPr sz="4200" spc="-52" baseline="1984" dirty="0"/>
              <a:t> </a:t>
            </a:r>
            <a:r>
              <a:rPr sz="4200" baseline="1984" dirty="0"/>
              <a:t>Bản</a:t>
            </a:r>
            <a:r>
              <a:rPr sz="4200" spc="-120" baseline="1984" dirty="0"/>
              <a:t> </a:t>
            </a:r>
            <a:r>
              <a:rPr sz="4200" baseline="1984" dirty="0"/>
              <a:t>Với</a:t>
            </a:r>
            <a:r>
              <a:rPr sz="4200" spc="-60" baseline="1984" dirty="0"/>
              <a:t> </a:t>
            </a:r>
            <a:r>
              <a:rPr sz="4200" spc="-30" baseline="1984" dirty="0"/>
              <a:t>CSDL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469" y="1756028"/>
            <a:ext cx="867791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100" indent="-34290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Definition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Language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(DDL)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câu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lệnh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nghĩa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cấu </a:t>
            </a:r>
            <a:r>
              <a:rPr sz="2400" dirty="0">
                <a:latin typeface="Times New Roman"/>
                <a:cs typeface="Times New Roman"/>
              </a:rPr>
              <a:t>trúc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lưu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trữ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 liệu.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Chúng 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sử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 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câu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lệnh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này dùng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cho </a:t>
            </a:r>
            <a:r>
              <a:rPr sz="2400" dirty="0">
                <a:latin typeface="Times New Roman"/>
                <a:cs typeface="Times New Roman"/>
              </a:rPr>
              <a:t>việc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tác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trên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(cơ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sở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liệu),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(bảng),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trường (cols)</a:t>
            </a:r>
            <a:r>
              <a:rPr sz="2400" b="1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0" dirty="0">
                <a:latin typeface="Times New Roman"/>
                <a:cs typeface="Times New Roman"/>
              </a:rPr>
              <a:t>Tạo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bảng: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CREATE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DATABASE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databasename;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00" dirty="0">
                <a:latin typeface="Times New Roman"/>
                <a:cs typeface="Times New Roman"/>
              </a:rPr>
              <a:t>Xóa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bảng: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DROP</a:t>
            </a:r>
            <a:r>
              <a:rPr sz="2400" spc="-280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DATABASE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databasename;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Xóa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hết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Bảng: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TRUNCATE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TABLE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table_name;</a:t>
            </a:r>
            <a:endParaRPr sz="240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  <a:spcBef>
                <a:spcPts val="615"/>
              </a:spcBef>
            </a:pPr>
            <a:r>
              <a:rPr sz="2000" i="1" spc="-105" dirty="0">
                <a:latin typeface="Times New Roman"/>
                <a:cs typeface="Times New Roman"/>
              </a:rPr>
              <a:t>Chúng</a:t>
            </a:r>
            <a:r>
              <a:rPr sz="2000" i="1" spc="-250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ta</a:t>
            </a:r>
            <a:r>
              <a:rPr sz="2000" i="1" spc="-220" dirty="0">
                <a:latin typeface="Times New Roman"/>
                <a:cs typeface="Times New Roman"/>
              </a:rPr>
              <a:t> </a:t>
            </a:r>
            <a:r>
              <a:rPr sz="2000" i="1" spc="-70" dirty="0">
                <a:latin typeface="Times New Roman"/>
                <a:cs typeface="Times New Roman"/>
              </a:rPr>
              <a:t>sử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dụng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từ</a:t>
            </a:r>
            <a:r>
              <a:rPr sz="2000" i="1" spc="-220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khóa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135" dirty="0">
                <a:latin typeface="Times New Roman"/>
                <a:cs typeface="Times New Roman"/>
              </a:rPr>
              <a:t>TRUNCATE</a:t>
            </a:r>
            <a:r>
              <a:rPr sz="2000" i="1" spc="-215" dirty="0">
                <a:latin typeface="Times New Roman"/>
                <a:cs typeface="Times New Roman"/>
              </a:rPr>
              <a:t> </a:t>
            </a:r>
            <a:r>
              <a:rPr sz="2000" i="1" spc="-140" dirty="0">
                <a:latin typeface="Times New Roman"/>
                <a:cs typeface="Times New Roman"/>
              </a:rPr>
              <a:t>TABLE</a:t>
            </a:r>
            <a:r>
              <a:rPr sz="2000" i="1" spc="-220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để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xóa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hết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các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dữ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liệu</a:t>
            </a:r>
            <a:r>
              <a:rPr sz="2000" i="1" spc="-215" dirty="0">
                <a:latin typeface="Times New Roman"/>
                <a:cs typeface="Times New Roman"/>
              </a:rPr>
              <a:t> </a:t>
            </a:r>
            <a:r>
              <a:rPr sz="2000" i="1" spc="-114" dirty="0">
                <a:latin typeface="Times New Roman"/>
                <a:cs typeface="Times New Roman"/>
              </a:rPr>
              <a:t>trong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bảng.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Khác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với </a:t>
            </a:r>
            <a:r>
              <a:rPr sz="2000" i="1" spc="-114" dirty="0">
                <a:latin typeface="Times New Roman"/>
                <a:cs typeface="Times New Roman"/>
              </a:rPr>
              <a:t>Drop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table</a:t>
            </a:r>
            <a:r>
              <a:rPr sz="2000" i="1" spc="-2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ở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chỗ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70" dirty="0">
                <a:latin typeface="Times New Roman"/>
                <a:cs typeface="Times New Roman"/>
              </a:rPr>
              <a:t>là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130" dirty="0">
                <a:latin typeface="Times New Roman"/>
                <a:cs typeface="Times New Roman"/>
              </a:rPr>
              <a:t>TRUNCATE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chỉ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xóa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dữ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liệu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còn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cấu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trúc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bảng</a:t>
            </a:r>
            <a:r>
              <a:rPr sz="2000" i="1" spc="-254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vẫn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giữ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110" dirty="0">
                <a:latin typeface="Times New Roman"/>
                <a:cs typeface="Times New Roman"/>
              </a:rPr>
              <a:t>nguyên,</a:t>
            </a:r>
            <a:r>
              <a:rPr sz="2000" i="1" spc="-270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còn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35" dirty="0">
                <a:latin typeface="Times New Roman"/>
                <a:cs typeface="Times New Roman"/>
              </a:rPr>
              <a:t>Drop </a:t>
            </a:r>
            <a:r>
              <a:rPr sz="2000" i="1" spc="-85" dirty="0">
                <a:latin typeface="Times New Roman"/>
                <a:cs typeface="Times New Roman"/>
              </a:rPr>
              <a:t>thì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nó</a:t>
            </a:r>
            <a:r>
              <a:rPr sz="2000" i="1" spc="-250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xóa</a:t>
            </a:r>
            <a:r>
              <a:rPr sz="2000" i="1" spc="-245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hết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tất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70" dirty="0">
                <a:latin typeface="Times New Roman"/>
                <a:cs typeface="Times New Roman"/>
              </a:rPr>
              <a:t>cả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mọi</a:t>
            </a:r>
            <a:r>
              <a:rPr sz="2000" i="1" spc="-260" dirty="0">
                <a:latin typeface="Times New Roman"/>
                <a:cs typeface="Times New Roman"/>
              </a:rPr>
              <a:t> </a:t>
            </a:r>
            <a:r>
              <a:rPr sz="2000" i="1" spc="-85" dirty="0">
                <a:latin typeface="Times New Roman"/>
                <a:cs typeface="Times New Roman"/>
              </a:rPr>
              <a:t>thứ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70" dirty="0">
                <a:latin typeface="Times New Roman"/>
                <a:cs typeface="Times New Roman"/>
              </a:rPr>
              <a:t>về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i="1" spc="-80" dirty="0">
                <a:latin typeface="Times New Roman"/>
                <a:cs typeface="Times New Roman"/>
              </a:rPr>
              <a:t>cấu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i="1" spc="-100" dirty="0">
                <a:latin typeface="Times New Roman"/>
                <a:cs typeface="Times New Roman"/>
              </a:rPr>
              <a:t>trúc</a:t>
            </a:r>
            <a:r>
              <a:rPr sz="2000" i="1" spc="-254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bảng</a:t>
            </a:r>
            <a:r>
              <a:rPr sz="2000" i="1" spc="-254" dirty="0">
                <a:latin typeface="Times New Roman"/>
                <a:cs typeface="Times New Roman"/>
              </a:rPr>
              <a:t> </a:t>
            </a:r>
            <a:r>
              <a:rPr sz="2000" i="1" spc="-60" dirty="0">
                <a:latin typeface="Times New Roman"/>
                <a:cs typeface="Times New Roman"/>
              </a:rPr>
              <a:t>và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2000" i="1" spc="-60" dirty="0">
                <a:latin typeface="Times New Roman"/>
                <a:cs typeface="Times New Roman"/>
              </a:rPr>
              <a:t>dữ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i="1" spc="-20" dirty="0">
                <a:latin typeface="Times New Roman"/>
                <a:cs typeface="Times New Roman"/>
              </a:rPr>
              <a:t>liệu</a:t>
            </a:r>
            <a:endParaRPr sz="2000">
              <a:latin typeface="Times New Roman"/>
              <a:cs typeface="Times New Roman"/>
            </a:endParaRPr>
          </a:p>
          <a:p>
            <a:pPr marL="812165" lvl="1" indent="-342265">
              <a:lnSpc>
                <a:spcPct val="100000"/>
              </a:lnSpc>
              <a:spcBef>
                <a:spcPts val="585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sz="2400" spc="-105" dirty="0">
                <a:latin typeface="Times New Roman"/>
                <a:cs typeface="Times New Roman"/>
              </a:rPr>
              <a:t>Chỉnh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sửa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lại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Bảng: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ALTER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TABLE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table_name;</a:t>
            </a:r>
            <a:endParaRPr sz="2400">
              <a:latin typeface="Times New Roman"/>
              <a:cs typeface="Times New Roman"/>
            </a:endParaRPr>
          </a:p>
          <a:p>
            <a:pPr marL="3032125">
              <a:lnSpc>
                <a:spcPct val="100000"/>
              </a:lnSpc>
              <a:spcBef>
                <a:spcPts val="600"/>
              </a:spcBef>
            </a:pPr>
            <a:r>
              <a:rPr sz="2400" spc="-110" dirty="0">
                <a:latin typeface="Times New Roman"/>
                <a:cs typeface="Times New Roman"/>
              </a:rPr>
              <a:t>ADD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column_name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datatype;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5" y="827532"/>
              <a:ext cx="1242060" cy="118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4970" y="1075385"/>
            <a:ext cx="6322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46275" algn="l"/>
              </a:tabLst>
            </a:pPr>
            <a:r>
              <a:rPr lang="en-US" b="0" spc="-25" dirty="0">
                <a:latin typeface="Impact"/>
                <a:cs typeface="Impact"/>
              </a:rPr>
              <a:t>01 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baseline="1984" dirty="0"/>
              <a:t>Thao</a:t>
            </a:r>
            <a:r>
              <a:rPr sz="4200" spc="-135" baseline="1984" dirty="0"/>
              <a:t> </a:t>
            </a:r>
            <a:r>
              <a:rPr sz="4200" baseline="1984" dirty="0"/>
              <a:t>Tác</a:t>
            </a:r>
            <a:r>
              <a:rPr sz="4200" spc="-89" baseline="1984" dirty="0"/>
              <a:t> </a:t>
            </a:r>
            <a:r>
              <a:rPr sz="4200" baseline="1984" dirty="0"/>
              <a:t>Cơ</a:t>
            </a:r>
            <a:r>
              <a:rPr sz="4200" spc="-52" baseline="1984" dirty="0"/>
              <a:t> </a:t>
            </a:r>
            <a:r>
              <a:rPr sz="4200" baseline="1984" dirty="0"/>
              <a:t>Bản</a:t>
            </a:r>
            <a:r>
              <a:rPr sz="4200" spc="-120" baseline="1984" dirty="0"/>
              <a:t> </a:t>
            </a:r>
            <a:r>
              <a:rPr sz="4200" baseline="1984" dirty="0"/>
              <a:t>Với</a:t>
            </a:r>
            <a:r>
              <a:rPr sz="4200" spc="-60" baseline="1984" dirty="0"/>
              <a:t> </a:t>
            </a:r>
            <a:r>
              <a:rPr sz="4200" spc="-30" baseline="1984" dirty="0"/>
              <a:t>CSDL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3669" y="5658408"/>
            <a:ext cx="2551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b="1" spc="-100" dirty="0">
                <a:latin typeface="Times New Roman"/>
                <a:cs typeface="Times New Roman"/>
              </a:rPr>
              <a:t>Câu</a:t>
            </a:r>
            <a:r>
              <a:rPr sz="2400" b="1" spc="-210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lệnh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SELECT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6469" y="1680209"/>
            <a:ext cx="7884159" cy="34855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DML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(Data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Manipulation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Language):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05" dirty="0">
                <a:latin typeface="Times New Roman"/>
                <a:cs typeface="Times New Roman"/>
              </a:rPr>
              <a:t>Câu</a:t>
            </a:r>
            <a:r>
              <a:rPr sz="2400" b="1" spc="-210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lệnh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spc="-165" dirty="0">
                <a:latin typeface="Times New Roman"/>
                <a:cs typeface="Times New Roman"/>
              </a:rPr>
              <a:t>INSERT: </a:t>
            </a:r>
            <a:r>
              <a:rPr sz="2400" spc="-80" dirty="0">
                <a:latin typeface="Times New Roman"/>
                <a:cs typeface="Times New Roman"/>
              </a:rPr>
              <a:t>Sử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để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thêm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mới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record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đến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819785" marR="1639570">
              <a:lnSpc>
                <a:spcPct val="100000"/>
              </a:lnSpc>
              <a:spcBef>
                <a:spcPts val="509"/>
              </a:spcBef>
            </a:pP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INSERT</a:t>
            </a:r>
            <a:r>
              <a:rPr sz="1300" spc="-5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INTO</a:t>
            </a:r>
            <a:r>
              <a:rPr sz="1300" spc="-3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table_name</a:t>
            </a:r>
            <a:r>
              <a:rPr sz="1300" spc="-5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(column1,</a:t>
            </a:r>
            <a:r>
              <a:rPr sz="1300" spc="-5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column2,</a:t>
            </a:r>
            <a:r>
              <a:rPr sz="1300" spc="-4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column3,</a:t>
            </a:r>
            <a:r>
              <a:rPr sz="1300" spc="-4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080822"/>
                </a:solidFill>
                <a:latin typeface="Courier New"/>
                <a:cs typeface="Courier New"/>
              </a:rPr>
              <a:t>...)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VALUES</a:t>
            </a:r>
            <a:r>
              <a:rPr sz="1300" spc="-3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(value1,</a:t>
            </a:r>
            <a:r>
              <a:rPr sz="1300" spc="-4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value2,</a:t>
            </a:r>
            <a:r>
              <a:rPr sz="1300" spc="-4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value3,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80822"/>
                </a:solidFill>
                <a:latin typeface="Courier New"/>
                <a:cs typeface="Courier New"/>
              </a:rPr>
              <a:t>...);</a:t>
            </a:r>
            <a:endParaRPr sz="1300">
              <a:latin typeface="Courier New"/>
              <a:cs typeface="Courier New"/>
            </a:endParaRPr>
          </a:p>
          <a:p>
            <a:pPr marL="754380" marR="229870" lvl="1" indent="-285115">
              <a:lnSpc>
                <a:spcPct val="100000"/>
              </a:lnSpc>
              <a:spcBef>
                <a:spcPts val="455"/>
              </a:spcBef>
              <a:buFont typeface="Wingdings"/>
              <a:buChar char=""/>
              <a:tabLst>
                <a:tab pos="754380" algn="l"/>
                <a:tab pos="814705" algn="l"/>
              </a:tabLst>
            </a:pP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	</a:t>
            </a:r>
            <a:r>
              <a:rPr sz="2400" b="1" spc="-100" dirty="0">
                <a:latin typeface="Times New Roman"/>
                <a:cs typeface="Times New Roman"/>
              </a:rPr>
              <a:t>Câu</a:t>
            </a:r>
            <a:r>
              <a:rPr sz="2400" b="1" spc="-220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lệnh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155" dirty="0">
                <a:latin typeface="Times New Roman"/>
                <a:cs typeface="Times New Roman"/>
              </a:rPr>
              <a:t>UPDATE</a:t>
            </a:r>
            <a:r>
              <a:rPr sz="2400" b="1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Sử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dụng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cập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nhật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giá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trị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hoặc </a:t>
            </a:r>
            <a:r>
              <a:rPr sz="2400" spc="-95" dirty="0">
                <a:latin typeface="Times New Roman"/>
                <a:cs typeface="Times New Roman"/>
              </a:rPr>
              <a:t>nhiều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cột</a:t>
            </a:r>
            <a:endParaRPr sz="2400">
              <a:latin typeface="Times New Roman"/>
              <a:cs typeface="Times New Roman"/>
            </a:endParaRPr>
          </a:p>
          <a:p>
            <a:pPr marL="819785">
              <a:lnSpc>
                <a:spcPct val="100000"/>
              </a:lnSpc>
              <a:spcBef>
                <a:spcPts val="1050"/>
              </a:spcBef>
            </a:pP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UPDATE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80822"/>
                </a:solidFill>
                <a:latin typeface="Courier New"/>
                <a:cs typeface="Courier New"/>
              </a:rPr>
              <a:t>table_name</a:t>
            </a:r>
            <a:endParaRPr sz="1300">
              <a:latin typeface="Courier New"/>
              <a:cs typeface="Courier New"/>
            </a:endParaRPr>
          </a:p>
          <a:p>
            <a:pPr marL="819785" marR="2820670">
              <a:lnSpc>
                <a:spcPct val="100000"/>
              </a:lnSpc>
            </a:pP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SET</a:t>
            </a:r>
            <a:r>
              <a:rPr sz="1300" spc="-3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column1</a:t>
            </a:r>
            <a:r>
              <a:rPr sz="1300" spc="-1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=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value1,</a:t>
            </a:r>
            <a:r>
              <a:rPr sz="1300" spc="-25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column2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=</a:t>
            </a:r>
            <a:r>
              <a:rPr sz="1300" spc="-2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value2,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080822"/>
                </a:solidFill>
                <a:latin typeface="Courier New"/>
                <a:cs typeface="Courier New"/>
              </a:rPr>
              <a:t>...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WHERE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80822"/>
                </a:solidFill>
                <a:latin typeface="Courier New"/>
                <a:cs typeface="Courier New"/>
              </a:rPr>
              <a:t>condition;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300">
              <a:latin typeface="Courier New"/>
              <a:cs typeface="Courier New"/>
            </a:endParaRP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00" dirty="0">
                <a:latin typeface="Times New Roman"/>
                <a:cs typeface="Times New Roman"/>
              </a:rPr>
              <a:t>Câu</a:t>
            </a:r>
            <a:r>
              <a:rPr sz="2400" b="1" spc="-215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lệnh</a:t>
            </a:r>
            <a:r>
              <a:rPr sz="2400" b="1" spc="-225" dirty="0">
                <a:latin typeface="Times New Roman"/>
                <a:cs typeface="Times New Roman"/>
              </a:rPr>
              <a:t> </a:t>
            </a:r>
            <a:r>
              <a:rPr sz="2400" b="1" spc="-114" dirty="0">
                <a:latin typeface="Times New Roman"/>
                <a:cs typeface="Times New Roman"/>
              </a:rPr>
              <a:t>DELETE</a:t>
            </a:r>
            <a:r>
              <a:rPr sz="2400" spc="-114" dirty="0">
                <a:latin typeface="Times New Roman"/>
                <a:cs typeface="Times New Roman"/>
              </a:rPr>
              <a:t>: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Dùng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xoá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hoặc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nhiều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record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ở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6000" y="5257800"/>
            <a:ext cx="9906000" cy="457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5"/>
              </a:lnSpc>
            </a:pP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DELETE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FROM</a:t>
            </a:r>
            <a:r>
              <a:rPr sz="1300" spc="-2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80822"/>
                </a:solidFill>
                <a:latin typeface="Courier New"/>
                <a:cs typeface="Courier New"/>
              </a:rPr>
              <a:t>table_name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300" dirty="0">
                <a:solidFill>
                  <a:srgbClr val="080822"/>
                </a:solidFill>
                <a:latin typeface="Courier New"/>
                <a:cs typeface="Courier New"/>
              </a:rPr>
              <a:t>WHERE</a:t>
            </a:r>
            <a:r>
              <a:rPr sz="1300" spc="-30" dirty="0">
                <a:solidFill>
                  <a:srgbClr val="08082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80822"/>
                </a:solidFill>
                <a:latin typeface="Courier New"/>
                <a:cs typeface="Courier New"/>
              </a:rPr>
              <a:t>condition;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79" y="1064717"/>
            <a:ext cx="2785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Câu</a:t>
            </a:r>
            <a:r>
              <a:rPr spc="-50" dirty="0"/>
              <a:t> </a:t>
            </a:r>
            <a:r>
              <a:rPr dirty="0"/>
              <a:t>lệnh</a:t>
            </a:r>
            <a:r>
              <a:rPr spc="-55" dirty="0"/>
              <a:t> </a:t>
            </a:r>
            <a:r>
              <a:rPr dirty="0"/>
              <a:t>truy</a:t>
            </a:r>
            <a:r>
              <a:rPr spc="-45" dirty="0"/>
              <a:t> </a:t>
            </a:r>
            <a:r>
              <a:rPr spc="-25" dirty="0"/>
              <a:t>vấn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827532"/>
              <a:ext cx="1229868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71066" y="1075385"/>
            <a:ext cx="394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2</a:t>
            </a:r>
            <a:endParaRPr sz="2800" dirty="0">
              <a:latin typeface="Impact"/>
              <a:cs typeface="Impac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27504" y="1700783"/>
            <a:ext cx="8093964" cy="19568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66469" y="1758543"/>
            <a:ext cx="8225155" cy="436753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835025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sz="200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00CC"/>
                </a:solidFill>
                <a:latin typeface="Arial"/>
                <a:cs typeface="Arial"/>
              </a:rPr>
              <a:t>ALL</a:t>
            </a:r>
            <a:r>
              <a:rPr sz="2000" spc="-105" dirty="0">
                <a:solidFill>
                  <a:srgbClr val="CC00CC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00CC"/>
                </a:solidFill>
                <a:latin typeface="Arial"/>
                <a:cs typeface="Arial"/>
              </a:rPr>
              <a:t>DISTINCT</a:t>
            </a:r>
            <a:r>
              <a:rPr sz="2000" spc="-65" dirty="0">
                <a:solidFill>
                  <a:srgbClr val="CC00CC"/>
                </a:solidFill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  <a:p>
            <a:pPr marL="160274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{column_name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expression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[alias],…}</a:t>
            </a:r>
            <a:endParaRPr sz="2000">
              <a:latin typeface="Arial"/>
              <a:cs typeface="Arial"/>
            </a:endParaRPr>
          </a:p>
          <a:p>
            <a:pPr marL="835025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tableName</a:t>
            </a:r>
            <a:endParaRPr sz="2000">
              <a:latin typeface="Arial"/>
              <a:cs typeface="Arial"/>
            </a:endParaRPr>
          </a:p>
          <a:p>
            <a:pPr marL="835025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latin typeface="Arial"/>
                <a:cs typeface="Arial"/>
              </a:rPr>
              <a:t>[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conditional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expressions]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spc="-45" dirty="0">
                <a:latin typeface="Times New Roman"/>
                <a:cs typeface="Times New Roman"/>
              </a:rPr>
              <a:t>SELECT: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Truy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vấn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từ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hay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nhiều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bảng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20" dirty="0">
                <a:latin typeface="Times New Roman"/>
                <a:cs typeface="Times New Roman"/>
              </a:rPr>
              <a:t>ALL:</a:t>
            </a:r>
            <a:r>
              <a:rPr sz="2400" spc="-120" dirty="0">
                <a:latin typeface="Times New Roman"/>
                <a:cs typeface="Times New Roman"/>
              </a:rPr>
              <a:t>Lấy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tất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cả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không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phân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biệt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trùng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lặp,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mặc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định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3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25" dirty="0">
                <a:latin typeface="Times New Roman"/>
                <a:cs typeface="Times New Roman"/>
              </a:rPr>
              <a:t>DISTINCT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Lấy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không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được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trùng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lặp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(bao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gồm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cả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NULL)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b="1" spc="-110" dirty="0">
                <a:latin typeface="Times New Roman"/>
                <a:cs typeface="Times New Roman"/>
              </a:rPr>
              <a:t>FROM</a:t>
            </a:r>
            <a:r>
              <a:rPr sz="2400" spc="-110" dirty="0">
                <a:latin typeface="Times New Roman"/>
                <a:cs typeface="Times New Roman"/>
              </a:rPr>
              <a:t>: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Định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danh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lấy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từ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Table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nào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20" dirty="0">
                <a:latin typeface="Times New Roman"/>
                <a:cs typeface="Times New Roman"/>
              </a:rPr>
              <a:t>WHERE: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Điều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kiện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tìm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kiếm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79" y="1064717"/>
            <a:ext cx="2785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Câu</a:t>
            </a:r>
            <a:r>
              <a:rPr spc="-50" dirty="0"/>
              <a:t> </a:t>
            </a:r>
            <a:r>
              <a:rPr dirty="0"/>
              <a:t>lệnh</a:t>
            </a:r>
            <a:r>
              <a:rPr spc="-55" dirty="0"/>
              <a:t> </a:t>
            </a:r>
            <a:r>
              <a:rPr dirty="0"/>
              <a:t>truy</a:t>
            </a:r>
            <a:r>
              <a:rPr spc="-45" dirty="0"/>
              <a:t> </a:t>
            </a:r>
            <a:r>
              <a:rPr spc="-25" dirty="0"/>
              <a:t>vấn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827532"/>
              <a:ext cx="1229868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2517775" cy="10688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>
              <a:spcBef>
                <a:spcPts val="95"/>
              </a:spcBef>
            </a:pP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02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Ví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dụ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SELECT?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3669" y="2640329"/>
            <a:ext cx="4347845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876300" indent="-28511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spc="-70" dirty="0">
                <a:latin typeface="Times New Roman"/>
                <a:cs typeface="Times New Roman"/>
              </a:rPr>
              <a:t>Ví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dụ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thay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thế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“Name”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thành </a:t>
            </a:r>
            <a:r>
              <a:rPr sz="2400" spc="-130" dirty="0">
                <a:latin typeface="Times New Roman"/>
                <a:cs typeface="Times New Roman"/>
              </a:rPr>
              <a:t>“Product’s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Name”</a:t>
            </a:r>
            <a:endParaRPr sz="2400" dirty="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spc="-70" dirty="0">
                <a:latin typeface="Times New Roman"/>
                <a:cs typeface="Times New Roman"/>
              </a:rPr>
              <a:t>Vì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“Product’s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Name”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chứa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dấu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space </a:t>
            </a:r>
            <a:r>
              <a:rPr sz="2400" spc="-80" dirty="0">
                <a:latin typeface="Times New Roman"/>
                <a:cs typeface="Times New Roman"/>
              </a:rPr>
              <a:t>nên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phải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dấu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“”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3011" y="2778251"/>
            <a:ext cx="3790188" cy="266242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94782" y="1940814"/>
            <a:ext cx="1517015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5095">
              <a:lnSpc>
                <a:spcPts val="2020"/>
              </a:lnSpc>
            </a:pPr>
            <a:r>
              <a:rPr sz="1800" spc="-10" dirty="0">
                <a:latin typeface="IBM 3270"/>
                <a:cs typeface="IBM 3270"/>
              </a:rPr>
              <a:t>ProductCode</a:t>
            </a:r>
            <a:endParaRPr sz="1800">
              <a:latin typeface="IBM 3270"/>
              <a:cs typeface="IBM 327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1511" y="1910334"/>
            <a:ext cx="5540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8220" algn="l"/>
              </a:tabLst>
            </a:pPr>
            <a:r>
              <a:rPr sz="1800" spc="-10" dirty="0">
                <a:solidFill>
                  <a:srgbClr val="0000FF"/>
                </a:solidFill>
                <a:latin typeface="IBM 3270"/>
                <a:cs typeface="IBM 3270"/>
              </a:rPr>
              <a:t>select</a:t>
            </a: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	</a:t>
            </a:r>
            <a:r>
              <a:rPr sz="1800" dirty="0">
                <a:solidFill>
                  <a:srgbClr val="808080"/>
                </a:solidFill>
                <a:latin typeface="IBM 3270"/>
                <a:cs typeface="IBM 3270"/>
              </a:rPr>
              <a:t>,</a:t>
            </a:r>
            <a:r>
              <a:rPr sz="1800" spc="35" dirty="0">
                <a:solidFill>
                  <a:srgbClr val="808080"/>
                </a:solidFill>
                <a:latin typeface="IBM 3270"/>
                <a:cs typeface="IBM 3270"/>
              </a:rPr>
              <a:t> </a:t>
            </a: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Name</a:t>
            </a:r>
            <a:r>
              <a:rPr sz="1800" spc="4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as</a:t>
            </a:r>
            <a:r>
              <a:rPr sz="1800" spc="3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1800" dirty="0">
                <a:latin typeface="IBM 3270"/>
                <a:cs typeface="IBM 3270"/>
              </a:rPr>
              <a:t>"Product's</a:t>
            </a:r>
            <a:r>
              <a:rPr sz="1800" spc="30" dirty="0">
                <a:latin typeface="IBM 3270"/>
                <a:cs typeface="IBM 3270"/>
              </a:rPr>
              <a:t> </a:t>
            </a:r>
            <a:r>
              <a:rPr sz="1800" spc="-10" dirty="0">
                <a:latin typeface="IBM 3270"/>
                <a:cs typeface="IBM 3270"/>
              </a:rPr>
              <a:t>Name"</a:t>
            </a:r>
            <a:endParaRPr sz="1800">
              <a:latin typeface="IBM 3270"/>
              <a:cs typeface="IBM 327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58806" y="1940814"/>
            <a:ext cx="125095" cy="268605"/>
          </a:xfrm>
          <a:custGeom>
            <a:avLst/>
            <a:gdLst/>
            <a:ahLst/>
            <a:cxnLst/>
            <a:rect l="l" t="t" r="r" b="b"/>
            <a:pathLst>
              <a:path w="125095" h="268605">
                <a:moveTo>
                  <a:pt x="124968" y="0"/>
                </a:moveTo>
                <a:lnTo>
                  <a:pt x="0" y="0"/>
                </a:lnTo>
                <a:lnTo>
                  <a:pt x="0" y="268224"/>
                </a:lnTo>
                <a:lnTo>
                  <a:pt x="124968" y="268224"/>
                </a:lnTo>
                <a:lnTo>
                  <a:pt x="124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31511" y="2186178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FF"/>
                </a:solidFill>
                <a:latin typeface="IBM 3270"/>
                <a:cs typeface="IBM 3270"/>
              </a:rPr>
              <a:t>from</a:t>
            </a:r>
            <a:endParaRPr sz="1800">
              <a:latin typeface="IBM 3270"/>
              <a:cs typeface="IBM 327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9814" y="2209038"/>
            <a:ext cx="1016000" cy="276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080"/>
              </a:lnSpc>
            </a:pPr>
            <a:r>
              <a:rPr sz="1800" spc="-10" dirty="0">
                <a:latin typeface="IBM 3270"/>
                <a:cs typeface="IBM 3270"/>
              </a:rPr>
              <a:t>Products</a:t>
            </a:r>
            <a:endParaRPr sz="1800">
              <a:latin typeface="IBM 3270"/>
              <a:cs typeface="IBM 327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79" y="1064717"/>
            <a:ext cx="2785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Câu</a:t>
            </a:r>
            <a:r>
              <a:rPr spc="-50" dirty="0"/>
              <a:t> </a:t>
            </a:r>
            <a:r>
              <a:rPr dirty="0"/>
              <a:t>lệnh</a:t>
            </a:r>
            <a:r>
              <a:rPr spc="-55" dirty="0"/>
              <a:t> </a:t>
            </a:r>
            <a:r>
              <a:rPr dirty="0"/>
              <a:t>truy</a:t>
            </a:r>
            <a:r>
              <a:rPr spc="-45" dirty="0"/>
              <a:t> </a:t>
            </a:r>
            <a:r>
              <a:rPr spc="-25" dirty="0"/>
              <a:t>vấn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7966075" cy="3706495"/>
            <a:chOff x="1284732" y="827532"/>
            <a:chExt cx="7966075" cy="3706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827532"/>
              <a:ext cx="1229868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6179" y="1752600"/>
              <a:ext cx="1714500" cy="27813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66469" y="1075385"/>
            <a:ext cx="4857115" cy="220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2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SELECT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distinct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85" dirty="0">
                <a:latin typeface="Times New Roman"/>
                <a:cs typeface="Times New Roman"/>
              </a:rPr>
              <a:t>Cho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phép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loại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bỏ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trùng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lặp</a:t>
            </a:r>
            <a:endParaRPr sz="2400" dirty="0">
              <a:latin typeface="Times New Roman"/>
              <a:cs typeface="Times New Roman"/>
            </a:endParaRPr>
          </a:p>
          <a:p>
            <a:pPr marL="682625" marR="2411730">
              <a:lnSpc>
                <a:spcPct val="100600"/>
              </a:lnSpc>
              <a:spcBef>
                <a:spcPts val="1085"/>
              </a:spcBef>
            </a:pP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select</a:t>
            </a:r>
            <a:r>
              <a:rPr sz="1800" spc="4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IBM 3270"/>
                <a:cs typeface="IBM 3270"/>
              </a:rPr>
              <a:t>Address </a:t>
            </a: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from</a:t>
            </a:r>
            <a:r>
              <a:rPr sz="1800" spc="2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1800" spc="-10" dirty="0">
                <a:latin typeface="IBM 3270"/>
                <a:cs typeface="IBM 3270"/>
              </a:rPr>
              <a:t>Customers</a:t>
            </a:r>
            <a:endParaRPr sz="1800" dirty="0">
              <a:latin typeface="IBM 3270"/>
              <a:cs typeface="IBM 327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00828" y="2750820"/>
            <a:ext cx="2283460" cy="441959"/>
            <a:chOff x="5100828" y="2750820"/>
            <a:chExt cx="2283460" cy="441959"/>
          </a:xfrm>
        </p:grpSpPr>
        <p:sp>
          <p:nvSpPr>
            <p:cNvPr id="10" name="object 10"/>
            <p:cNvSpPr/>
            <p:nvPr/>
          </p:nvSpPr>
          <p:spPr>
            <a:xfrm>
              <a:off x="5105400" y="2755392"/>
              <a:ext cx="2273935" cy="433070"/>
            </a:xfrm>
            <a:custGeom>
              <a:avLst/>
              <a:gdLst/>
              <a:ahLst/>
              <a:cxnLst/>
              <a:rect l="l" t="t" r="r" b="b"/>
              <a:pathLst>
                <a:path w="2273934" h="433069">
                  <a:moveTo>
                    <a:pt x="2057273" y="0"/>
                  </a:moveTo>
                  <a:lnTo>
                    <a:pt x="2057273" y="108204"/>
                  </a:lnTo>
                  <a:lnTo>
                    <a:pt x="0" y="108204"/>
                  </a:lnTo>
                  <a:lnTo>
                    <a:pt x="0" y="324612"/>
                  </a:lnTo>
                  <a:lnTo>
                    <a:pt x="2057273" y="324612"/>
                  </a:lnTo>
                  <a:lnTo>
                    <a:pt x="2057273" y="432816"/>
                  </a:lnTo>
                  <a:lnTo>
                    <a:pt x="2273807" y="216408"/>
                  </a:lnTo>
                  <a:lnTo>
                    <a:pt x="2057273" y="0"/>
                  </a:lnTo>
                  <a:close/>
                </a:path>
              </a:pathLst>
            </a:custGeom>
            <a:solidFill>
              <a:srgbClr val="4FC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05400" y="2755392"/>
              <a:ext cx="2273935" cy="433070"/>
            </a:xfrm>
            <a:custGeom>
              <a:avLst/>
              <a:gdLst/>
              <a:ahLst/>
              <a:cxnLst/>
              <a:rect l="l" t="t" r="r" b="b"/>
              <a:pathLst>
                <a:path w="2273934" h="433069">
                  <a:moveTo>
                    <a:pt x="0" y="108204"/>
                  </a:moveTo>
                  <a:lnTo>
                    <a:pt x="2057273" y="108204"/>
                  </a:lnTo>
                  <a:lnTo>
                    <a:pt x="2057273" y="0"/>
                  </a:lnTo>
                  <a:lnTo>
                    <a:pt x="2273807" y="216408"/>
                  </a:lnTo>
                  <a:lnTo>
                    <a:pt x="2057273" y="432816"/>
                  </a:lnTo>
                  <a:lnTo>
                    <a:pt x="2057273" y="324612"/>
                  </a:lnTo>
                  <a:lnTo>
                    <a:pt x="0" y="324612"/>
                  </a:lnTo>
                  <a:lnTo>
                    <a:pt x="0" y="1082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0856" y="4591811"/>
            <a:ext cx="1694688" cy="165658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212594" y="4973573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IBM 3270"/>
                <a:cs typeface="IBM 3270"/>
              </a:rPr>
              <a:t>select</a:t>
            </a:r>
            <a:endParaRPr sz="1800">
              <a:latin typeface="IBM 3270"/>
              <a:cs typeface="IBM 327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1339" y="5003546"/>
            <a:ext cx="1127760" cy="2686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1800" spc="-10" dirty="0">
                <a:solidFill>
                  <a:srgbClr val="0000FF"/>
                </a:solidFill>
                <a:latin typeface="IBM 3270"/>
                <a:cs typeface="IBM 3270"/>
              </a:rPr>
              <a:t>distinct</a:t>
            </a:r>
            <a:endParaRPr sz="1800">
              <a:latin typeface="IBM 3270"/>
              <a:cs typeface="IBM 327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7034" y="4973573"/>
            <a:ext cx="90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IBM 3270"/>
                <a:cs typeface="IBM 3270"/>
              </a:rPr>
              <a:t>Address</a:t>
            </a:r>
            <a:endParaRPr sz="1800">
              <a:latin typeface="IBM 3270"/>
              <a:cs typeface="IBM 327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33415" y="4946903"/>
            <a:ext cx="2226945" cy="440690"/>
            <a:chOff x="5233415" y="4946903"/>
            <a:chExt cx="2226945" cy="440690"/>
          </a:xfrm>
        </p:grpSpPr>
        <p:sp>
          <p:nvSpPr>
            <p:cNvPr id="17" name="object 17"/>
            <p:cNvSpPr/>
            <p:nvPr/>
          </p:nvSpPr>
          <p:spPr>
            <a:xfrm>
              <a:off x="5233415" y="5003545"/>
              <a:ext cx="125095" cy="268605"/>
            </a:xfrm>
            <a:custGeom>
              <a:avLst/>
              <a:gdLst/>
              <a:ahLst/>
              <a:cxnLst/>
              <a:rect l="l" t="t" r="r" b="b"/>
              <a:pathLst>
                <a:path w="125095" h="268604">
                  <a:moveTo>
                    <a:pt x="124967" y="0"/>
                  </a:moveTo>
                  <a:lnTo>
                    <a:pt x="0" y="0"/>
                  </a:lnTo>
                  <a:lnTo>
                    <a:pt x="0" y="268223"/>
                  </a:lnTo>
                  <a:lnTo>
                    <a:pt x="124967" y="268223"/>
                  </a:lnTo>
                  <a:lnTo>
                    <a:pt x="124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94375" y="4951475"/>
              <a:ext cx="2161540" cy="431800"/>
            </a:xfrm>
            <a:custGeom>
              <a:avLst/>
              <a:gdLst/>
              <a:ahLst/>
              <a:cxnLst/>
              <a:rect l="l" t="t" r="r" b="b"/>
              <a:pathLst>
                <a:path w="2161540" h="431800">
                  <a:moveTo>
                    <a:pt x="1945258" y="0"/>
                  </a:moveTo>
                  <a:lnTo>
                    <a:pt x="1945258" y="107823"/>
                  </a:lnTo>
                  <a:lnTo>
                    <a:pt x="0" y="107823"/>
                  </a:lnTo>
                  <a:lnTo>
                    <a:pt x="0" y="323469"/>
                  </a:lnTo>
                  <a:lnTo>
                    <a:pt x="1945258" y="323469"/>
                  </a:lnTo>
                  <a:lnTo>
                    <a:pt x="1945258" y="431292"/>
                  </a:lnTo>
                  <a:lnTo>
                    <a:pt x="2161031" y="215646"/>
                  </a:lnTo>
                  <a:lnTo>
                    <a:pt x="1945258" y="0"/>
                  </a:lnTo>
                  <a:close/>
                </a:path>
              </a:pathLst>
            </a:custGeom>
            <a:solidFill>
              <a:srgbClr val="4FC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94375" y="4951475"/>
              <a:ext cx="2161540" cy="431800"/>
            </a:xfrm>
            <a:custGeom>
              <a:avLst/>
              <a:gdLst/>
              <a:ahLst/>
              <a:cxnLst/>
              <a:rect l="l" t="t" r="r" b="b"/>
              <a:pathLst>
                <a:path w="2161540" h="431800">
                  <a:moveTo>
                    <a:pt x="0" y="107823"/>
                  </a:moveTo>
                  <a:lnTo>
                    <a:pt x="1945258" y="107823"/>
                  </a:lnTo>
                  <a:lnTo>
                    <a:pt x="1945258" y="0"/>
                  </a:lnTo>
                  <a:lnTo>
                    <a:pt x="2161031" y="215646"/>
                  </a:lnTo>
                  <a:lnTo>
                    <a:pt x="1945258" y="431292"/>
                  </a:lnTo>
                  <a:lnTo>
                    <a:pt x="1945258" y="323469"/>
                  </a:lnTo>
                  <a:lnTo>
                    <a:pt x="0" y="323469"/>
                  </a:lnTo>
                  <a:lnTo>
                    <a:pt x="0" y="10782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12594" y="5249113"/>
            <a:ext cx="1781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IBM 3270"/>
                <a:cs typeface="IBM 3270"/>
              </a:rPr>
              <a:t>from</a:t>
            </a:r>
            <a:r>
              <a:rPr sz="1800" spc="2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1800" spc="-10" dirty="0">
                <a:latin typeface="IBM 3270"/>
                <a:cs typeface="IBM 3270"/>
              </a:rPr>
              <a:t>Customers</a:t>
            </a:r>
            <a:endParaRPr sz="1800">
              <a:latin typeface="IBM 3270"/>
              <a:cs typeface="IBM 327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8620760" cy="188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Mệnh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đề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WHERE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0" dirty="0">
                <a:latin typeface="Times New Roman"/>
                <a:cs typeface="Times New Roman"/>
              </a:rPr>
              <a:t>Bạn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thể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xác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định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một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điều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kiện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bởi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toán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tử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so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110" dirty="0">
                <a:latin typeface="Times New Roman"/>
                <a:cs typeface="Times New Roman"/>
              </a:rPr>
              <a:t>sánh</a:t>
            </a:r>
            <a:r>
              <a:rPr sz="2400" b="1" spc="-2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hoặc</a:t>
            </a:r>
            <a:endParaRPr sz="2400" dirty="0">
              <a:latin typeface="Times New Roman"/>
              <a:cs typeface="Times New Roman"/>
            </a:endParaRPr>
          </a:p>
          <a:p>
            <a:pPr marL="754380">
              <a:lnSpc>
                <a:spcPct val="100000"/>
              </a:lnSpc>
            </a:pPr>
            <a:r>
              <a:rPr sz="2400" b="1" spc="-105" dirty="0">
                <a:latin typeface="Times New Roman"/>
                <a:cs typeface="Times New Roman"/>
              </a:rPr>
              <a:t>toán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tử</a:t>
            </a:r>
            <a:r>
              <a:rPr sz="2400" b="1" spc="-225" dirty="0">
                <a:latin typeface="Times New Roman"/>
                <a:cs typeface="Times New Roman"/>
              </a:rPr>
              <a:t> </a:t>
            </a:r>
            <a:r>
              <a:rPr sz="2400" b="1" spc="-100" dirty="0">
                <a:latin typeface="Times New Roman"/>
                <a:cs typeface="Times New Roman"/>
              </a:rPr>
              <a:t>logic</a:t>
            </a:r>
            <a:r>
              <a:rPr sz="2400" b="1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như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&gt;,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&lt;,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=,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LIKE,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NOT,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400" y="3227832"/>
            <a:ext cx="4800600" cy="6187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9400" y="3962400"/>
            <a:ext cx="4800600" cy="6720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9400" y="4800600"/>
            <a:ext cx="4800600" cy="6507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9400" y="5562600"/>
            <a:ext cx="4800600" cy="6446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8620760" cy="188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 err="1">
                <a:latin typeface="Times New Roman"/>
                <a:cs typeface="Times New Roman"/>
              </a:rPr>
              <a:t>Mệnh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 err="1">
                <a:latin typeface="Times New Roman"/>
                <a:cs typeface="Times New Roman"/>
              </a:rPr>
              <a:t>đề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WHERE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0" dirty="0" err="1">
                <a:latin typeface="Times New Roman"/>
                <a:cs typeface="Times New Roman"/>
              </a:rPr>
              <a:t>Bạn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thể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xác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định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một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điều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kiện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bởi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Times New Roman"/>
                <a:cs typeface="Times New Roman"/>
              </a:rPr>
              <a:t>toán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tử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so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110" dirty="0">
                <a:latin typeface="Times New Roman"/>
                <a:cs typeface="Times New Roman"/>
              </a:rPr>
              <a:t>sánh</a:t>
            </a:r>
            <a:r>
              <a:rPr sz="2400" b="1" spc="-2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hoặc</a:t>
            </a:r>
            <a:endParaRPr sz="2400" dirty="0">
              <a:latin typeface="Times New Roman"/>
              <a:cs typeface="Times New Roman"/>
            </a:endParaRPr>
          </a:p>
          <a:p>
            <a:pPr marL="754380">
              <a:lnSpc>
                <a:spcPct val="100000"/>
              </a:lnSpc>
            </a:pPr>
            <a:r>
              <a:rPr sz="2400" b="1" spc="-105" dirty="0">
                <a:latin typeface="Times New Roman"/>
                <a:cs typeface="Times New Roman"/>
              </a:rPr>
              <a:t>toán</a:t>
            </a:r>
            <a:r>
              <a:rPr sz="2400" b="1" spc="-229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tử</a:t>
            </a:r>
            <a:r>
              <a:rPr sz="2400" b="1" spc="-225" dirty="0">
                <a:latin typeface="Times New Roman"/>
                <a:cs typeface="Times New Roman"/>
              </a:rPr>
              <a:t> </a:t>
            </a:r>
            <a:r>
              <a:rPr sz="2400" b="1" spc="-100" dirty="0">
                <a:latin typeface="Times New Roman"/>
                <a:cs typeface="Times New Roman"/>
              </a:rPr>
              <a:t>logic</a:t>
            </a:r>
            <a:r>
              <a:rPr sz="2400" b="1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như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&gt;,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&lt;,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=,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LIKE,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NOT,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2095" y="3048000"/>
            <a:ext cx="5638800" cy="7528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92095" y="3886200"/>
            <a:ext cx="5638800" cy="73609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78379" y="4724400"/>
            <a:ext cx="5638800" cy="1701164"/>
            <a:chOff x="2278379" y="4724400"/>
            <a:chExt cx="5638800" cy="1701164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095" y="4724400"/>
              <a:ext cx="5580887" cy="9753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8379" y="5715000"/>
              <a:ext cx="5638800" cy="7101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4802505" cy="378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Mệnh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đề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LIKE</a:t>
            </a:r>
            <a:endParaRPr sz="2400" dirty="0">
              <a:latin typeface="Times New Roman"/>
              <a:cs typeface="Times New Roman"/>
            </a:endParaRPr>
          </a:p>
          <a:p>
            <a:pPr marL="754380" marR="112395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65" dirty="0">
                <a:latin typeface="Times New Roman"/>
                <a:cs typeface="Times New Roman"/>
              </a:rPr>
              <a:t>Có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hai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wildcard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được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kết </a:t>
            </a:r>
            <a:r>
              <a:rPr sz="2400" spc="-90" dirty="0">
                <a:latin typeface="Times New Roman"/>
                <a:cs typeface="Times New Roman"/>
              </a:rPr>
              <a:t>hợp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với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toán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tử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LIKE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là: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Ký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hiệu </a:t>
            </a:r>
            <a:r>
              <a:rPr sz="2400" spc="-90" dirty="0">
                <a:latin typeface="Times New Roman"/>
                <a:cs typeface="Times New Roman"/>
              </a:rPr>
              <a:t>phần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trăm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(%)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và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Dấu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gạch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dưới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(_)</a:t>
            </a:r>
            <a:endParaRPr sz="2400" dirty="0">
              <a:latin typeface="Times New Roman"/>
              <a:cs typeface="Times New Roman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80" dirty="0">
                <a:latin typeface="Times New Roman"/>
                <a:cs typeface="Times New Roman"/>
              </a:rPr>
              <a:t>Ký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hiệu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phần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trăm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biểu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diễn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0,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 </a:t>
            </a:r>
            <a:r>
              <a:rPr sz="2400" spc="-100" dirty="0">
                <a:latin typeface="Times New Roman"/>
                <a:cs typeface="Times New Roman"/>
              </a:rPr>
              <a:t>hoặc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nhiều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ký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tự.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Ký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tự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dấu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gạch </a:t>
            </a:r>
            <a:r>
              <a:rPr sz="2400" spc="-100" dirty="0">
                <a:latin typeface="Times New Roman"/>
                <a:cs typeface="Times New Roman"/>
              </a:rPr>
              <a:t>dưới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biểu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diễn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số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hoặc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ký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tự </a:t>
            </a:r>
            <a:r>
              <a:rPr sz="2400" spc="-20" dirty="0">
                <a:latin typeface="Times New Roman"/>
                <a:cs typeface="Times New Roman"/>
              </a:rPr>
              <a:t>đơn.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276" y="2156460"/>
            <a:ext cx="3514725" cy="3179445"/>
          </a:xfrm>
          <a:prstGeom prst="rect">
            <a:avLst/>
          </a:prstGeom>
          <a:ln w="12192">
            <a:solidFill>
              <a:srgbClr val="4471C4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ten_bang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'XXXX%'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ten_bang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'%XXXX%'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ten_bang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'XXXX_'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10" dirty="0">
                <a:latin typeface="Times New Roman"/>
                <a:cs typeface="Times New Roman"/>
              </a:rPr>
              <a:t> ten_bang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'_XXXX'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ten_bang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WHERE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'_XXXX_'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4638040" cy="5141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Mệnh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đề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OR</a:t>
            </a:r>
            <a:endParaRPr sz="2400" dirty="0">
              <a:latin typeface="Times New Roman"/>
              <a:cs typeface="Times New Roman"/>
            </a:endParaRPr>
          </a:p>
          <a:p>
            <a:pPr marL="457200" marR="1406525">
              <a:lnSpc>
                <a:spcPct val="100000"/>
              </a:lnSpc>
              <a:spcBef>
                <a:spcPts val="30"/>
              </a:spcBef>
            </a:pPr>
            <a:r>
              <a:rPr sz="1950" b="1" dirty="0">
                <a:latin typeface="Arial"/>
                <a:cs typeface="Arial"/>
              </a:rPr>
              <a:t>SELECT</a:t>
            </a:r>
            <a:r>
              <a:rPr sz="1950" b="1" spc="-5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cot1,</a:t>
            </a:r>
            <a:r>
              <a:rPr sz="1950" spc="-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cot2,</a:t>
            </a:r>
            <a:r>
              <a:rPr sz="1950" spc="-30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cotN </a:t>
            </a:r>
            <a:r>
              <a:rPr sz="1950" b="1" dirty="0">
                <a:latin typeface="Arial"/>
                <a:cs typeface="Arial"/>
              </a:rPr>
              <a:t>FROM</a:t>
            </a:r>
            <a:r>
              <a:rPr sz="1950" b="1" spc="-2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ten_bang </a:t>
            </a:r>
            <a:r>
              <a:rPr sz="1950" b="1" spc="-10" dirty="0">
                <a:latin typeface="Arial"/>
                <a:cs typeface="Arial"/>
              </a:rPr>
              <a:t>WHERE</a:t>
            </a:r>
            <a:endParaRPr sz="1950" dirty="0">
              <a:latin typeface="Arial"/>
              <a:cs typeface="Arial"/>
            </a:endParaRPr>
          </a:p>
          <a:p>
            <a:pPr marL="457200" marR="131445">
              <a:lnSpc>
                <a:spcPct val="100000"/>
              </a:lnSpc>
            </a:pPr>
            <a:r>
              <a:rPr sz="1950" dirty="0">
                <a:latin typeface="Arial"/>
                <a:cs typeface="Arial"/>
              </a:rPr>
              <a:t>[dieu_kien_1]</a:t>
            </a:r>
            <a:r>
              <a:rPr sz="1950" spc="-5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OR</a:t>
            </a:r>
            <a:r>
              <a:rPr sz="1950" b="1" spc="-4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[dieu_kien_2]...</a:t>
            </a:r>
            <a:r>
              <a:rPr sz="1950" b="1" spc="-10" dirty="0">
                <a:latin typeface="Arial"/>
                <a:cs typeface="Arial"/>
              </a:rPr>
              <a:t>OR </a:t>
            </a:r>
            <a:r>
              <a:rPr sz="1950" spc="-10" dirty="0">
                <a:latin typeface="Arial"/>
                <a:cs typeface="Arial"/>
              </a:rPr>
              <a:t>[dieu_kien_N];</a:t>
            </a:r>
            <a:endParaRPr sz="1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95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5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b="1" spc="-105" dirty="0">
                <a:latin typeface="Times New Roman"/>
                <a:cs typeface="Times New Roman"/>
              </a:rPr>
              <a:t>Mệnh</a:t>
            </a:r>
            <a:r>
              <a:rPr sz="2400" b="1" spc="-220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đề</a:t>
            </a:r>
            <a:r>
              <a:rPr sz="2400" b="1" spc="-36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</a:t>
            </a:r>
            <a:endParaRPr sz="2400" dirty="0">
              <a:latin typeface="Times New Roman"/>
              <a:cs typeface="Times New Roman"/>
            </a:endParaRPr>
          </a:p>
          <a:p>
            <a:pPr marL="457200" marR="1551940">
              <a:lnSpc>
                <a:spcPct val="100000"/>
              </a:lnSpc>
              <a:spcBef>
                <a:spcPts val="15"/>
              </a:spcBef>
            </a:pPr>
            <a:r>
              <a:rPr sz="1950" b="1" dirty="0">
                <a:latin typeface="Times New Roman"/>
                <a:cs typeface="Times New Roman"/>
              </a:rPr>
              <a:t>SELECT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cot1,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cot2,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cotN </a:t>
            </a:r>
            <a:r>
              <a:rPr sz="1950" b="1" dirty="0">
                <a:latin typeface="Times New Roman"/>
                <a:cs typeface="Times New Roman"/>
              </a:rPr>
              <a:t>FROM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ten_bang </a:t>
            </a:r>
            <a:r>
              <a:rPr sz="1950" b="1" spc="-10" dirty="0">
                <a:latin typeface="Times New Roman"/>
                <a:cs typeface="Times New Roman"/>
              </a:rPr>
              <a:t>WHERE</a:t>
            </a:r>
            <a:endParaRPr sz="1950" dirty="0">
              <a:latin typeface="Times New Roman"/>
              <a:cs typeface="Times New Roman"/>
            </a:endParaRPr>
          </a:p>
          <a:p>
            <a:pPr marL="457200" marR="508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Times New Roman"/>
                <a:cs typeface="Times New Roman"/>
              </a:rPr>
              <a:t>[dieu_kien_1]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-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[dieu_kien_2]...</a:t>
            </a:r>
            <a:r>
              <a:rPr sz="1950" b="1" spc="-10" dirty="0">
                <a:latin typeface="Times New Roman"/>
                <a:cs typeface="Times New Roman"/>
              </a:rPr>
              <a:t>AND </a:t>
            </a:r>
            <a:r>
              <a:rPr sz="1950" spc="-10" dirty="0">
                <a:latin typeface="Times New Roman"/>
                <a:cs typeface="Times New Roman"/>
              </a:rPr>
              <a:t>[dieu_kien_N];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0800" y="1828800"/>
            <a:ext cx="3392804" cy="2066925"/>
          </a:xfrm>
          <a:prstGeom prst="rect">
            <a:avLst/>
          </a:prstGeom>
          <a:ln w="12192">
            <a:solidFill>
              <a:srgbClr val="4471C4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5"/>
              </a:spcBef>
            </a:pPr>
            <a:endParaRPr sz="19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950" b="1" dirty="0">
                <a:latin typeface="Times New Roman"/>
                <a:cs typeface="Times New Roman"/>
              </a:rPr>
              <a:t>SELECT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ID,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TEN,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HOCPHI</a:t>
            </a:r>
            <a:endParaRPr sz="19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950" b="1" dirty="0">
                <a:latin typeface="Times New Roman"/>
                <a:cs typeface="Times New Roman"/>
              </a:rPr>
              <a:t>FROM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SINHVIEN</a:t>
            </a:r>
            <a:endParaRPr sz="19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950" b="1" dirty="0">
                <a:latin typeface="Times New Roman"/>
                <a:cs typeface="Times New Roman"/>
              </a:rPr>
              <a:t>WHERE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HOCPHI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&gt;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2000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b="1" spc="-25" dirty="0">
                <a:latin typeface="Times New Roman"/>
                <a:cs typeface="Times New Roman"/>
              </a:rPr>
              <a:t>OR</a:t>
            </a:r>
            <a:endParaRPr sz="19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TUOI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&lt;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Times New Roman"/>
                <a:cs typeface="Times New Roman"/>
              </a:rPr>
              <a:t>25</a:t>
            </a:r>
            <a:r>
              <a:rPr sz="1950" b="1" spc="-25" dirty="0"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0800" y="4076700"/>
            <a:ext cx="3392804" cy="2066925"/>
          </a:xfrm>
          <a:prstGeom prst="rect">
            <a:avLst/>
          </a:prstGeom>
          <a:ln w="12192">
            <a:solidFill>
              <a:srgbClr val="4471C4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0"/>
              </a:spcBef>
            </a:pPr>
            <a:endParaRPr sz="1950">
              <a:latin typeface="Times New Roman"/>
              <a:cs typeface="Times New Roman"/>
            </a:endParaRPr>
          </a:p>
          <a:p>
            <a:pPr marL="92075" marR="335915">
              <a:lnSpc>
                <a:spcPct val="100000"/>
              </a:lnSpc>
              <a:spcBef>
                <a:spcPts val="5"/>
              </a:spcBef>
            </a:pPr>
            <a:r>
              <a:rPr sz="1950" b="1" dirty="0">
                <a:latin typeface="Times New Roman"/>
                <a:cs typeface="Times New Roman"/>
              </a:rPr>
              <a:t>SELECT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ID,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TEN,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HOCPHI </a:t>
            </a:r>
            <a:r>
              <a:rPr sz="1950" b="1" dirty="0">
                <a:latin typeface="Times New Roman"/>
                <a:cs typeface="Times New Roman"/>
              </a:rPr>
              <a:t>FROM</a:t>
            </a:r>
            <a:r>
              <a:rPr sz="1950" b="1" spc="-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SINHVIEN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WHERE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HOCPHI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&gt;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2000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-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TUOI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&lt;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Times New Roman"/>
                <a:cs typeface="Times New Roman"/>
              </a:rPr>
              <a:t>25</a:t>
            </a:r>
            <a:r>
              <a:rPr sz="1950" b="1" spc="-25" dirty="0"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34455" y="2631948"/>
            <a:ext cx="355600" cy="2501265"/>
            <a:chOff x="5934455" y="2631948"/>
            <a:chExt cx="355600" cy="2501265"/>
          </a:xfrm>
        </p:grpSpPr>
        <p:sp>
          <p:nvSpPr>
            <p:cNvPr id="11" name="object 11"/>
            <p:cNvSpPr/>
            <p:nvPr/>
          </p:nvSpPr>
          <p:spPr>
            <a:xfrm>
              <a:off x="5940551" y="2638044"/>
              <a:ext cx="342900" cy="147955"/>
            </a:xfrm>
            <a:custGeom>
              <a:avLst/>
              <a:gdLst/>
              <a:ahLst/>
              <a:cxnLst/>
              <a:rect l="l" t="t" r="r" b="b"/>
              <a:pathLst>
                <a:path w="342900" h="147955">
                  <a:moveTo>
                    <a:pt x="268986" y="0"/>
                  </a:moveTo>
                  <a:lnTo>
                    <a:pt x="268986" y="36956"/>
                  </a:lnTo>
                  <a:lnTo>
                    <a:pt x="0" y="36956"/>
                  </a:lnTo>
                  <a:lnTo>
                    <a:pt x="0" y="110870"/>
                  </a:lnTo>
                  <a:lnTo>
                    <a:pt x="268986" y="110870"/>
                  </a:lnTo>
                  <a:lnTo>
                    <a:pt x="268986" y="147827"/>
                  </a:lnTo>
                  <a:lnTo>
                    <a:pt x="342900" y="73913"/>
                  </a:lnTo>
                  <a:lnTo>
                    <a:pt x="268986" y="0"/>
                  </a:lnTo>
                  <a:close/>
                </a:path>
              </a:pathLst>
            </a:custGeom>
            <a:solidFill>
              <a:srgbClr val="4FC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0551" y="2638044"/>
              <a:ext cx="342900" cy="147955"/>
            </a:xfrm>
            <a:custGeom>
              <a:avLst/>
              <a:gdLst/>
              <a:ahLst/>
              <a:cxnLst/>
              <a:rect l="l" t="t" r="r" b="b"/>
              <a:pathLst>
                <a:path w="342900" h="147955">
                  <a:moveTo>
                    <a:pt x="0" y="36956"/>
                  </a:moveTo>
                  <a:lnTo>
                    <a:pt x="268986" y="36956"/>
                  </a:lnTo>
                  <a:lnTo>
                    <a:pt x="268986" y="0"/>
                  </a:lnTo>
                  <a:lnTo>
                    <a:pt x="342900" y="73913"/>
                  </a:lnTo>
                  <a:lnTo>
                    <a:pt x="268986" y="147827"/>
                  </a:lnTo>
                  <a:lnTo>
                    <a:pt x="268986" y="110870"/>
                  </a:lnTo>
                  <a:lnTo>
                    <a:pt x="0" y="110870"/>
                  </a:lnTo>
                  <a:lnTo>
                    <a:pt x="0" y="36956"/>
                  </a:lnTo>
                  <a:close/>
                </a:path>
              </a:pathLst>
            </a:custGeom>
            <a:ln w="12192">
              <a:solidFill>
                <a:srgbClr val="388D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0551" y="4978908"/>
              <a:ext cx="342900" cy="147955"/>
            </a:xfrm>
            <a:custGeom>
              <a:avLst/>
              <a:gdLst/>
              <a:ahLst/>
              <a:cxnLst/>
              <a:rect l="l" t="t" r="r" b="b"/>
              <a:pathLst>
                <a:path w="342900" h="147954">
                  <a:moveTo>
                    <a:pt x="268986" y="0"/>
                  </a:moveTo>
                  <a:lnTo>
                    <a:pt x="268986" y="36957"/>
                  </a:lnTo>
                  <a:lnTo>
                    <a:pt x="0" y="36957"/>
                  </a:lnTo>
                  <a:lnTo>
                    <a:pt x="0" y="110871"/>
                  </a:lnTo>
                  <a:lnTo>
                    <a:pt x="268986" y="110871"/>
                  </a:lnTo>
                  <a:lnTo>
                    <a:pt x="268986" y="147828"/>
                  </a:lnTo>
                  <a:lnTo>
                    <a:pt x="342900" y="73914"/>
                  </a:lnTo>
                  <a:lnTo>
                    <a:pt x="268986" y="0"/>
                  </a:lnTo>
                  <a:close/>
                </a:path>
              </a:pathLst>
            </a:custGeom>
            <a:solidFill>
              <a:srgbClr val="4FC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0551" y="4978908"/>
              <a:ext cx="342900" cy="147955"/>
            </a:xfrm>
            <a:custGeom>
              <a:avLst/>
              <a:gdLst/>
              <a:ahLst/>
              <a:cxnLst/>
              <a:rect l="l" t="t" r="r" b="b"/>
              <a:pathLst>
                <a:path w="342900" h="147954">
                  <a:moveTo>
                    <a:pt x="0" y="36957"/>
                  </a:moveTo>
                  <a:lnTo>
                    <a:pt x="268986" y="36957"/>
                  </a:lnTo>
                  <a:lnTo>
                    <a:pt x="268986" y="0"/>
                  </a:lnTo>
                  <a:lnTo>
                    <a:pt x="342900" y="73914"/>
                  </a:lnTo>
                  <a:lnTo>
                    <a:pt x="268986" y="147828"/>
                  </a:lnTo>
                  <a:lnTo>
                    <a:pt x="268986" y="110871"/>
                  </a:lnTo>
                  <a:lnTo>
                    <a:pt x="0" y="110871"/>
                  </a:lnTo>
                  <a:lnTo>
                    <a:pt x="0" y="36957"/>
                  </a:lnTo>
                  <a:close/>
                </a:path>
              </a:pathLst>
            </a:custGeom>
            <a:ln w="12192">
              <a:solidFill>
                <a:srgbClr val="388D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2875" algn="l"/>
              </a:tabLst>
            </a:pPr>
            <a:r>
              <a:rPr b="0" spc="-25" dirty="0">
                <a:latin typeface="Impact"/>
                <a:cs typeface="Impact"/>
              </a:rPr>
              <a:t>0</a:t>
            </a:r>
            <a:r>
              <a:rPr lang="en-US" b="0" spc="-25" dirty="0">
                <a:latin typeface="Impact"/>
                <a:cs typeface="Impact"/>
              </a:rPr>
              <a:t>3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spc="-75" baseline="1984" dirty="0"/>
              <a:t>Toán</a:t>
            </a:r>
            <a:r>
              <a:rPr sz="4200" spc="-127" baseline="1984" dirty="0"/>
              <a:t> </a:t>
            </a:r>
            <a:r>
              <a:rPr sz="4200" baseline="1984" dirty="0"/>
              <a:t>tử</a:t>
            </a:r>
            <a:r>
              <a:rPr sz="4200" spc="-120" baseline="1984" dirty="0"/>
              <a:t> </a:t>
            </a:r>
            <a:r>
              <a:rPr sz="4200" baseline="1984" dirty="0"/>
              <a:t>trong</a:t>
            </a:r>
            <a:r>
              <a:rPr sz="4200" spc="-127" baseline="1984" dirty="0"/>
              <a:t> </a:t>
            </a:r>
            <a:r>
              <a:rPr sz="4200" spc="-37" baseline="1984" dirty="0"/>
              <a:t>SQL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469" y="1756028"/>
            <a:ext cx="8760460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Kiểu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dữ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liệu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Date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và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Times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SQL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thường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hỗ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trợ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Date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và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Times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dưới </a:t>
            </a:r>
            <a:r>
              <a:rPr sz="2400" spc="-100" dirty="0">
                <a:latin typeface="Times New Roman"/>
                <a:cs typeface="Times New Roman"/>
              </a:rPr>
              <a:t>dạng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loại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đặc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biệt.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Các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giá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trị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này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thường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được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thể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hiện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dưới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nhiều </a:t>
            </a:r>
            <a:r>
              <a:rPr sz="2400" spc="-95" dirty="0">
                <a:latin typeface="Times New Roman"/>
                <a:cs typeface="Times New Roman"/>
              </a:rPr>
              <a:t>định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dạng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khác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nhau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như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10" dirty="0">
                <a:latin typeface="Times New Roman"/>
                <a:cs typeface="Times New Roman"/>
              </a:rPr>
              <a:t>Date: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‘05/14/1948’,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’14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May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1948’,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‘1948-05-</a:t>
            </a:r>
            <a:r>
              <a:rPr sz="2400" spc="-25" dirty="0">
                <a:latin typeface="Times New Roman"/>
                <a:cs typeface="Times New Roman"/>
              </a:rPr>
              <a:t>14’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25" dirty="0">
                <a:latin typeface="Times New Roman"/>
                <a:cs typeface="Times New Roman"/>
              </a:rPr>
              <a:t>Time: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’15:00:02’,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’16:10:25.5’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30" dirty="0">
                <a:latin typeface="Times New Roman"/>
                <a:cs typeface="Times New Roman"/>
              </a:rPr>
              <a:t>DateTime: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‘1948-05-</a:t>
            </a:r>
            <a:r>
              <a:rPr sz="2400" spc="-60" dirty="0">
                <a:latin typeface="Times New Roman"/>
                <a:cs typeface="Times New Roman"/>
              </a:rPr>
              <a:t>14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12:00:02’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spc="-70" dirty="0">
                <a:latin typeface="Times New Roman"/>
                <a:cs typeface="Times New Roman"/>
              </a:rPr>
              <a:t>Có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thể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dụng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tử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(&lt;,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&gt;,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&lt;=,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&gt;=,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=,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&lt;&gt;)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so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sánh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8023225" cy="284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  <a:tab pos="1377950" algn="l"/>
              </a:tabLst>
            </a:pPr>
            <a:r>
              <a:rPr sz="2400" b="1" dirty="0">
                <a:latin typeface="Times New Roman"/>
                <a:cs typeface="Times New Roman"/>
              </a:rPr>
              <a:t>Giá</a:t>
            </a:r>
            <a:r>
              <a:rPr sz="2400" b="1" spc="-25" dirty="0">
                <a:latin typeface="Times New Roman"/>
                <a:cs typeface="Times New Roman"/>
              </a:rPr>
              <a:t> trị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NULL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10" dirty="0">
                <a:latin typeface="Times New Roman"/>
                <a:cs typeface="Times New Roman"/>
              </a:rPr>
              <a:t>Không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phải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kiểu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giá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trị,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Null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là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một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trạng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thái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không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liệu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Mọi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phép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với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NULL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đều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trả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về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NULL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ví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dụ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*,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+,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…,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Mọi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so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sánh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logic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với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NULL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đều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trả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về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FALSE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ví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dụ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or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0" dirty="0">
                <a:latin typeface="Times New Roman"/>
                <a:cs typeface="Times New Roman"/>
              </a:rPr>
              <a:t>Các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phép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toán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tổng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hợp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không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tính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đến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NULL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3450590" cy="1513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ORDER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14" dirty="0">
                <a:latin typeface="Times New Roman"/>
                <a:cs typeface="Times New Roman"/>
              </a:rPr>
              <a:t>Sorting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by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column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name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3669" y="3523945"/>
            <a:ext cx="2881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spc="-114" dirty="0">
                <a:latin typeface="Times New Roman"/>
                <a:cs typeface="Times New Roman"/>
              </a:rPr>
              <a:t>Sorting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by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column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alias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3669" y="4850383"/>
            <a:ext cx="3490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7180" algn="l"/>
              </a:tabLst>
            </a:pPr>
            <a:r>
              <a:rPr sz="2400" spc="-114" dirty="0">
                <a:latin typeface="Times New Roman"/>
                <a:cs typeface="Times New Roman"/>
              </a:rPr>
              <a:t>Sorting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by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Multiple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Columns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654040" y="1903095"/>
          <a:ext cx="1565274" cy="909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 gridSpan="2">
                  <a:txBody>
                    <a:bodyPr/>
                    <a:lstStyle/>
                    <a:p>
                      <a:pPr marL="635">
                        <a:lnSpc>
                          <a:spcPts val="2250"/>
                        </a:lnSpc>
                      </a:pPr>
                      <a:r>
                        <a:rPr sz="2000" spc="-10" dirty="0">
                          <a:solidFill>
                            <a:srgbClr val="0000FF"/>
                          </a:solidFill>
                          <a:latin typeface="IBM 3270"/>
                          <a:cs typeface="IBM 3270"/>
                        </a:rPr>
                        <a:t>select</a:t>
                      </a:r>
                      <a:endParaRPr sz="2000">
                        <a:latin typeface="IBM 3270"/>
                        <a:cs typeface="IBM 3270"/>
                      </a:endParaRPr>
                    </a:p>
                  </a:txBody>
                  <a:tcPr marL="0" marR="0" marT="0" marB="0"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 marR="3175">
                        <a:lnSpc>
                          <a:spcPts val="2250"/>
                        </a:lnSpc>
                      </a:pPr>
                      <a:r>
                        <a:rPr sz="2000" spc="-50" dirty="0">
                          <a:solidFill>
                            <a:srgbClr val="808080"/>
                          </a:solidFill>
                          <a:latin typeface="IBM 3270"/>
                          <a:cs typeface="IBM 3270"/>
                        </a:rPr>
                        <a:t>*</a:t>
                      </a:r>
                      <a:endParaRPr sz="2000">
                        <a:latin typeface="IBM 3270"/>
                        <a:cs typeface="IBM 3270"/>
                      </a:endParaRPr>
                    </a:p>
                  </a:txBody>
                  <a:tcPr marL="0" marR="0" marT="0" marB="0"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435">
                <a:tc gridSpan="3">
                  <a:txBody>
                    <a:bodyPr/>
                    <a:lstStyle/>
                    <a:p>
                      <a:pPr marL="635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IBM 3270"/>
                          <a:cs typeface="IBM 3270"/>
                        </a:rPr>
                        <a:t>from</a:t>
                      </a:r>
                      <a:r>
                        <a:rPr sz="2000" spc="95" dirty="0">
                          <a:solidFill>
                            <a:srgbClr val="0000FF"/>
                          </a:solidFill>
                          <a:latin typeface="IBM 3270"/>
                          <a:cs typeface="IBM 3270"/>
                        </a:rPr>
                        <a:t> </a:t>
                      </a:r>
                      <a:r>
                        <a:rPr sz="2000" spc="-10" dirty="0">
                          <a:latin typeface="IBM 3270"/>
                          <a:cs typeface="IBM 3270"/>
                        </a:rPr>
                        <a:t>Movies</a:t>
                      </a:r>
                      <a:endParaRPr sz="2000">
                        <a:latin typeface="IBM 3270"/>
                        <a:cs typeface="IBM 3270"/>
                      </a:endParaRPr>
                    </a:p>
                  </a:txBody>
                  <a:tcPr marL="0" marR="0" marT="0" marB="0">
                    <a:lnT w="63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635">
                        <a:lnSpc>
                          <a:spcPts val="2280"/>
                        </a:lnSpc>
                      </a:pPr>
                      <a:r>
                        <a:rPr sz="2000" spc="-10" dirty="0">
                          <a:solidFill>
                            <a:srgbClr val="0000FF"/>
                          </a:solidFill>
                          <a:latin typeface="IBM 3270"/>
                          <a:cs typeface="IBM 3270"/>
                        </a:rPr>
                        <a:t>order</a:t>
                      </a:r>
                      <a:endParaRPr sz="2000">
                        <a:latin typeface="IBM 3270"/>
                        <a:cs typeface="IBM 3270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481953" y="2482342"/>
            <a:ext cx="170116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by</a:t>
            </a:r>
            <a:r>
              <a:rPr sz="2000" spc="7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dirty="0">
                <a:solidFill>
                  <a:srgbClr val="FF00FF"/>
                </a:solidFill>
                <a:latin typeface="IBM 3270"/>
                <a:cs typeface="IBM 3270"/>
              </a:rPr>
              <a:t>year</a:t>
            </a:r>
            <a:r>
              <a:rPr sz="2000" spc="75" dirty="0">
                <a:solidFill>
                  <a:srgbClr val="FF00FF"/>
                </a:solidFill>
                <a:latin typeface="IBM 3270"/>
                <a:cs typeface="IBM 3270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IBM 3270"/>
                <a:cs typeface="IBM 3270"/>
              </a:rPr>
              <a:t>desc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6425" y="3117595"/>
            <a:ext cx="53346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select</a:t>
            </a:r>
            <a:r>
              <a:rPr sz="2000" spc="135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dirty="0">
                <a:latin typeface="IBM 3270"/>
                <a:cs typeface="IBM 3270"/>
              </a:rPr>
              <a:t>Price</a:t>
            </a:r>
            <a:r>
              <a:rPr sz="2000" dirty="0">
                <a:solidFill>
                  <a:srgbClr val="808080"/>
                </a:solidFill>
                <a:latin typeface="IBM 3270"/>
                <a:cs typeface="IBM 3270"/>
              </a:rPr>
              <a:t>,</a:t>
            </a:r>
            <a:r>
              <a:rPr sz="2000" spc="155" dirty="0">
                <a:solidFill>
                  <a:srgbClr val="808080"/>
                </a:solidFill>
                <a:latin typeface="IBM 3270"/>
                <a:cs typeface="IBM 3270"/>
              </a:rPr>
              <a:t> </a:t>
            </a:r>
            <a:r>
              <a:rPr sz="2000" dirty="0">
                <a:latin typeface="IBM 3270"/>
                <a:cs typeface="IBM 3270"/>
              </a:rPr>
              <a:t>Quantity</a:t>
            </a:r>
            <a:r>
              <a:rPr sz="2000" dirty="0">
                <a:solidFill>
                  <a:srgbClr val="808080"/>
                </a:solidFill>
                <a:latin typeface="IBM 3270"/>
                <a:cs typeface="IBM 3270"/>
              </a:rPr>
              <a:t>,</a:t>
            </a:r>
            <a:r>
              <a:rPr sz="2000" spc="155" dirty="0">
                <a:solidFill>
                  <a:srgbClr val="808080"/>
                </a:solidFill>
                <a:latin typeface="IBM 3270"/>
                <a:cs typeface="IBM 3270"/>
              </a:rPr>
              <a:t> </a:t>
            </a:r>
            <a:r>
              <a:rPr sz="2000" spc="-10" dirty="0">
                <a:latin typeface="IBM 3270"/>
                <a:cs typeface="IBM 3270"/>
              </a:rPr>
              <a:t>Price</a:t>
            </a:r>
            <a:r>
              <a:rPr sz="2000" spc="-10" dirty="0">
                <a:solidFill>
                  <a:srgbClr val="808080"/>
                </a:solidFill>
                <a:latin typeface="IBM 3270"/>
                <a:cs typeface="IBM 3270"/>
              </a:rPr>
              <a:t>*</a:t>
            </a:r>
            <a:r>
              <a:rPr sz="2000" spc="-10" dirty="0">
                <a:latin typeface="IBM 3270"/>
                <a:cs typeface="IBM 3270"/>
              </a:rPr>
              <a:t>Quantity </a:t>
            </a: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as</a:t>
            </a:r>
            <a:r>
              <a:rPr sz="2000" spc="10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dirty="0">
                <a:latin typeface="IBM 3270"/>
                <a:cs typeface="IBM 3270"/>
              </a:rPr>
              <a:t>Amount</a:t>
            </a:r>
            <a:r>
              <a:rPr sz="2000" spc="90" dirty="0">
                <a:latin typeface="IBM 3270"/>
                <a:cs typeface="IBM 3270"/>
              </a:rPr>
              <a:t> </a:t>
            </a: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from</a:t>
            </a:r>
            <a:r>
              <a:rPr sz="2000" spc="9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spc="-10" dirty="0">
                <a:latin typeface="IBM 3270"/>
                <a:cs typeface="IBM 3270"/>
              </a:rPr>
              <a:t>Products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7878" y="3760596"/>
            <a:ext cx="419100" cy="2990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2255"/>
              </a:lnSpc>
            </a:pPr>
            <a:r>
              <a:rPr sz="2000" spc="-25" dirty="0">
                <a:solidFill>
                  <a:srgbClr val="0000FF"/>
                </a:solidFill>
                <a:latin typeface="IBM 3270"/>
                <a:cs typeface="IBM 3270"/>
              </a:rPr>
              <a:t>by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6425" y="3728415"/>
            <a:ext cx="21228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71270" algn="l"/>
              </a:tabLst>
            </a:pPr>
            <a:r>
              <a:rPr sz="2000" spc="-10" dirty="0">
                <a:solidFill>
                  <a:srgbClr val="0000FF"/>
                </a:solidFill>
                <a:latin typeface="IBM 3270"/>
                <a:cs typeface="IBM 3270"/>
              </a:rPr>
              <a:t>order</a:t>
            </a: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	</a:t>
            </a:r>
            <a:r>
              <a:rPr sz="2000" spc="-10" dirty="0">
                <a:latin typeface="IBM 3270"/>
                <a:cs typeface="IBM 3270"/>
              </a:rPr>
              <a:t>Amount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3447" y="4429125"/>
            <a:ext cx="1144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Select</a:t>
            </a:r>
            <a:r>
              <a:rPr sz="2000" spc="135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spc="-50" dirty="0">
                <a:solidFill>
                  <a:srgbClr val="808080"/>
                </a:solidFill>
                <a:latin typeface="IBM 3270"/>
                <a:cs typeface="IBM 3270"/>
              </a:rPr>
              <a:t>*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55259" y="4765675"/>
            <a:ext cx="572135" cy="2990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255"/>
              </a:lnSpc>
            </a:pPr>
            <a:r>
              <a:rPr sz="2000" spc="-20" dirty="0">
                <a:solidFill>
                  <a:srgbClr val="0000FF"/>
                </a:solidFill>
                <a:latin typeface="IBM 3270"/>
                <a:cs typeface="IBM 3270"/>
              </a:rPr>
              <a:t>from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55259" y="5070475"/>
            <a:ext cx="712470" cy="2990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255"/>
              </a:lnSpc>
            </a:pPr>
            <a:r>
              <a:rPr sz="2000" spc="-10" dirty="0">
                <a:solidFill>
                  <a:srgbClr val="0000FF"/>
                </a:solidFill>
                <a:latin typeface="IBM 3270"/>
                <a:cs typeface="IBM 3270"/>
              </a:rPr>
              <a:t>order</a:t>
            </a:r>
            <a:endParaRPr sz="2000">
              <a:latin typeface="IBM 3270"/>
              <a:cs typeface="IBM 327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2964" y="4733619"/>
            <a:ext cx="323786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IBM 3270"/>
                <a:cs typeface="IBM 3270"/>
              </a:rPr>
              <a:t>Movies</a:t>
            </a:r>
            <a:endParaRPr sz="2000">
              <a:latin typeface="IBM 3270"/>
              <a:cs typeface="IBM 3270"/>
            </a:endParaRPr>
          </a:p>
          <a:p>
            <a:pPr marL="1524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by</a:t>
            </a:r>
            <a:r>
              <a:rPr sz="2000" spc="85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dirty="0">
                <a:solidFill>
                  <a:srgbClr val="FF00FF"/>
                </a:solidFill>
                <a:latin typeface="IBM 3270"/>
                <a:cs typeface="IBM 3270"/>
              </a:rPr>
              <a:t>year</a:t>
            </a:r>
            <a:r>
              <a:rPr sz="2000" spc="90" dirty="0">
                <a:solidFill>
                  <a:srgbClr val="FF00FF"/>
                </a:solidFill>
                <a:latin typeface="IBM 3270"/>
                <a:cs typeface="IBM 3270"/>
              </a:rPr>
              <a:t> </a:t>
            </a: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desc</a:t>
            </a:r>
            <a:r>
              <a:rPr sz="2000" dirty="0">
                <a:solidFill>
                  <a:srgbClr val="808080"/>
                </a:solidFill>
                <a:latin typeface="IBM 3270"/>
                <a:cs typeface="IBM 3270"/>
              </a:rPr>
              <a:t>,</a:t>
            </a:r>
            <a:r>
              <a:rPr sz="2000" spc="85" dirty="0">
                <a:solidFill>
                  <a:srgbClr val="808080"/>
                </a:solidFill>
                <a:latin typeface="IBM 3270"/>
                <a:cs typeface="IBM 3270"/>
              </a:rPr>
              <a:t> </a:t>
            </a:r>
            <a:r>
              <a:rPr sz="2000" dirty="0">
                <a:solidFill>
                  <a:srgbClr val="0000FF"/>
                </a:solidFill>
                <a:latin typeface="IBM 3270"/>
                <a:cs typeface="IBM 3270"/>
              </a:rPr>
              <a:t>Name</a:t>
            </a:r>
            <a:r>
              <a:rPr sz="2000" spc="90" dirty="0">
                <a:solidFill>
                  <a:srgbClr val="0000FF"/>
                </a:solidFill>
                <a:latin typeface="IBM 3270"/>
                <a:cs typeface="IBM 3270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IBM 3270"/>
                <a:cs typeface="IBM 3270"/>
              </a:rPr>
              <a:t>asc</a:t>
            </a:r>
            <a:endParaRPr sz="2000">
              <a:latin typeface="IBM 3270"/>
              <a:cs typeface="IBM 327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6469" y="1075385"/>
            <a:ext cx="5490210" cy="378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25" dirty="0">
                <a:latin typeface="Times New Roman"/>
                <a:cs typeface="Times New Roman"/>
              </a:rPr>
              <a:t>GROUP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BY</a:t>
            </a:r>
            <a:r>
              <a:rPr sz="2400" spc="-3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được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để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nhóm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các </a:t>
            </a:r>
            <a:r>
              <a:rPr sz="2400" spc="-90" dirty="0">
                <a:latin typeface="Times New Roman"/>
                <a:cs typeface="Times New Roman"/>
              </a:rPr>
              <a:t>dòng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dựa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trên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giá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trị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một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hoặc </a:t>
            </a:r>
            <a:r>
              <a:rPr sz="2400" spc="-95" dirty="0">
                <a:latin typeface="Times New Roman"/>
                <a:cs typeface="Times New Roman"/>
              </a:rPr>
              <a:t>nhiều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cột.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Mục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đích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chính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GROUP</a:t>
            </a:r>
            <a:r>
              <a:rPr sz="2400" spc="-2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thực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hiện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phép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tổng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hợp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hoặc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hàm </a:t>
            </a:r>
            <a:r>
              <a:rPr sz="2400" spc="-95" dirty="0">
                <a:latin typeface="Times New Roman"/>
                <a:cs typeface="Times New Roman"/>
              </a:rPr>
              <a:t>tính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trên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nhóm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liệu.</a:t>
            </a:r>
            <a:endParaRPr sz="2400" dirty="0">
              <a:latin typeface="Times New Roman"/>
              <a:cs typeface="Times New Roman"/>
            </a:endParaRPr>
          </a:p>
          <a:p>
            <a:pPr marL="754380" marR="227329" lvl="1" indent="-28511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70" dirty="0">
                <a:latin typeface="Times New Roman"/>
                <a:cs typeface="Times New Roman"/>
              </a:rPr>
              <a:t>Ví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dụ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Nhóm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tất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cả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sinh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viên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cùng </a:t>
            </a:r>
            <a:r>
              <a:rPr sz="2400" spc="-105" dirty="0">
                <a:latin typeface="Times New Roman"/>
                <a:cs typeface="Times New Roman"/>
              </a:rPr>
              <a:t>class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ID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9092" y="2792924"/>
            <a:ext cx="80963" cy="811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9092" y="3068455"/>
            <a:ext cx="80963" cy="810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9092" y="3343922"/>
            <a:ext cx="80963" cy="810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9092" y="3619389"/>
            <a:ext cx="80963" cy="81082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262199" y="2167127"/>
          <a:ext cx="2188844" cy="2821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910">
                <a:tc gridSpan="3">
                  <a:txBody>
                    <a:bodyPr/>
                    <a:lstStyle/>
                    <a:p>
                      <a:pPr marL="6115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50" b="1" spc="-10" dirty="0">
                          <a:latin typeface="Arial"/>
                          <a:cs typeface="Arial"/>
                        </a:rPr>
                        <a:t>STUDENT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45085">
                        <a:lnSpc>
                          <a:spcPts val="1970"/>
                        </a:lnSpc>
                        <a:spcBef>
                          <a:spcPts val="135"/>
                        </a:spcBef>
                      </a:pPr>
                      <a:r>
                        <a:rPr sz="1650" b="1" spc="-10" dirty="0">
                          <a:latin typeface="Arial"/>
                          <a:cs typeface="Arial"/>
                        </a:rPr>
                        <a:t>CLASS_ID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ts val="1970"/>
                        </a:lnSpc>
                        <a:spcBef>
                          <a:spcPts val="135"/>
                        </a:spcBef>
                      </a:pPr>
                      <a:r>
                        <a:rPr sz="1650" b="1" spc="25" dirty="0">
                          <a:latin typeface="Arial"/>
                          <a:cs typeface="Arial"/>
                        </a:rPr>
                        <a:t>ID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970"/>
                        </a:lnSpc>
                        <a:spcBef>
                          <a:spcPts val="135"/>
                        </a:spcBef>
                      </a:pPr>
                      <a:r>
                        <a:rPr sz="1650" b="1" spc="-20" dirty="0">
                          <a:latin typeface="Arial"/>
                          <a:cs typeface="Arial"/>
                        </a:rPr>
                        <a:t>NAME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106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1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A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FF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106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B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88559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107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3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C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88559">
                      <a:solidFill>
                        <a:srgbClr val="0000FF"/>
                      </a:solidFill>
                      <a:prstDash val="solid"/>
                    </a:lnR>
                    <a:lnT w="7620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25" dirty="0">
                          <a:latin typeface="Arial"/>
                          <a:cs typeface="Arial"/>
                        </a:rPr>
                        <a:t>107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80094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D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88559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0094">
                      <a:solidFill>
                        <a:srgbClr val="FF66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E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FF66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0094">
                      <a:solidFill>
                        <a:srgbClr val="FF66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F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FF66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0094">
                      <a:solidFill>
                        <a:srgbClr val="FF66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G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FF66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0094">
                      <a:solidFill>
                        <a:srgbClr val="FF66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8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-50" dirty="0">
                          <a:latin typeface="Arial"/>
                          <a:cs typeface="Arial"/>
                        </a:rPr>
                        <a:t>H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76367">
                      <a:solidFill>
                        <a:srgbClr val="FF66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2875" algn="l"/>
              </a:tabLst>
            </a:pPr>
            <a:r>
              <a:rPr b="0" spc="-25" dirty="0">
                <a:latin typeface="Impact"/>
                <a:cs typeface="Impact"/>
              </a:rPr>
              <a:t>0</a:t>
            </a:r>
            <a:r>
              <a:rPr lang="en-US" b="0" spc="-25" dirty="0">
                <a:latin typeface="Impact"/>
                <a:cs typeface="Impact"/>
              </a:rPr>
              <a:t>3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spc="-75" baseline="1984" dirty="0"/>
              <a:t>Toán</a:t>
            </a:r>
            <a:r>
              <a:rPr sz="4200" spc="-127" baseline="1984" dirty="0"/>
              <a:t> </a:t>
            </a:r>
            <a:r>
              <a:rPr sz="4200" baseline="1984" dirty="0"/>
              <a:t>tử</a:t>
            </a:r>
            <a:r>
              <a:rPr sz="4200" spc="-120" baseline="1984" dirty="0"/>
              <a:t> </a:t>
            </a:r>
            <a:r>
              <a:rPr sz="4200" baseline="1984" dirty="0"/>
              <a:t>trong</a:t>
            </a:r>
            <a:r>
              <a:rPr sz="4200" spc="-127" baseline="1984" dirty="0"/>
              <a:t> </a:t>
            </a:r>
            <a:r>
              <a:rPr sz="4200" spc="-37" baseline="1984" dirty="0"/>
              <a:t>SQL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6469" y="1680209"/>
            <a:ext cx="8218805" cy="31197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Các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hàm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SUM: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Tính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tổng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của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từng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nhóm.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37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AVG: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Tính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giá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trị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trung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bình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từng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nhóm.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COUNT: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Đếm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số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lượng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từng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nhóm.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COUNT(DISTINCT):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Đếm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số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không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trùng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lặp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của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từng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nhóm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MAX: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Tính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giá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trị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lớn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nhất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từng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nhóm.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5" dirty="0">
                <a:latin typeface="Times New Roman"/>
                <a:cs typeface="Times New Roman"/>
              </a:rPr>
              <a:t>Hàm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MIN: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Tính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toán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giá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trị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nhỏ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nhất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từng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nhóm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996696"/>
            <a:ext cx="9144000" cy="614680"/>
            <a:chOff x="1219200" y="996696"/>
            <a:chExt cx="9144000" cy="614680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63445" y="1075385"/>
            <a:ext cx="4070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6469" y="1756028"/>
            <a:ext cx="289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Ví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dụ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14600" y="2209800"/>
            <a:ext cx="6242303" cy="39852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996696"/>
            <a:ext cx="9144000" cy="614680"/>
            <a:chOff x="1219200" y="996696"/>
            <a:chExt cx="9144000" cy="614680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66469" y="1075385"/>
            <a:ext cx="4971415" cy="3709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HAVING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80" dirty="0">
                <a:latin typeface="Times New Roman"/>
                <a:cs typeface="Times New Roman"/>
              </a:rPr>
              <a:t>HAVING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một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điều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kiện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được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sử </a:t>
            </a:r>
            <a:r>
              <a:rPr sz="2400" spc="-90" dirty="0">
                <a:latin typeface="Times New Roman"/>
                <a:cs typeface="Times New Roman"/>
              </a:rPr>
              <a:t>dụng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SQL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sau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mệnh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đề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GROUP </a:t>
            </a:r>
            <a:r>
              <a:rPr sz="2400" spc="-200" dirty="0">
                <a:latin typeface="Times New Roman"/>
                <a:cs typeface="Times New Roman"/>
              </a:rPr>
              <a:t>BY.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Nó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được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dụng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lọc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nhóm dữ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dựa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trên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hàm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tính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toán </a:t>
            </a:r>
            <a:r>
              <a:rPr sz="2400" spc="-114" dirty="0">
                <a:latin typeface="Times New Roman"/>
                <a:cs typeface="Times New Roman"/>
              </a:rPr>
              <a:t>(aggregate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function).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Mục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đích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chính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HAVING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là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lọc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nhóm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dữ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liệu </a:t>
            </a:r>
            <a:r>
              <a:rPr sz="2400" spc="-90" dirty="0">
                <a:latin typeface="Times New Roman"/>
                <a:cs typeface="Times New Roman"/>
              </a:rPr>
              <a:t>sau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khi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đã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thực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hiện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tính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toán.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7445" y="1974850"/>
            <a:ext cx="268033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6699"/>
                </a:solidFill>
                <a:latin typeface="Liberation Sans Narrow"/>
                <a:cs typeface="Liberation Sans Narrow"/>
              </a:rPr>
              <a:t>SELECT</a:t>
            </a:r>
            <a:endParaRPr sz="2000">
              <a:latin typeface="Liberation Sans Narrow"/>
              <a:cs typeface="Liberation Sans Narrow"/>
            </a:endParaRPr>
          </a:p>
          <a:p>
            <a:pPr marL="572135">
              <a:lnSpc>
                <a:spcPct val="100000"/>
              </a:lnSpc>
            </a:pPr>
            <a:r>
              <a:rPr sz="2000" spc="-10" dirty="0">
                <a:latin typeface="IBM 3270"/>
                <a:cs typeface="IBM 3270"/>
              </a:rPr>
              <a:t>Col_1,</a:t>
            </a:r>
            <a:endParaRPr sz="2000">
              <a:latin typeface="IBM 3270"/>
              <a:cs typeface="IBM 3270"/>
            </a:endParaRPr>
          </a:p>
          <a:p>
            <a:pPr marL="572135">
              <a:lnSpc>
                <a:spcPct val="100000"/>
              </a:lnSpc>
            </a:pPr>
            <a:r>
              <a:rPr sz="2000" spc="-10" dirty="0">
                <a:latin typeface="IBM 3270"/>
                <a:cs typeface="IBM 3270"/>
              </a:rPr>
              <a:t>Col_2,</a:t>
            </a:r>
            <a:endParaRPr sz="2000">
              <a:latin typeface="IBM 3270"/>
              <a:cs typeface="IBM 3270"/>
            </a:endParaRPr>
          </a:p>
          <a:p>
            <a:pPr marL="12700" marR="5080" indent="559435">
              <a:lnSpc>
                <a:spcPct val="100000"/>
              </a:lnSpc>
            </a:pPr>
            <a:r>
              <a:rPr sz="2000" spc="-10" dirty="0">
                <a:latin typeface="IBM 3270"/>
                <a:cs typeface="IBM 3270"/>
              </a:rPr>
              <a:t>Aggregate_funct ion(Col_3)</a:t>
            </a:r>
            <a:endParaRPr sz="2000">
              <a:latin typeface="IBM 3270"/>
              <a:cs typeface="IBM 3270"/>
            </a:endParaRPr>
          </a:p>
          <a:p>
            <a:pPr marL="12700">
              <a:lnSpc>
                <a:spcPct val="100000"/>
              </a:lnSpc>
              <a:tabLst>
                <a:tab pos="711835" algn="l"/>
              </a:tabLst>
            </a:pPr>
            <a:r>
              <a:rPr sz="2000" b="1" spc="-20" dirty="0">
                <a:solidFill>
                  <a:srgbClr val="006699"/>
                </a:solidFill>
                <a:latin typeface="Liberation Sans Narrow"/>
                <a:cs typeface="Liberation Sans Narrow"/>
              </a:rPr>
              <a:t>FROM</a:t>
            </a:r>
            <a:r>
              <a:rPr sz="2000" b="1" dirty="0">
                <a:solidFill>
                  <a:srgbClr val="006699"/>
                </a:solidFill>
                <a:latin typeface="Liberation Sans Narrow"/>
                <a:cs typeface="Liberation Sans Narrow"/>
              </a:rPr>
              <a:t>	</a:t>
            </a:r>
            <a:r>
              <a:rPr sz="2000" b="1" spc="225" dirty="0">
                <a:solidFill>
                  <a:srgbClr val="006699"/>
                </a:solidFill>
                <a:latin typeface="Liberation Sans Narrow"/>
                <a:cs typeface="Liberation Sans Narrow"/>
              </a:rPr>
              <a:t>Table</a:t>
            </a:r>
            <a:endParaRPr sz="200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  <a:tabLst>
                <a:tab pos="852169" algn="l"/>
              </a:tabLst>
            </a:pPr>
            <a:r>
              <a:rPr sz="2000" b="1" spc="-10" dirty="0">
                <a:solidFill>
                  <a:srgbClr val="006699"/>
                </a:solidFill>
                <a:latin typeface="Liberation Sans Narrow"/>
                <a:cs typeface="Liberation Sans Narrow"/>
              </a:rPr>
              <a:t>GROUP</a:t>
            </a:r>
            <a:r>
              <a:rPr sz="2000" b="1" dirty="0">
                <a:solidFill>
                  <a:srgbClr val="006699"/>
                </a:solidFill>
                <a:latin typeface="Liberation Sans Narrow"/>
                <a:cs typeface="Liberation Sans Narrow"/>
              </a:rPr>
              <a:t>	</a:t>
            </a:r>
            <a:r>
              <a:rPr sz="2000" b="1" spc="-25" dirty="0">
                <a:solidFill>
                  <a:srgbClr val="006699"/>
                </a:solidFill>
                <a:latin typeface="Liberation Sans Narrow"/>
                <a:cs typeface="Liberation Sans Narrow"/>
              </a:rPr>
              <a:t>BY</a:t>
            </a:r>
            <a:endParaRPr sz="2000">
              <a:latin typeface="Liberation Sans Narrow"/>
              <a:cs typeface="Liberation Sans Narrow"/>
            </a:endParaRPr>
          </a:p>
          <a:p>
            <a:pPr marL="572135" marR="1261110">
              <a:lnSpc>
                <a:spcPct val="100000"/>
              </a:lnSpc>
            </a:pPr>
            <a:r>
              <a:rPr sz="2000" spc="-10" dirty="0">
                <a:latin typeface="IBM 3270"/>
                <a:cs typeface="IBM 3270"/>
              </a:rPr>
              <a:t>Col_1, Col_2</a:t>
            </a:r>
            <a:endParaRPr sz="2000">
              <a:latin typeface="IBM 3270"/>
              <a:cs typeface="IBM 3270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6699"/>
                </a:solidFill>
                <a:latin typeface="Liberation Sans Narrow"/>
                <a:cs typeface="Liberation Sans Narrow"/>
              </a:rPr>
              <a:t>HAVING</a:t>
            </a:r>
            <a:endParaRPr sz="200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IBM 3270"/>
                <a:cs typeface="IBM 3270"/>
              </a:rPr>
              <a:t>Aggregate_condition</a:t>
            </a:r>
            <a:endParaRPr sz="2000">
              <a:latin typeface="IBM 3270"/>
              <a:cs typeface="IBM 327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2875" algn="l"/>
              </a:tabLst>
            </a:pPr>
            <a:r>
              <a:rPr b="0" spc="-25" dirty="0">
                <a:latin typeface="Impact"/>
                <a:cs typeface="Impact"/>
              </a:rPr>
              <a:t>0</a:t>
            </a:r>
            <a:r>
              <a:rPr lang="en-US" b="0" spc="-25" dirty="0">
                <a:latin typeface="Impact"/>
                <a:cs typeface="Impact"/>
              </a:rPr>
              <a:t>3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spc="-75" baseline="1984" dirty="0"/>
              <a:t>Toán</a:t>
            </a:r>
            <a:r>
              <a:rPr sz="4200" spc="-127" baseline="1984" dirty="0"/>
              <a:t> </a:t>
            </a:r>
            <a:r>
              <a:rPr sz="4200" baseline="1984" dirty="0"/>
              <a:t>tử</a:t>
            </a:r>
            <a:r>
              <a:rPr sz="4200" spc="-120" baseline="1984" dirty="0"/>
              <a:t> </a:t>
            </a:r>
            <a:r>
              <a:rPr sz="4200" baseline="1984" dirty="0"/>
              <a:t>trong</a:t>
            </a:r>
            <a:r>
              <a:rPr sz="4200" spc="-127" baseline="1984" dirty="0"/>
              <a:t> </a:t>
            </a:r>
            <a:r>
              <a:rPr sz="4200" spc="-37" baseline="1984" dirty="0"/>
              <a:t>SQL</a:t>
            </a:r>
            <a:endParaRPr sz="4200" baseline="1984" dirty="0">
              <a:latin typeface="Impact"/>
              <a:cs typeface="Impac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6469" y="1680209"/>
            <a:ext cx="8435975" cy="24491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WHERE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và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45" dirty="0">
                <a:latin typeface="Times New Roman"/>
                <a:cs typeface="Times New Roman"/>
              </a:rPr>
              <a:t>HAVING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khác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nhau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ở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đâu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114" dirty="0">
                <a:latin typeface="Times New Roman"/>
                <a:cs typeface="Times New Roman"/>
              </a:rPr>
              <a:t>WHERE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để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lọc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hàng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của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dữ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liệu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gốc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(chạy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trước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GROUP </a:t>
            </a:r>
            <a:r>
              <a:rPr sz="2400" spc="-100" dirty="0">
                <a:latin typeface="Times New Roman"/>
                <a:cs typeface="Times New Roman"/>
              </a:rPr>
              <a:t>BY)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khi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HAVING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dụng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để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lọc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các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hàng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của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kết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quả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sau </a:t>
            </a:r>
            <a:r>
              <a:rPr sz="2400" spc="-120" dirty="0">
                <a:latin typeface="Times New Roman"/>
                <a:cs typeface="Times New Roman"/>
              </a:rPr>
              <a:t>GROUP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BY.</a:t>
            </a:r>
            <a:endParaRPr sz="2400">
              <a:latin typeface="Times New Roman"/>
              <a:cs typeface="Times New Roman"/>
            </a:endParaRPr>
          </a:p>
          <a:p>
            <a:pPr marL="754380" marR="443230" lvl="1" indent="-28511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sz="2400" spc="-90" dirty="0">
                <a:latin typeface="Times New Roman"/>
                <a:cs typeface="Times New Roman"/>
              </a:rPr>
              <a:t>Các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hàm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tính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toán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(Aggregate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Functions)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ví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dụ: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SUM,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AVG,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MIN, </a:t>
            </a:r>
            <a:r>
              <a:rPr sz="2400" spc="-120" dirty="0">
                <a:latin typeface="Times New Roman"/>
                <a:cs typeface="Times New Roman"/>
              </a:rPr>
              <a:t>MAX,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chỉ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có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thể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được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dụng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trong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câu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lệnh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HAVING.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827532"/>
            <a:ext cx="9144000" cy="1183005"/>
            <a:chOff x="1219200" y="827532"/>
            <a:chExt cx="9144000" cy="1183005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1" y="902208"/>
              <a:ext cx="1289304" cy="9265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79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2875" algn="l"/>
              </a:tabLst>
            </a:pPr>
            <a:r>
              <a:rPr b="0" spc="-25" dirty="0">
                <a:latin typeface="Impact"/>
                <a:cs typeface="Impact"/>
              </a:rPr>
              <a:t>0</a:t>
            </a:r>
            <a:r>
              <a:rPr lang="en-US" b="0" spc="-25" dirty="0">
                <a:latin typeface="Impact"/>
                <a:cs typeface="Impact"/>
              </a:rPr>
              <a:t>3</a:t>
            </a:r>
            <a:r>
              <a:rPr b="0" dirty="0">
                <a:latin typeface="Impact"/>
                <a:cs typeface="Impact"/>
              </a:rPr>
              <a:t>	</a:t>
            </a:r>
            <a:r>
              <a:rPr sz="4200" spc="-75" baseline="1984" dirty="0"/>
              <a:t>Toán</a:t>
            </a:r>
            <a:r>
              <a:rPr sz="4200" spc="-127" baseline="1984" dirty="0"/>
              <a:t> </a:t>
            </a:r>
            <a:r>
              <a:rPr sz="4200" baseline="1984" dirty="0"/>
              <a:t>tử</a:t>
            </a:r>
            <a:r>
              <a:rPr sz="4200" spc="-120" baseline="1984" dirty="0"/>
              <a:t> </a:t>
            </a:r>
            <a:r>
              <a:rPr sz="4200" baseline="1984" dirty="0"/>
              <a:t>trong</a:t>
            </a:r>
            <a:r>
              <a:rPr sz="4200" spc="-127" baseline="1984" dirty="0"/>
              <a:t> </a:t>
            </a:r>
            <a:r>
              <a:rPr sz="4200" spc="-37" baseline="1984" dirty="0"/>
              <a:t>SQL</a:t>
            </a:r>
            <a:endParaRPr sz="4200" baseline="1984" dirty="0">
              <a:latin typeface="Impact"/>
              <a:cs typeface="Impac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03450" y="2406142"/>
            <a:ext cx="7556500" cy="3585210"/>
            <a:chOff x="2203450" y="2406142"/>
            <a:chExt cx="7556500" cy="3585210"/>
          </a:xfrm>
        </p:grpSpPr>
        <p:sp>
          <p:nvSpPr>
            <p:cNvPr id="14" name="object 14"/>
            <p:cNvSpPr/>
            <p:nvPr/>
          </p:nvSpPr>
          <p:spPr>
            <a:xfrm>
              <a:off x="2209800" y="2412492"/>
              <a:ext cx="7543800" cy="1092835"/>
            </a:xfrm>
            <a:custGeom>
              <a:avLst/>
              <a:gdLst/>
              <a:ahLst/>
              <a:cxnLst/>
              <a:rect l="l" t="t" r="r" b="b"/>
              <a:pathLst>
                <a:path w="7543800" h="1092835">
                  <a:moveTo>
                    <a:pt x="7361682" y="0"/>
                  </a:moveTo>
                  <a:lnTo>
                    <a:pt x="182118" y="0"/>
                  </a:lnTo>
                  <a:lnTo>
                    <a:pt x="133702" y="6505"/>
                  </a:lnTo>
                  <a:lnTo>
                    <a:pt x="90198" y="24863"/>
                  </a:lnTo>
                  <a:lnTo>
                    <a:pt x="53339" y="53340"/>
                  </a:lnTo>
                  <a:lnTo>
                    <a:pt x="24863" y="90198"/>
                  </a:lnTo>
                  <a:lnTo>
                    <a:pt x="6505" y="133702"/>
                  </a:lnTo>
                  <a:lnTo>
                    <a:pt x="0" y="182118"/>
                  </a:lnTo>
                  <a:lnTo>
                    <a:pt x="0" y="910590"/>
                  </a:lnTo>
                  <a:lnTo>
                    <a:pt x="6505" y="959005"/>
                  </a:lnTo>
                  <a:lnTo>
                    <a:pt x="24863" y="1002509"/>
                  </a:lnTo>
                  <a:lnTo>
                    <a:pt x="53339" y="1039368"/>
                  </a:lnTo>
                  <a:lnTo>
                    <a:pt x="90198" y="1067844"/>
                  </a:lnTo>
                  <a:lnTo>
                    <a:pt x="133702" y="1086202"/>
                  </a:lnTo>
                  <a:lnTo>
                    <a:pt x="182118" y="1092708"/>
                  </a:lnTo>
                  <a:lnTo>
                    <a:pt x="7361682" y="1092708"/>
                  </a:lnTo>
                  <a:lnTo>
                    <a:pt x="7410097" y="1086202"/>
                  </a:lnTo>
                  <a:lnTo>
                    <a:pt x="7453601" y="1067844"/>
                  </a:lnTo>
                  <a:lnTo>
                    <a:pt x="7490459" y="1039368"/>
                  </a:lnTo>
                  <a:lnTo>
                    <a:pt x="7518936" y="1002509"/>
                  </a:lnTo>
                  <a:lnTo>
                    <a:pt x="7537294" y="959005"/>
                  </a:lnTo>
                  <a:lnTo>
                    <a:pt x="7543800" y="910590"/>
                  </a:lnTo>
                  <a:lnTo>
                    <a:pt x="7543800" y="182118"/>
                  </a:lnTo>
                  <a:lnTo>
                    <a:pt x="7537294" y="133702"/>
                  </a:lnTo>
                  <a:lnTo>
                    <a:pt x="7518936" y="90198"/>
                  </a:lnTo>
                  <a:lnTo>
                    <a:pt x="7490459" y="53340"/>
                  </a:lnTo>
                  <a:lnTo>
                    <a:pt x="7453601" y="24863"/>
                  </a:lnTo>
                  <a:lnTo>
                    <a:pt x="7410097" y="6505"/>
                  </a:lnTo>
                  <a:lnTo>
                    <a:pt x="7361682" y="0"/>
                  </a:lnTo>
                  <a:close/>
                </a:path>
              </a:pathLst>
            </a:custGeom>
            <a:solidFill>
              <a:srgbClr val="FDE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09800" y="2412492"/>
              <a:ext cx="7543800" cy="1092835"/>
            </a:xfrm>
            <a:custGeom>
              <a:avLst/>
              <a:gdLst/>
              <a:ahLst/>
              <a:cxnLst/>
              <a:rect l="l" t="t" r="r" b="b"/>
              <a:pathLst>
                <a:path w="7543800" h="1092835">
                  <a:moveTo>
                    <a:pt x="0" y="182118"/>
                  </a:moveTo>
                  <a:lnTo>
                    <a:pt x="6505" y="133702"/>
                  </a:lnTo>
                  <a:lnTo>
                    <a:pt x="24863" y="90198"/>
                  </a:lnTo>
                  <a:lnTo>
                    <a:pt x="53339" y="53340"/>
                  </a:lnTo>
                  <a:lnTo>
                    <a:pt x="90198" y="24863"/>
                  </a:lnTo>
                  <a:lnTo>
                    <a:pt x="133702" y="6505"/>
                  </a:lnTo>
                  <a:lnTo>
                    <a:pt x="182118" y="0"/>
                  </a:lnTo>
                  <a:lnTo>
                    <a:pt x="7361682" y="0"/>
                  </a:lnTo>
                  <a:lnTo>
                    <a:pt x="7410097" y="6505"/>
                  </a:lnTo>
                  <a:lnTo>
                    <a:pt x="7453601" y="24863"/>
                  </a:lnTo>
                  <a:lnTo>
                    <a:pt x="7490459" y="53340"/>
                  </a:lnTo>
                  <a:lnTo>
                    <a:pt x="7518936" y="90198"/>
                  </a:lnTo>
                  <a:lnTo>
                    <a:pt x="7537294" y="133702"/>
                  </a:lnTo>
                  <a:lnTo>
                    <a:pt x="7543800" y="182118"/>
                  </a:lnTo>
                  <a:lnTo>
                    <a:pt x="7543800" y="910590"/>
                  </a:lnTo>
                  <a:lnTo>
                    <a:pt x="7537294" y="959005"/>
                  </a:lnTo>
                  <a:lnTo>
                    <a:pt x="7518936" y="1002509"/>
                  </a:lnTo>
                  <a:lnTo>
                    <a:pt x="7490459" y="1039368"/>
                  </a:lnTo>
                  <a:lnTo>
                    <a:pt x="7453601" y="1067844"/>
                  </a:lnTo>
                  <a:lnTo>
                    <a:pt x="7410097" y="1086202"/>
                  </a:lnTo>
                  <a:lnTo>
                    <a:pt x="7361682" y="1092708"/>
                  </a:lnTo>
                  <a:lnTo>
                    <a:pt x="182118" y="1092708"/>
                  </a:lnTo>
                  <a:lnTo>
                    <a:pt x="133702" y="1086202"/>
                  </a:lnTo>
                  <a:lnTo>
                    <a:pt x="90198" y="1067844"/>
                  </a:lnTo>
                  <a:lnTo>
                    <a:pt x="53339" y="1039368"/>
                  </a:lnTo>
                  <a:lnTo>
                    <a:pt x="24863" y="1002509"/>
                  </a:lnTo>
                  <a:lnTo>
                    <a:pt x="6505" y="959005"/>
                  </a:lnTo>
                  <a:lnTo>
                    <a:pt x="0" y="910590"/>
                  </a:lnTo>
                  <a:lnTo>
                    <a:pt x="0" y="182118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09800" y="3759708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73914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7391400" y="914400"/>
                  </a:lnTo>
                  <a:lnTo>
                    <a:pt x="7439582" y="906633"/>
                  </a:lnTo>
                  <a:lnTo>
                    <a:pt x="7481419" y="885005"/>
                  </a:lnTo>
                  <a:lnTo>
                    <a:pt x="7514405" y="852019"/>
                  </a:lnTo>
                  <a:lnTo>
                    <a:pt x="7536033" y="810182"/>
                  </a:lnTo>
                  <a:lnTo>
                    <a:pt x="7543800" y="762000"/>
                  </a:lnTo>
                  <a:lnTo>
                    <a:pt x="7543800" y="152400"/>
                  </a:lnTo>
                  <a:lnTo>
                    <a:pt x="7536033" y="104217"/>
                  </a:lnTo>
                  <a:lnTo>
                    <a:pt x="7514405" y="62380"/>
                  </a:lnTo>
                  <a:lnTo>
                    <a:pt x="7481419" y="29394"/>
                  </a:lnTo>
                  <a:lnTo>
                    <a:pt x="7439582" y="7766"/>
                  </a:lnTo>
                  <a:lnTo>
                    <a:pt x="7391400" y="0"/>
                  </a:lnTo>
                  <a:close/>
                </a:path>
              </a:pathLst>
            </a:custGeom>
            <a:solidFill>
              <a:srgbClr val="FDE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09800" y="3759708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391400" y="0"/>
                  </a:lnTo>
                  <a:lnTo>
                    <a:pt x="7439582" y="7766"/>
                  </a:lnTo>
                  <a:lnTo>
                    <a:pt x="7481419" y="29394"/>
                  </a:lnTo>
                  <a:lnTo>
                    <a:pt x="7514405" y="62380"/>
                  </a:lnTo>
                  <a:lnTo>
                    <a:pt x="7536033" y="104217"/>
                  </a:lnTo>
                  <a:lnTo>
                    <a:pt x="7543800" y="152400"/>
                  </a:lnTo>
                  <a:lnTo>
                    <a:pt x="7543800" y="762000"/>
                  </a:lnTo>
                  <a:lnTo>
                    <a:pt x="7536033" y="810182"/>
                  </a:lnTo>
                  <a:lnTo>
                    <a:pt x="7514405" y="852019"/>
                  </a:lnTo>
                  <a:lnTo>
                    <a:pt x="7481419" y="885005"/>
                  </a:lnTo>
                  <a:lnTo>
                    <a:pt x="7439582" y="906633"/>
                  </a:lnTo>
                  <a:lnTo>
                    <a:pt x="73914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09800" y="4876800"/>
              <a:ext cx="7543800" cy="1108075"/>
            </a:xfrm>
            <a:custGeom>
              <a:avLst/>
              <a:gdLst/>
              <a:ahLst/>
              <a:cxnLst/>
              <a:rect l="l" t="t" r="r" b="b"/>
              <a:pathLst>
                <a:path w="7543800" h="1108075">
                  <a:moveTo>
                    <a:pt x="7359142" y="0"/>
                  </a:moveTo>
                  <a:lnTo>
                    <a:pt x="184657" y="0"/>
                  </a:lnTo>
                  <a:lnTo>
                    <a:pt x="135569" y="6596"/>
                  </a:lnTo>
                  <a:lnTo>
                    <a:pt x="91458" y="25211"/>
                  </a:lnTo>
                  <a:lnTo>
                    <a:pt x="54086" y="54086"/>
                  </a:lnTo>
                  <a:lnTo>
                    <a:pt x="25211" y="91458"/>
                  </a:lnTo>
                  <a:lnTo>
                    <a:pt x="6596" y="135569"/>
                  </a:lnTo>
                  <a:lnTo>
                    <a:pt x="0" y="184657"/>
                  </a:lnTo>
                  <a:lnTo>
                    <a:pt x="0" y="923290"/>
                  </a:lnTo>
                  <a:lnTo>
                    <a:pt x="6596" y="972378"/>
                  </a:lnTo>
                  <a:lnTo>
                    <a:pt x="25211" y="1016489"/>
                  </a:lnTo>
                  <a:lnTo>
                    <a:pt x="54086" y="1053861"/>
                  </a:lnTo>
                  <a:lnTo>
                    <a:pt x="91458" y="1082736"/>
                  </a:lnTo>
                  <a:lnTo>
                    <a:pt x="135569" y="1101351"/>
                  </a:lnTo>
                  <a:lnTo>
                    <a:pt x="184657" y="1107948"/>
                  </a:lnTo>
                  <a:lnTo>
                    <a:pt x="7359142" y="1107948"/>
                  </a:lnTo>
                  <a:lnTo>
                    <a:pt x="7408230" y="1101351"/>
                  </a:lnTo>
                  <a:lnTo>
                    <a:pt x="7452341" y="1082736"/>
                  </a:lnTo>
                  <a:lnTo>
                    <a:pt x="7489713" y="1053861"/>
                  </a:lnTo>
                  <a:lnTo>
                    <a:pt x="7518588" y="1016489"/>
                  </a:lnTo>
                  <a:lnTo>
                    <a:pt x="7537203" y="972378"/>
                  </a:lnTo>
                  <a:lnTo>
                    <a:pt x="7543800" y="923290"/>
                  </a:lnTo>
                  <a:lnTo>
                    <a:pt x="7543800" y="184657"/>
                  </a:lnTo>
                  <a:lnTo>
                    <a:pt x="7537203" y="135569"/>
                  </a:lnTo>
                  <a:lnTo>
                    <a:pt x="7518588" y="91458"/>
                  </a:lnTo>
                  <a:lnTo>
                    <a:pt x="7489713" y="54086"/>
                  </a:lnTo>
                  <a:lnTo>
                    <a:pt x="7452341" y="25211"/>
                  </a:lnTo>
                  <a:lnTo>
                    <a:pt x="7408230" y="6596"/>
                  </a:lnTo>
                  <a:lnTo>
                    <a:pt x="7359142" y="0"/>
                  </a:lnTo>
                  <a:close/>
                </a:path>
              </a:pathLst>
            </a:custGeom>
            <a:solidFill>
              <a:srgbClr val="FDE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09800" y="4876800"/>
              <a:ext cx="7543800" cy="1108075"/>
            </a:xfrm>
            <a:custGeom>
              <a:avLst/>
              <a:gdLst/>
              <a:ahLst/>
              <a:cxnLst/>
              <a:rect l="l" t="t" r="r" b="b"/>
              <a:pathLst>
                <a:path w="7543800" h="1108075">
                  <a:moveTo>
                    <a:pt x="0" y="184657"/>
                  </a:moveTo>
                  <a:lnTo>
                    <a:pt x="6596" y="135569"/>
                  </a:lnTo>
                  <a:lnTo>
                    <a:pt x="25211" y="91458"/>
                  </a:lnTo>
                  <a:lnTo>
                    <a:pt x="54086" y="54086"/>
                  </a:lnTo>
                  <a:lnTo>
                    <a:pt x="91458" y="25211"/>
                  </a:lnTo>
                  <a:lnTo>
                    <a:pt x="135569" y="6596"/>
                  </a:lnTo>
                  <a:lnTo>
                    <a:pt x="184657" y="0"/>
                  </a:lnTo>
                  <a:lnTo>
                    <a:pt x="7359142" y="0"/>
                  </a:lnTo>
                  <a:lnTo>
                    <a:pt x="7408230" y="6596"/>
                  </a:lnTo>
                  <a:lnTo>
                    <a:pt x="7452341" y="25211"/>
                  </a:lnTo>
                  <a:lnTo>
                    <a:pt x="7489713" y="54086"/>
                  </a:lnTo>
                  <a:lnTo>
                    <a:pt x="7518588" y="91458"/>
                  </a:lnTo>
                  <a:lnTo>
                    <a:pt x="7537203" y="135569"/>
                  </a:lnTo>
                  <a:lnTo>
                    <a:pt x="7543800" y="184657"/>
                  </a:lnTo>
                  <a:lnTo>
                    <a:pt x="7543800" y="923290"/>
                  </a:lnTo>
                  <a:lnTo>
                    <a:pt x="7537203" y="972378"/>
                  </a:lnTo>
                  <a:lnTo>
                    <a:pt x="7518588" y="1016489"/>
                  </a:lnTo>
                  <a:lnTo>
                    <a:pt x="7489713" y="1053861"/>
                  </a:lnTo>
                  <a:lnTo>
                    <a:pt x="7452341" y="1082736"/>
                  </a:lnTo>
                  <a:lnTo>
                    <a:pt x="7408230" y="1101351"/>
                  </a:lnTo>
                  <a:lnTo>
                    <a:pt x="7359142" y="1107948"/>
                  </a:lnTo>
                  <a:lnTo>
                    <a:pt x="184657" y="1107948"/>
                  </a:lnTo>
                  <a:lnTo>
                    <a:pt x="135569" y="1101351"/>
                  </a:lnTo>
                  <a:lnTo>
                    <a:pt x="91458" y="1082736"/>
                  </a:lnTo>
                  <a:lnTo>
                    <a:pt x="54086" y="1053861"/>
                  </a:lnTo>
                  <a:lnTo>
                    <a:pt x="25211" y="1016489"/>
                  </a:lnTo>
                  <a:lnTo>
                    <a:pt x="6596" y="972378"/>
                  </a:lnTo>
                  <a:lnTo>
                    <a:pt x="0" y="923290"/>
                  </a:lnTo>
                  <a:lnTo>
                    <a:pt x="0" y="18465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7221" y="5042661"/>
            <a:ext cx="51054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9770" marR="5080" indent="-19577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Groups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HAVING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clause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displayed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10129" y="2432050"/>
            <a:ext cx="3747770" cy="2445385"/>
            <a:chOff x="2310129" y="2432050"/>
            <a:chExt cx="3747770" cy="244538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5500" y="4636007"/>
              <a:ext cx="152400" cy="2413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62199" y="24384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251460" y="0"/>
                  </a:moveTo>
                  <a:lnTo>
                    <a:pt x="200764" y="4086"/>
                  </a:lnTo>
                  <a:lnTo>
                    <a:pt x="153554" y="15805"/>
                  </a:lnTo>
                  <a:lnTo>
                    <a:pt x="110839" y="34350"/>
                  </a:lnTo>
                  <a:lnTo>
                    <a:pt x="73628" y="58912"/>
                  </a:lnTo>
                  <a:lnTo>
                    <a:pt x="42929" y="88682"/>
                  </a:lnTo>
                  <a:lnTo>
                    <a:pt x="19752" y="122854"/>
                  </a:lnTo>
                  <a:lnTo>
                    <a:pt x="5106" y="160619"/>
                  </a:lnTo>
                  <a:lnTo>
                    <a:pt x="0" y="201167"/>
                  </a:lnTo>
                  <a:lnTo>
                    <a:pt x="5106" y="241716"/>
                  </a:lnTo>
                  <a:lnTo>
                    <a:pt x="19752" y="279481"/>
                  </a:lnTo>
                  <a:lnTo>
                    <a:pt x="42929" y="313653"/>
                  </a:lnTo>
                  <a:lnTo>
                    <a:pt x="73628" y="343423"/>
                  </a:lnTo>
                  <a:lnTo>
                    <a:pt x="110839" y="367985"/>
                  </a:lnTo>
                  <a:lnTo>
                    <a:pt x="153554" y="386530"/>
                  </a:lnTo>
                  <a:lnTo>
                    <a:pt x="200764" y="398249"/>
                  </a:lnTo>
                  <a:lnTo>
                    <a:pt x="251460" y="402336"/>
                  </a:lnTo>
                  <a:lnTo>
                    <a:pt x="302155" y="398249"/>
                  </a:lnTo>
                  <a:lnTo>
                    <a:pt x="349365" y="386530"/>
                  </a:lnTo>
                  <a:lnTo>
                    <a:pt x="392080" y="367985"/>
                  </a:lnTo>
                  <a:lnTo>
                    <a:pt x="429291" y="343423"/>
                  </a:lnTo>
                  <a:lnTo>
                    <a:pt x="459990" y="313653"/>
                  </a:lnTo>
                  <a:lnTo>
                    <a:pt x="483167" y="279481"/>
                  </a:lnTo>
                  <a:lnTo>
                    <a:pt x="497813" y="241716"/>
                  </a:lnTo>
                  <a:lnTo>
                    <a:pt x="502919" y="201167"/>
                  </a:lnTo>
                  <a:lnTo>
                    <a:pt x="497813" y="160619"/>
                  </a:lnTo>
                  <a:lnTo>
                    <a:pt x="483167" y="122854"/>
                  </a:lnTo>
                  <a:lnTo>
                    <a:pt x="459990" y="88682"/>
                  </a:lnTo>
                  <a:lnTo>
                    <a:pt x="429291" y="58912"/>
                  </a:lnTo>
                  <a:lnTo>
                    <a:pt x="392080" y="34350"/>
                  </a:lnTo>
                  <a:lnTo>
                    <a:pt x="349365" y="15805"/>
                  </a:lnTo>
                  <a:lnTo>
                    <a:pt x="302155" y="4086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62199" y="24384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0" y="201167"/>
                  </a:moveTo>
                  <a:lnTo>
                    <a:pt x="5106" y="160619"/>
                  </a:lnTo>
                  <a:lnTo>
                    <a:pt x="19752" y="122854"/>
                  </a:lnTo>
                  <a:lnTo>
                    <a:pt x="42929" y="88682"/>
                  </a:lnTo>
                  <a:lnTo>
                    <a:pt x="73628" y="58912"/>
                  </a:lnTo>
                  <a:lnTo>
                    <a:pt x="110839" y="34350"/>
                  </a:lnTo>
                  <a:lnTo>
                    <a:pt x="153554" y="15805"/>
                  </a:lnTo>
                  <a:lnTo>
                    <a:pt x="200764" y="4086"/>
                  </a:lnTo>
                  <a:lnTo>
                    <a:pt x="251460" y="0"/>
                  </a:lnTo>
                  <a:lnTo>
                    <a:pt x="302155" y="4086"/>
                  </a:lnTo>
                  <a:lnTo>
                    <a:pt x="349365" y="15805"/>
                  </a:lnTo>
                  <a:lnTo>
                    <a:pt x="392080" y="34350"/>
                  </a:lnTo>
                  <a:lnTo>
                    <a:pt x="429291" y="58912"/>
                  </a:lnTo>
                  <a:lnTo>
                    <a:pt x="459990" y="88682"/>
                  </a:lnTo>
                  <a:lnTo>
                    <a:pt x="483167" y="122854"/>
                  </a:lnTo>
                  <a:lnTo>
                    <a:pt x="497813" y="160619"/>
                  </a:lnTo>
                  <a:lnTo>
                    <a:pt x="502919" y="201167"/>
                  </a:lnTo>
                  <a:lnTo>
                    <a:pt x="497813" y="241716"/>
                  </a:lnTo>
                  <a:lnTo>
                    <a:pt x="483167" y="279481"/>
                  </a:lnTo>
                  <a:lnTo>
                    <a:pt x="459990" y="313653"/>
                  </a:lnTo>
                  <a:lnTo>
                    <a:pt x="429291" y="343423"/>
                  </a:lnTo>
                  <a:lnTo>
                    <a:pt x="392080" y="367985"/>
                  </a:lnTo>
                  <a:lnTo>
                    <a:pt x="349365" y="386530"/>
                  </a:lnTo>
                  <a:lnTo>
                    <a:pt x="302155" y="398249"/>
                  </a:lnTo>
                  <a:lnTo>
                    <a:pt x="251460" y="402336"/>
                  </a:lnTo>
                  <a:lnTo>
                    <a:pt x="200764" y="398249"/>
                  </a:lnTo>
                  <a:lnTo>
                    <a:pt x="153554" y="386530"/>
                  </a:lnTo>
                  <a:lnTo>
                    <a:pt x="110839" y="367985"/>
                  </a:lnTo>
                  <a:lnTo>
                    <a:pt x="73628" y="343423"/>
                  </a:lnTo>
                  <a:lnTo>
                    <a:pt x="42929" y="313653"/>
                  </a:lnTo>
                  <a:lnTo>
                    <a:pt x="19752" y="279481"/>
                  </a:lnTo>
                  <a:lnTo>
                    <a:pt x="5106" y="241716"/>
                  </a:lnTo>
                  <a:lnTo>
                    <a:pt x="0" y="20116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16479" y="37338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251459" y="0"/>
                  </a:moveTo>
                  <a:lnTo>
                    <a:pt x="200764" y="4086"/>
                  </a:lnTo>
                  <a:lnTo>
                    <a:pt x="153554" y="15805"/>
                  </a:lnTo>
                  <a:lnTo>
                    <a:pt x="110839" y="34350"/>
                  </a:lnTo>
                  <a:lnTo>
                    <a:pt x="73628" y="58912"/>
                  </a:lnTo>
                  <a:lnTo>
                    <a:pt x="42929" y="88682"/>
                  </a:lnTo>
                  <a:lnTo>
                    <a:pt x="19752" y="122854"/>
                  </a:lnTo>
                  <a:lnTo>
                    <a:pt x="5106" y="160619"/>
                  </a:lnTo>
                  <a:lnTo>
                    <a:pt x="0" y="201168"/>
                  </a:lnTo>
                  <a:lnTo>
                    <a:pt x="5106" y="241716"/>
                  </a:lnTo>
                  <a:lnTo>
                    <a:pt x="19752" y="279481"/>
                  </a:lnTo>
                  <a:lnTo>
                    <a:pt x="42929" y="313653"/>
                  </a:lnTo>
                  <a:lnTo>
                    <a:pt x="73628" y="343423"/>
                  </a:lnTo>
                  <a:lnTo>
                    <a:pt x="110839" y="367985"/>
                  </a:lnTo>
                  <a:lnTo>
                    <a:pt x="153554" y="386530"/>
                  </a:lnTo>
                  <a:lnTo>
                    <a:pt x="200764" y="398249"/>
                  </a:lnTo>
                  <a:lnTo>
                    <a:pt x="251459" y="402336"/>
                  </a:lnTo>
                  <a:lnTo>
                    <a:pt x="302155" y="398249"/>
                  </a:lnTo>
                  <a:lnTo>
                    <a:pt x="349365" y="386530"/>
                  </a:lnTo>
                  <a:lnTo>
                    <a:pt x="392080" y="367985"/>
                  </a:lnTo>
                  <a:lnTo>
                    <a:pt x="429291" y="343423"/>
                  </a:lnTo>
                  <a:lnTo>
                    <a:pt x="459990" y="313653"/>
                  </a:lnTo>
                  <a:lnTo>
                    <a:pt x="483167" y="279481"/>
                  </a:lnTo>
                  <a:lnTo>
                    <a:pt x="497813" y="241716"/>
                  </a:lnTo>
                  <a:lnTo>
                    <a:pt x="502919" y="201168"/>
                  </a:lnTo>
                  <a:lnTo>
                    <a:pt x="497813" y="160619"/>
                  </a:lnTo>
                  <a:lnTo>
                    <a:pt x="483167" y="122854"/>
                  </a:lnTo>
                  <a:lnTo>
                    <a:pt x="459990" y="88682"/>
                  </a:lnTo>
                  <a:lnTo>
                    <a:pt x="429291" y="58912"/>
                  </a:lnTo>
                  <a:lnTo>
                    <a:pt x="392080" y="34350"/>
                  </a:lnTo>
                  <a:lnTo>
                    <a:pt x="349365" y="15805"/>
                  </a:lnTo>
                  <a:lnTo>
                    <a:pt x="302155" y="4086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6479" y="37338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0" y="201168"/>
                  </a:moveTo>
                  <a:lnTo>
                    <a:pt x="5106" y="160619"/>
                  </a:lnTo>
                  <a:lnTo>
                    <a:pt x="19752" y="122854"/>
                  </a:lnTo>
                  <a:lnTo>
                    <a:pt x="42929" y="88682"/>
                  </a:lnTo>
                  <a:lnTo>
                    <a:pt x="73628" y="58912"/>
                  </a:lnTo>
                  <a:lnTo>
                    <a:pt x="110839" y="34350"/>
                  </a:lnTo>
                  <a:lnTo>
                    <a:pt x="153554" y="15805"/>
                  </a:lnTo>
                  <a:lnTo>
                    <a:pt x="200764" y="4086"/>
                  </a:lnTo>
                  <a:lnTo>
                    <a:pt x="251459" y="0"/>
                  </a:lnTo>
                  <a:lnTo>
                    <a:pt x="302155" y="4086"/>
                  </a:lnTo>
                  <a:lnTo>
                    <a:pt x="349365" y="15805"/>
                  </a:lnTo>
                  <a:lnTo>
                    <a:pt x="392080" y="34350"/>
                  </a:lnTo>
                  <a:lnTo>
                    <a:pt x="429291" y="58912"/>
                  </a:lnTo>
                  <a:lnTo>
                    <a:pt x="459990" y="88682"/>
                  </a:lnTo>
                  <a:lnTo>
                    <a:pt x="483167" y="122854"/>
                  </a:lnTo>
                  <a:lnTo>
                    <a:pt x="497813" y="160619"/>
                  </a:lnTo>
                  <a:lnTo>
                    <a:pt x="502919" y="201168"/>
                  </a:lnTo>
                  <a:lnTo>
                    <a:pt x="497813" y="241716"/>
                  </a:lnTo>
                  <a:lnTo>
                    <a:pt x="483167" y="279481"/>
                  </a:lnTo>
                  <a:lnTo>
                    <a:pt x="459990" y="313653"/>
                  </a:lnTo>
                  <a:lnTo>
                    <a:pt x="429291" y="343423"/>
                  </a:lnTo>
                  <a:lnTo>
                    <a:pt x="392080" y="367985"/>
                  </a:lnTo>
                  <a:lnTo>
                    <a:pt x="349365" y="386530"/>
                  </a:lnTo>
                  <a:lnTo>
                    <a:pt x="302155" y="398249"/>
                  </a:lnTo>
                  <a:lnTo>
                    <a:pt x="251459" y="402336"/>
                  </a:lnTo>
                  <a:lnTo>
                    <a:pt x="200764" y="398249"/>
                  </a:lnTo>
                  <a:lnTo>
                    <a:pt x="153554" y="386530"/>
                  </a:lnTo>
                  <a:lnTo>
                    <a:pt x="110839" y="367985"/>
                  </a:lnTo>
                  <a:lnTo>
                    <a:pt x="73628" y="343423"/>
                  </a:lnTo>
                  <a:lnTo>
                    <a:pt x="42929" y="313653"/>
                  </a:lnTo>
                  <a:lnTo>
                    <a:pt x="19752" y="279481"/>
                  </a:lnTo>
                  <a:lnTo>
                    <a:pt x="5106" y="241716"/>
                  </a:lnTo>
                  <a:lnTo>
                    <a:pt x="0" y="20116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466469" y="1756028"/>
            <a:ext cx="7065645" cy="2646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WHERE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và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45" dirty="0">
                <a:latin typeface="Times New Roman"/>
                <a:cs typeface="Times New Roman"/>
              </a:rPr>
              <a:t>HAVING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khác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nhau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ở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đâu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070610">
              <a:lnSpc>
                <a:spcPts val="2695"/>
              </a:lnSpc>
              <a:spcBef>
                <a:spcPts val="2455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975485">
              <a:lnSpc>
                <a:spcPts val="2695"/>
              </a:lnSpc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ROWS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(with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clause)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first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0"/>
              </a:spcBef>
            </a:pPr>
            <a:endParaRPr sz="2400">
              <a:latin typeface="Times New Roman"/>
              <a:cs typeface="Times New Roman"/>
            </a:endParaRPr>
          </a:p>
          <a:p>
            <a:pPr marL="1024890">
              <a:lnSpc>
                <a:spcPts val="2550"/>
              </a:lnSpc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997075">
              <a:lnSpc>
                <a:spcPts val="2550"/>
              </a:lnSpc>
            </a:pPr>
            <a:r>
              <a:rPr sz="2400" dirty="0">
                <a:latin typeface="Times New Roman"/>
                <a:cs typeface="Times New Roman"/>
              </a:rPr>
              <a:t>ROWS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(GROUP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clause)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310129" y="4870450"/>
            <a:ext cx="515620" cy="415290"/>
            <a:chOff x="2310129" y="4870450"/>
            <a:chExt cx="515620" cy="415290"/>
          </a:xfrm>
        </p:grpSpPr>
        <p:sp>
          <p:nvSpPr>
            <p:cNvPr id="29" name="object 29"/>
            <p:cNvSpPr/>
            <p:nvPr/>
          </p:nvSpPr>
          <p:spPr>
            <a:xfrm>
              <a:off x="2316479" y="48768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251459" y="0"/>
                  </a:moveTo>
                  <a:lnTo>
                    <a:pt x="200764" y="4086"/>
                  </a:lnTo>
                  <a:lnTo>
                    <a:pt x="153554" y="15805"/>
                  </a:lnTo>
                  <a:lnTo>
                    <a:pt x="110839" y="34350"/>
                  </a:lnTo>
                  <a:lnTo>
                    <a:pt x="73628" y="58912"/>
                  </a:lnTo>
                  <a:lnTo>
                    <a:pt x="42929" y="88682"/>
                  </a:lnTo>
                  <a:lnTo>
                    <a:pt x="19752" y="122854"/>
                  </a:lnTo>
                  <a:lnTo>
                    <a:pt x="5106" y="160619"/>
                  </a:lnTo>
                  <a:lnTo>
                    <a:pt x="0" y="201168"/>
                  </a:lnTo>
                  <a:lnTo>
                    <a:pt x="5106" y="241716"/>
                  </a:lnTo>
                  <a:lnTo>
                    <a:pt x="19752" y="279481"/>
                  </a:lnTo>
                  <a:lnTo>
                    <a:pt x="42929" y="313653"/>
                  </a:lnTo>
                  <a:lnTo>
                    <a:pt x="73628" y="343423"/>
                  </a:lnTo>
                  <a:lnTo>
                    <a:pt x="110839" y="367985"/>
                  </a:lnTo>
                  <a:lnTo>
                    <a:pt x="153554" y="386530"/>
                  </a:lnTo>
                  <a:lnTo>
                    <a:pt x="200764" y="398249"/>
                  </a:lnTo>
                  <a:lnTo>
                    <a:pt x="251459" y="402336"/>
                  </a:lnTo>
                  <a:lnTo>
                    <a:pt x="302155" y="398249"/>
                  </a:lnTo>
                  <a:lnTo>
                    <a:pt x="349365" y="386530"/>
                  </a:lnTo>
                  <a:lnTo>
                    <a:pt x="392080" y="367985"/>
                  </a:lnTo>
                  <a:lnTo>
                    <a:pt x="429291" y="343423"/>
                  </a:lnTo>
                  <a:lnTo>
                    <a:pt x="459990" y="313653"/>
                  </a:lnTo>
                  <a:lnTo>
                    <a:pt x="483167" y="279481"/>
                  </a:lnTo>
                  <a:lnTo>
                    <a:pt x="497813" y="241716"/>
                  </a:lnTo>
                  <a:lnTo>
                    <a:pt x="502919" y="201168"/>
                  </a:lnTo>
                  <a:lnTo>
                    <a:pt x="497813" y="160619"/>
                  </a:lnTo>
                  <a:lnTo>
                    <a:pt x="483167" y="122854"/>
                  </a:lnTo>
                  <a:lnTo>
                    <a:pt x="459990" y="88682"/>
                  </a:lnTo>
                  <a:lnTo>
                    <a:pt x="429291" y="58912"/>
                  </a:lnTo>
                  <a:lnTo>
                    <a:pt x="392080" y="34350"/>
                  </a:lnTo>
                  <a:lnTo>
                    <a:pt x="349365" y="15805"/>
                  </a:lnTo>
                  <a:lnTo>
                    <a:pt x="302155" y="4086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16479" y="4876800"/>
              <a:ext cx="502920" cy="402590"/>
            </a:xfrm>
            <a:custGeom>
              <a:avLst/>
              <a:gdLst/>
              <a:ahLst/>
              <a:cxnLst/>
              <a:rect l="l" t="t" r="r" b="b"/>
              <a:pathLst>
                <a:path w="502919" h="402589">
                  <a:moveTo>
                    <a:pt x="0" y="201168"/>
                  </a:moveTo>
                  <a:lnTo>
                    <a:pt x="5106" y="160619"/>
                  </a:lnTo>
                  <a:lnTo>
                    <a:pt x="19752" y="122854"/>
                  </a:lnTo>
                  <a:lnTo>
                    <a:pt x="42929" y="88682"/>
                  </a:lnTo>
                  <a:lnTo>
                    <a:pt x="73628" y="58912"/>
                  </a:lnTo>
                  <a:lnTo>
                    <a:pt x="110839" y="34350"/>
                  </a:lnTo>
                  <a:lnTo>
                    <a:pt x="153554" y="15805"/>
                  </a:lnTo>
                  <a:lnTo>
                    <a:pt x="200764" y="4086"/>
                  </a:lnTo>
                  <a:lnTo>
                    <a:pt x="251459" y="0"/>
                  </a:lnTo>
                  <a:lnTo>
                    <a:pt x="302155" y="4086"/>
                  </a:lnTo>
                  <a:lnTo>
                    <a:pt x="349365" y="15805"/>
                  </a:lnTo>
                  <a:lnTo>
                    <a:pt x="392080" y="34350"/>
                  </a:lnTo>
                  <a:lnTo>
                    <a:pt x="429291" y="58912"/>
                  </a:lnTo>
                  <a:lnTo>
                    <a:pt x="459990" y="88682"/>
                  </a:lnTo>
                  <a:lnTo>
                    <a:pt x="483167" y="122854"/>
                  </a:lnTo>
                  <a:lnTo>
                    <a:pt x="497813" y="160619"/>
                  </a:lnTo>
                  <a:lnTo>
                    <a:pt x="502919" y="201168"/>
                  </a:lnTo>
                  <a:lnTo>
                    <a:pt x="497813" y="241716"/>
                  </a:lnTo>
                  <a:lnTo>
                    <a:pt x="483167" y="279481"/>
                  </a:lnTo>
                  <a:lnTo>
                    <a:pt x="459990" y="313653"/>
                  </a:lnTo>
                  <a:lnTo>
                    <a:pt x="429291" y="343423"/>
                  </a:lnTo>
                  <a:lnTo>
                    <a:pt x="392080" y="367985"/>
                  </a:lnTo>
                  <a:lnTo>
                    <a:pt x="349365" y="386530"/>
                  </a:lnTo>
                  <a:lnTo>
                    <a:pt x="302155" y="398249"/>
                  </a:lnTo>
                  <a:lnTo>
                    <a:pt x="251459" y="402336"/>
                  </a:lnTo>
                  <a:lnTo>
                    <a:pt x="200764" y="398249"/>
                  </a:lnTo>
                  <a:lnTo>
                    <a:pt x="153554" y="386530"/>
                  </a:lnTo>
                  <a:lnTo>
                    <a:pt x="110839" y="367985"/>
                  </a:lnTo>
                  <a:lnTo>
                    <a:pt x="73628" y="343423"/>
                  </a:lnTo>
                  <a:lnTo>
                    <a:pt x="42929" y="313653"/>
                  </a:lnTo>
                  <a:lnTo>
                    <a:pt x="19752" y="279481"/>
                  </a:lnTo>
                  <a:lnTo>
                    <a:pt x="5106" y="241716"/>
                  </a:lnTo>
                  <a:lnTo>
                    <a:pt x="0" y="20116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479039" y="487230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05500" y="3467100"/>
            <a:ext cx="152400" cy="292100"/>
          </a:xfrm>
          <a:custGeom>
            <a:avLst/>
            <a:gdLst/>
            <a:ahLst/>
            <a:cxnLst/>
            <a:rect l="l" t="t" r="r" b="b"/>
            <a:pathLst>
              <a:path w="152400" h="292100">
                <a:moveTo>
                  <a:pt x="38100" y="139700"/>
                </a:moveTo>
                <a:lnTo>
                  <a:pt x="0" y="139700"/>
                </a:lnTo>
                <a:lnTo>
                  <a:pt x="76200" y="292100"/>
                </a:lnTo>
                <a:lnTo>
                  <a:pt x="133350" y="177800"/>
                </a:lnTo>
                <a:lnTo>
                  <a:pt x="38100" y="177800"/>
                </a:lnTo>
                <a:lnTo>
                  <a:pt x="38100" y="139700"/>
                </a:lnTo>
                <a:close/>
              </a:path>
              <a:path w="152400" h="292100">
                <a:moveTo>
                  <a:pt x="114300" y="0"/>
                </a:moveTo>
                <a:lnTo>
                  <a:pt x="38100" y="0"/>
                </a:lnTo>
                <a:lnTo>
                  <a:pt x="38100" y="177800"/>
                </a:lnTo>
                <a:lnTo>
                  <a:pt x="114300" y="177800"/>
                </a:lnTo>
                <a:lnTo>
                  <a:pt x="114300" y="0"/>
                </a:lnTo>
                <a:close/>
              </a:path>
              <a:path w="152400" h="292100">
                <a:moveTo>
                  <a:pt x="152400" y="139700"/>
                </a:moveTo>
                <a:lnTo>
                  <a:pt x="114300" y="139700"/>
                </a:lnTo>
                <a:lnTo>
                  <a:pt x="114300" y="177800"/>
                </a:lnTo>
                <a:lnTo>
                  <a:pt x="133350" y="177800"/>
                </a:lnTo>
                <a:lnTo>
                  <a:pt x="152400" y="13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228600"/>
              <a:ext cx="1143000" cy="82143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19200" y="996696"/>
            <a:ext cx="9144000" cy="614680"/>
            <a:chOff x="1219200" y="996696"/>
            <a:chExt cx="9144000" cy="614680"/>
          </a:xfrm>
        </p:grpSpPr>
        <p:sp>
          <p:nvSpPr>
            <p:cNvPr id="6" name="object 6"/>
            <p:cNvSpPr/>
            <p:nvPr/>
          </p:nvSpPr>
          <p:spPr>
            <a:xfrm>
              <a:off x="1219200" y="996696"/>
              <a:ext cx="9144000" cy="614680"/>
            </a:xfrm>
            <a:custGeom>
              <a:avLst/>
              <a:gdLst/>
              <a:ahLst/>
              <a:cxnLst/>
              <a:rect l="l" t="t" r="r" b="b"/>
              <a:pathLst>
                <a:path w="9144000" h="614680">
                  <a:moveTo>
                    <a:pt x="8836914" y="0"/>
                  </a:moveTo>
                  <a:lnTo>
                    <a:pt x="307086" y="0"/>
                  </a:lnTo>
                  <a:lnTo>
                    <a:pt x="261719" y="3330"/>
                  </a:lnTo>
                  <a:lnTo>
                    <a:pt x="218415" y="13006"/>
                  </a:lnTo>
                  <a:lnTo>
                    <a:pt x="177649" y="28550"/>
                  </a:lnTo>
                  <a:lnTo>
                    <a:pt x="139898" y="49487"/>
                  </a:lnTo>
                  <a:lnTo>
                    <a:pt x="105636" y="75341"/>
                  </a:lnTo>
                  <a:lnTo>
                    <a:pt x="75341" y="105636"/>
                  </a:lnTo>
                  <a:lnTo>
                    <a:pt x="49487" y="139898"/>
                  </a:lnTo>
                  <a:lnTo>
                    <a:pt x="28550" y="177649"/>
                  </a:lnTo>
                  <a:lnTo>
                    <a:pt x="13006" y="218415"/>
                  </a:lnTo>
                  <a:lnTo>
                    <a:pt x="3330" y="261719"/>
                  </a:lnTo>
                  <a:lnTo>
                    <a:pt x="0" y="307086"/>
                  </a:lnTo>
                  <a:lnTo>
                    <a:pt x="3330" y="352452"/>
                  </a:lnTo>
                  <a:lnTo>
                    <a:pt x="13006" y="395756"/>
                  </a:lnTo>
                  <a:lnTo>
                    <a:pt x="28550" y="436522"/>
                  </a:lnTo>
                  <a:lnTo>
                    <a:pt x="49487" y="474273"/>
                  </a:lnTo>
                  <a:lnTo>
                    <a:pt x="75341" y="508535"/>
                  </a:lnTo>
                  <a:lnTo>
                    <a:pt x="105636" y="538830"/>
                  </a:lnTo>
                  <a:lnTo>
                    <a:pt x="139898" y="564684"/>
                  </a:lnTo>
                  <a:lnTo>
                    <a:pt x="177649" y="585621"/>
                  </a:lnTo>
                  <a:lnTo>
                    <a:pt x="218415" y="601165"/>
                  </a:lnTo>
                  <a:lnTo>
                    <a:pt x="261719" y="610841"/>
                  </a:lnTo>
                  <a:lnTo>
                    <a:pt x="307086" y="614171"/>
                  </a:lnTo>
                  <a:lnTo>
                    <a:pt x="8836914" y="614171"/>
                  </a:lnTo>
                  <a:lnTo>
                    <a:pt x="8882280" y="610841"/>
                  </a:lnTo>
                  <a:lnTo>
                    <a:pt x="8925584" y="601165"/>
                  </a:lnTo>
                  <a:lnTo>
                    <a:pt x="8966350" y="585621"/>
                  </a:lnTo>
                  <a:lnTo>
                    <a:pt x="9004101" y="564684"/>
                  </a:lnTo>
                  <a:lnTo>
                    <a:pt x="9038363" y="538830"/>
                  </a:lnTo>
                  <a:lnTo>
                    <a:pt x="9068658" y="508535"/>
                  </a:lnTo>
                  <a:lnTo>
                    <a:pt x="9094512" y="474273"/>
                  </a:lnTo>
                  <a:lnTo>
                    <a:pt x="9115449" y="436522"/>
                  </a:lnTo>
                  <a:lnTo>
                    <a:pt x="9130993" y="395756"/>
                  </a:lnTo>
                  <a:lnTo>
                    <a:pt x="9140669" y="352452"/>
                  </a:lnTo>
                  <a:lnTo>
                    <a:pt x="9144000" y="307086"/>
                  </a:lnTo>
                  <a:lnTo>
                    <a:pt x="9140669" y="261719"/>
                  </a:lnTo>
                  <a:lnTo>
                    <a:pt x="9130993" y="218415"/>
                  </a:lnTo>
                  <a:lnTo>
                    <a:pt x="9115449" y="177649"/>
                  </a:lnTo>
                  <a:lnTo>
                    <a:pt x="9094512" y="139898"/>
                  </a:lnTo>
                  <a:lnTo>
                    <a:pt x="9068658" y="105636"/>
                  </a:lnTo>
                  <a:lnTo>
                    <a:pt x="9038363" y="75341"/>
                  </a:lnTo>
                  <a:lnTo>
                    <a:pt x="9004101" y="49487"/>
                  </a:lnTo>
                  <a:lnTo>
                    <a:pt x="8966350" y="28550"/>
                  </a:lnTo>
                  <a:lnTo>
                    <a:pt x="8925584" y="13006"/>
                  </a:lnTo>
                  <a:lnTo>
                    <a:pt x="8882280" y="3330"/>
                  </a:lnTo>
                  <a:lnTo>
                    <a:pt x="883691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088" y="1065276"/>
              <a:ext cx="8653271" cy="478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6943" y="1056259"/>
              <a:ext cx="8670416" cy="4953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33747" y="1064717"/>
            <a:ext cx="2917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Toán</a:t>
            </a:r>
            <a:r>
              <a:rPr spc="-85" dirty="0"/>
              <a:t> </a:t>
            </a:r>
            <a:r>
              <a:rPr dirty="0"/>
              <a:t>tử</a:t>
            </a:r>
            <a:r>
              <a:rPr spc="-80" dirty="0"/>
              <a:t> </a:t>
            </a:r>
            <a:r>
              <a:rPr dirty="0"/>
              <a:t>trong</a:t>
            </a:r>
            <a:r>
              <a:rPr spc="-85" dirty="0"/>
              <a:t> </a:t>
            </a:r>
            <a:r>
              <a:rPr spc="-25" dirty="0"/>
              <a:t>SQL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7592" y="827532"/>
              <a:ext cx="1243584" cy="1182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66469" y="1075385"/>
            <a:ext cx="2463800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Impact"/>
                <a:cs typeface="Impact"/>
              </a:rPr>
              <a:t>0</a:t>
            </a:r>
            <a:r>
              <a:rPr lang="en-US" sz="2800" spc="-25" dirty="0">
                <a:solidFill>
                  <a:srgbClr val="FFFFFF"/>
                </a:solidFill>
                <a:latin typeface="Impact"/>
                <a:cs typeface="Impact"/>
              </a:rPr>
              <a:t>3</a:t>
            </a:r>
            <a:endParaRPr sz="2800" dirty="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Ví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dụ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HAVING</a:t>
            </a:r>
            <a:r>
              <a:rPr sz="2400" spc="-4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8735" y="2286000"/>
            <a:ext cx="8037575" cy="36469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1386839"/>
            <a:ext cx="9144000" cy="637540"/>
            <a:chOff x="1219200" y="1386839"/>
            <a:chExt cx="9144000" cy="637540"/>
          </a:xfrm>
        </p:grpSpPr>
        <p:sp>
          <p:nvSpPr>
            <p:cNvPr id="3" name="object 3"/>
            <p:cNvSpPr/>
            <p:nvPr/>
          </p:nvSpPr>
          <p:spPr>
            <a:xfrm>
              <a:off x="1219200" y="1386839"/>
              <a:ext cx="9144000" cy="637540"/>
            </a:xfrm>
            <a:custGeom>
              <a:avLst/>
              <a:gdLst/>
              <a:ahLst/>
              <a:cxnLst/>
              <a:rect l="l" t="t" r="r" b="b"/>
              <a:pathLst>
                <a:path w="9144000" h="637539">
                  <a:moveTo>
                    <a:pt x="8825484" y="0"/>
                  </a:moveTo>
                  <a:lnTo>
                    <a:pt x="318516" y="0"/>
                  </a:lnTo>
                  <a:lnTo>
                    <a:pt x="271451" y="3453"/>
                  </a:lnTo>
                  <a:lnTo>
                    <a:pt x="226530" y="13486"/>
                  </a:lnTo>
                  <a:lnTo>
                    <a:pt x="184244" y="29606"/>
                  </a:lnTo>
                  <a:lnTo>
                    <a:pt x="145088" y="51319"/>
                  </a:lnTo>
                  <a:lnTo>
                    <a:pt x="109552" y="78132"/>
                  </a:lnTo>
                  <a:lnTo>
                    <a:pt x="78132" y="109552"/>
                  </a:lnTo>
                  <a:lnTo>
                    <a:pt x="51319" y="145088"/>
                  </a:lnTo>
                  <a:lnTo>
                    <a:pt x="29606" y="184244"/>
                  </a:lnTo>
                  <a:lnTo>
                    <a:pt x="13486" y="226530"/>
                  </a:lnTo>
                  <a:lnTo>
                    <a:pt x="3453" y="271451"/>
                  </a:lnTo>
                  <a:lnTo>
                    <a:pt x="0" y="318515"/>
                  </a:lnTo>
                  <a:lnTo>
                    <a:pt x="3453" y="365580"/>
                  </a:lnTo>
                  <a:lnTo>
                    <a:pt x="13486" y="410501"/>
                  </a:lnTo>
                  <a:lnTo>
                    <a:pt x="29606" y="452787"/>
                  </a:lnTo>
                  <a:lnTo>
                    <a:pt x="51319" y="491943"/>
                  </a:lnTo>
                  <a:lnTo>
                    <a:pt x="78132" y="527479"/>
                  </a:lnTo>
                  <a:lnTo>
                    <a:pt x="109552" y="558899"/>
                  </a:lnTo>
                  <a:lnTo>
                    <a:pt x="145088" y="585712"/>
                  </a:lnTo>
                  <a:lnTo>
                    <a:pt x="184244" y="607425"/>
                  </a:lnTo>
                  <a:lnTo>
                    <a:pt x="226530" y="623545"/>
                  </a:lnTo>
                  <a:lnTo>
                    <a:pt x="271451" y="633578"/>
                  </a:lnTo>
                  <a:lnTo>
                    <a:pt x="318516" y="637032"/>
                  </a:lnTo>
                  <a:lnTo>
                    <a:pt x="8825484" y="637032"/>
                  </a:lnTo>
                  <a:lnTo>
                    <a:pt x="8872548" y="633578"/>
                  </a:lnTo>
                  <a:lnTo>
                    <a:pt x="8917469" y="623545"/>
                  </a:lnTo>
                  <a:lnTo>
                    <a:pt x="8959755" y="607425"/>
                  </a:lnTo>
                  <a:lnTo>
                    <a:pt x="8998911" y="585712"/>
                  </a:lnTo>
                  <a:lnTo>
                    <a:pt x="9034447" y="558899"/>
                  </a:lnTo>
                  <a:lnTo>
                    <a:pt x="9065867" y="527479"/>
                  </a:lnTo>
                  <a:lnTo>
                    <a:pt x="9092680" y="491943"/>
                  </a:lnTo>
                  <a:lnTo>
                    <a:pt x="9114393" y="452787"/>
                  </a:lnTo>
                  <a:lnTo>
                    <a:pt x="9130513" y="410501"/>
                  </a:lnTo>
                  <a:lnTo>
                    <a:pt x="9140546" y="365580"/>
                  </a:lnTo>
                  <a:lnTo>
                    <a:pt x="9144000" y="318515"/>
                  </a:lnTo>
                  <a:lnTo>
                    <a:pt x="9140546" y="271451"/>
                  </a:lnTo>
                  <a:lnTo>
                    <a:pt x="9130513" y="226530"/>
                  </a:lnTo>
                  <a:lnTo>
                    <a:pt x="9114393" y="184244"/>
                  </a:lnTo>
                  <a:lnTo>
                    <a:pt x="9092680" y="145088"/>
                  </a:lnTo>
                  <a:lnTo>
                    <a:pt x="9065867" y="109552"/>
                  </a:lnTo>
                  <a:lnTo>
                    <a:pt x="9034447" y="78132"/>
                  </a:lnTo>
                  <a:lnTo>
                    <a:pt x="8998911" y="51319"/>
                  </a:lnTo>
                  <a:lnTo>
                    <a:pt x="8959755" y="29606"/>
                  </a:lnTo>
                  <a:lnTo>
                    <a:pt x="8917469" y="13486"/>
                  </a:lnTo>
                  <a:lnTo>
                    <a:pt x="8872548" y="3453"/>
                  </a:lnTo>
                  <a:lnTo>
                    <a:pt x="882548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088" y="1458467"/>
              <a:ext cx="8651748" cy="495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6943" y="1449831"/>
              <a:ext cx="8670036" cy="51307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64226" y="1467738"/>
            <a:ext cx="854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Q&amp;A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D9C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1541</Words>
  <Application>Microsoft Office PowerPoint</Application>
  <PresentationFormat>Widescreen</PresentationFormat>
  <Paragraphs>218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Courier New</vt:lpstr>
      <vt:lpstr>IBM 3270</vt:lpstr>
      <vt:lpstr>Impact</vt:lpstr>
      <vt:lpstr>Liberation Sans Narrow</vt:lpstr>
      <vt:lpstr>Times New Roman</vt:lpstr>
      <vt:lpstr>Wingdings</vt:lpstr>
      <vt:lpstr>Office Theme</vt:lpstr>
      <vt:lpstr>Java Backend Phùng Thế Quang</vt:lpstr>
      <vt:lpstr>PowerPoint Presentation</vt:lpstr>
      <vt:lpstr>01 Thao Tác Cơ Bản Với CSDL</vt:lpstr>
      <vt:lpstr>01  Thao Tác Cơ Bản Với CSDL</vt:lpstr>
      <vt:lpstr>01  Thao Tác Cơ Bản Với CSDL</vt:lpstr>
      <vt:lpstr>01  Thao Tác Cơ Bản Với CSDL</vt:lpstr>
      <vt:lpstr>Câu lệnh truy vấn</vt:lpstr>
      <vt:lpstr>Câu lệnh truy vấn</vt:lpstr>
      <vt:lpstr>Câu lệnh truy vấn</vt:lpstr>
      <vt:lpstr>Toán tử trong SQL</vt:lpstr>
      <vt:lpstr>Toán tử trong SQL</vt:lpstr>
      <vt:lpstr>Toán tử trong SQL</vt:lpstr>
      <vt:lpstr>Toán tử trong SQL</vt:lpstr>
      <vt:lpstr>03 Toán tử trong SQL</vt:lpstr>
      <vt:lpstr>Toán tử trong SQL</vt:lpstr>
      <vt:lpstr>Toán tử trong SQL</vt:lpstr>
      <vt:lpstr>Toán tử trong SQL</vt:lpstr>
      <vt:lpstr>03 Toán tử trong SQL</vt:lpstr>
      <vt:lpstr>Toán tử trong SQL</vt:lpstr>
      <vt:lpstr>Toán tử trong SQL</vt:lpstr>
      <vt:lpstr>03 Toán tử trong SQL</vt:lpstr>
      <vt:lpstr>03 Toán tử trong SQL</vt:lpstr>
      <vt:lpstr>Toán tử trong SQL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Admin</dc:creator>
  <cp:keywords>9Slide</cp:keywords>
  <cp:lastModifiedBy>kien nguyen</cp:lastModifiedBy>
  <cp:revision>1</cp:revision>
  <dcterms:created xsi:type="dcterms:W3CDTF">2024-12-25T16:08:49Z</dcterms:created>
  <dcterms:modified xsi:type="dcterms:W3CDTF">2026-02-22T09:26:11Z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2024-12-25T00:00:00Z</vt:filetime>
  </property>
  <property fmtid="{D5CDD505-2E9C-101B-9397-08002B2CF9AE}" pid="5" name="Producer">
    <vt:lpwstr>3-Heights(TM) PDF Security Shell 4.8.25.2 (http://www.pdf-tools.com)</vt:lpwstr>
  </property>
</Properties>
</file>