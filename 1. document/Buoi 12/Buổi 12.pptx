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9" r:id="rId12"/>
    <p:sldId id="337" r:id="rId13"/>
    <p:sldId id="340" r:id="rId14"/>
    <p:sldId id="338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08" r:id="rId25"/>
  </p:sldIdLst>
  <p:sldSz cx="12192000" cy="6858000"/>
  <p:notesSz cx="6858000" cy="9144000"/>
  <p:embeddedFontLst>
    <p:embeddedFont>
      <p:font typeface="Oi" panose="020B060402020202020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7" roundtripDataSignature="AMtx7mjyIwj4Ppf0pH3qcHcca484h6Qg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82ED56-9CE7-4252-A32E-9EB2EA12498E}">
  <a:tblStyle styleId="{7882ED56-9CE7-4252-A32E-9EB2EA12498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430" y="3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6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8841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7971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2478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5317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995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7938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5856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5703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5841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3554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35742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4222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517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7856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43145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59163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3831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56461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77147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58591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3740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8" name="Google Shape;6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/>
        </p:nvSpPr>
        <p:spPr>
          <a:xfrm>
            <a:off x="0" y="-712232"/>
            <a:ext cx="1219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D7D7D7"/>
                </a:solidFill>
                <a:latin typeface="Oi"/>
                <a:ea typeface="Oi"/>
                <a:cs typeface="Oi"/>
                <a:sym typeface="Oi"/>
              </a:rPr>
              <a:t>www.9slide.vn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i"/>
                <a:ea typeface="Oi"/>
                <a:cs typeface="Oi"/>
                <a:sym typeface="O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8"/>
          <p:cNvSpPr/>
          <p:nvPr/>
        </p:nvSpPr>
        <p:spPr>
          <a:xfrm>
            <a:off x="-23164800" y="-13030200"/>
            <a:ext cx="395021" cy="395021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34961778" y="-13030200"/>
            <a:ext cx="395021" cy="395021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34961778" y="19493180"/>
            <a:ext cx="395021" cy="395021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-23164800" y="19493180"/>
            <a:ext cx="395021" cy="395021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Oi"/>
              <a:ea typeface="Oi"/>
              <a:cs typeface="Oi"/>
              <a:sym typeface="Oi"/>
            </a:endParaRPr>
          </a:p>
        </p:txBody>
      </p:sp>
      <p:grpSp>
        <p:nvGrpSpPr>
          <p:cNvPr id="16" name="Google Shape;16;p8"/>
          <p:cNvGrpSpPr/>
          <p:nvPr/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7" name="Google Shape;17;p8"/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7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endParaRPr>
            </a:p>
          </p:txBody>
        </p:sp>
        <p:sp>
          <p:nvSpPr>
            <p:cNvPr id="18" name="Google Shape;18;p8"/>
            <p:cNvSpPr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 extrusionOk="0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endParaRPr sz="2700" b="0" i="0" u="none" strike="noStrike" cap="none">
                <a:solidFill>
                  <a:srgbClr val="BFBFBF"/>
                </a:solidFill>
                <a:latin typeface="Oi"/>
                <a:ea typeface="Oi"/>
                <a:cs typeface="Oi"/>
                <a:sym typeface="Oi"/>
              </a:endParaRPr>
            </a:p>
          </p:txBody>
        </p:sp>
        <p:sp>
          <p:nvSpPr>
            <p:cNvPr id="19" name="Google Shape;19;p8"/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3300" y="-1479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304800" y="1773588"/>
            <a:ext cx="462642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Lập</a:t>
            </a:r>
            <a:r>
              <a:rPr lang="en-US" sz="4000" b="1" i="0" u="none" strike="noStrike" cap="none" dirty="0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trình</a:t>
            </a:r>
            <a:r>
              <a:rPr lang="en-US" sz="4000" b="1" i="0" u="none" strike="noStrike" cap="none" dirty="0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 Java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1" name="Google Shape;6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1850" y="914400"/>
            <a:ext cx="7445124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-266700" y="4067031"/>
            <a:ext cx="2753046" cy="237641"/>
          </a:xfrm>
          <a:custGeom>
            <a:avLst/>
            <a:gdLst/>
            <a:ahLst/>
            <a:cxnLst/>
            <a:rect l="l" t="t" r="r" b="b"/>
            <a:pathLst>
              <a:path w="3429000" h="247014" extrusionOk="0">
                <a:moveTo>
                  <a:pt x="3429000" y="0"/>
                </a:moveTo>
                <a:lnTo>
                  <a:pt x="0" y="0"/>
                </a:lnTo>
                <a:lnTo>
                  <a:pt x="0" y="246887"/>
                </a:lnTo>
                <a:lnTo>
                  <a:pt x="3429000" y="246887"/>
                </a:lnTo>
                <a:lnTo>
                  <a:pt x="3429000" y="0"/>
                </a:lnTo>
                <a:close/>
              </a:path>
            </a:pathLst>
          </a:custGeom>
          <a:solidFill>
            <a:srgbClr val="36365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304800" y="4067031"/>
            <a:ext cx="2479401" cy="22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GV Nguyễn Đắc Kiên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051560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+mj-lt"/>
              <a:buAutoNum type="romanU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Stream API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Java</a:t>
            </a:r>
          </a:p>
          <a:p>
            <a:pPr marL="7429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+mj-lt"/>
              <a:buAutoNum type="romanU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Concurrency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Parallelism</a:t>
            </a:r>
          </a:p>
          <a:p>
            <a:pPr marL="7429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+mj-lt"/>
              <a:buAutoNum type="romanUcPeriod"/>
            </a:pPr>
            <a:r>
              <a:rPr lang="pt-BR" sz="2400" dirty="0">
                <a:latin typeface="Times New Roman"/>
                <a:ea typeface="Times New Roman"/>
                <a:cs typeface="Times New Roman"/>
                <a:sym typeface="Times New Roman"/>
              </a:rPr>
              <a:t>Java I/O (Input/Output)</a:t>
            </a: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228600">
              <a:spcBef>
                <a:spcPts val="1000"/>
              </a:spcBef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1.1.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Khái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niệm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(Concept)</a:t>
            </a: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051560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Vấn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2400" dirty="0">
                <a:latin typeface="Times New Roman"/>
                <a:ea typeface="Times New Roman"/>
                <a:cs typeface="Times New Roman"/>
                <a:sym typeface="Times New Roman"/>
              </a:rPr>
              <a:t>Hãy tưởng tượng bạn có một danh sách các nhân viên và bạn muốn: 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85850" lvl="1" indent="-400050">
              <a:spcBef>
                <a:spcPts val="1000"/>
              </a:spcBef>
            </a:pPr>
            <a:r>
              <a:rPr lang="vi-VN" dirty="0">
                <a:latin typeface="Times New Roman"/>
                <a:ea typeface="Times New Roman"/>
                <a:cs typeface="Times New Roman"/>
                <a:sym typeface="Times New Roman"/>
              </a:rPr>
              <a:t>Lọc ra những người trên 30 tuổi, 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85850" lvl="1" indent="-400050">
              <a:spcBef>
                <a:spcPts val="1000"/>
              </a:spcBef>
            </a:pPr>
            <a:r>
              <a:rPr lang="vi-VN" dirty="0">
                <a:latin typeface="Times New Roman"/>
                <a:ea typeface="Times New Roman"/>
                <a:cs typeface="Times New Roman"/>
                <a:sym typeface="Times New Roman"/>
              </a:rPr>
              <a:t>sắp xếp theo tên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85850" lvl="1" indent="-400050">
              <a:spcBef>
                <a:spcPts val="1000"/>
              </a:spcBef>
            </a:pPr>
            <a:r>
              <a:rPr lang="vi-VN" dirty="0">
                <a:latin typeface="Times New Roman"/>
                <a:ea typeface="Times New Roman"/>
                <a:cs typeface="Times New Roman"/>
                <a:sym typeface="Times New Roman"/>
              </a:rPr>
              <a:t>lấy ra địa chỉ email của họ.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2400" dirty="0">
                <a:latin typeface="Times New Roman"/>
                <a:ea typeface="Times New Roman"/>
                <a:cs typeface="Times New Roman"/>
                <a:sym typeface="Times New Roman"/>
              </a:rPr>
              <a:t>Cách truyền thống (For-each): 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2400" dirty="0">
                <a:latin typeface="Times New Roman"/>
                <a:ea typeface="Times New Roman"/>
                <a:cs typeface="Times New Roman"/>
                <a:sym typeface="Times New Roman"/>
              </a:rPr>
              <a:t>Bạn phải tự viết vòng lặp, tạo list tạm, kiểm tra điều kiện if, rồi add vào list mới... Code sẽ rất dài và dễ rối.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Với Stream API</a:t>
            </a:r>
            <a:r>
              <a:rPr lang="vi-VN" sz="24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vi-VN" sz="2400" dirty="0">
                <a:latin typeface="Times New Roman"/>
                <a:ea typeface="Times New Roman"/>
                <a:cs typeface="Times New Roman"/>
                <a:sym typeface="Times New Roman"/>
              </a:rPr>
              <a:t>hỉ cần mô tả bạn muốn gì, Java sẽ tự lo việc thực hiện nó như thế nào.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1" name="Picture 3" descr="How to Implement Stream API in JDK 1.8?">
            <a:extLst>
              <a:ext uri="{FF2B5EF4-FFF2-40B4-BE49-F238E27FC236}">
                <a16:creationId xmlns:a16="http://schemas.microsoft.com/office/drawing/2014/main" id="{5FFCC514-560B-48FD-AA3E-38064A735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67576"/>
            <a:ext cx="4984955" cy="182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44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1.2.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Đặc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điểm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051560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2400" dirty="0">
                <a:latin typeface="Times New Roman"/>
                <a:ea typeface="Times New Roman"/>
                <a:cs typeface="Times New Roman"/>
                <a:sym typeface="Times New Roman"/>
              </a:rPr>
              <a:t>Đặc điểm quan trọng: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85850" lvl="1" indent="-400050">
              <a:spcBef>
                <a:spcPts val="1000"/>
              </a:spcBef>
            </a:pPr>
            <a:r>
              <a:rPr lang="vi-VN" b="1" dirty="0">
                <a:latin typeface="Times New Roman"/>
                <a:ea typeface="Times New Roman"/>
                <a:cs typeface="Times New Roman"/>
                <a:sym typeface="Times New Roman"/>
              </a:rPr>
              <a:t>Không lưu trữ dữ liệu: </a:t>
            </a:r>
            <a:r>
              <a:rPr lang="vi-VN" dirty="0">
                <a:latin typeface="Times New Roman"/>
                <a:ea typeface="Times New Roman"/>
                <a:cs typeface="Times New Roman"/>
                <a:sym typeface="Times New Roman"/>
              </a:rPr>
              <a:t>Stream không phải là một cấu trúc dữ liệu. Nó chỉ là một "dòng chảy" dữ liệu từ nguồn (như List hay Set).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85850" lvl="1" indent="-400050">
              <a:spcBef>
                <a:spcPts val="1000"/>
              </a:spcBef>
            </a:pPr>
            <a:r>
              <a:rPr lang="vi-VN" b="1" dirty="0">
                <a:latin typeface="Times New Roman"/>
                <a:ea typeface="Times New Roman"/>
                <a:cs typeface="Times New Roman"/>
                <a:sym typeface="Times New Roman"/>
              </a:rPr>
              <a:t>Không làm thay đổi nguồn: </a:t>
            </a:r>
            <a:r>
              <a:rPr lang="vi-VN" dirty="0">
                <a:latin typeface="Times New Roman"/>
                <a:ea typeface="Times New Roman"/>
                <a:cs typeface="Times New Roman"/>
                <a:sym typeface="Times New Roman"/>
              </a:rPr>
              <a:t>Stream xử lý dữ liệu và trả về kết quả mới, danh sách gốc của bạn vẫn được giữ nguyên.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85850" lvl="1" indent="-400050">
              <a:spcBef>
                <a:spcPts val="1000"/>
              </a:spcBef>
            </a:pPr>
            <a:r>
              <a:rPr lang="vi-VN" b="1" dirty="0">
                <a:latin typeface="Times New Roman"/>
                <a:ea typeface="Times New Roman"/>
                <a:cs typeface="Times New Roman"/>
                <a:sym typeface="Times New Roman"/>
              </a:rPr>
              <a:t>Lười biếng (Lazy evaluation): </a:t>
            </a:r>
            <a:r>
              <a:rPr lang="vi-VN" dirty="0">
                <a:latin typeface="Times New Roman"/>
                <a:ea typeface="Times New Roman"/>
                <a:cs typeface="Times New Roman"/>
                <a:sym typeface="Times New Roman"/>
              </a:rPr>
              <a:t>Các thao tác lọc/sắp xếp sẽ không chạy cho đến khi bạn thực sự yêu cầu kết quả cuối cùng.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9E3BE7-6FDA-4BC9-BD4C-84743E0E25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226" y="5017579"/>
            <a:ext cx="11090787" cy="83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42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1.3 Code demo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3615813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Ví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dụ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này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minh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họa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cách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lọc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trên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30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tuổi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sắp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xếp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lấy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email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họ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bằng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cả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cách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truyền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(for-each)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sử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Stream API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thấy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ngắn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gọn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rõ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ràng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Stream.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9EC6FA-1169-4537-A9B5-D42391AAA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4305" y="1077698"/>
            <a:ext cx="6799495" cy="579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8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1.4 </a:t>
            </a:r>
            <a:r>
              <a:rPr lang="vi-V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Cơ chế Lazy (Lười) vs Eager (Háo hức)</a:t>
            </a:r>
            <a:endParaRPr lang="en-US"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051560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Đây là điểm sực mạnh nhất của Stream so với vòng lặp truyền thống.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1. Intermediate Operations (Lazy)</a:t>
            </a:r>
          </a:p>
          <a:p>
            <a:pPr marL="628650" indent="-400050"/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Định nghĩa: 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>
              <a:buFont typeface="Courier New" panose="02070309020205020404" pitchFamily="49" charset="0"/>
              <a:buChar char="o"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Các hàm như filter, map, distinct là Lazy. Chúng không xử lý dữ liệu ngay lập tức. Chúng chỉ "đánh dấu" (declare) những gì cần làm.</a:t>
            </a:r>
          </a:p>
          <a:p>
            <a:pPr marL="628650" indent="-400050">
              <a:buFont typeface="Courier New" panose="02070309020205020404" pitchFamily="49" charset="0"/>
              <a:buChar char="o"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Tại sao hữu ích?</a:t>
            </a:r>
          </a:p>
          <a:p>
            <a:pPr marL="628650" indent="-400050">
              <a:buFont typeface="Courier New" panose="02070309020205020404" pitchFamily="49" charset="0"/>
              <a:buChar char="o"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Loop Fusion (Gộp vòng lặp): Stream thông minh sẽ gộp nhiều bước filter/map vào thành 1 lần duyệt duy nhất.</a:t>
            </a:r>
          </a:p>
          <a:p>
            <a:pPr marL="628650" indent="-400050">
              <a:buFont typeface="Courier New" panose="02070309020205020404" pitchFamily="49" charset="0"/>
              <a:buChar char="o"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Short-circuiting (Ngắt mạch): Nếu bạn tìm kiếm 1 phần tử (findFirst), Stream sẽ dừng ngay khi tìm thấy, không cần duyệt hết danh sách (giống break trong loop).</a:t>
            </a:r>
          </a:p>
          <a:p>
            <a:pPr marL="628650" indent="-400050">
              <a:buFont typeface="Courier New" panose="02070309020205020404" pitchFamily="49" charset="0"/>
              <a:buChar char="o"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Infinite Streams: Có thể làm việc với luồng dữ liệu vô tận.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389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1.4 </a:t>
            </a:r>
            <a:r>
              <a:rPr lang="vi-V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Cơ chế Lazy (Lười) vs Eager (Háo hức)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2662084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Ví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dụ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minh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họa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sức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mạnh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Stream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thao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tác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lazy, loop fusion, short-circuiting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infinite stream.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4BA8F2-31EA-4C74-B6C0-64C28C686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021" y="1412397"/>
            <a:ext cx="7506928" cy="540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1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1.4 </a:t>
            </a:r>
            <a:r>
              <a:rPr lang="vi-V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Cơ chế Lazy (Lười) vs Eager (Háo hức)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199" y="1613043"/>
            <a:ext cx="2809569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2. Terminal Operation (Eager)</a:t>
            </a:r>
          </a:p>
          <a:p>
            <a:pPr marL="628650" indent="-400050"/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Định nghĩa: </a:t>
            </a: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Các hàm như collect, count, forEach là Eager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. Khi hàm này được gọi, Stream mới thực sự bắt đầu chạy ("kích hoạt" dòng chảy).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F08369-91A6-4B24-B061-CD6EA2AFC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0547" y="1693942"/>
            <a:ext cx="8681453" cy="45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77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1.5 For Loop vs Stream (Lazy)</a:t>
            </a: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199" y="1613043"/>
            <a:ext cx="3832123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So sánh for loop truyền thống và stream (lazy):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- For loop: bạn phải tự kiểm soát break, điều kiện, thao tác từng bước thủ công.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- Stream: mô tả điều kiện, thao tác, Java sẽ tự tối ưu (ví dụ: chỉ duyệt đến khi tìm thấy phần tử thỏa mãn, không cần duyệt hết).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 - Stream hỗ trợ lazy evaluation: các thao tác filter/map chỉ thực sự thực hiện khi gặp toán tử kết thúc (terminal), giúp tối ưu hiệu suất.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5DD61E-0F87-42D9-B186-B820633469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903" y="1454841"/>
            <a:ext cx="7418097" cy="538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37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II. Concurrency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Parallelism</a:t>
            </a: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508545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Concurrency 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à khả năng của một chương trình xử lý nhiều tác vụ cùng một lúc bằng cách cho phép chúng tiến triển một cách đan xen.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Bản chất: Nó thiên về giải quyết sự tắc nghẽn. Nếu CPU chỉ có 1 nhân, nó sẽ thực hiện "Context Switching" (Chuyển đổi ngữ cảnh) cực nhanh giữa các luồng. 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Tại một thời điểm cực ngắn, chỉ có một việc được làm, nhưng tổng thể ta thấy nhiều việc đang chạy cùng lúc.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Mục tiêu: 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Tối ưu hóa thời gian chờ (ví dụ: trong khi chờ dữ liệu từ File hoặc Internet, CPU có thể tranh thủ làm việc khác).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C3488F-B2A3-4B61-B33B-D31471CD5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185827"/>
            <a:ext cx="5368413" cy="366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7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1" y="955497"/>
            <a:ext cx="2504768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vi-V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Concurrency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895168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Code demo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295A6C-3DFF-44F6-871D-629CE6C86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145" y="1207213"/>
            <a:ext cx="8723410" cy="553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5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2.2 Parallelism (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Tính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song song) - "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nhiều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051560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Parallelism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 là việc thực hiện nhiều tác vụ tại cùng một thời điểm vật lý chính xác.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Bản chất: Nó thiên về tốc độ xử lý. Để có tính song song, phần cứng bắt buộc phải có nhiều đơn vị xử lý (CPU đa nhân). 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Một bài toán lớn được chia nhỏ thành các phần độc lập và ném vào các nhân CPU khác nhau để chạy cùng lúc.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Ø"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Mục tiêu: 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Hoàn thành một công việc lớn trong thời gian ngắn nhất có thể.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78887D-D39D-4088-B37F-32DDB822A5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3866" y="3699963"/>
            <a:ext cx="6170450" cy="240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44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Parallelism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0515600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Code demo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73F00C-312A-4A5C-8260-B386924A8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702" y="2292024"/>
            <a:ext cx="10888595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1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khác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biệt</a:t>
            </a:r>
            <a:endParaRPr lang="en-US"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051560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Hãy tưởng tượng bạn là một Lập trình viên: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Concurrency: 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Bạn vừa gõ code, vừa chờ tải thư viện, vừa nhâm nhi cà phê. Bạn không thể làm 3 việc này tại cùng một mili giây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hưng bạn xoay xở giữa chúng (gõ 1 dòng code -&gt; uống 1 ngụm cafe -&gt; check tiến độ tải). 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Bạn đang xử lý đồng thời 3 luồng công việc.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Parallelism: 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Bạn gọi thêm một người bạn nữa đến ngồi cạnh. 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Bạn gõ code Back-end, bạn của bạn gõ Front-end. 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Cả hai đôi tay đều gõ phím tại cùng một thời điểm. Đây là chạy song song.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338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III. </a:t>
            </a:r>
            <a:r>
              <a:rPr lang="pt-BR" sz="2800" b="1" dirty="0">
                <a:latin typeface="Times New Roman"/>
                <a:ea typeface="Times New Roman"/>
                <a:cs typeface="Times New Roman"/>
                <a:sym typeface="Times New Roman"/>
              </a:rPr>
              <a:t>Kiến trúc Java I/O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051560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pt-BR" sz="1800" dirty="0">
                <a:latin typeface="Times New Roman"/>
                <a:ea typeface="Times New Roman"/>
                <a:cs typeface="Times New Roman"/>
                <a:sym typeface="Times New Roman"/>
              </a:rPr>
              <a:t>Tổng quan hệ thống Java I/O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Byte Streams (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thô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Character Streams (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Văn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bản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Object Serialization (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trữ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đối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tượng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Java NIO.2 (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Cực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nhanh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tiện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lợi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714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3.1 </a:t>
            </a:r>
            <a:r>
              <a:rPr lang="pt-BR" sz="2800" b="1" dirty="0">
                <a:latin typeface="Times New Roman"/>
                <a:ea typeface="Times New Roman"/>
                <a:cs typeface="Times New Roman"/>
                <a:sym typeface="Times New Roman"/>
              </a:rPr>
              <a:t>Tổng quan hệ thống Java I/O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051560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Java I/O dựa trên các Abstract Class gốc. Tùy thuộc vào việc bạn xử lý dữ liệu thô (byte) hay văn bản (ký tự) mà chọn nhánh phù hợp.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Các Interface quan trọng: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Closeable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: Đảm bảo tài nguyên (file) được đóng sau khi dùng.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Flushable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: Ép dữ liệu từ bộ đệm (buffer) xuống đĩa cứng ngay lập tức.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Serializable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: Đánh dấu một Object có thể chuyển đổi thành chuỗi byte để lưu trữ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212E2-E21D-4419-82FE-8E7188ADC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141" y="3921130"/>
            <a:ext cx="4753859" cy="2145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2A865E-49C2-4947-9513-CEC06B098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394530"/>
            <a:ext cx="3811783" cy="178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3.1 </a:t>
            </a:r>
            <a:r>
              <a:rPr lang="pt-BR" sz="2800" b="1" dirty="0">
                <a:latin typeface="Times New Roman"/>
                <a:ea typeface="Times New Roman"/>
                <a:cs typeface="Times New Roman"/>
                <a:sym typeface="Times New Roman"/>
              </a:rPr>
              <a:t>Tổng quan hệ thống Java I/O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3601720" cy="111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indent="-400050"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Serializable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: Đánh dấu một Object có thể chuyển đổi thành chuỗi byte để lưu trữ</a:t>
            </a: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A4151C-2B91-4AED-9DE5-1F46794DCF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0285" y="1921668"/>
            <a:ext cx="6881741" cy="345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0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3.2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Byte Streams (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thô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427228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Dùng cho mọi loại file: .jpg, .mp3, .exe, .txt. Đơn vị xử lý là byte (8-bit).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: FileInputStream &amp; FileOutputStream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Khái niệm: 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Đọc/ghi dữ liệu trực tiếp từ/vào file dưới dạng byte.Cách dùng: Thường dùng cho các file không phải văn bản.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EA43E3-76BD-4595-BEDE-06B0155BA3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639" y="2172526"/>
            <a:ext cx="6923155" cy="342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35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3.3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Character Streams (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Văn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bản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993140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Dùng riêng cho file văn bản. Đơn vị xử lý là char (16-bit Unicode). Giúp tránh lỗi hiển thị tiếng Việt/ký tự đặc biệt.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Class: FileReader &amp; FileWriter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urier New" panose="02070309020205020404" pitchFamily="49" charset="0"/>
              <a:buChar char="o"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Khái niệm: 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>
              <a:buFont typeface="Wingdings" panose="05000000000000000000" pitchFamily="2" charset="2"/>
              <a:buChar char="§"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Đọc/ghi ký tự từ file.Hạn chế: Tốc độ chậm nếu không có bộ đệm.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Class: BufferedReader &amp; BufferedWriter (Khuyên dùng)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urier New" panose="02070309020205020404" pitchFamily="49" charset="0"/>
              <a:buChar char="o"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Khái niệm: </a:t>
            </a: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>
              <a:buFont typeface="Wingdings" panose="05000000000000000000" pitchFamily="2" charset="2"/>
              <a:buChar char="§"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Sử dụng một vùng nhớ đệm (buffer) để giảm số lần truy cập đĩa cứng.Ưu điểm: Có phương thức readLine() cực kỳ tiện lợi.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807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3.3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Character Streams (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Văn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bản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60020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Code demo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CEC7A-FD0E-4F2D-9879-A200D8CB8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1542206"/>
            <a:ext cx="9906000" cy="470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1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3.4 Object Serialization (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Lưu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trữ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đối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tượng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293116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Cho phép ghi nguyên một đối tượng (Object) xuống file và đọc ngược trở lại.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: Serializable (bắt buộc class phải implement).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: ObjectInputStream &amp; ObjectOutputStream.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8C220A-3BAF-42A3-A9A2-ACF44AE51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9360" y="1613043"/>
            <a:ext cx="8296130" cy="45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8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3.5 Java NIO.2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304292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Được giới thiệu từ Java 7, sử dụng các lớp Path và Files. Đây là cách làm việc với file "chuẩn" hiện nay.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Path: 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Đại diện cho đường dẫn (thay thế cho File).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indent="-400050"/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Files: 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Cung cấp các phương thức static để thao tác file nhanh.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0E9F2-D7F1-4B9E-9307-9DA14DCAD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120" y="1613043"/>
            <a:ext cx="7945252" cy="450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65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8200" y="955497"/>
            <a:ext cx="9055813" cy="50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3.6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luận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8200" y="1613043"/>
            <a:ext cx="10515600" cy="456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File ảnh, video, dữ liệu nhị phân: 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Dùng FileInputStream/FileOutputStream kết hợp Buffered.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File văn bản nhỏ, đơn giản: 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Dùng Files.writeString hoặc Files.readString (NIO.2).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File văn bản lớn, đọc từng dòng: 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Dùng BufferedReader.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8650" lvl="0" indent="-4000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vi-V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Lưu trạng thái ứng dụng/đối tượng: </a:t>
            </a:r>
            <a:r>
              <a:rPr lang="vi-VN" sz="1800" dirty="0">
                <a:latin typeface="Times New Roman"/>
                <a:ea typeface="Times New Roman"/>
                <a:cs typeface="Times New Roman"/>
                <a:sym typeface="Times New Roman"/>
              </a:rPr>
              <a:t>Dùng Serialization.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3973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28600"/>
            <a:ext cx="1143000" cy="82124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7"/>
          <p:cNvSpPr txBox="1">
            <a:spLocks noGrp="1"/>
          </p:cNvSpPr>
          <p:nvPr>
            <p:ph type="ftr" idx="11"/>
          </p:nvPr>
        </p:nvSpPr>
        <p:spPr>
          <a:xfrm>
            <a:off x="80772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© Copyright 2023 GV Nguyễn Đắc Kiên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7800" y="1307628"/>
            <a:ext cx="9031014" cy="4658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9Slide - 2019">
      <a:dk1>
        <a:srgbClr val="000000"/>
      </a:dk1>
      <a:lt1>
        <a:srgbClr val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CE54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</TotalTime>
  <Words>1698</Words>
  <Application>Microsoft Office PowerPoint</Application>
  <PresentationFormat>Widescreen</PresentationFormat>
  <Paragraphs>132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Oi</vt:lpstr>
      <vt:lpstr>Times New Roman</vt:lpstr>
      <vt:lpstr>Courier New</vt:lpstr>
      <vt:lpstr>Arial</vt:lpstr>
      <vt:lpstr>Wingdings</vt:lpstr>
      <vt:lpstr>Office Theme</vt:lpstr>
      <vt:lpstr>PowerPoint Presentation</vt:lpstr>
      <vt:lpstr>Nội dung</vt:lpstr>
      <vt:lpstr>1.1. Khái niệm (Concept)</vt:lpstr>
      <vt:lpstr>1.2. Đặc điểm</vt:lpstr>
      <vt:lpstr>1.3 Code demo</vt:lpstr>
      <vt:lpstr>1.4 Cơ chế Lazy (Lười) vs Eager (Háo hức)</vt:lpstr>
      <vt:lpstr>1.4 Cơ chế Lazy (Lười) vs Eager (Háo hức)</vt:lpstr>
      <vt:lpstr>1.4 Cơ chế Lazy (Lười) vs Eager (Háo hức)</vt:lpstr>
      <vt:lpstr>1.5 For Loop vs Stream (Lazy)</vt:lpstr>
      <vt:lpstr>II. Concurrency và Parallelism</vt:lpstr>
      <vt:lpstr>Concurrency</vt:lpstr>
      <vt:lpstr>2.2 Parallelism (Tính song song) - "Thực hiện nhiều việc"</vt:lpstr>
      <vt:lpstr>Parallelism</vt:lpstr>
      <vt:lpstr>3. Sự khác biệt</vt:lpstr>
      <vt:lpstr>III. Kiến trúc Java I/O</vt:lpstr>
      <vt:lpstr>3.1 Tổng quan hệ thống Java I/O</vt:lpstr>
      <vt:lpstr>3.1 Tổng quan hệ thống Java I/O</vt:lpstr>
      <vt:lpstr>3.2 Nhóm Byte Streams (Dữ liệu thô)</vt:lpstr>
      <vt:lpstr>3.3 Nhóm Character Streams (Văn bản)</vt:lpstr>
      <vt:lpstr>3.3 Nhóm Character Streams (Văn bản)</vt:lpstr>
      <vt:lpstr>3.4 Object Serialization (Lưu trữ đối tượng)</vt:lpstr>
      <vt:lpstr>3.5 Java NIO.2</vt:lpstr>
      <vt:lpstr>3.6 Kết luận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kien nguyen</cp:lastModifiedBy>
  <cp:revision>2</cp:revision>
  <dcterms:created xsi:type="dcterms:W3CDTF">2020-08-07T13:14:06Z</dcterms:created>
  <dcterms:modified xsi:type="dcterms:W3CDTF">2026-02-05T15:03:32Z</dcterms:modified>
</cp:coreProperties>
</file>