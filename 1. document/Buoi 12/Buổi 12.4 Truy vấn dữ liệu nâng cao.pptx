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gcOD7pangVzjChJ5SXv9QxX+eR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754" y="5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 name="Google Shape;49;p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 name="Google Shape;56;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3" name="Google Shape;223;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1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5" name="Google Shape;265;p1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7: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8: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19: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p20: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0" name="Google Shape;330;p21: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22: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3: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9" name="Google Shape;369;p24: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p2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Only" type="obj">
  <p:cSld name="OBJECT">
    <p:bg>
      <p:bgPr>
        <a:solidFill>
          <a:schemeClr val="lt1"/>
        </a:solidFill>
        <a:effectLst/>
      </p:bgPr>
    </p:bg>
    <p:spTree>
      <p:nvGrpSpPr>
        <p:cNvPr id="1" name="Shape 16"/>
        <p:cNvGrpSpPr/>
        <p:nvPr/>
      </p:nvGrpSpPr>
      <p:grpSpPr>
        <a:xfrm>
          <a:off x="0" y="0"/>
          <a:ext cx="0" cy="0"/>
          <a:chOff x="0" y="0"/>
          <a:chExt cx="0" cy="0"/>
        </a:xfrm>
      </p:grpSpPr>
      <p:pic>
        <p:nvPicPr>
          <p:cNvPr id="17" name="Google Shape;17;p27"/>
          <p:cNvPicPr preferRelativeResize="0"/>
          <p:nvPr/>
        </p:nvPicPr>
        <p:blipFill rotWithShape="1">
          <a:blip r:embed="rId2">
            <a:alphaModFix/>
          </a:blip>
          <a:srcRect/>
          <a:stretch/>
        </p:blipFill>
        <p:spPr>
          <a:xfrm>
            <a:off x="0" y="0"/>
            <a:ext cx="12192000" cy="6857999"/>
          </a:xfrm>
          <a:prstGeom prst="rect">
            <a:avLst/>
          </a:prstGeom>
          <a:noFill/>
          <a:ln>
            <a:noFill/>
          </a:ln>
        </p:spPr>
      </p:pic>
      <p:sp>
        <p:nvSpPr>
          <p:cNvPr id="18" name="Google Shape;18;p27"/>
          <p:cNvSpPr txBox="1">
            <a:spLocks noGrp="1"/>
          </p:cNvSpPr>
          <p:nvPr>
            <p:ph type="title"/>
          </p:nvPr>
        </p:nvSpPr>
        <p:spPr>
          <a:xfrm>
            <a:off x="3452876" y="1064717"/>
            <a:ext cx="4679950" cy="4521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2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22"/>
        <p:cNvGrpSpPr/>
        <p:nvPr/>
      </p:nvGrpSpPr>
      <p:grpSpPr>
        <a:xfrm>
          <a:off x="0" y="0"/>
          <a:ext cx="0" cy="0"/>
          <a:chOff x="0" y="0"/>
          <a:chExt cx="0" cy="0"/>
        </a:xfrm>
      </p:grpSpPr>
      <p:pic>
        <p:nvPicPr>
          <p:cNvPr id="23" name="Google Shape;23;p28"/>
          <p:cNvPicPr preferRelativeResize="0"/>
          <p:nvPr/>
        </p:nvPicPr>
        <p:blipFill rotWithShape="1">
          <a:blip r:embed="rId2">
            <a:alphaModFix/>
          </a:blip>
          <a:srcRect/>
          <a:stretch/>
        </p:blipFill>
        <p:spPr>
          <a:xfrm>
            <a:off x="0" y="0"/>
            <a:ext cx="12192000" cy="6857999"/>
          </a:xfrm>
          <a:prstGeom prst="rect">
            <a:avLst/>
          </a:prstGeom>
          <a:noFill/>
          <a:ln>
            <a:noFill/>
          </a:ln>
        </p:spPr>
      </p:pic>
      <p:pic>
        <p:nvPicPr>
          <p:cNvPr id="24" name="Google Shape;24;p28"/>
          <p:cNvPicPr preferRelativeResize="0"/>
          <p:nvPr/>
        </p:nvPicPr>
        <p:blipFill rotWithShape="1">
          <a:blip r:embed="rId3">
            <a:alphaModFix/>
          </a:blip>
          <a:srcRect/>
          <a:stretch/>
        </p:blipFill>
        <p:spPr>
          <a:xfrm>
            <a:off x="304800" y="228600"/>
            <a:ext cx="1143000" cy="821436"/>
          </a:xfrm>
          <a:prstGeom prst="rect">
            <a:avLst/>
          </a:prstGeom>
          <a:noFill/>
          <a:ln>
            <a:noFill/>
          </a:ln>
        </p:spPr>
      </p:pic>
      <p:sp>
        <p:nvSpPr>
          <p:cNvPr id="25" name="Google Shape;25;p2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29"/>
          <p:cNvSpPr txBox="1">
            <a:spLocks noGrp="1"/>
          </p:cNvSpPr>
          <p:nvPr>
            <p:ph type="title"/>
          </p:nvPr>
        </p:nvSpPr>
        <p:spPr>
          <a:xfrm>
            <a:off x="3452876" y="1064717"/>
            <a:ext cx="4679950" cy="4521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9"/>
          <p:cNvSpPr txBox="1">
            <a:spLocks noGrp="1"/>
          </p:cNvSpPr>
          <p:nvPr>
            <p:ph type="body" idx="1"/>
          </p:nvPr>
        </p:nvSpPr>
        <p:spPr>
          <a:xfrm>
            <a:off x="1466469" y="1757552"/>
            <a:ext cx="8515350" cy="375475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1" name="Google Shape;31;p2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4"/>
        <p:cNvGrpSpPr/>
        <p:nvPr/>
      </p:nvGrpSpPr>
      <p:grpSpPr>
        <a:xfrm>
          <a:off x="0" y="0"/>
          <a:ext cx="0" cy="0"/>
          <a:chOff x="0" y="0"/>
          <a:chExt cx="0" cy="0"/>
        </a:xfrm>
      </p:grpSpPr>
      <p:sp>
        <p:nvSpPr>
          <p:cNvPr id="35" name="Google Shape;35;p30"/>
          <p:cNvSpPr txBox="1">
            <a:spLocks noGrp="1"/>
          </p:cNvSpPr>
          <p:nvPr>
            <p:ph type="ctrTitle"/>
          </p:nvPr>
        </p:nvSpPr>
        <p:spPr>
          <a:xfrm>
            <a:off x="914400" y="2125980"/>
            <a:ext cx="10363200" cy="14401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30"/>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000" b="0" i="0">
                <a:solidFill>
                  <a:schemeClr val="dk1"/>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40"/>
        <p:cNvGrpSpPr/>
        <p:nvPr/>
      </p:nvGrpSpPr>
      <p:grpSpPr>
        <a:xfrm>
          <a:off x="0" y="0"/>
          <a:ext cx="0" cy="0"/>
          <a:chOff x="0" y="0"/>
          <a:chExt cx="0" cy="0"/>
        </a:xfrm>
      </p:grpSpPr>
      <p:sp>
        <p:nvSpPr>
          <p:cNvPr id="41" name="Google Shape;41;p31"/>
          <p:cNvSpPr txBox="1">
            <a:spLocks noGrp="1"/>
          </p:cNvSpPr>
          <p:nvPr>
            <p:ph type="title"/>
          </p:nvPr>
        </p:nvSpPr>
        <p:spPr>
          <a:xfrm>
            <a:off x="3452876" y="1064717"/>
            <a:ext cx="4679950" cy="45211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1" i="0">
                <a:solidFill>
                  <a:schemeClr val="lt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1"/>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31"/>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3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3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26"/>
          <p:cNvPicPr preferRelativeResize="0"/>
          <p:nvPr/>
        </p:nvPicPr>
        <p:blipFill rotWithShape="1">
          <a:blip r:embed="rId7">
            <a:alphaModFix/>
          </a:blip>
          <a:srcRect/>
          <a:stretch/>
        </p:blipFill>
        <p:spPr>
          <a:xfrm>
            <a:off x="0" y="0"/>
            <a:ext cx="12192000" cy="6857999"/>
          </a:xfrm>
          <a:prstGeom prst="rect">
            <a:avLst/>
          </a:prstGeom>
          <a:noFill/>
          <a:ln>
            <a:noFill/>
          </a:ln>
        </p:spPr>
      </p:pic>
      <p:pic>
        <p:nvPicPr>
          <p:cNvPr id="7" name="Google Shape;7;p26"/>
          <p:cNvPicPr preferRelativeResize="0"/>
          <p:nvPr/>
        </p:nvPicPr>
        <p:blipFill rotWithShape="1">
          <a:blip r:embed="rId8">
            <a:alphaModFix/>
          </a:blip>
          <a:srcRect/>
          <a:stretch/>
        </p:blipFill>
        <p:spPr>
          <a:xfrm>
            <a:off x="304800" y="228600"/>
            <a:ext cx="1143000" cy="821436"/>
          </a:xfrm>
          <a:prstGeom prst="rect">
            <a:avLst/>
          </a:prstGeom>
          <a:noFill/>
          <a:ln>
            <a:noFill/>
          </a:ln>
        </p:spPr>
      </p:pic>
      <p:sp>
        <p:nvSpPr>
          <p:cNvPr id="8" name="Google Shape;8;p26"/>
          <p:cNvSpPr/>
          <p:nvPr/>
        </p:nvSpPr>
        <p:spPr>
          <a:xfrm>
            <a:off x="1219200" y="996695"/>
            <a:ext cx="9144000" cy="614680"/>
          </a:xfrm>
          <a:custGeom>
            <a:avLst/>
            <a:gdLst/>
            <a:ahLst/>
            <a:cxnLst/>
            <a:rect l="l" t="t" r="r" b="b"/>
            <a:pathLst>
              <a:path w="9144000" h="614680" extrusionOk="0">
                <a:moveTo>
                  <a:pt x="8836914" y="0"/>
                </a:moveTo>
                <a:lnTo>
                  <a:pt x="307086" y="0"/>
                </a:lnTo>
                <a:lnTo>
                  <a:pt x="261719" y="3330"/>
                </a:lnTo>
                <a:lnTo>
                  <a:pt x="218415" y="13006"/>
                </a:lnTo>
                <a:lnTo>
                  <a:pt x="177649" y="28550"/>
                </a:lnTo>
                <a:lnTo>
                  <a:pt x="139898" y="49487"/>
                </a:lnTo>
                <a:lnTo>
                  <a:pt x="105636" y="75341"/>
                </a:lnTo>
                <a:lnTo>
                  <a:pt x="75341" y="105636"/>
                </a:lnTo>
                <a:lnTo>
                  <a:pt x="49487" y="139898"/>
                </a:lnTo>
                <a:lnTo>
                  <a:pt x="28550" y="177649"/>
                </a:lnTo>
                <a:lnTo>
                  <a:pt x="13006" y="218415"/>
                </a:lnTo>
                <a:lnTo>
                  <a:pt x="3330" y="261719"/>
                </a:lnTo>
                <a:lnTo>
                  <a:pt x="0" y="307086"/>
                </a:lnTo>
                <a:lnTo>
                  <a:pt x="3330" y="352452"/>
                </a:lnTo>
                <a:lnTo>
                  <a:pt x="13006" y="395756"/>
                </a:lnTo>
                <a:lnTo>
                  <a:pt x="28550" y="436522"/>
                </a:lnTo>
                <a:lnTo>
                  <a:pt x="49487" y="474273"/>
                </a:lnTo>
                <a:lnTo>
                  <a:pt x="75341" y="508535"/>
                </a:lnTo>
                <a:lnTo>
                  <a:pt x="105636" y="538830"/>
                </a:lnTo>
                <a:lnTo>
                  <a:pt x="139898" y="564684"/>
                </a:lnTo>
                <a:lnTo>
                  <a:pt x="177649" y="585621"/>
                </a:lnTo>
                <a:lnTo>
                  <a:pt x="218415" y="601165"/>
                </a:lnTo>
                <a:lnTo>
                  <a:pt x="261719" y="610841"/>
                </a:lnTo>
                <a:lnTo>
                  <a:pt x="307086" y="614171"/>
                </a:lnTo>
                <a:lnTo>
                  <a:pt x="8836914" y="614171"/>
                </a:lnTo>
                <a:lnTo>
                  <a:pt x="8882280" y="610841"/>
                </a:lnTo>
                <a:lnTo>
                  <a:pt x="8925584" y="601165"/>
                </a:lnTo>
                <a:lnTo>
                  <a:pt x="8966350" y="585621"/>
                </a:lnTo>
                <a:lnTo>
                  <a:pt x="9004101" y="564684"/>
                </a:lnTo>
                <a:lnTo>
                  <a:pt x="9038363" y="538830"/>
                </a:lnTo>
                <a:lnTo>
                  <a:pt x="9068658" y="508535"/>
                </a:lnTo>
                <a:lnTo>
                  <a:pt x="9094512" y="474273"/>
                </a:lnTo>
                <a:lnTo>
                  <a:pt x="9115449" y="436522"/>
                </a:lnTo>
                <a:lnTo>
                  <a:pt x="9130993" y="395756"/>
                </a:lnTo>
                <a:lnTo>
                  <a:pt x="9140669" y="352452"/>
                </a:lnTo>
                <a:lnTo>
                  <a:pt x="9144000" y="307086"/>
                </a:lnTo>
                <a:lnTo>
                  <a:pt x="9140669" y="261719"/>
                </a:lnTo>
                <a:lnTo>
                  <a:pt x="9130993" y="218415"/>
                </a:lnTo>
                <a:lnTo>
                  <a:pt x="9115449" y="177649"/>
                </a:lnTo>
                <a:lnTo>
                  <a:pt x="9094512" y="139898"/>
                </a:lnTo>
                <a:lnTo>
                  <a:pt x="9068658" y="105636"/>
                </a:lnTo>
                <a:lnTo>
                  <a:pt x="9038363" y="75341"/>
                </a:lnTo>
                <a:lnTo>
                  <a:pt x="9004101" y="49487"/>
                </a:lnTo>
                <a:lnTo>
                  <a:pt x="8966350" y="28550"/>
                </a:lnTo>
                <a:lnTo>
                  <a:pt x="8925584" y="13006"/>
                </a:lnTo>
                <a:lnTo>
                  <a:pt x="8882280" y="3330"/>
                </a:lnTo>
                <a:lnTo>
                  <a:pt x="8836914" y="0"/>
                </a:lnTo>
                <a:close/>
              </a:path>
            </a:pathLst>
          </a:custGeom>
          <a:solidFill>
            <a:srgbClr val="F3742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9" name="Google Shape;9;p26"/>
          <p:cNvPicPr preferRelativeResize="0"/>
          <p:nvPr/>
        </p:nvPicPr>
        <p:blipFill rotWithShape="1">
          <a:blip r:embed="rId9">
            <a:alphaModFix/>
          </a:blip>
          <a:srcRect/>
          <a:stretch/>
        </p:blipFill>
        <p:spPr>
          <a:xfrm>
            <a:off x="1466088" y="1065275"/>
            <a:ext cx="8653271" cy="478536"/>
          </a:xfrm>
          <a:prstGeom prst="rect">
            <a:avLst/>
          </a:prstGeom>
          <a:noFill/>
          <a:ln>
            <a:noFill/>
          </a:ln>
        </p:spPr>
      </p:pic>
      <p:pic>
        <p:nvPicPr>
          <p:cNvPr id="10" name="Google Shape;10;p26"/>
          <p:cNvPicPr preferRelativeResize="0"/>
          <p:nvPr/>
        </p:nvPicPr>
        <p:blipFill rotWithShape="1">
          <a:blip r:embed="rId10">
            <a:alphaModFix/>
          </a:blip>
          <a:srcRect/>
          <a:stretch/>
        </p:blipFill>
        <p:spPr>
          <a:xfrm>
            <a:off x="1456944" y="1056258"/>
            <a:ext cx="8670416" cy="495300"/>
          </a:xfrm>
          <a:prstGeom prst="rect">
            <a:avLst/>
          </a:prstGeom>
          <a:noFill/>
          <a:ln>
            <a:noFill/>
          </a:ln>
        </p:spPr>
      </p:pic>
      <p:sp>
        <p:nvSpPr>
          <p:cNvPr id="11" name="Google Shape;11;p26"/>
          <p:cNvSpPr txBox="1">
            <a:spLocks noGrp="1"/>
          </p:cNvSpPr>
          <p:nvPr>
            <p:ph type="title"/>
          </p:nvPr>
        </p:nvSpPr>
        <p:spPr>
          <a:xfrm>
            <a:off x="3452876" y="1064717"/>
            <a:ext cx="4679950" cy="45211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800" b="1" i="0" u="none" strike="noStrike" cap="none">
                <a:solidFill>
                  <a:schemeClr val="lt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26"/>
          <p:cNvSpPr txBox="1">
            <a:spLocks noGrp="1"/>
          </p:cNvSpPr>
          <p:nvPr>
            <p:ph type="body" idx="1"/>
          </p:nvPr>
        </p:nvSpPr>
        <p:spPr>
          <a:xfrm>
            <a:off x="1466469" y="1757552"/>
            <a:ext cx="8515350" cy="375475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26"/>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6"/>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26"/>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3.xml.rels><?xml version="1.0" encoding="UTF-8" standalone="yes"?>
<Relationships xmlns="http://schemas.openxmlformats.org/package/2006/relationships"><Relationship Id="rId8" Type="http://schemas.openxmlformats.org/officeDocument/2006/relationships/image" Target="../media/image25.jpg"/><Relationship Id="rId3" Type="http://schemas.openxmlformats.org/officeDocument/2006/relationships/image" Target="../media/image20.png"/><Relationship Id="rId7" Type="http://schemas.openxmlformats.org/officeDocument/2006/relationships/image" Target="../media/image24.jp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4.jp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5.jp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22.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22.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22.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0.png"/><Relationship Id="rId7"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43.png"/><Relationship Id="rId5" Type="http://schemas.openxmlformats.org/officeDocument/2006/relationships/image" Target="../media/image22.png"/><Relationship Id="rId4" Type="http://schemas.openxmlformats.org/officeDocument/2006/relationships/image" Target="../media/image42.png"/><Relationship Id="rId9"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
          <p:cNvSpPr txBox="1">
            <a:spLocks noGrp="1"/>
          </p:cNvSpPr>
          <p:nvPr>
            <p:ph type="title"/>
          </p:nvPr>
        </p:nvSpPr>
        <p:spPr>
          <a:xfrm>
            <a:off x="1663954" y="2655299"/>
            <a:ext cx="3952240" cy="2296141"/>
          </a:xfrm>
          <a:prstGeom prst="rect">
            <a:avLst/>
          </a:prstGeom>
          <a:noFill/>
          <a:ln>
            <a:noFill/>
          </a:ln>
        </p:spPr>
        <p:txBody>
          <a:bodyPr spcFirstLastPara="1" wrap="square" lIns="0" tIns="147950" rIns="0" bIns="0" anchor="t" anchorCtr="0">
            <a:spAutoFit/>
          </a:bodyPr>
          <a:lstStyle/>
          <a:p>
            <a:pPr marL="12700" lvl="0" indent="0" algn="l" rtl="0">
              <a:lnSpc>
                <a:spcPct val="100000"/>
              </a:lnSpc>
              <a:spcBef>
                <a:spcPts val="0"/>
              </a:spcBef>
              <a:spcAft>
                <a:spcPts val="0"/>
              </a:spcAft>
              <a:buNone/>
            </a:pPr>
            <a:r>
              <a:rPr lang="en-US" sz="6000" b="0">
                <a:solidFill>
                  <a:srgbClr val="15498D"/>
                </a:solidFill>
                <a:latin typeface="Arial"/>
                <a:ea typeface="Arial"/>
                <a:cs typeface="Arial"/>
                <a:sym typeface="Arial"/>
              </a:rPr>
              <a:t>Java</a:t>
            </a:r>
            <a:br>
              <a:rPr lang="en-US" sz="6000" b="0">
                <a:solidFill>
                  <a:srgbClr val="15498D"/>
                </a:solidFill>
                <a:latin typeface="Arial"/>
                <a:ea typeface="Arial"/>
                <a:cs typeface="Arial"/>
                <a:sym typeface="Arial"/>
              </a:rPr>
            </a:br>
            <a:r>
              <a:rPr lang="en-US" sz="6000" b="0">
                <a:solidFill>
                  <a:srgbClr val="15498D"/>
                </a:solidFill>
                <a:latin typeface="Arial"/>
                <a:ea typeface="Arial"/>
                <a:cs typeface="Arial"/>
                <a:sym typeface="Arial"/>
              </a:rPr>
              <a:t>Backend</a:t>
            </a:r>
            <a:endParaRPr sz="6000">
              <a:latin typeface="Arial"/>
              <a:ea typeface="Arial"/>
              <a:cs typeface="Arial"/>
              <a:sym typeface="Arial"/>
            </a:endParaRPr>
          </a:p>
          <a:p>
            <a:pPr marL="12700" lvl="0" indent="0" algn="l" rtl="0">
              <a:lnSpc>
                <a:spcPct val="100000"/>
              </a:lnSpc>
              <a:spcBef>
                <a:spcPts val="309"/>
              </a:spcBef>
              <a:spcAft>
                <a:spcPts val="0"/>
              </a:spcAft>
              <a:buNone/>
            </a:pPr>
            <a:r>
              <a:rPr lang="en-US" sz="1700" b="0">
                <a:solidFill>
                  <a:srgbClr val="F37421"/>
                </a:solidFill>
                <a:latin typeface="Arial"/>
                <a:ea typeface="Arial"/>
                <a:cs typeface="Arial"/>
                <a:sym typeface="Arial"/>
              </a:rPr>
              <a:t>Phùng Thế Quang</a:t>
            </a:r>
            <a:endParaRPr sz="1700">
              <a:latin typeface="Arial"/>
              <a:ea typeface="Arial"/>
              <a:cs typeface="Arial"/>
              <a:sym typeface="Arial"/>
            </a:endParaRPr>
          </a:p>
        </p:txBody>
      </p:sp>
      <p:pic>
        <p:nvPicPr>
          <p:cNvPr id="52" name="Google Shape;52;p1"/>
          <p:cNvPicPr preferRelativeResize="0"/>
          <p:nvPr/>
        </p:nvPicPr>
        <p:blipFill rotWithShape="1">
          <a:blip r:embed="rId3">
            <a:alphaModFix/>
          </a:blip>
          <a:srcRect/>
          <a:stretch/>
        </p:blipFill>
        <p:spPr>
          <a:xfrm>
            <a:off x="4724400" y="914400"/>
            <a:ext cx="7444740" cy="5029200"/>
          </a:xfrm>
          <a:prstGeom prst="rect">
            <a:avLst/>
          </a:prstGeom>
          <a:noFill/>
          <a:ln>
            <a:noFill/>
          </a:ln>
        </p:spPr>
      </p:pic>
      <p:pic>
        <p:nvPicPr>
          <p:cNvPr id="53" name="Google Shape;53;p1"/>
          <p:cNvPicPr preferRelativeResize="0"/>
          <p:nvPr/>
        </p:nvPicPr>
        <p:blipFill rotWithShape="1">
          <a:blip r:embed="rId4">
            <a:alphaModFix/>
          </a:blip>
          <a:srcRect/>
          <a:stretch/>
        </p:blipFill>
        <p:spPr>
          <a:xfrm>
            <a:off x="304800" y="228600"/>
            <a:ext cx="1143000" cy="82143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grpSp>
        <p:nvGrpSpPr>
          <p:cNvPr id="58" name="Google Shape;58;p2"/>
          <p:cNvGrpSpPr/>
          <p:nvPr/>
        </p:nvGrpSpPr>
        <p:grpSpPr>
          <a:xfrm>
            <a:off x="2028444" y="1530096"/>
            <a:ext cx="7601711" cy="3200399"/>
            <a:chOff x="2028444" y="1530096"/>
            <a:chExt cx="7601711" cy="3200399"/>
          </a:xfrm>
        </p:grpSpPr>
        <p:sp>
          <p:nvSpPr>
            <p:cNvPr id="59" name="Google Shape;59;p2"/>
            <p:cNvSpPr/>
            <p:nvPr/>
          </p:nvSpPr>
          <p:spPr>
            <a:xfrm>
              <a:off x="2033016" y="1600200"/>
              <a:ext cx="746760" cy="600710"/>
            </a:xfrm>
            <a:custGeom>
              <a:avLst/>
              <a:gdLst/>
              <a:ahLst/>
              <a:cxnLst/>
              <a:rect l="l" t="t" r="r" b="b"/>
              <a:pathLst>
                <a:path w="746760" h="600710" extrusionOk="0">
                  <a:moveTo>
                    <a:pt x="663320" y="0"/>
                  </a:moveTo>
                  <a:lnTo>
                    <a:pt x="83438" y="0"/>
                  </a:lnTo>
                  <a:lnTo>
                    <a:pt x="50952" y="6554"/>
                  </a:lnTo>
                  <a:lnTo>
                    <a:pt x="24431" y="24431"/>
                  </a:lnTo>
                  <a:lnTo>
                    <a:pt x="6554" y="50952"/>
                  </a:lnTo>
                  <a:lnTo>
                    <a:pt x="0" y="83438"/>
                  </a:lnTo>
                  <a:lnTo>
                    <a:pt x="0" y="517016"/>
                  </a:lnTo>
                  <a:lnTo>
                    <a:pt x="6554" y="549503"/>
                  </a:lnTo>
                  <a:lnTo>
                    <a:pt x="24431" y="576024"/>
                  </a:lnTo>
                  <a:lnTo>
                    <a:pt x="50952" y="593901"/>
                  </a:lnTo>
                  <a:lnTo>
                    <a:pt x="83438" y="600455"/>
                  </a:lnTo>
                  <a:lnTo>
                    <a:pt x="663320" y="600455"/>
                  </a:lnTo>
                  <a:lnTo>
                    <a:pt x="695807" y="593901"/>
                  </a:lnTo>
                  <a:lnTo>
                    <a:pt x="722328" y="576024"/>
                  </a:lnTo>
                  <a:lnTo>
                    <a:pt x="740205" y="549503"/>
                  </a:lnTo>
                  <a:lnTo>
                    <a:pt x="746759" y="517016"/>
                  </a:lnTo>
                  <a:lnTo>
                    <a:pt x="746759" y="83438"/>
                  </a:lnTo>
                  <a:lnTo>
                    <a:pt x="740205" y="50952"/>
                  </a:lnTo>
                  <a:lnTo>
                    <a:pt x="722328" y="24431"/>
                  </a:lnTo>
                  <a:lnTo>
                    <a:pt x="695807" y="6554"/>
                  </a:lnTo>
                  <a:lnTo>
                    <a:pt x="663320" y="0"/>
                  </a:lnTo>
                  <a:close/>
                </a:path>
              </a:pathLst>
            </a:custGeom>
            <a:solidFill>
              <a:srgbClr val="EC546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 name="Google Shape;60;p2"/>
            <p:cNvSpPr/>
            <p:nvPr/>
          </p:nvSpPr>
          <p:spPr>
            <a:xfrm>
              <a:off x="2077212" y="3070860"/>
              <a:ext cx="733425" cy="711835"/>
            </a:xfrm>
            <a:custGeom>
              <a:avLst/>
              <a:gdLst/>
              <a:ahLst/>
              <a:cxnLst/>
              <a:rect l="l" t="t" r="r" b="b"/>
              <a:pathLst>
                <a:path w="733425" h="711835" extrusionOk="0">
                  <a:moveTo>
                    <a:pt x="634238" y="0"/>
                  </a:moveTo>
                  <a:lnTo>
                    <a:pt x="98806" y="0"/>
                  </a:lnTo>
                  <a:lnTo>
                    <a:pt x="60328" y="7758"/>
                  </a:lnTo>
                  <a:lnTo>
                    <a:pt x="28924" y="28924"/>
                  </a:lnTo>
                  <a:lnTo>
                    <a:pt x="7758" y="60328"/>
                  </a:lnTo>
                  <a:lnTo>
                    <a:pt x="0" y="98805"/>
                  </a:lnTo>
                  <a:lnTo>
                    <a:pt x="0" y="612901"/>
                  </a:lnTo>
                  <a:lnTo>
                    <a:pt x="7758" y="651379"/>
                  </a:lnTo>
                  <a:lnTo>
                    <a:pt x="28924" y="682783"/>
                  </a:lnTo>
                  <a:lnTo>
                    <a:pt x="60328" y="703949"/>
                  </a:lnTo>
                  <a:lnTo>
                    <a:pt x="98806" y="711707"/>
                  </a:lnTo>
                  <a:lnTo>
                    <a:pt x="634238" y="711707"/>
                  </a:lnTo>
                  <a:lnTo>
                    <a:pt x="672715" y="703949"/>
                  </a:lnTo>
                  <a:lnTo>
                    <a:pt x="704119" y="682783"/>
                  </a:lnTo>
                  <a:lnTo>
                    <a:pt x="725285" y="651379"/>
                  </a:lnTo>
                  <a:lnTo>
                    <a:pt x="733044" y="612901"/>
                  </a:lnTo>
                  <a:lnTo>
                    <a:pt x="733044" y="98805"/>
                  </a:lnTo>
                  <a:lnTo>
                    <a:pt x="725285" y="60328"/>
                  </a:lnTo>
                  <a:lnTo>
                    <a:pt x="704119" y="28924"/>
                  </a:lnTo>
                  <a:lnTo>
                    <a:pt x="672715" y="7758"/>
                  </a:lnTo>
                  <a:lnTo>
                    <a:pt x="634238"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 name="Google Shape;61;p2"/>
            <p:cNvSpPr/>
            <p:nvPr/>
          </p:nvSpPr>
          <p:spPr>
            <a:xfrm>
              <a:off x="2028444" y="3064763"/>
              <a:ext cx="723900" cy="670560"/>
            </a:xfrm>
            <a:custGeom>
              <a:avLst/>
              <a:gdLst/>
              <a:ahLst/>
              <a:cxnLst/>
              <a:rect l="l" t="t" r="r" b="b"/>
              <a:pathLst>
                <a:path w="723900" h="670560" extrusionOk="0">
                  <a:moveTo>
                    <a:pt x="630808" y="0"/>
                  </a:moveTo>
                  <a:lnTo>
                    <a:pt x="93091" y="0"/>
                  </a:lnTo>
                  <a:lnTo>
                    <a:pt x="56846" y="7312"/>
                  </a:lnTo>
                  <a:lnTo>
                    <a:pt x="27257" y="27257"/>
                  </a:lnTo>
                  <a:lnTo>
                    <a:pt x="7312" y="56846"/>
                  </a:lnTo>
                  <a:lnTo>
                    <a:pt x="0" y="93090"/>
                  </a:lnTo>
                  <a:lnTo>
                    <a:pt x="0" y="577469"/>
                  </a:lnTo>
                  <a:lnTo>
                    <a:pt x="7312" y="613713"/>
                  </a:lnTo>
                  <a:lnTo>
                    <a:pt x="27257" y="643302"/>
                  </a:lnTo>
                  <a:lnTo>
                    <a:pt x="56846" y="663247"/>
                  </a:lnTo>
                  <a:lnTo>
                    <a:pt x="93091" y="670560"/>
                  </a:lnTo>
                  <a:lnTo>
                    <a:pt x="630808" y="670560"/>
                  </a:lnTo>
                  <a:lnTo>
                    <a:pt x="667053" y="663247"/>
                  </a:lnTo>
                  <a:lnTo>
                    <a:pt x="696642" y="643302"/>
                  </a:lnTo>
                  <a:lnTo>
                    <a:pt x="716587" y="613713"/>
                  </a:lnTo>
                  <a:lnTo>
                    <a:pt x="723900" y="577469"/>
                  </a:lnTo>
                  <a:lnTo>
                    <a:pt x="723900" y="93090"/>
                  </a:lnTo>
                  <a:lnTo>
                    <a:pt x="716587" y="56846"/>
                  </a:lnTo>
                  <a:lnTo>
                    <a:pt x="696642" y="27257"/>
                  </a:lnTo>
                  <a:lnTo>
                    <a:pt x="667053" y="7312"/>
                  </a:lnTo>
                  <a:lnTo>
                    <a:pt x="630808" y="0"/>
                  </a:lnTo>
                  <a:close/>
                </a:path>
              </a:pathLst>
            </a:custGeom>
            <a:solidFill>
              <a:srgbClr val="EC546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2" name="Google Shape;62;p2"/>
            <p:cNvPicPr preferRelativeResize="0"/>
            <p:nvPr/>
          </p:nvPicPr>
          <p:blipFill rotWithShape="1">
            <a:blip r:embed="rId3">
              <a:alphaModFix/>
            </a:blip>
            <a:srcRect/>
            <a:stretch/>
          </p:blipFill>
          <p:spPr>
            <a:xfrm>
              <a:off x="3051047" y="1549908"/>
              <a:ext cx="6579108" cy="758951"/>
            </a:xfrm>
            <a:prstGeom prst="rect">
              <a:avLst/>
            </a:prstGeom>
            <a:noFill/>
            <a:ln>
              <a:noFill/>
            </a:ln>
          </p:spPr>
        </p:pic>
        <p:pic>
          <p:nvPicPr>
            <p:cNvPr id="63" name="Google Shape;63;p2"/>
            <p:cNvPicPr preferRelativeResize="0"/>
            <p:nvPr/>
          </p:nvPicPr>
          <p:blipFill rotWithShape="1">
            <a:blip r:embed="rId4">
              <a:alphaModFix/>
            </a:blip>
            <a:srcRect/>
            <a:stretch/>
          </p:blipFill>
          <p:spPr>
            <a:xfrm>
              <a:off x="2944368" y="1530096"/>
              <a:ext cx="4003548" cy="902208"/>
            </a:xfrm>
            <a:prstGeom prst="rect">
              <a:avLst/>
            </a:prstGeom>
            <a:noFill/>
            <a:ln>
              <a:noFill/>
            </a:ln>
          </p:spPr>
        </p:pic>
        <p:pic>
          <p:nvPicPr>
            <p:cNvPr id="64" name="Google Shape;64;p2"/>
            <p:cNvPicPr preferRelativeResize="0"/>
            <p:nvPr/>
          </p:nvPicPr>
          <p:blipFill rotWithShape="1">
            <a:blip r:embed="rId5">
              <a:alphaModFix/>
            </a:blip>
            <a:srcRect/>
            <a:stretch/>
          </p:blipFill>
          <p:spPr>
            <a:xfrm>
              <a:off x="3101340" y="1600200"/>
              <a:ext cx="6423660" cy="603503"/>
            </a:xfrm>
            <a:prstGeom prst="rect">
              <a:avLst/>
            </a:prstGeom>
            <a:noFill/>
            <a:ln>
              <a:noFill/>
            </a:ln>
          </p:spPr>
        </p:pic>
        <p:pic>
          <p:nvPicPr>
            <p:cNvPr id="65" name="Google Shape;65;p2"/>
            <p:cNvPicPr preferRelativeResize="0"/>
            <p:nvPr/>
          </p:nvPicPr>
          <p:blipFill rotWithShape="1">
            <a:blip r:embed="rId6">
              <a:alphaModFix/>
            </a:blip>
            <a:srcRect/>
            <a:stretch/>
          </p:blipFill>
          <p:spPr>
            <a:xfrm>
              <a:off x="3052572" y="3029712"/>
              <a:ext cx="6577583" cy="798576"/>
            </a:xfrm>
            <a:prstGeom prst="rect">
              <a:avLst/>
            </a:prstGeom>
            <a:noFill/>
            <a:ln>
              <a:noFill/>
            </a:ln>
          </p:spPr>
        </p:pic>
        <p:pic>
          <p:nvPicPr>
            <p:cNvPr id="66" name="Google Shape;66;p2"/>
            <p:cNvPicPr preferRelativeResize="0"/>
            <p:nvPr/>
          </p:nvPicPr>
          <p:blipFill rotWithShape="1">
            <a:blip r:embed="rId7">
              <a:alphaModFix/>
            </a:blip>
            <a:srcRect/>
            <a:stretch/>
          </p:blipFill>
          <p:spPr>
            <a:xfrm>
              <a:off x="2947416" y="3029712"/>
              <a:ext cx="5978652" cy="902207"/>
            </a:xfrm>
            <a:prstGeom prst="rect">
              <a:avLst/>
            </a:prstGeom>
            <a:noFill/>
            <a:ln>
              <a:noFill/>
            </a:ln>
          </p:spPr>
        </p:pic>
        <p:pic>
          <p:nvPicPr>
            <p:cNvPr id="67" name="Google Shape;67;p2"/>
            <p:cNvPicPr preferRelativeResize="0"/>
            <p:nvPr/>
          </p:nvPicPr>
          <p:blipFill rotWithShape="1">
            <a:blip r:embed="rId8">
              <a:alphaModFix/>
            </a:blip>
            <a:srcRect/>
            <a:stretch/>
          </p:blipFill>
          <p:spPr>
            <a:xfrm>
              <a:off x="3102863" y="3080004"/>
              <a:ext cx="6422136" cy="643128"/>
            </a:xfrm>
            <a:prstGeom prst="rect">
              <a:avLst/>
            </a:prstGeom>
            <a:noFill/>
            <a:ln>
              <a:noFill/>
            </a:ln>
          </p:spPr>
        </p:pic>
        <p:sp>
          <p:nvSpPr>
            <p:cNvPr id="68" name="Google Shape;68;p2"/>
            <p:cNvSpPr/>
            <p:nvPr/>
          </p:nvSpPr>
          <p:spPr>
            <a:xfrm>
              <a:off x="2816352" y="1600200"/>
              <a:ext cx="277495" cy="2984500"/>
            </a:xfrm>
            <a:custGeom>
              <a:avLst/>
              <a:gdLst/>
              <a:ahLst/>
              <a:cxnLst/>
              <a:rect l="l" t="t" r="r" b="b"/>
              <a:pathLst>
                <a:path w="277494" h="2984500" extrusionOk="0">
                  <a:moveTo>
                    <a:pt x="277368" y="0"/>
                  </a:moveTo>
                  <a:lnTo>
                    <a:pt x="0" y="0"/>
                  </a:lnTo>
                  <a:lnTo>
                    <a:pt x="0" y="2983992"/>
                  </a:lnTo>
                  <a:lnTo>
                    <a:pt x="277368" y="2983992"/>
                  </a:lnTo>
                  <a:lnTo>
                    <a:pt x="277368" y="0"/>
                  </a:lnTo>
                  <a:close/>
                </a:path>
              </a:pathLst>
            </a:custGeom>
            <a:solidFill>
              <a:srgbClr val="F1F1F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9" name="Google Shape;69;p2"/>
            <p:cNvPicPr preferRelativeResize="0"/>
            <p:nvPr/>
          </p:nvPicPr>
          <p:blipFill rotWithShape="1">
            <a:blip r:embed="rId9">
              <a:alphaModFix/>
            </a:blip>
            <a:srcRect/>
            <a:stretch/>
          </p:blipFill>
          <p:spPr>
            <a:xfrm>
              <a:off x="2689860" y="1600200"/>
              <a:ext cx="124968" cy="3012948"/>
            </a:xfrm>
            <a:prstGeom prst="rect">
              <a:avLst/>
            </a:prstGeom>
            <a:noFill/>
            <a:ln>
              <a:noFill/>
            </a:ln>
          </p:spPr>
        </p:pic>
        <p:sp>
          <p:nvSpPr>
            <p:cNvPr id="70" name="Google Shape;70;p2"/>
            <p:cNvSpPr/>
            <p:nvPr/>
          </p:nvSpPr>
          <p:spPr>
            <a:xfrm>
              <a:off x="2036064" y="2292096"/>
              <a:ext cx="723900" cy="640080"/>
            </a:xfrm>
            <a:custGeom>
              <a:avLst/>
              <a:gdLst/>
              <a:ahLst/>
              <a:cxnLst/>
              <a:rect l="l" t="t" r="r" b="b"/>
              <a:pathLst>
                <a:path w="723900" h="640080" extrusionOk="0">
                  <a:moveTo>
                    <a:pt x="635000" y="0"/>
                  </a:moveTo>
                  <a:lnTo>
                    <a:pt x="88900" y="0"/>
                  </a:lnTo>
                  <a:lnTo>
                    <a:pt x="54274" y="6979"/>
                  </a:lnTo>
                  <a:lnTo>
                    <a:pt x="26019" y="26019"/>
                  </a:lnTo>
                  <a:lnTo>
                    <a:pt x="6979" y="54274"/>
                  </a:lnTo>
                  <a:lnTo>
                    <a:pt x="0" y="88900"/>
                  </a:lnTo>
                  <a:lnTo>
                    <a:pt x="0" y="551179"/>
                  </a:lnTo>
                  <a:lnTo>
                    <a:pt x="6979" y="585805"/>
                  </a:lnTo>
                  <a:lnTo>
                    <a:pt x="26019" y="614060"/>
                  </a:lnTo>
                  <a:lnTo>
                    <a:pt x="54274" y="633100"/>
                  </a:lnTo>
                  <a:lnTo>
                    <a:pt x="88900" y="640079"/>
                  </a:lnTo>
                  <a:lnTo>
                    <a:pt x="635000" y="640079"/>
                  </a:lnTo>
                  <a:lnTo>
                    <a:pt x="669625" y="633100"/>
                  </a:lnTo>
                  <a:lnTo>
                    <a:pt x="697880" y="614060"/>
                  </a:lnTo>
                  <a:lnTo>
                    <a:pt x="716920" y="585805"/>
                  </a:lnTo>
                  <a:lnTo>
                    <a:pt x="723900" y="551179"/>
                  </a:lnTo>
                  <a:lnTo>
                    <a:pt x="723900" y="88900"/>
                  </a:lnTo>
                  <a:lnTo>
                    <a:pt x="716920" y="54274"/>
                  </a:lnTo>
                  <a:lnTo>
                    <a:pt x="697880" y="26019"/>
                  </a:lnTo>
                  <a:lnTo>
                    <a:pt x="669625" y="6979"/>
                  </a:lnTo>
                  <a:lnTo>
                    <a:pt x="635000" y="0"/>
                  </a:lnTo>
                  <a:close/>
                </a:path>
              </a:pathLst>
            </a:custGeom>
            <a:solidFill>
              <a:srgbClr val="EC546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1" name="Google Shape;71;p2"/>
            <p:cNvPicPr preferRelativeResize="0"/>
            <p:nvPr/>
          </p:nvPicPr>
          <p:blipFill rotWithShape="1">
            <a:blip r:embed="rId10">
              <a:alphaModFix/>
            </a:blip>
            <a:srcRect/>
            <a:stretch/>
          </p:blipFill>
          <p:spPr>
            <a:xfrm>
              <a:off x="3558540" y="2808732"/>
              <a:ext cx="5379720" cy="134112"/>
            </a:xfrm>
            <a:prstGeom prst="rect">
              <a:avLst/>
            </a:prstGeom>
            <a:noFill/>
            <a:ln>
              <a:noFill/>
            </a:ln>
          </p:spPr>
        </p:pic>
        <p:pic>
          <p:nvPicPr>
            <p:cNvPr id="72" name="Google Shape;72;p2"/>
            <p:cNvPicPr preferRelativeResize="0"/>
            <p:nvPr/>
          </p:nvPicPr>
          <p:blipFill rotWithShape="1">
            <a:blip r:embed="rId11">
              <a:alphaModFix/>
            </a:blip>
            <a:srcRect/>
            <a:stretch/>
          </p:blipFill>
          <p:spPr>
            <a:xfrm>
              <a:off x="3038855" y="2241804"/>
              <a:ext cx="6591300" cy="795527"/>
            </a:xfrm>
            <a:prstGeom prst="rect">
              <a:avLst/>
            </a:prstGeom>
            <a:noFill/>
            <a:ln>
              <a:noFill/>
            </a:ln>
          </p:spPr>
        </p:pic>
        <p:pic>
          <p:nvPicPr>
            <p:cNvPr id="73" name="Google Shape;73;p2"/>
            <p:cNvPicPr preferRelativeResize="0"/>
            <p:nvPr/>
          </p:nvPicPr>
          <p:blipFill rotWithShape="1">
            <a:blip r:embed="rId12">
              <a:alphaModFix/>
            </a:blip>
            <a:srcRect/>
            <a:stretch/>
          </p:blipFill>
          <p:spPr>
            <a:xfrm>
              <a:off x="2933700" y="2240280"/>
              <a:ext cx="3855720" cy="902208"/>
            </a:xfrm>
            <a:prstGeom prst="rect">
              <a:avLst/>
            </a:prstGeom>
            <a:noFill/>
            <a:ln>
              <a:noFill/>
            </a:ln>
          </p:spPr>
        </p:pic>
        <p:pic>
          <p:nvPicPr>
            <p:cNvPr id="74" name="Google Shape;74;p2"/>
            <p:cNvPicPr preferRelativeResize="0"/>
            <p:nvPr/>
          </p:nvPicPr>
          <p:blipFill rotWithShape="1">
            <a:blip r:embed="rId13">
              <a:alphaModFix/>
            </a:blip>
            <a:srcRect/>
            <a:stretch/>
          </p:blipFill>
          <p:spPr>
            <a:xfrm>
              <a:off x="3089147" y="2292096"/>
              <a:ext cx="6435852" cy="640079"/>
            </a:xfrm>
            <a:prstGeom prst="rect">
              <a:avLst/>
            </a:prstGeom>
            <a:noFill/>
            <a:ln>
              <a:noFill/>
            </a:ln>
          </p:spPr>
        </p:pic>
        <p:sp>
          <p:nvSpPr>
            <p:cNvPr id="75" name="Google Shape;75;p2"/>
            <p:cNvSpPr/>
            <p:nvPr/>
          </p:nvSpPr>
          <p:spPr>
            <a:xfrm>
              <a:off x="2028444" y="3877056"/>
              <a:ext cx="715010" cy="673735"/>
            </a:xfrm>
            <a:custGeom>
              <a:avLst/>
              <a:gdLst/>
              <a:ahLst/>
              <a:cxnLst/>
              <a:rect l="l" t="t" r="r" b="b"/>
              <a:pathLst>
                <a:path w="715010" h="673735" extrusionOk="0">
                  <a:moveTo>
                    <a:pt x="621157" y="0"/>
                  </a:moveTo>
                  <a:lnTo>
                    <a:pt x="93599" y="0"/>
                  </a:lnTo>
                  <a:lnTo>
                    <a:pt x="57167" y="7356"/>
                  </a:lnTo>
                  <a:lnTo>
                    <a:pt x="27416" y="27416"/>
                  </a:lnTo>
                  <a:lnTo>
                    <a:pt x="7356" y="57167"/>
                  </a:lnTo>
                  <a:lnTo>
                    <a:pt x="0" y="93599"/>
                  </a:lnTo>
                  <a:lnTo>
                    <a:pt x="0" y="580009"/>
                  </a:lnTo>
                  <a:lnTo>
                    <a:pt x="7356" y="616440"/>
                  </a:lnTo>
                  <a:lnTo>
                    <a:pt x="27416" y="646191"/>
                  </a:lnTo>
                  <a:lnTo>
                    <a:pt x="57167" y="666251"/>
                  </a:lnTo>
                  <a:lnTo>
                    <a:pt x="93599" y="673608"/>
                  </a:lnTo>
                  <a:lnTo>
                    <a:pt x="621157" y="673608"/>
                  </a:lnTo>
                  <a:lnTo>
                    <a:pt x="657588" y="666251"/>
                  </a:lnTo>
                  <a:lnTo>
                    <a:pt x="687339" y="646191"/>
                  </a:lnTo>
                  <a:lnTo>
                    <a:pt x="707399" y="616440"/>
                  </a:lnTo>
                  <a:lnTo>
                    <a:pt x="714756" y="580009"/>
                  </a:lnTo>
                  <a:lnTo>
                    <a:pt x="714756" y="93599"/>
                  </a:lnTo>
                  <a:lnTo>
                    <a:pt x="707399" y="57167"/>
                  </a:lnTo>
                  <a:lnTo>
                    <a:pt x="687339" y="27416"/>
                  </a:lnTo>
                  <a:lnTo>
                    <a:pt x="657588" y="7356"/>
                  </a:lnTo>
                  <a:lnTo>
                    <a:pt x="62115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76" name="Google Shape;76;p2"/>
            <p:cNvSpPr/>
            <p:nvPr/>
          </p:nvSpPr>
          <p:spPr>
            <a:xfrm>
              <a:off x="2045208" y="3884675"/>
              <a:ext cx="707390" cy="632460"/>
            </a:xfrm>
            <a:custGeom>
              <a:avLst/>
              <a:gdLst/>
              <a:ahLst/>
              <a:cxnLst/>
              <a:rect l="l" t="t" r="r" b="b"/>
              <a:pathLst>
                <a:path w="707389" h="632460" extrusionOk="0">
                  <a:moveTo>
                    <a:pt x="619252" y="0"/>
                  </a:moveTo>
                  <a:lnTo>
                    <a:pt x="87884" y="0"/>
                  </a:lnTo>
                  <a:lnTo>
                    <a:pt x="53685" y="6909"/>
                  </a:lnTo>
                  <a:lnTo>
                    <a:pt x="25749" y="25749"/>
                  </a:lnTo>
                  <a:lnTo>
                    <a:pt x="6909" y="53685"/>
                  </a:lnTo>
                  <a:lnTo>
                    <a:pt x="0" y="87884"/>
                  </a:lnTo>
                  <a:lnTo>
                    <a:pt x="0" y="544576"/>
                  </a:lnTo>
                  <a:lnTo>
                    <a:pt x="6909" y="578774"/>
                  </a:lnTo>
                  <a:lnTo>
                    <a:pt x="25749" y="606710"/>
                  </a:lnTo>
                  <a:lnTo>
                    <a:pt x="53685" y="625550"/>
                  </a:lnTo>
                  <a:lnTo>
                    <a:pt x="87884" y="632460"/>
                  </a:lnTo>
                  <a:lnTo>
                    <a:pt x="619252" y="632460"/>
                  </a:lnTo>
                  <a:lnTo>
                    <a:pt x="653450" y="625550"/>
                  </a:lnTo>
                  <a:lnTo>
                    <a:pt x="681386" y="606710"/>
                  </a:lnTo>
                  <a:lnTo>
                    <a:pt x="700226" y="578774"/>
                  </a:lnTo>
                  <a:lnTo>
                    <a:pt x="707136" y="544576"/>
                  </a:lnTo>
                  <a:lnTo>
                    <a:pt x="707136" y="87884"/>
                  </a:lnTo>
                  <a:lnTo>
                    <a:pt x="700226" y="53685"/>
                  </a:lnTo>
                  <a:lnTo>
                    <a:pt x="681386" y="25749"/>
                  </a:lnTo>
                  <a:lnTo>
                    <a:pt x="653450" y="6909"/>
                  </a:lnTo>
                  <a:lnTo>
                    <a:pt x="619252" y="0"/>
                  </a:lnTo>
                  <a:close/>
                </a:path>
              </a:pathLst>
            </a:custGeom>
            <a:solidFill>
              <a:srgbClr val="EC546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7" name="Google Shape;77;p2"/>
            <p:cNvPicPr preferRelativeResize="0"/>
            <p:nvPr/>
          </p:nvPicPr>
          <p:blipFill rotWithShape="1">
            <a:blip r:embed="rId10">
              <a:alphaModFix/>
            </a:blip>
            <a:srcRect/>
            <a:stretch/>
          </p:blipFill>
          <p:spPr>
            <a:xfrm>
              <a:off x="3637788" y="4459224"/>
              <a:ext cx="5335523" cy="118871"/>
            </a:xfrm>
            <a:prstGeom prst="rect">
              <a:avLst/>
            </a:prstGeom>
            <a:noFill/>
            <a:ln>
              <a:noFill/>
            </a:ln>
          </p:spPr>
        </p:pic>
        <p:pic>
          <p:nvPicPr>
            <p:cNvPr id="78" name="Google Shape;78;p2"/>
            <p:cNvPicPr preferRelativeResize="0"/>
            <p:nvPr/>
          </p:nvPicPr>
          <p:blipFill rotWithShape="1">
            <a:blip r:embed="rId14">
              <a:alphaModFix/>
            </a:blip>
            <a:srcRect/>
            <a:stretch/>
          </p:blipFill>
          <p:spPr>
            <a:xfrm>
              <a:off x="3052572" y="3834384"/>
              <a:ext cx="6577583" cy="787907"/>
            </a:xfrm>
            <a:prstGeom prst="rect">
              <a:avLst/>
            </a:prstGeom>
            <a:noFill/>
            <a:ln>
              <a:noFill/>
            </a:ln>
          </p:spPr>
        </p:pic>
        <p:pic>
          <p:nvPicPr>
            <p:cNvPr id="79" name="Google Shape;79;p2"/>
            <p:cNvPicPr preferRelativeResize="0"/>
            <p:nvPr/>
          </p:nvPicPr>
          <p:blipFill rotWithShape="1">
            <a:blip r:embed="rId15">
              <a:alphaModFix/>
            </a:blip>
            <a:srcRect/>
            <a:stretch/>
          </p:blipFill>
          <p:spPr>
            <a:xfrm>
              <a:off x="2947416" y="3828288"/>
              <a:ext cx="4005072" cy="902207"/>
            </a:xfrm>
            <a:prstGeom prst="rect">
              <a:avLst/>
            </a:prstGeom>
            <a:noFill/>
            <a:ln>
              <a:noFill/>
            </a:ln>
          </p:spPr>
        </p:pic>
        <p:pic>
          <p:nvPicPr>
            <p:cNvPr id="80" name="Google Shape;80;p2"/>
            <p:cNvPicPr preferRelativeResize="0"/>
            <p:nvPr/>
          </p:nvPicPr>
          <p:blipFill rotWithShape="1">
            <a:blip r:embed="rId16">
              <a:alphaModFix/>
            </a:blip>
            <a:srcRect/>
            <a:stretch/>
          </p:blipFill>
          <p:spPr>
            <a:xfrm>
              <a:off x="3102863" y="3884675"/>
              <a:ext cx="6422136" cy="632460"/>
            </a:xfrm>
            <a:prstGeom prst="rect">
              <a:avLst/>
            </a:prstGeom>
            <a:noFill/>
            <a:ln>
              <a:noFill/>
            </a:ln>
          </p:spPr>
        </p:pic>
      </p:grpSp>
      <p:sp>
        <p:nvSpPr>
          <p:cNvPr id="81" name="Google Shape;81;p2"/>
          <p:cNvSpPr txBox="1"/>
          <p:nvPr/>
        </p:nvSpPr>
        <p:spPr>
          <a:xfrm>
            <a:off x="2188210" y="1673479"/>
            <a:ext cx="7533384" cy="2752725"/>
          </a:xfrm>
          <a:prstGeom prst="rect">
            <a:avLst/>
          </a:prstGeom>
          <a:noFill/>
          <a:ln>
            <a:noFill/>
          </a:ln>
        </p:spPr>
        <p:txBody>
          <a:bodyPr spcFirstLastPara="1" wrap="square" lIns="0" tIns="12050" rIns="0" bIns="0" anchor="t" anchorCtr="0">
            <a:spAutoFit/>
          </a:bodyPr>
          <a:lstStyle/>
          <a:p>
            <a:pPr marL="1020444" lvl="0" indent="-965200" algn="l" rtl="0">
              <a:lnSpc>
                <a:spcPct val="100000"/>
              </a:lnSpc>
              <a:spcBef>
                <a:spcPts val="0"/>
              </a:spcBef>
              <a:spcAft>
                <a:spcPts val="0"/>
              </a:spcAft>
              <a:buClr>
                <a:srgbClr val="FFFFFF"/>
              </a:buClr>
              <a:buSzPts val="2800"/>
              <a:buFont typeface="Impact"/>
              <a:buAutoNum type="arabicPeriod"/>
            </a:pPr>
            <a:r>
              <a:rPr lang="en-US" sz="2800" b="1" dirty="0" err="1">
                <a:solidFill>
                  <a:srgbClr val="E86F70"/>
                </a:solidFill>
                <a:latin typeface="Times New Roman"/>
                <a:ea typeface="Times New Roman"/>
                <a:cs typeface="Times New Roman"/>
                <a:sym typeface="Times New Roman"/>
              </a:rPr>
              <a:t>Phép</a:t>
            </a:r>
            <a:r>
              <a:rPr lang="en-US" sz="2800" b="1" dirty="0">
                <a:solidFill>
                  <a:srgbClr val="E86F70"/>
                </a:solidFill>
                <a:latin typeface="Times New Roman"/>
                <a:ea typeface="Times New Roman"/>
                <a:cs typeface="Times New Roman"/>
                <a:sym typeface="Times New Roman"/>
              </a:rPr>
              <a:t> JOIN </a:t>
            </a:r>
            <a:r>
              <a:rPr lang="en-US" sz="2800" b="1" dirty="0" err="1">
                <a:solidFill>
                  <a:srgbClr val="E86F70"/>
                </a:solidFill>
                <a:latin typeface="Times New Roman"/>
                <a:ea typeface="Times New Roman"/>
                <a:cs typeface="Times New Roman"/>
                <a:sym typeface="Times New Roman"/>
              </a:rPr>
              <a:t>trong</a:t>
            </a:r>
            <a:r>
              <a:rPr lang="en-US" sz="2800" b="1" dirty="0">
                <a:solidFill>
                  <a:srgbClr val="E86F70"/>
                </a:solidFill>
                <a:latin typeface="Times New Roman"/>
                <a:ea typeface="Times New Roman"/>
                <a:cs typeface="Times New Roman"/>
                <a:sym typeface="Times New Roman"/>
              </a:rPr>
              <a:t> SQL</a:t>
            </a:r>
            <a:endParaRPr sz="2800" dirty="0">
              <a:latin typeface="Times New Roman"/>
              <a:ea typeface="Times New Roman"/>
              <a:cs typeface="Times New Roman"/>
              <a:sym typeface="Times New Roman"/>
            </a:endParaRPr>
          </a:p>
          <a:p>
            <a:pPr marL="1009650" lvl="0" indent="-984250" algn="l" rtl="0">
              <a:lnSpc>
                <a:spcPct val="100000"/>
              </a:lnSpc>
              <a:spcBef>
                <a:spcPts val="2245"/>
              </a:spcBef>
              <a:spcAft>
                <a:spcPts val="0"/>
              </a:spcAft>
              <a:buClr>
                <a:srgbClr val="FFFFFF"/>
              </a:buClr>
              <a:buSzPts val="4200"/>
              <a:buFont typeface="Impact"/>
              <a:buAutoNum type="arabicPeriod"/>
            </a:pPr>
            <a:r>
              <a:rPr lang="en-US" sz="4200" b="1" baseline="30000" dirty="0" err="1">
                <a:solidFill>
                  <a:srgbClr val="E86F70"/>
                </a:solidFill>
                <a:latin typeface="Times New Roman"/>
                <a:ea typeface="Times New Roman"/>
                <a:cs typeface="Times New Roman"/>
                <a:sym typeface="Times New Roman"/>
              </a:rPr>
              <a:t>SubQuery</a:t>
            </a:r>
            <a:r>
              <a:rPr lang="en-US" sz="4200" b="1" baseline="30000" dirty="0">
                <a:solidFill>
                  <a:srgbClr val="E86F70"/>
                </a:solidFill>
                <a:latin typeface="Times New Roman"/>
                <a:ea typeface="Times New Roman"/>
                <a:cs typeface="Times New Roman"/>
                <a:sym typeface="Times New Roman"/>
              </a:rPr>
              <a:t> </a:t>
            </a:r>
            <a:r>
              <a:rPr lang="en-US" sz="4200" b="1" baseline="30000" dirty="0" err="1">
                <a:solidFill>
                  <a:srgbClr val="E86F70"/>
                </a:solidFill>
                <a:latin typeface="Times New Roman"/>
                <a:ea typeface="Times New Roman"/>
                <a:cs typeface="Times New Roman"/>
                <a:sym typeface="Times New Roman"/>
              </a:rPr>
              <a:t>trong</a:t>
            </a:r>
            <a:r>
              <a:rPr lang="en-US" sz="4200" b="1" baseline="30000" dirty="0">
                <a:solidFill>
                  <a:srgbClr val="E86F70"/>
                </a:solidFill>
                <a:latin typeface="Times New Roman"/>
                <a:ea typeface="Times New Roman"/>
                <a:cs typeface="Times New Roman"/>
                <a:sym typeface="Times New Roman"/>
              </a:rPr>
              <a:t> SQL</a:t>
            </a:r>
            <a:endParaRPr sz="4200" baseline="30000" dirty="0">
              <a:latin typeface="Times New Roman"/>
              <a:ea typeface="Times New Roman"/>
              <a:cs typeface="Times New Roman"/>
              <a:sym typeface="Times New Roman"/>
            </a:endParaRPr>
          </a:p>
          <a:p>
            <a:pPr marL="1022985" lvl="0" indent="-1010285" algn="l" rtl="0">
              <a:lnSpc>
                <a:spcPct val="100000"/>
              </a:lnSpc>
              <a:spcBef>
                <a:spcPts val="2840"/>
              </a:spcBef>
              <a:spcAft>
                <a:spcPts val="0"/>
              </a:spcAft>
              <a:buClr>
                <a:srgbClr val="FFFFFF"/>
              </a:buClr>
              <a:buSzPts val="2800"/>
              <a:buFont typeface="Impact"/>
              <a:buAutoNum type="arabicPeriod"/>
            </a:pPr>
            <a:r>
              <a:rPr lang="en-US" sz="2800" b="1" dirty="0">
                <a:solidFill>
                  <a:srgbClr val="E86F70"/>
                </a:solidFill>
                <a:latin typeface="Times New Roman"/>
                <a:ea typeface="Times New Roman"/>
                <a:cs typeface="Times New Roman"/>
                <a:sym typeface="Times New Roman"/>
              </a:rPr>
              <a:t>UNION </a:t>
            </a:r>
            <a:r>
              <a:rPr lang="en-US" sz="2800" b="1" dirty="0" err="1">
                <a:solidFill>
                  <a:srgbClr val="E86F70"/>
                </a:solidFill>
                <a:latin typeface="Times New Roman"/>
                <a:ea typeface="Times New Roman"/>
                <a:cs typeface="Times New Roman"/>
                <a:sym typeface="Times New Roman"/>
              </a:rPr>
              <a:t>và</a:t>
            </a:r>
            <a:r>
              <a:rPr lang="en-US" sz="2800" b="1" dirty="0">
                <a:solidFill>
                  <a:srgbClr val="E86F70"/>
                </a:solidFill>
                <a:latin typeface="Times New Roman"/>
                <a:ea typeface="Times New Roman"/>
                <a:cs typeface="Times New Roman"/>
                <a:sym typeface="Times New Roman"/>
              </a:rPr>
              <a:t> UNION ALL </a:t>
            </a:r>
            <a:r>
              <a:rPr lang="en-US" sz="2800" b="1" dirty="0" err="1">
                <a:solidFill>
                  <a:srgbClr val="E86F70"/>
                </a:solidFill>
                <a:latin typeface="Times New Roman"/>
                <a:ea typeface="Times New Roman"/>
                <a:cs typeface="Times New Roman"/>
                <a:sym typeface="Times New Roman"/>
              </a:rPr>
              <a:t>trong</a:t>
            </a:r>
            <a:r>
              <a:rPr lang="en-US" sz="2800" b="1" dirty="0">
                <a:solidFill>
                  <a:srgbClr val="E86F70"/>
                </a:solidFill>
                <a:latin typeface="Times New Roman"/>
                <a:ea typeface="Times New Roman"/>
                <a:cs typeface="Times New Roman"/>
                <a:sym typeface="Times New Roman"/>
              </a:rPr>
              <a:t> SQL</a:t>
            </a:r>
            <a:endParaRPr sz="2800" dirty="0">
              <a:latin typeface="Times New Roman"/>
              <a:ea typeface="Times New Roman"/>
              <a:cs typeface="Times New Roman"/>
              <a:sym typeface="Times New Roman"/>
            </a:endParaRPr>
          </a:p>
          <a:p>
            <a:pPr marL="1022985" lvl="0" indent="-996315" algn="l" rtl="0">
              <a:lnSpc>
                <a:spcPct val="100000"/>
              </a:lnSpc>
              <a:spcBef>
                <a:spcPts val="2950"/>
              </a:spcBef>
              <a:spcAft>
                <a:spcPts val="0"/>
              </a:spcAft>
              <a:buClr>
                <a:srgbClr val="FFFFFF"/>
              </a:buClr>
              <a:buSzPts val="4200"/>
              <a:buFont typeface="Impact"/>
              <a:buAutoNum type="arabicPeriod"/>
            </a:pPr>
            <a:r>
              <a:rPr lang="en-US" sz="4200" b="1" baseline="30000" dirty="0">
                <a:solidFill>
                  <a:srgbClr val="E86F70"/>
                </a:solidFill>
                <a:latin typeface="Times New Roman"/>
                <a:ea typeface="Times New Roman"/>
                <a:cs typeface="Times New Roman"/>
                <a:sym typeface="Times New Roman"/>
              </a:rPr>
              <a:t>Constraint </a:t>
            </a:r>
            <a:r>
              <a:rPr lang="en-US" sz="4200" b="1" baseline="30000" dirty="0" err="1">
                <a:solidFill>
                  <a:srgbClr val="E86F70"/>
                </a:solidFill>
                <a:latin typeface="Times New Roman"/>
                <a:ea typeface="Times New Roman"/>
                <a:cs typeface="Times New Roman"/>
                <a:sym typeface="Times New Roman"/>
              </a:rPr>
              <a:t>trong</a:t>
            </a:r>
            <a:r>
              <a:rPr lang="en-US" sz="4200" b="1" baseline="30000" dirty="0">
                <a:solidFill>
                  <a:srgbClr val="E86F70"/>
                </a:solidFill>
                <a:latin typeface="Times New Roman"/>
                <a:ea typeface="Times New Roman"/>
                <a:cs typeface="Times New Roman"/>
                <a:sym typeface="Times New Roman"/>
              </a:rPr>
              <a:t> SQL</a:t>
            </a:r>
            <a:endParaRPr sz="4200" baseline="30000" dirty="0">
              <a:latin typeface="Times New Roman"/>
              <a:ea typeface="Times New Roman"/>
              <a:cs typeface="Times New Roman"/>
              <a:sym typeface="Times New Roman"/>
            </a:endParaRPr>
          </a:p>
        </p:txBody>
      </p:sp>
      <p:grpSp>
        <p:nvGrpSpPr>
          <p:cNvPr id="82" name="Google Shape;82;p2"/>
          <p:cNvGrpSpPr/>
          <p:nvPr/>
        </p:nvGrpSpPr>
        <p:grpSpPr>
          <a:xfrm>
            <a:off x="2036064" y="4613147"/>
            <a:ext cx="6573012" cy="721360"/>
            <a:chOff x="2036064" y="4613147"/>
            <a:chExt cx="6573012" cy="721360"/>
          </a:xfrm>
        </p:grpSpPr>
        <p:pic>
          <p:nvPicPr>
            <p:cNvPr id="83" name="Google Shape;83;p2"/>
            <p:cNvPicPr preferRelativeResize="0"/>
            <p:nvPr/>
          </p:nvPicPr>
          <p:blipFill rotWithShape="1">
            <a:blip r:embed="rId10">
              <a:alphaModFix/>
            </a:blip>
            <a:srcRect/>
            <a:stretch/>
          </p:blipFill>
          <p:spPr>
            <a:xfrm>
              <a:off x="3278124" y="4613147"/>
              <a:ext cx="5330952" cy="128016"/>
            </a:xfrm>
            <a:prstGeom prst="rect">
              <a:avLst/>
            </a:prstGeom>
            <a:noFill/>
            <a:ln>
              <a:noFill/>
            </a:ln>
          </p:spPr>
        </p:pic>
        <p:sp>
          <p:nvSpPr>
            <p:cNvPr id="84" name="Google Shape;84;p2"/>
            <p:cNvSpPr/>
            <p:nvPr/>
          </p:nvSpPr>
          <p:spPr>
            <a:xfrm>
              <a:off x="2036064" y="4674107"/>
              <a:ext cx="692150" cy="660400"/>
            </a:xfrm>
            <a:custGeom>
              <a:avLst/>
              <a:gdLst/>
              <a:ahLst/>
              <a:cxnLst/>
              <a:rect l="l" t="t" r="r" b="b"/>
              <a:pathLst>
                <a:path w="692150" h="660400" extrusionOk="0">
                  <a:moveTo>
                    <a:pt x="600202" y="0"/>
                  </a:moveTo>
                  <a:lnTo>
                    <a:pt x="91693" y="0"/>
                  </a:lnTo>
                  <a:lnTo>
                    <a:pt x="55989" y="7201"/>
                  </a:lnTo>
                  <a:lnTo>
                    <a:pt x="26844" y="26844"/>
                  </a:lnTo>
                  <a:lnTo>
                    <a:pt x="7201" y="55989"/>
                  </a:lnTo>
                  <a:lnTo>
                    <a:pt x="0" y="91694"/>
                  </a:lnTo>
                  <a:lnTo>
                    <a:pt x="0" y="568198"/>
                  </a:lnTo>
                  <a:lnTo>
                    <a:pt x="7201" y="603902"/>
                  </a:lnTo>
                  <a:lnTo>
                    <a:pt x="26844" y="633047"/>
                  </a:lnTo>
                  <a:lnTo>
                    <a:pt x="55989" y="652690"/>
                  </a:lnTo>
                  <a:lnTo>
                    <a:pt x="91693" y="659892"/>
                  </a:lnTo>
                  <a:lnTo>
                    <a:pt x="600202" y="659892"/>
                  </a:lnTo>
                  <a:lnTo>
                    <a:pt x="635906" y="652690"/>
                  </a:lnTo>
                  <a:lnTo>
                    <a:pt x="665051" y="633047"/>
                  </a:lnTo>
                  <a:lnTo>
                    <a:pt x="684694" y="603902"/>
                  </a:lnTo>
                  <a:lnTo>
                    <a:pt x="691896" y="568198"/>
                  </a:lnTo>
                  <a:lnTo>
                    <a:pt x="691896" y="91694"/>
                  </a:lnTo>
                  <a:lnTo>
                    <a:pt x="684694" y="55989"/>
                  </a:lnTo>
                  <a:lnTo>
                    <a:pt x="665051" y="26844"/>
                  </a:lnTo>
                  <a:lnTo>
                    <a:pt x="635906" y="7201"/>
                  </a:lnTo>
                  <a:lnTo>
                    <a:pt x="600202"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3"/>
          <p:cNvGrpSpPr/>
          <p:nvPr/>
        </p:nvGrpSpPr>
        <p:grpSpPr>
          <a:xfrm>
            <a:off x="1284732" y="827531"/>
            <a:ext cx="1289304" cy="1182624"/>
            <a:chOff x="1284732" y="827531"/>
            <a:chExt cx="1289304" cy="1182624"/>
          </a:xfrm>
        </p:grpSpPr>
        <p:pic>
          <p:nvPicPr>
            <p:cNvPr id="90" name="Google Shape;90;p3"/>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91" name="Google Shape;91;p3"/>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92" name="Google Shape;92;p3"/>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93" name="Google Shape;93;p3"/>
          <p:cNvSpPr txBox="1">
            <a:spLocks noGrp="1"/>
          </p:cNvSpPr>
          <p:nvPr>
            <p:ph type="title"/>
          </p:nvPr>
        </p:nvSpPr>
        <p:spPr>
          <a:xfrm>
            <a:off x="1690877" y="1075385"/>
            <a:ext cx="5826125" cy="50461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sz="3200" dirty="0" err="1">
                <a:latin typeface="Times New Roman" panose="02020603050405020304" pitchFamily="18" charset="0"/>
                <a:ea typeface="Impact"/>
                <a:cs typeface="Times New Roman" panose="02020603050405020304" pitchFamily="18" charset="0"/>
                <a:sym typeface="Impact"/>
              </a:rPr>
              <a:t>Phép</a:t>
            </a:r>
            <a:r>
              <a:rPr lang="en-US" sz="3200" dirty="0">
                <a:latin typeface="Times New Roman" panose="02020603050405020304" pitchFamily="18" charset="0"/>
                <a:ea typeface="Impact"/>
                <a:cs typeface="Times New Roman" panose="02020603050405020304" pitchFamily="18" charset="0"/>
                <a:sym typeface="Impact"/>
              </a:rPr>
              <a:t> Join </a:t>
            </a:r>
            <a:r>
              <a:rPr lang="en-US" sz="3200" dirty="0" err="1">
                <a:latin typeface="Times New Roman" panose="02020603050405020304" pitchFamily="18" charset="0"/>
                <a:ea typeface="Impact"/>
                <a:cs typeface="Times New Roman" panose="02020603050405020304" pitchFamily="18" charset="0"/>
                <a:sym typeface="Impact"/>
              </a:rPr>
              <a:t>trong</a:t>
            </a:r>
            <a:r>
              <a:rPr lang="en-US" sz="3200" dirty="0">
                <a:latin typeface="Times New Roman" panose="02020603050405020304" pitchFamily="18" charset="0"/>
                <a:ea typeface="Impact"/>
                <a:cs typeface="Times New Roman" panose="02020603050405020304" pitchFamily="18" charset="0"/>
                <a:sym typeface="Impact"/>
              </a:rPr>
              <a:t> </a:t>
            </a:r>
            <a:r>
              <a:rPr lang="en-US" sz="3200" dirty="0" err="1">
                <a:latin typeface="Times New Roman" panose="02020603050405020304" pitchFamily="18" charset="0"/>
                <a:ea typeface="Impact"/>
                <a:cs typeface="Times New Roman" panose="02020603050405020304" pitchFamily="18" charset="0"/>
                <a:sym typeface="Impact"/>
              </a:rPr>
              <a:t>sql</a:t>
            </a:r>
            <a:endParaRPr lang="en-US" sz="3200" baseline="30000" dirty="0">
              <a:latin typeface="Times New Roman" panose="02020603050405020304" pitchFamily="18" charset="0"/>
              <a:ea typeface="Impact"/>
              <a:cs typeface="Times New Roman" panose="02020603050405020304" pitchFamily="18" charset="0"/>
              <a:sym typeface="Impact"/>
            </a:endParaRPr>
          </a:p>
        </p:txBody>
      </p:sp>
      <p:sp>
        <p:nvSpPr>
          <p:cNvPr id="94" name="Google Shape;94;p3"/>
          <p:cNvSpPr txBox="1"/>
          <p:nvPr/>
        </p:nvSpPr>
        <p:spPr>
          <a:xfrm>
            <a:off x="1466469" y="1756028"/>
            <a:ext cx="7832090" cy="2525395"/>
          </a:xfrm>
          <a:prstGeom prst="rect">
            <a:avLst/>
          </a:prstGeom>
          <a:noFill/>
          <a:ln>
            <a:noFill/>
          </a:ln>
        </p:spPr>
        <p:txBody>
          <a:bodyPr spcFirstLastPara="1" wrap="square" lIns="0" tIns="12700" rIns="0" bIns="0" anchor="t" anchorCtr="0">
            <a:spAutoFit/>
          </a:bodyPr>
          <a:lstStyle/>
          <a:p>
            <a:pPr marL="355600" marR="5080" lvl="0" indent="-342900" algn="l" rtl="0">
              <a:lnSpc>
                <a:spcPct val="100000"/>
              </a:lnSpc>
              <a:spcBef>
                <a:spcPts val="0"/>
              </a:spcBef>
              <a:spcAft>
                <a:spcPts val="0"/>
              </a:spcAft>
              <a:buClr>
                <a:srgbClr val="FF5A33"/>
              </a:buClr>
              <a:buSzPts val="2400"/>
              <a:buFont typeface="Noto Sans Symbols"/>
              <a:buChar char="❑"/>
            </a:pPr>
            <a:r>
              <a:rPr lang="en-US" sz="2400" dirty="0">
                <a:latin typeface="Times New Roman"/>
                <a:ea typeface="Times New Roman"/>
                <a:cs typeface="Times New Roman"/>
                <a:sym typeface="Times New Roman"/>
              </a:rPr>
              <a:t>SQL Joins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tổ</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hợp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dữ</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liệu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2 </a:t>
            </a:r>
            <a:r>
              <a:rPr lang="en-US" sz="2400" dirty="0" err="1">
                <a:latin typeface="Times New Roman"/>
                <a:ea typeface="Times New Roman"/>
                <a:cs typeface="Times New Roman"/>
                <a:sym typeface="Times New Roman"/>
              </a:rPr>
              <a:t>hoặc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nhau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dựa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mối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quan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hệ</a:t>
            </a:r>
            <a:r>
              <a:rPr lang="en-US" sz="2400" dirty="0">
                <a:latin typeface="Times New Roman"/>
                <a:ea typeface="Times New Roman"/>
                <a:cs typeface="Times New Roman"/>
                <a:sym typeface="Times New Roman"/>
              </a:rPr>
              <a:t> logic </a:t>
            </a:r>
            <a:r>
              <a:rPr lang="en-US" sz="2400" dirty="0" err="1">
                <a:latin typeface="Times New Roman"/>
                <a:ea typeface="Times New Roman"/>
                <a:cs typeface="Times New Roman"/>
                <a:sym typeface="Times New Roman"/>
              </a:rPr>
              <a:t>giữa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bảng</a:t>
            </a:r>
            <a:r>
              <a:rPr lang="en-US" sz="2400" dirty="0">
                <a:latin typeface="Times New Roman"/>
                <a:ea typeface="Times New Roman"/>
                <a:cs typeface="Times New Roman"/>
                <a:sym typeface="Times New Roman"/>
              </a:rPr>
              <a:t>. Bao </a:t>
            </a:r>
            <a:r>
              <a:rPr lang="en-US" sz="2400" dirty="0" err="1">
                <a:latin typeface="Times New Roman"/>
                <a:ea typeface="Times New Roman"/>
                <a:cs typeface="Times New Roman"/>
                <a:sym typeface="Times New Roman"/>
              </a:rPr>
              <a:t>gồm</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400"/>
              <a:buFont typeface="Noto Sans Symbols"/>
              <a:buChar char="❖"/>
            </a:pPr>
            <a:r>
              <a:rPr lang="en-US" sz="2400" dirty="0">
                <a:latin typeface="Times New Roman"/>
                <a:ea typeface="Times New Roman"/>
                <a:cs typeface="Times New Roman"/>
                <a:sym typeface="Times New Roman"/>
              </a:rPr>
              <a:t>Inner Join.</a:t>
            </a:r>
            <a:endParaRPr sz="2400" dirty="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400"/>
              <a:buFont typeface="Noto Sans Symbols"/>
              <a:buChar char="❖"/>
            </a:pPr>
            <a:r>
              <a:rPr lang="en-US" sz="2400" dirty="0">
                <a:latin typeface="Times New Roman"/>
                <a:ea typeface="Times New Roman"/>
                <a:cs typeface="Times New Roman"/>
                <a:sym typeface="Times New Roman"/>
              </a:rPr>
              <a:t>Outer Join (Left Join, Right Join)</a:t>
            </a:r>
            <a:endParaRPr sz="2400" dirty="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400"/>
              <a:buFont typeface="Noto Sans Symbols"/>
              <a:buChar char="❖"/>
            </a:pPr>
            <a:r>
              <a:rPr lang="en-US" sz="2400" dirty="0">
                <a:latin typeface="Times New Roman"/>
                <a:ea typeface="Times New Roman"/>
                <a:cs typeface="Times New Roman"/>
                <a:sym typeface="Times New Roman"/>
              </a:rPr>
              <a:t>Cross Join</a:t>
            </a:r>
            <a:endParaRPr sz="2400" dirty="0">
              <a:latin typeface="Times New Roman"/>
              <a:ea typeface="Times New Roman"/>
              <a:cs typeface="Times New Roman"/>
              <a:sym typeface="Times New Roman"/>
            </a:endParaRPr>
          </a:p>
          <a:p>
            <a:pPr marL="754380" lvl="1" indent="-284480" algn="l" rtl="0">
              <a:lnSpc>
                <a:spcPct val="100000"/>
              </a:lnSpc>
              <a:spcBef>
                <a:spcPts val="605"/>
              </a:spcBef>
              <a:spcAft>
                <a:spcPts val="0"/>
              </a:spcAft>
              <a:buClr>
                <a:srgbClr val="FF5A33"/>
              </a:buClr>
              <a:buSzPts val="2400"/>
              <a:buFont typeface="Noto Sans Symbols"/>
              <a:buChar char="❖"/>
            </a:pPr>
            <a:r>
              <a:rPr lang="en-US" sz="2400" dirty="0" err="1">
                <a:latin typeface="Times New Roman"/>
                <a:ea typeface="Times New Roman"/>
                <a:cs typeface="Times New Roman"/>
                <a:sym typeface="Times New Roman"/>
              </a:rPr>
              <a:t>Seft</a:t>
            </a:r>
            <a:r>
              <a:rPr lang="en-US" sz="2400" dirty="0">
                <a:latin typeface="Times New Roman"/>
                <a:ea typeface="Times New Roman"/>
                <a:cs typeface="Times New Roman"/>
                <a:sym typeface="Times New Roman"/>
              </a:rPr>
              <a:t> Join</a:t>
            </a:r>
            <a:endParaRPr sz="2400" dirty="0">
              <a:latin typeface="Times New Roman"/>
              <a:ea typeface="Times New Roman"/>
              <a:cs typeface="Times New Roman"/>
              <a:sym typeface="Times New Roman"/>
            </a:endParaRPr>
          </a:p>
        </p:txBody>
      </p:sp>
      <p:pic>
        <p:nvPicPr>
          <p:cNvPr id="95" name="Google Shape;95;p3"/>
          <p:cNvPicPr preferRelativeResize="0"/>
          <p:nvPr/>
        </p:nvPicPr>
        <p:blipFill rotWithShape="1">
          <a:blip r:embed="rId6">
            <a:alphaModFix/>
          </a:blip>
          <a:srcRect/>
          <a:stretch/>
        </p:blipFill>
        <p:spPr>
          <a:xfrm>
            <a:off x="6894576" y="2555748"/>
            <a:ext cx="3107435" cy="1635252"/>
          </a:xfrm>
          <a:prstGeom prst="rect">
            <a:avLst/>
          </a:prstGeom>
          <a:noFill/>
          <a:ln>
            <a:noFill/>
          </a:ln>
        </p:spPr>
      </p:pic>
      <p:pic>
        <p:nvPicPr>
          <p:cNvPr id="96" name="Google Shape;96;p3"/>
          <p:cNvPicPr preferRelativeResize="0"/>
          <p:nvPr/>
        </p:nvPicPr>
        <p:blipFill rotWithShape="1">
          <a:blip r:embed="rId7">
            <a:alphaModFix/>
          </a:blip>
          <a:srcRect/>
          <a:stretch/>
        </p:blipFill>
        <p:spPr>
          <a:xfrm>
            <a:off x="3523488" y="4172711"/>
            <a:ext cx="3064764" cy="2151888"/>
          </a:xfrm>
          <a:prstGeom prst="rect">
            <a:avLst/>
          </a:prstGeom>
          <a:noFill/>
          <a:ln>
            <a:noFill/>
          </a:ln>
        </p:spPr>
      </p:pic>
      <p:pic>
        <p:nvPicPr>
          <p:cNvPr id="97" name="Google Shape;97;p3"/>
          <p:cNvPicPr preferRelativeResize="0"/>
          <p:nvPr/>
        </p:nvPicPr>
        <p:blipFill rotWithShape="1">
          <a:blip r:embed="rId8">
            <a:alphaModFix/>
          </a:blip>
          <a:srcRect/>
          <a:stretch/>
        </p:blipFill>
        <p:spPr>
          <a:xfrm>
            <a:off x="6858000" y="4343400"/>
            <a:ext cx="2983992" cy="18379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grpSp>
        <p:nvGrpSpPr>
          <p:cNvPr id="102" name="Google Shape;102;p4"/>
          <p:cNvGrpSpPr/>
          <p:nvPr/>
        </p:nvGrpSpPr>
        <p:grpSpPr>
          <a:xfrm>
            <a:off x="1284732" y="827531"/>
            <a:ext cx="1289304" cy="1182624"/>
            <a:chOff x="1284732" y="827531"/>
            <a:chExt cx="1289304" cy="1182624"/>
          </a:xfrm>
        </p:grpSpPr>
        <p:pic>
          <p:nvPicPr>
            <p:cNvPr id="103" name="Google Shape;103;p4"/>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04" name="Google Shape;104;p4"/>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105" name="Google Shape;105;p4"/>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106" name="Google Shape;106;p4"/>
          <p:cNvSpPr txBox="1">
            <a:spLocks noGrp="1"/>
          </p:cNvSpPr>
          <p:nvPr>
            <p:ph type="title"/>
          </p:nvPr>
        </p:nvSpPr>
        <p:spPr>
          <a:xfrm>
            <a:off x="1690877" y="1075385"/>
            <a:ext cx="7021195" cy="50461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sz="3200" dirty="0" err="1">
                <a:latin typeface="Times New Roman" panose="02020603050405020304" pitchFamily="18" charset="0"/>
                <a:ea typeface="Impact"/>
                <a:cs typeface="Times New Roman" panose="02020603050405020304" pitchFamily="18" charset="0"/>
                <a:sym typeface="Impact"/>
              </a:rPr>
              <a:t>Phép</a:t>
            </a:r>
            <a:r>
              <a:rPr lang="en-US" sz="3200" dirty="0">
                <a:latin typeface="Times New Roman" panose="02020603050405020304" pitchFamily="18" charset="0"/>
                <a:ea typeface="Impact"/>
                <a:cs typeface="Times New Roman" panose="02020603050405020304" pitchFamily="18" charset="0"/>
                <a:sym typeface="Impact"/>
              </a:rPr>
              <a:t> Join </a:t>
            </a:r>
            <a:r>
              <a:rPr lang="en-US" sz="3200" dirty="0" err="1">
                <a:latin typeface="Times New Roman" panose="02020603050405020304" pitchFamily="18" charset="0"/>
                <a:ea typeface="Impact"/>
                <a:cs typeface="Times New Roman" panose="02020603050405020304" pitchFamily="18" charset="0"/>
                <a:sym typeface="Impact"/>
              </a:rPr>
              <a:t>trong</a:t>
            </a:r>
            <a:r>
              <a:rPr lang="en-US" sz="3200" dirty="0">
                <a:latin typeface="Times New Roman" panose="02020603050405020304" pitchFamily="18" charset="0"/>
                <a:ea typeface="Impact"/>
                <a:cs typeface="Times New Roman" panose="02020603050405020304" pitchFamily="18" charset="0"/>
                <a:sym typeface="Impact"/>
              </a:rPr>
              <a:t> </a:t>
            </a:r>
            <a:r>
              <a:rPr lang="en-US" sz="3200" dirty="0" err="1">
                <a:latin typeface="Times New Roman" panose="02020603050405020304" pitchFamily="18" charset="0"/>
                <a:ea typeface="Impact"/>
                <a:cs typeface="Times New Roman" panose="02020603050405020304" pitchFamily="18" charset="0"/>
                <a:sym typeface="Impact"/>
              </a:rPr>
              <a:t>sql</a:t>
            </a:r>
            <a:r>
              <a:rPr lang="en-US" sz="3200" dirty="0">
                <a:latin typeface="Times New Roman" panose="02020603050405020304" pitchFamily="18" charset="0"/>
                <a:ea typeface="Impact"/>
                <a:cs typeface="Times New Roman" panose="02020603050405020304" pitchFamily="18" charset="0"/>
                <a:sym typeface="Impact"/>
              </a:rPr>
              <a:t> (Inner Join)</a:t>
            </a:r>
            <a:endParaRPr sz="3200" baseline="30000" dirty="0">
              <a:latin typeface="Times New Roman" panose="02020603050405020304" pitchFamily="18" charset="0"/>
              <a:ea typeface="Impact"/>
              <a:cs typeface="Times New Roman" panose="02020603050405020304" pitchFamily="18" charset="0"/>
              <a:sym typeface="Impact"/>
            </a:endParaRPr>
          </a:p>
        </p:txBody>
      </p:sp>
      <p:sp>
        <p:nvSpPr>
          <p:cNvPr id="107" name="Google Shape;107;p4"/>
          <p:cNvSpPr txBox="1"/>
          <p:nvPr/>
        </p:nvSpPr>
        <p:spPr>
          <a:xfrm>
            <a:off x="1466469" y="1757552"/>
            <a:ext cx="8627110" cy="2543175"/>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Inner Join trong SQL là một cách để kết hợp dữ liệu từ hai hoặc nhiều bảng trong cơ sở dữ liệu quan hệ. Nó chỉ trả về những hàng có giá trị khớp trong cả hai bảng. Nói cách khác, inner join chỉ trả về các hàng có giá trị của các cột được chỉ định trong cả hai bảng khớp với nhau:</a:t>
            </a:r>
            <a:endParaRPr sz="200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a:p>
            <a:pPr marL="1257300" lvl="0" indent="0" algn="l" rtl="0">
              <a:lnSpc>
                <a:spcPct val="100000"/>
              </a:lnSpc>
              <a:spcBef>
                <a:spcPts val="15"/>
              </a:spcBef>
              <a:spcAft>
                <a:spcPts val="0"/>
              </a:spcAft>
              <a:buNone/>
            </a:pPr>
            <a:r>
              <a:rPr lang="en-US" sz="2000">
                <a:solidFill>
                  <a:srgbClr val="0000FF"/>
                </a:solidFill>
                <a:latin typeface="Arial"/>
                <a:ea typeface="Arial"/>
                <a:cs typeface="Arial"/>
                <a:sym typeface="Arial"/>
              </a:rPr>
              <a:t>SELECT </a:t>
            </a:r>
            <a:r>
              <a:rPr lang="en-US" sz="2000">
                <a:latin typeface="Arial"/>
                <a:ea typeface="Arial"/>
                <a:cs typeface="Arial"/>
                <a:sym typeface="Arial"/>
              </a:rPr>
              <a:t>col_names</a:t>
            </a:r>
            <a:endParaRPr sz="2000">
              <a:latin typeface="Arial"/>
              <a:ea typeface="Arial"/>
              <a:cs typeface="Arial"/>
              <a:sym typeface="Arial"/>
            </a:endParaRPr>
          </a:p>
          <a:p>
            <a:pPr marL="1257300" lvl="0" indent="0" algn="l" rtl="0">
              <a:lnSpc>
                <a:spcPct val="100000"/>
              </a:lnSpc>
              <a:spcBef>
                <a:spcPts val="0"/>
              </a:spcBef>
              <a:spcAft>
                <a:spcPts val="0"/>
              </a:spcAft>
              <a:buNone/>
            </a:pPr>
            <a:r>
              <a:rPr lang="en-US" sz="2000">
                <a:solidFill>
                  <a:srgbClr val="0000FF"/>
                </a:solidFill>
                <a:latin typeface="Arial"/>
                <a:ea typeface="Arial"/>
                <a:cs typeface="Arial"/>
                <a:sym typeface="Arial"/>
              </a:rPr>
              <a:t>FROM </a:t>
            </a:r>
            <a:r>
              <a:rPr lang="en-US" sz="2000">
                <a:latin typeface="Arial"/>
                <a:ea typeface="Arial"/>
                <a:cs typeface="Arial"/>
                <a:sym typeface="Arial"/>
              </a:rPr>
              <a:t>Table_A A</a:t>
            </a:r>
            <a:endParaRPr sz="2000">
              <a:latin typeface="Arial"/>
              <a:ea typeface="Arial"/>
              <a:cs typeface="Arial"/>
              <a:sym typeface="Arial"/>
            </a:endParaRPr>
          </a:p>
          <a:p>
            <a:pPr marL="2743835" lvl="0" indent="0" algn="l" rtl="0">
              <a:lnSpc>
                <a:spcPct val="100000"/>
              </a:lnSpc>
              <a:spcBef>
                <a:spcPts val="0"/>
              </a:spcBef>
              <a:spcAft>
                <a:spcPts val="0"/>
              </a:spcAft>
              <a:buNone/>
            </a:pPr>
            <a:r>
              <a:rPr lang="en-US" sz="2000">
                <a:solidFill>
                  <a:srgbClr val="808080"/>
                </a:solidFill>
                <a:latin typeface="Arial"/>
                <a:ea typeface="Arial"/>
                <a:cs typeface="Arial"/>
                <a:sym typeface="Arial"/>
              </a:rPr>
              <a:t>INNER JOIN </a:t>
            </a:r>
            <a:r>
              <a:rPr lang="en-US" sz="2000">
                <a:latin typeface="Arial"/>
                <a:ea typeface="Arial"/>
                <a:cs typeface="Arial"/>
                <a:sym typeface="Arial"/>
              </a:rPr>
              <a:t>Table_B	B </a:t>
            </a:r>
            <a:r>
              <a:rPr lang="en-US" sz="2000">
                <a:solidFill>
                  <a:srgbClr val="0000FF"/>
                </a:solidFill>
                <a:latin typeface="Arial"/>
                <a:ea typeface="Arial"/>
                <a:cs typeface="Arial"/>
                <a:sym typeface="Arial"/>
              </a:rPr>
              <a:t>ON </a:t>
            </a:r>
            <a:r>
              <a:rPr lang="en-US" sz="2000">
                <a:latin typeface="Arial"/>
                <a:ea typeface="Arial"/>
                <a:cs typeface="Arial"/>
                <a:sym typeface="Arial"/>
              </a:rPr>
              <a:t>A</a:t>
            </a:r>
            <a:r>
              <a:rPr lang="en-US" sz="2000">
                <a:solidFill>
                  <a:srgbClr val="808080"/>
                </a:solidFill>
                <a:latin typeface="Arial"/>
                <a:ea typeface="Arial"/>
                <a:cs typeface="Arial"/>
                <a:sym typeface="Arial"/>
              </a:rPr>
              <a:t>.</a:t>
            </a:r>
            <a:r>
              <a:rPr lang="en-US" sz="2000">
                <a:latin typeface="Arial"/>
                <a:ea typeface="Arial"/>
                <a:cs typeface="Arial"/>
                <a:sym typeface="Arial"/>
              </a:rPr>
              <a:t>Col1 </a:t>
            </a:r>
            <a:r>
              <a:rPr lang="en-US" sz="2000">
                <a:solidFill>
                  <a:srgbClr val="808080"/>
                </a:solidFill>
                <a:latin typeface="Arial"/>
                <a:ea typeface="Arial"/>
                <a:cs typeface="Arial"/>
                <a:sym typeface="Arial"/>
              </a:rPr>
              <a:t>= </a:t>
            </a:r>
            <a:r>
              <a:rPr lang="en-US" sz="2000">
                <a:latin typeface="Arial"/>
                <a:ea typeface="Arial"/>
                <a:cs typeface="Arial"/>
                <a:sym typeface="Arial"/>
              </a:rPr>
              <a:t>B</a:t>
            </a:r>
            <a:r>
              <a:rPr lang="en-US" sz="2000">
                <a:solidFill>
                  <a:srgbClr val="808080"/>
                </a:solidFill>
                <a:latin typeface="Arial"/>
                <a:ea typeface="Arial"/>
                <a:cs typeface="Arial"/>
                <a:sym typeface="Arial"/>
              </a:rPr>
              <a:t>.</a:t>
            </a:r>
            <a:r>
              <a:rPr lang="en-US" sz="2000">
                <a:latin typeface="Arial"/>
                <a:ea typeface="Arial"/>
                <a:cs typeface="Arial"/>
                <a:sym typeface="Arial"/>
              </a:rPr>
              <a:t>Col1</a:t>
            </a:r>
            <a:endParaRPr sz="2000">
              <a:latin typeface="Arial"/>
              <a:ea typeface="Arial"/>
              <a:cs typeface="Arial"/>
              <a:sym typeface="Arial"/>
            </a:endParaRPr>
          </a:p>
        </p:txBody>
      </p:sp>
      <p:pic>
        <p:nvPicPr>
          <p:cNvPr id="108" name="Google Shape;108;p4"/>
          <p:cNvPicPr preferRelativeResize="0"/>
          <p:nvPr/>
        </p:nvPicPr>
        <p:blipFill rotWithShape="1">
          <a:blip r:embed="rId6">
            <a:alphaModFix/>
          </a:blip>
          <a:srcRect/>
          <a:stretch/>
        </p:blipFill>
        <p:spPr>
          <a:xfrm>
            <a:off x="4648200" y="4440935"/>
            <a:ext cx="2286000" cy="15422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2871977" y="1064717"/>
            <a:ext cx="6853048" cy="873942"/>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dirty="0" err="1"/>
              <a:t>Phép</a:t>
            </a:r>
            <a:r>
              <a:rPr lang="en-US" dirty="0"/>
              <a:t> JOIN </a:t>
            </a:r>
            <a:r>
              <a:rPr lang="en-US" dirty="0" err="1"/>
              <a:t>trong</a:t>
            </a:r>
            <a:r>
              <a:rPr lang="en-US" dirty="0"/>
              <a:t> SQL (INNER JOIN) JOIN)</a:t>
            </a:r>
            <a:endParaRPr dirty="0"/>
          </a:p>
        </p:txBody>
      </p:sp>
      <p:grpSp>
        <p:nvGrpSpPr>
          <p:cNvPr id="114" name="Google Shape;114;p5"/>
          <p:cNvGrpSpPr/>
          <p:nvPr/>
        </p:nvGrpSpPr>
        <p:grpSpPr>
          <a:xfrm>
            <a:off x="1284732" y="827532"/>
            <a:ext cx="1289304" cy="1182624"/>
            <a:chOff x="1284732" y="827532"/>
            <a:chExt cx="1289304" cy="1182624"/>
          </a:xfrm>
        </p:grpSpPr>
        <p:pic>
          <p:nvPicPr>
            <p:cNvPr id="115" name="Google Shape;115;p5"/>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16" name="Google Shape;116;p5"/>
            <p:cNvPicPr preferRelativeResize="0"/>
            <p:nvPr/>
          </p:nvPicPr>
          <p:blipFill rotWithShape="1">
            <a:blip r:embed="rId4">
              <a:alphaModFix/>
            </a:blip>
            <a:srcRect/>
            <a:stretch/>
          </p:blipFill>
          <p:spPr>
            <a:xfrm>
              <a:off x="1335024" y="827532"/>
              <a:ext cx="1188720" cy="1182624"/>
            </a:xfrm>
            <a:prstGeom prst="rect">
              <a:avLst/>
            </a:prstGeom>
            <a:noFill/>
            <a:ln>
              <a:noFill/>
            </a:ln>
          </p:spPr>
        </p:pic>
        <p:pic>
          <p:nvPicPr>
            <p:cNvPr id="117" name="Google Shape;117;p5"/>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118" name="Google Shape;118;p5"/>
          <p:cNvSpPr txBox="1"/>
          <p:nvPr/>
        </p:nvSpPr>
        <p:spPr>
          <a:xfrm>
            <a:off x="1466469" y="1075385"/>
            <a:ext cx="1012190" cy="1013460"/>
          </a:xfrm>
          <a:prstGeom prst="rect">
            <a:avLst/>
          </a:prstGeom>
          <a:noFill/>
          <a:ln>
            <a:noFill/>
          </a:ln>
        </p:spPr>
        <p:txBody>
          <a:bodyPr spcFirstLastPara="1" wrap="square" lIns="0" tIns="12050" rIns="0" bIns="0" anchor="t" anchorCtr="0">
            <a:spAutoFit/>
          </a:bodyPr>
          <a:lstStyle/>
          <a:p>
            <a:pPr marL="236854"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01</a:t>
            </a:r>
            <a:endParaRPr sz="2800">
              <a:latin typeface="Impact"/>
              <a:ea typeface="Impact"/>
              <a:cs typeface="Impact"/>
              <a:sym typeface="Impact"/>
            </a:endParaRPr>
          </a:p>
          <a:p>
            <a:pPr marL="354965" lvl="0" indent="-342265" algn="l" rtl="0">
              <a:lnSpc>
                <a:spcPct val="100000"/>
              </a:lnSpc>
              <a:spcBef>
                <a:spcPts val="202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Ví dụ:</a:t>
            </a:r>
            <a:endParaRPr sz="2000">
              <a:latin typeface="Times New Roman"/>
              <a:ea typeface="Times New Roman"/>
              <a:cs typeface="Times New Roman"/>
              <a:sym typeface="Times New Roman"/>
            </a:endParaRPr>
          </a:p>
        </p:txBody>
      </p:sp>
      <p:sp>
        <p:nvSpPr>
          <p:cNvPr id="119" name="Google Shape;119;p5"/>
          <p:cNvSpPr txBox="1"/>
          <p:nvPr/>
        </p:nvSpPr>
        <p:spPr>
          <a:xfrm>
            <a:off x="1923669" y="3281933"/>
            <a:ext cx="5619115" cy="174625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a:p>
            <a:pPr marL="342900" lvl="0" indent="0" algn="l" rtl="0">
              <a:lnSpc>
                <a:spcPct val="100000"/>
              </a:lnSpc>
              <a:spcBef>
                <a:spcPts val="25"/>
              </a:spcBef>
              <a:spcAft>
                <a:spcPts val="0"/>
              </a:spcAft>
              <a:buNone/>
            </a:pPr>
            <a:r>
              <a:rPr lang="en-US" sz="1600">
                <a:solidFill>
                  <a:srgbClr val="0000FF"/>
                </a:solidFill>
                <a:latin typeface="Arial"/>
                <a:ea typeface="Arial"/>
                <a:cs typeface="Arial"/>
                <a:sym typeface="Arial"/>
              </a:rPr>
              <a:t>SELECT </a:t>
            </a:r>
            <a:r>
              <a:rPr lang="en-US" sz="1600">
                <a:latin typeface="Arial"/>
                <a:ea typeface="Arial"/>
                <a:cs typeface="Arial"/>
                <a:sym typeface="Arial"/>
              </a:rPr>
              <a:t>c</a:t>
            </a:r>
            <a:r>
              <a:rPr lang="en-US" sz="1600">
                <a:solidFill>
                  <a:srgbClr val="808080"/>
                </a:solidFill>
                <a:latin typeface="Arial"/>
                <a:ea typeface="Arial"/>
                <a:cs typeface="Arial"/>
                <a:sym typeface="Arial"/>
              </a:rPr>
              <a:t>.</a:t>
            </a:r>
            <a:r>
              <a:rPr lang="en-US" sz="1600">
                <a:latin typeface="Arial"/>
                <a:ea typeface="Arial"/>
                <a:cs typeface="Arial"/>
                <a:sym typeface="Arial"/>
              </a:rPr>
              <a:t>CustName</a:t>
            </a:r>
            <a:r>
              <a:rPr lang="en-US" sz="1600">
                <a:solidFill>
                  <a:srgbClr val="808080"/>
                </a:solidFill>
                <a:latin typeface="Arial"/>
                <a:ea typeface="Arial"/>
                <a:cs typeface="Arial"/>
                <a:sym typeface="Arial"/>
              </a:rPr>
              <a:t>, </a:t>
            </a:r>
            <a:r>
              <a:rPr lang="en-US" sz="1600">
                <a:latin typeface="Arial"/>
                <a:ea typeface="Arial"/>
                <a:cs typeface="Arial"/>
                <a:sym typeface="Arial"/>
              </a:rPr>
              <a:t>o</a:t>
            </a:r>
            <a:r>
              <a:rPr lang="en-US" sz="1600">
                <a:solidFill>
                  <a:srgbClr val="808080"/>
                </a:solidFill>
                <a:latin typeface="Arial"/>
                <a:ea typeface="Arial"/>
                <a:cs typeface="Arial"/>
                <a:sym typeface="Arial"/>
              </a:rPr>
              <a:t>.</a:t>
            </a:r>
            <a:r>
              <a:rPr lang="en-US" sz="1600">
                <a:latin typeface="Arial"/>
                <a:ea typeface="Arial"/>
                <a:cs typeface="Arial"/>
                <a:sym typeface="Arial"/>
              </a:rPr>
              <a:t>OrderID</a:t>
            </a:r>
            <a:endParaRPr sz="1600">
              <a:latin typeface="Arial"/>
              <a:ea typeface="Arial"/>
              <a:cs typeface="Arial"/>
              <a:sym typeface="Arial"/>
            </a:endParaRPr>
          </a:p>
          <a:p>
            <a:pPr marL="342900" lvl="0" indent="0" algn="l" rtl="0">
              <a:lnSpc>
                <a:spcPct val="100000"/>
              </a:lnSpc>
              <a:spcBef>
                <a:spcPts val="0"/>
              </a:spcBef>
              <a:spcAft>
                <a:spcPts val="0"/>
              </a:spcAft>
              <a:buNone/>
            </a:pPr>
            <a:r>
              <a:rPr lang="en-US" sz="1600">
                <a:solidFill>
                  <a:srgbClr val="0000FF"/>
                </a:solidFill>
                <a:latin typeface="Arial"/>
                <a:ea typeface="Arial"/>
                <a:cs typeface="Arial"/>
                <a:sym typeface="Arial"/>
              </a:rPr>
              <a:t>FROM </a:t>
            </a:r>
            <a:r>
              <a:rPr lang="en-US" sz="1600">
                <a:latin typeface="Arial"/>
                <a:ea typeface="Arial"/>
                <a:cs typeface="Arial"/>
                <a:sym typeface="Arial"/>
              </a:rPr>
              <a:t>Customer c</a:t>
            </a:r>
            <a:endParaRPr sz="1600">
              <a:latin typeface="Arial"/>
              <a:ea typeface="Arial"/>
              <a:cs typeface="Arial"/>
              <a:sym typeface="Arial"/>
            </a:endParaRPr>
          </a:p>
          <a:p>
            <a:pPr marL="342900" marR="5080" lvl="0" indent="1028700" algn="l" rtl="0">
              <a:lnSpc>
                <a:spcPct val="100000"/>
              </a:lnSpc>
              <a:spcBef>
                <a:spcPts val="5"/>
              </a:spcBef>
              <a:spcAft>
                <a:spcPts val="0"/>
              </a:spcAft>
              <a:buNone/>
            </a:pPr>
            <a:r>
              <a:rPr lang="en-US" sz="1600">
                <a:solidFill>
                  <a:srgbClr val="808080"/>
                </a:solidFill>
                <a:latin typeface="Arial"/>
                <a:ea typeface="Arial"/>
                <a:cs typeface="Arial"/>
                <a:sym typeface="Arial"/>
              </a:rPr>
              <a:t>INNER JOIN </a:t>
            </a:r>
            <a:r>
              <a:rPr lang="en-US" sz="1600">
                <a:latin typeface="Arial"/>
                <a:ea typeface="Arial"/>
                <a:cs typeface="Arial"/>
                <a:sym typeface="Arial"/>
              </a:rPr>
              <a:t>[Order] o </a:t>
            </a:r>
            <a:r>
              <a:rPr lang="en-US" sz="1600">
                <a:solidFill>
                  <a:srgbClr val="0000FF"/>
                </a:solidFill>
                <a:latin typeface="Arial"/>
                <a:ea typeface="Arial"/>
                <a:cs typeface="Arial"/>
                <a:sym typeface="Arial"/>
              </a:rPr>
              <a:t>ON </a:t>
            </a:r>
            <a:r>
              <a:rPr lang="en-US" sz="1600">
                <a:latin typeface="Arial"/>
                <a:ea typeface="Arial"/>
                <a:cs typeface="Arial"/>
                <a:sym typeface="Arial"/>
              </a:rPr>
              <a:t>c</a:t>
            </a:r>
            <a:r>
              <a:rPr lang="en-US" sz="1600">
                <a:solidFill>
                  <a:srgbClr val="808080"/>
                </a:solidFill>
                <a:latin typeface="Arial"/>
                <a:ea typeface="Arial"/>
                <a:cs typeface="Arial"/>
                <a:sym typeface="Arial"/>
              </a:rPr>
              <a:t>.</a:t>
            </a:r>
            <a:r>
              <a:rPr lang="en-US" sz="1600">
                <a:latin typeface="Arial"/>
                <a:ea typeface="Arial"/>
                <a:cs typeface="Arial"/>
                <a:sym typeface="Arial"/>
              </a:rPr>
              <a:t>CustID </a:t>
            </a:r>
            <a:r>
              <a:rPr lang="en-US" sz="1600">
                <a:solidFill>
                  <a:srgbClr val="808080"/>
                </a:solidFill>
                <a:latin typeface="Arial"/>
                <a:ea typeface="Arial"/>
                <a:cs typeface="Arial"/>
                <a:sym typeface="Arial"/>
              </a:rPr>
              <a:t>= </a:t>
            </a:r>
            <a:r>
              <a:rPr lang="en-US" sz="1600">
                <a:latin typeface="Arial"/>
                <a:ea typeface="Arial"/>
                <a:cs typeface="Arial"/>
                <a:sym typeface="Arial"/>
              </a:rPr>
              <a:t>o</a:t>
            </a:r>
            <a:r>
              <a:rPr lang="en-US" sz="1600">
                <a:solidFill>
                  <a:srgbClr val="808080"/>
                </a:solidFill>
                <a:latin typeface="Arial"/>
                <a:ea typeface="Arial"/>
                <a:cs typeface="Arial"/>
                <a:sym typeface="Arial"/>
              </a:rPr>
              <a:t>.</a:t>
            </a:r>
            <a:r>
              <a:rPr lang="en-US" sz="1600">
                <a:latin typeface="Arial"/>
                <a:ea typeface="Arial"/>
                <a:cs typeface="Arial"/>
                <a:sym typeface="Arial"/>
              </a:rPr>
              <a:t>CustID </a:t>
            </a:r>
            <a:r>
              <a:rPr lang="en-US" sz="1600">
                <a:solidFill>
                  <a:srgbClr val="0000FF"/>
                </a:solidFill>
                <a:latin typeface="Arial"/>
                <a:ea typeface="Arial"/>
                <a:cs typeface="Arial"/>
                <a:sym typeface="Arial"/>
              </a:rPr>
              <a:t>ORDER BY </a:t>
            </a:r>
            <a:r>
              <a:rPr lang="en-US" sz="1600">
                <a:latin typeface="Arial"/>
                <a:ea typeface="Arial"/>
                <a:cs typeface="Arial"/>
                <a:sym typeface="Arial"/>
              </a:rPr>
              <a:t>c</a:t>
            </a:r>
            <a:r>
              <a:rPr lang="en-US" sz="1600">
                <a:solidFill>
                  <a:srgbClr val="808080"/>
                </a:solidFill>
                <a:latin typeface="Arial"/>
                <a:ea typeface="Arial"/>
                <a:cs typeface="Arial"/>
                <a:sym typeface="Arial"/>
              </a:rPr>
              <a:t>.</a:t>
            </a:r>
            <a:r>
              <a:rPr lang="en-US" sz="1600">
                <a:latin typeface="Arial"/>
                <a:ea typeface="Arial"/>
                <a:cs typeface="Arial"/>
                <a:sym typeface="Arial"/>
              </a:rPr>
              <a:t>CustName</a:t>
            </a:r>
            <a:r>
              <a:rPr lang="en-US" sz="1600">
                <a:solidFill>
                  <a:srgbClr val="808080"/>
                </a:solidFill>
                <a:latin typeface="Arial"/>
                <a:ea typeface="Arial"/>
                <a:cs typeface="Arial"/>
                <a:sym typeface="Arial"/>
              </a:rPr>
              <a:t>;</a:t>
            </a:r>
            <a:endParaRPr sz="1600">
              <a:latin typeface="Arial"/>
              <a:ea typeface="Arial"/>
              <a:cs typeface="Arial"/>
              <a:sym typeface="Arial"/>
            </a:endParaRPr>
          </a:p>
          <a:p>
            <a:pPr marL="12700" lvl="0" indent="0" algn="l" rtl="0">
              <a:lnSpc>
                <a:spcPct val="100000"/>
              </a:lnSpc>
              <a:spcBef>
                <a:spcPts val="555"/>
              </a:spcBef>
              <a:spcAft>
                <a:spcPts val="0"/>
              </a:spcAft>
              <a:buNone/>
            </a:pPr>
            <a:r>
              <a:rPr lang="en-US" sz="2400">
                <a:solidFill>
                  <a:srgbClr val="FF0000"/>
                </a:solidFill>
                <a:latin typeface="Times New Roman"/>
                <a:ea typeface="Times New Roman"/>
                <a:cs typeface="Times New Roman"/>
                <a:sym typeface="Times New Roman"/>
              </a:rPr>
              <a:t>Kết quả:</a:t>
            </a:r>
            <a:endParaRPr sz="2400">
              <a:latin typeface="Times New Roman"/>
              <a:ea typeface="Times New Roman"/>
              <a:cs typeface="Times New Roman"/>
              <a:sym typeface="Times New Roman"/>
            </a:endParaRPr>
          </a:p>
        </p:txBody>
      </p:sp>
      <p:grpSp>
        <p:nvGrpSpPr>
          <p:cNvPr id="120" name="Google Shape;120;p5"/>
          <p:cNvGrpSpPr/>
          <p:nvPr/>
        </p:nvGrpSpPr>
        <p:grpSpPr>
          <a:xfrm>
            <a:off x="3424427" y="5018531"/>
            <a:ext cx="3339465" cy="1287780"/>
            <a:chOff x="3424427" y="5018531"/>
            <a:chExt cx="3339465" cy="1287780"/>
          </a:xfrm>
        </p:grpSpPr>
        <p:pic>
          <p:nvPicPr>
            <p:cNvPr id="121" name="Google Shape;121;p5"/>
            <p:cNvPicPr preferRelativeResize="0"/>
            <p:nvPr/>
          </p:nvPicPr>
          <p:blipFill rotWithShape="1">
            <a:blip r:embed="rId6">
              <a:alphaModFix/>
            </a:blip>
            <a:srcRect/>
            <a:stretch/>
          </p:blipFill>
          <p:spPr>
            <a:xfrm>
              <a:off x="3428999" y="5023103"/>
              <a:ext cx="3329940" cy="1278636"/>
            </a:xfrm>
            <a:prstGeom prst="rect">
              <a:avLst/>
            </a:prstGeom>
            <a:noFill/>
            <a:ln>
              <a:noFill/>
            </a:ln>
          </p:spPr>
        </p:pic>
        <p:sp>
          <p:nvSpPr>
            <p:cNvPr id="122" name="Google Shape;122;p5"/>
            <p:cNvSpPr/>
            <p:nvPr/>
          </p:nvSpPr>
          <p:spPr>
            <a:xfrm>
              <a:off x="3424427" y="5018531"/>
              <a:ext cx="3339465" cy="1287780"/>
            </a:xfrm>
            <a:custGeom>
              <a:avLst/>
              <a:gdLst/>
              <a:ahLst/>
              <a:cxnLst/>
              <a:rect l="l" t="t" r="r" b="b"/>
              <a:pathLst>
                <a:path w="3339465" h="1287779" extrusionOk="0">
                  <a:moveTo>
                    <a:pt x="0" y="1287780"/>
                  </a:moveTo>
                  <a:lnTo>
                    <a:pt x="3339083" y="1287780"/>
                  </a:lnTo>
                  <a:lnTo>
                    <a:pt x="3339083" y="0"/>
                  </a:lnTo>
                  <a:lnTo>
                    <a:pt x="0" y="0"/>
                  </a:lnTo>
                  <a:lnTo>
                    <a:pt x="0" y="128778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pSp>
        <p:nvGrpSpPr>
          <p:cNvPr id="123" name="Google Shape;123;p5"/>
          <p:cNvGrpSpPr/>
          <p:nvPr/>
        </p:nvGrpSpPr>
        <p:grpSpPr>
          <a:xfrm>
            <a:off x="3048000" y="1836420"/>
            <a:ext cx="6236207" cy="1592834"/>
            <a:chOff x="3048000" y="1836420"/>
            <a:chExt cx="6236207" cy="1592834"/>
          </a:xfrm>
        </p:grpSpPr>
        <p:pic>
          <p:nvPicPr>
            <p:cNvPr id="124" name="Google Shape;124;p5"/>
            <p:cNvPicPr preferRelativeResize="0"/>
            <p:nvPr/>
          </p:nvPicPr>
          <p:blipFill rotWithShape="1">
            <a:blip r:embed="rId7">
              <a:alphaModFix/>
            </a:blip>
            <a:srcRect/>
            <a:stretch/>
          </p:blipFill>
          <p:spPr>
            <a:xfrm>
              <a:off x="3048000" y="1836420"/>
              <a:ext cx="3189731" cy="1467612"/>
            </a:xfrm>
            <a:prstGeom prst="rect">
              <a:avLst/>
            </a:prstGeom>
            <a:noFill/>
            <a:ln>
              <a:noFill/>
            </a:ln>
          </p:spPr>
        </p:pic>
        <p:pic>
          <p:nvPicPr>
            <p:cNvPr id="125" name="Google Shape;125;p5"/>
            <p:cNvPicPr preferRelativeResize="0"/>
            <p:nvPr/>
          </p:nvPicPr>
          <p:blipFill rotWithShape="1">
            <a:blip r:embed="rId8">
              <a:alphaModFix/>
            </a:blip>
            <a:srcRect/>
            <a:stretch/>
          </p:blipFill>
          <p:spPr>
            <a:xfrm>
              <a:off x="6507479" y="1984248"/>
              <a:ext cx="2776728" cy="1319784"/>
            </a:xfrm>
            <a:prstGeom prst="rect">
              <a:avLst/>
            </a:prstGeom>
            <a:noFill/>
            <a:ln>
              <a:noFill/>
            </a:ln>
          </p:spPr>
        </p:pic>
        <p:sp>
          <p:nvSpPr>
            <p:cNvPr id="126" name="Google Shape;126;p5"/>
            <p:cNvSpPr/>
            <p:nvPr/>
          </p:nvSpPr>
          <p:spPr>
            <a:xfrm>
              <a:off x="3070859" y="2279904"/>
              <a:ext cx="4395470" cy="1149350"/>
            </a:xfrm>
            <a:custGeom>
              <a:avLst/>
              <a:gdLst/>
              <a:ahLst/>
              <a:cxnLst/>
              <a:rect l="l" t="t" r="r" b="b"/>
              <a:pathLst>
                <a:path w="4395470" h="1149350" extrusionOk="0">
                  <a:moveTo>
                    <a:pt x="0" y="707136"/>
                  </a:moveTo>
                  <a:lnTo>
                    <a:pt x="2066" y="641824"/>
                  </a:lnTo>
                  <a:lnTo>
                    <a:pt x="8069" y="579489"/>
                  </a:lnTo>
                  <a:lnTo>
                    <a:pt x="17714" y="520814"/>
                  </a:lnTo>
                  <a:lnTo>
                    <a:pt x="30704" y="466481"/>
                  </a:lnTo>
                  <a:lnTo>
                    <a:pt x="46744" y="417175"/>
                  </a:lnTo>
                  <a:lnTo>
                    <a:pt x="65540" y="373579"/>
                  </a:lnTo>
                  <a:lnTo>
                    <a:pt x="86794" y="336376"/>
                  </a:lnTo>
                  <a:lnTo>
                    <a:pt x="110213" y="306251"/>
                  </a:lnTo>
                  <a:lnTo>
                    <a:pt x="162361" y="269967"/>
                  </a:lnTo>
                  <a:lnTo>
                    <a:pt x="190500" y="265175"/>
                  </a:lnTo>
                  <a:lnTo>
                    <a:pt x="218638" y="269967"/>
                  </a:lnTo>
                  <a:lnTo>
                    <a:pt x="270786" y="306251"/>
                  </a:lnTo>
                  <a:lnTo>
                    <a:pt x="294205" y="336376"/>
                  </a:lnTo>
                  <a:lnTo>
                    <a:pt x="315459" y="373579"/>
                  </a:lnTo>
                  <a:lnTo>
                    <a:pt x="334255" y="417175"/>
                  </a:lnTo>
                  <a:lnTo>
                    <a:pt x="350295" y="466481"/>
                  </a:lnTo>
                  <a:lnTo>
                    <a:pt x="363285" y="520814"/>
                  </a:lnTo>
                  <a:lnTo>
                    <a:pt x="372930" y="579489"/>
                  </a:lnTo>
                  <a:lnTo>
                    <a:pt x="378933" y="641824"/>
                  </a:lnTo>
                  <a:lnTo>
                    <a:pt x="381000" y="707136"/>
                  </a:lnTo>
                  <a:lnTo>
                    <a:pt x="378933" y="772447"/>
                  </a:lnTo>
                  <a:lnTo>
                    <a:pt x="372930" y="834782"/>
                  </a:lnTo>
                  <a:lnTo>
                    <a:pt x="363285" y="893457"/>
                  </a:lnTo>
                  <a:lnTo>
                    <a:pt x="350295" y="947790"/>
                  </a:lnTo>
                  <a:lnTo>
                    <a:pt x="334255" y="997096"/>
                  </a:lnTo>
                  <a:lnTo>
                    <a:pt x="315459" y="1040692"/>
                  </a:lnTo>
                  <a:lnTo>
                    <a:pt x="294205" y="1077895"/>
                  </a:lnTo>
                  <a:lnTo>
                    <a:pt x="270786" y="1108020"/>
                  </a:lnTo>
                  <a:lnTo>
                    <a:pt x="218638" y="1144304"/>
                  </a:lnTo>
                  <a:lnTo>
                    <a:pt x="190500" y="1149096"/>
                  </a:lnTo>
                  <a:lnTo>
                    <a:pt x="162361" y="1144304"/>
                  </a:lnTo>
                  <a:lnTo>
                    <a:pt x="110213" y="1108020"/>
                  </a:lnTo>
                  <a:lnTo>
                    <a:pt x="86794" y="1077895"/>
                  </a:lnTo>
                  <a:lnTo>
                    <a:pt x="65540" y="1040692"/>
                  </a:lnTo>
                  <a:lnTo>
                    <a:pt x="46744" y="997096"/>
                  </a:lnTo>
                  <a:lnTo>
                    <a:pt x="30704" y="947790"/>
                  </a:lnTo>
                  <a:lnTo>
                    <a:pt x="17714" y="893457"/>
                  </a:lnTo>
                  <a:lnTo>
                    <a:pt x="8069" y="834782"/>
                  </a:lnTo>
                  <a:lnTo>
                    <a:pt x="2066" y="772447"/>
                  </a:lnTo>
                  <a:lnTo>
                    <a:pt x="0" y="707136"/>
                  </a:lnTo>
                  <a:close/>
                </a:path>
                <a:path w="4395470" h="1149350" extrusionOk="0">
                  <a:moveTo>
                    <a:pt x="4014216" y="400812"/>
                  </a:moveTo>
                  <a:lnTo>
                    <a:pt x="4016710" y="335798"/>
                  </a:lnTo>
                  <a:lnTo>
                    <a:pt x="4023933" y="274124"/>
                  </a:lnTo>
                  <a:lnTo>
                    <a:pt x="4035489" y="216616"/>
                  </a:lnTo>
                  <a:lnTo>
                    <a:pt x="4050987" y="164098"/>
                  </a:lnTo>
                  <a:lnTo>
                    <a:pt x="4070032" y="117395"/>
                  </a:lnTo>
                  <a:lnTo>
                    <a:pt x="4092232" y="77333"/>
                  </a:lnTo>
                  <a:lnTo>
                    <a:pt x="4117194" y="44738"/>
                  </a:lnTo>
                  <a:lnTo>
                    <a:pt x="4173829" y="5245"/>
                  </a:lnTo>
                  <a:lnTo>
                    <a:pt x="4204716" y="0"/>
                  </a:lnTo>
                  <a:lnTo>
                    <a:pt x="4235602" y="5245"/>
                  </a:lnTo>
                  <a:lnTo>
                    <a:pt x="4292237" y="44738"/>
                  </a:lnTo>
                  <a:lnTo>
                    <a:pt x="4317199" y="77333"/>
                  </a:lnTo>
                  <a:lnTo>
                    <a:pt x="4339399" y="117395"/>
                  </a:lnTo>
                  <a:lnTo>
                    <a:pt x="4358444" y="164098"/>
                  </a:lnTo>
                  <a:lnTo>
                    <a:pt x="4373942" y="216616"/>
                  </a:lnTo>
                  <a:lnTo>
                    <a:pt x="4385498" y="274124"/>
                  </a:lnTo>
                  <a:lnTo>
                    <a:pt x="4392721" y="335798"/>
                  </a:lnTo>
                  <a:lnTo>
                    <a:pt x="4395216" y="400812"/>
                  </a:lnTo>
                  <a:lnTo>
                    <a:pt x="4392721" y="465825"/>
                  </a:lnTo>
                  <a:lnTo>
                    <a:pt x="4385498" y="527499"/>
                  </a:lnTo>
                  <a:lnTo>
                    <a:pt x="4373942" y="585007"/>
                  </a:lnTo>
                  <a:lnTo>
                    <a:pt x="4358444" y="637525"/>
                  </a:lnTo>
                  <a:lnTo>
                    <a:pt x="4339399" y="684228"/>
                  </a:lnTo>
                  <a:lnTo>
                    <a:pt x="4317199" y="724290"/>
                  </a:lnTo>
                  <a:lnTo>
                    <a:pt x="4292237" y="756885"/>
                  </a:lnTo>
                  <a:lnTo>
                    <a:pt x="4235602" y="796378"/>
                  </a:lnTo>
                  <a:lnTo>
                    <a:pt x="4204716" y="801624"/>
                  </a:lnTo>
                  <a:lnTo>
                    <a:pt x="4173829" y="796378"/>
                  </a:lnTo>
                  <a:lnTo>
                    <a:pt x="4117194" y="756885"/>
                  </a:lnTo>
                  <a:lnTo>
                    <a:pt x="4092232" y="724290"/>
                  </a:lnTo>
                  <a:lnTo>
                    <a:pt x="4070032" y="684228"/>
                  </a:lnTo>
                  <a:lnTo>
                    <a:pt x="4050987" y="637525"/>
                  </a:lnTo>
                  <a:lnTo>
                    <a:pt x="4035489" y="585007"/>
                  </a:lnTo>
                  <a:lnTo>
                    <a:pt x="4023933" y="527499"/>
                  </a:lnTo>
                  <a:lnTo>
                    <a:pt x="4016710" y="465825"/>
                  </a:lnTo>
                  <a:lnTo>
                    <a:pt x="4014216" y="400812"/>
                  </a:lnTo>
                  <a:close/>
                </a:path>
              </a:pathLst>
            </a:custGeom>
            <a:noFill/>
            <a:ln w="1217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pSp>
        <p:nvGrpSpPr>
          <p:cNvPr id="131" name="Google Shape;131;p6"/>
          <p:cNvGrpSpPr/>
          <p:nvPr/>
        </p:nvGrpSpPr>
        <p:grpSpPr>
          <a:xfrm>
            <a:off x="1284732" y="827531"/>
            <a:ext cx="1289304" cy="1182624"/>
            <a:chOff x="1284732" y="827531"/>
            <a:chExt cx="1289304" cy="1182624"/>
          </a:xfrm>
        </p:grpSpPr>
        <p:pic>
          <p:nvPicPr>
            <p:cNvPr id="132" name="Google Shape;132;p6"/>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33" name="Google Shape;133;p6"/>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134" name="Google Shape;134;p6"/>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135" name="Google Shape;135;p6"/>
          <p:cNvSpPr txBox="1">
            <a:spLocks noGrp="1"/>
          </p:cNvSpPr>
          <p:nvPr>
            <p:ph type="title"/>
          </p:nvPr>
        </p:nvSpPr>
        <p:spPr>
          <a:xfrm>
            <a:off x="1690877" y="1075385"/>
            <a:ext cx="6306185" cy="50461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sz="3200" dirty="0">
                <a:latin typeface="Times New Roman" panose="02020603050405020304" pitchFamily="18" charset="0"/>
                <a:ea typeface="Impact"/>
                <a:cs typeface="Times New Roman" panose="02020603050405020304" pitchFamily="18" charset="0"/>
                <a:sym typeface="Impact"/>
              </a:rPr>
              <a:t>LEFT JOIN</a:t>
            </a:r>
            <a:endParaRPr sz="3200" baseline="30000" dirty="0">
              <a:latin typeface="Times New Roman" panose="02020603050405020304" pitchFamily="18" charset="0"/>
              <a:ea typeface="Impact"/>
              <a:cs typeface="Times New Roman" panose="02020603050405020304" pitchFamily="18" charset="0"/>
              <a:sym typeface="Impact"/>
            </a:endParaRPr>
          </a:p>
        </p:txBody>
      </p:sp>
      <p:sp>
        <p:nvSpPr>
          <p:cNvPr id="136" name="Google Shape;136;p6"/>
          <p:cNvSpPr txBox="1"/>
          <p:nvPr/>
        </p:nvSpPr>
        <p:spPr>
          <a:xfrm>
            <a:off x="1466469" y="1757552"/>
            <a:ext cx="7884159" cy="2160270"/>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sz="2000" b="1">
                <a:latin typeface="Times New Roman"/>
                <a:ea typeface="Times New Roman"/>
                <a:cs typeface="Times New Roman"/>
                <a:sym typeface="Times New Roman"/>
              </a:rPr>
              <a:t>Left join </a:t>
            </a:r>
            <a:r>
              <a:rPr lang="en-US" sz="2000">
                <a:latin typeface="Times New Roman"/>
                <a:ea typeface="Times New Roman"/>
                <a:cs typeface="Times New Roman"/>
                <a:sym typeface="Times New Roman"/>
              </a:rPr>
              <a:t>(left outer join) trong SQL là một cách để kết hợp dữ liệu từ hai hoặc nhiều bảng trong cơ sở dữ liệu quan hệ, tương tự như inner join. Điểm khác biệt chính là left join trả về tất cả các hàng từ bảng bên trái (tức là bảng đầu tiên được chỉ định trong join), ngay cả khi không có kết quả khớp trong bảng bên phải (tức là bảng thứ hai được chỉ định trong join). Trong trường hợp khi tồn tại các record của table1 không có kết quả khớp với table2 thì các column select của table2 sẽ được trả về bằng</a:t>
            </a:r>
            <a:endParaRPr sz="2000">
              <a:latin typeface="Times New Roman"/>
              <a:ea typeface="Times New Roman"/>
              <a:cs typeface="Times New Roman"/>
              <a:sym typeface="Times New Roman"/>
            </a:endParaRPr>
          </a:p>
        </p:txBody>
      </p:sp>
      <p:sp>
        <p:nvSpPr>
          <p:cNvPr id="137" name="Google Shape;137;p6"/>
          <p:cNvSpPr txBox="1"/>
          <p:nvPr/>
        </p:nvSpPr>
        <p:spPr>
          <a:xfrm>
            <a:off x="1809369" y="3816197"/>
            <a:ext cx="1189355" cy="787400"/>
          </a:xfrm>
          <a:prstGeom prst="rect">
            <a:avLst/>
          </a:prstGeom>
          <a:noFill/>
          <a:ln>
            <a:noFill/>
          </a:ln>
        </p:spPr>
        <p:txBody>
          <a:bodyPr spcFirstLastPara="1" wrap="square" lIns="0" tIns="88900" rIns="0" bIns="0" anchor="t" anchorCtr="0">
            <a:spAutoFit/>
          </a:bodyPr>
          <a:lstStyle/>
          <a:p>
            <a:pPr marL="12700" lvl="0" indent="0" algn="l" rtl="0">
              <a:lnSpc>
                <a:spcPct val="100000"/>
              </a:lnSpc>
              <a:spcBef>
                <a:spcPts val="0"/>
              </a:spcBef>
              <a:spcAft>
                <a:spcPts val="0"/>
              </a:spcAft>
              <a:buNone/>
            </a:pPr>
            <a:r>
              <a:rPr lang="en-US" sz="2000">
                <a:latin typeface="Times New Roman"/>
                <a:ea typeface="Times New Roman"/>
                <a:cs typeface="Times New Roman"/>
                <a:sym typeface="Times New Roman"/>
              </a:rPr>
              <a:t>NULL</a:t>
            </a:r>
            <a:endParaRPr sz="2000">
              <a:latin typeface="Times New Roman"/>
              <a:ea typeface="Times New Roman"/>
              <a:cs typeface="Times New Roman"/>
              <a:sym typeface="Times New Roman"/>
            </a:endParaRPr>
          </a:p>
          <a:p>
            <a:pPr marL="411480" lvl="0" indent="-284480"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p:txBody>
      </p:sp>
      <p:sp>
        <p:nvSpPr>
          <p:cNvPr id="138" name="Google Shape;138;p6"/>
          <p:cNvSpPr txBox="1"/>
          <p:nvPr/>
        </p:nvSpPr>
        <p:spPr>
          <a:xfrm>
            <a:off x="3584575" y="4066413"/>
            <a:ext cx="4126229" cy="1122680"/>
          </a:xfrm>
          <a:prstGeom prst="rect">
            <a:avLst/>
          </a:prstGeom>
          <a:noFill/>
          <a:ln>
            <a:noFill/>
          </a:ln>
        </p:spPr>
        <p:txBody>
          <a:bodyPr spcFirstLastPara="1" wrap="square" lIns="0" tIns="12700" rIns="0" bIns="0" anchor="t" anchorCtr="0">
            <a:spAutoFit/>
          </a:bodyPr>
          <a:lstStyle/>
          <a:p>
            <a:pPr marL="12700" marR="2056129"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col_names </a:t>
            </a:r>
            <a:r>
              <a:rPr lang="en-US" sz="1800">
                <a:solidFill>
                  <a:srgbClr val="0000FF"/>
                </a:solidFill>
                <a:latin typeface="Arial"/>
                <a:ea typeface="Arial"/>
                <a:cs typeface="Arial"/>
                <a:sym typeface="Arial"/>
              </a:rPr>
              <a:t>FROM </a:t>
            </a:r>
            <a:r>
              <a:rPr lang="en-US" sz="1800">
                <a:latin typeface="Arial"/>
                <a:ea typeface="Arial"/>
                <a:cs typeface="Arial"/>
                <a:sym typeface="Arial"/>
              </a:rPr>
              <a:t>Table_A A</a:t>
            </a:r>
            <a:endParaRPr sz="1800">
              <a:latin typeface="Arial"/>
              <a:ea typeface="Arial"/>
              <a:cs typeface="Arial"/>
              <a:sym typeface="Arial"/>
            </a:endParaRPr>
          </a:p>
          <a:p>
            <a:pPr marL="469900" lvl="0" indent="0" algn="l" rtl="0">
              <a:lnSpc>
                <a:spcPct val="100000"/>
              </a:lnSpc>
              <a:spcBef>
                <a:spcPts val="0"/>
              </a:spcBef>
              <a:spcAft>
                <a:spcPts val="0"/>
              </a:spcAft>
              <a:buNone/>
            </a:pPr>
            <a:r>
              <a:rPr lang="en-US" sz="1800">
                <a:solidFill>
                  <a:srgbClr val="808080"/>
                </a:solidFill>
                <a:latin typeface="Arial"/>
                <a:ea typeface="Arial"/>
                <a:cs typeface="Arial"/>
                <a:sym typeface="Arial"/>
              </a:rPr>
              <a:t>LEFT JOIN </a:t>
            </a:r>
            <a:r>
              <a:rPr lang="en-US" sz="1800">
                <a:latin typeface="Arial"/>
                <a:ea typeface="Arial"/>
                <a:cs typeface="Arial"/>
                <a:sym typeface="Arial"/>
              </a:rPr>
              <a:t>Table_B	B </a:t>
            </a:r>
            <a:r>
              <a:rPr lang="en-US" sz="1800">
                <a:solidFill>
                  <a:srgbClr val="0000FF"/>
                </a:solidFill>
                <a:latin typeface="Arial"/>
                <a:ea typeface="Arial"/>
                <a:cs typeface="Arial"/>
                <a:sym typeface="Arial"/>
              </a:rPr>
              <a:t>ON </a:t>
            </a:r>
            <a:r>
              <a:rPr lang="en-US" sz="1800">
                <a:latin typeface="Arial"/>
                <a:ea typeface="Arial"/>
                <a:cs typeface="Arial"/>
                <a:sym typeface="Arial"/>
              </a:rPr>
              <a:t>A</a:t>
            </a:r>
            <a:r>
              <a:rPr lang="en-US" sz="1800">
                <a:solidFill>
                  <a:srgbClr val="808080"/>
                </a:solidFill>
                <a:latin typeface="Arial"/>
                <a:ea typeface="Arial"/>
                <a:cs typeface="Arial"/>
                <a:sym typeface="Arial"/>
              </a:rPr>
              <a:t>.</a:t>
            </a:r>
            <a:r>
              <a:rPr lang="en-US" sz="1800">
                <a:latin typeface="Arial"/>
                <a:ea typeface="Arial"/>
                <a:cs typeface="Arial"/>
                <a:sym typeface="Arial"/>
              </a:rPr>
              <a:t>Col1 </a:t>
            </a:r>
            <a:r>
              <a:rPr lang="en-US" sz="1800">
                <a:solidFill>
                  <a:srgbClr val="808080"/>
                </a:solidFill>
                <a:latin typeface="Arial"/>
                <a:ea typeface="Arial"/>
                <a:cs typeface="Arial"/>
                <a:sym typeface="Arial"/>
              </a:rPr>
              <a:t>=</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latin typeface="Arial"/>
                <a:ea typeface="Arial"/>
                <a:cs typeface="Arial"/>
                <a:sym typeface="Arial"/>
              </a:rPr>
              <a:t>B</a:t>
            </a:r>
            <a:r>
              <a:rPr lang="en-US" sz="1800">
                <a:solidFill>
                  <a:srgbClr val="808080"/>
                </a:solidFill>
                <a:latin typeface="Arial"/>
                <a:ea typeface="Arial"/>
                <a:cs typeface="Arial"/>
                <a:sym typeface="Arial"/>
              </a:rPr>
              <a:t>.</a:t>
            </a:r>
            <a:r>
              <a:rPr lang="en-US" sz="1800">
                <a:latin typeface="Arial"/>
                <a:ea typeface="Arial"/>
                <a:cs typeface="Arial"/>
                <a:sym typeface="Arial"/>
              </a:rPr>
              <a:t>Col1</a:t>
            </a:r>
            <a:endParaRPr sz="1800">
              <a:latin typeface="Arial"/>
              <a:ea typeface="Arial"/>
              <a:cs typeface="Arial"/>
              <a:sym typeface="Arial"/>
            </a:endParaRPr>
          </a:p>
        </p:txBody>
      </p:sp>
      <p:pic>
        <p:nvPicPr>
          <p:cNvPr id="139" name="Google Shape;139;p6"/>
          <p:cNvPicPr preferRelativeResize="0"/>
          <p:nvPr/>
        </p:nvPicPr>
        <p:blipFill rotWithShape="1">
          <a:blip r:embed="rId6">
            <a:alphaModFix/>
          </a:blip>
          <a:srcRect/>
          <a:stretch/>
        </p:blipFill>
        <p:spPr>
          <a:xfrm>
            <a:off x="4570476" y="5119114"/>
            <a:ext cx="2442972" cy="164744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7"/>
          <p:cNvSpPr txBox="1">
            <a:spLocks noGrp="1"/>
          </p:cNvSpPr>
          <p:nvPr>
            <p:ph type="title"/>
          </p:nvPr>
        </p:nvSpPr>
        <p:spPr>
          <a:xfrm>
            <a:off x="3452876" y="1064717"/>
            <a:ext cx="4679950" cy="452119"/>
          </a:xfrm>
          <a:prstGeom prst="rect">
            <a:avLst/>
          </a:prstGeom>
          <a:noFill/>
          <a:ln>
            <a:noFill/>
          </a:ln>
        </p:spPr>
        <p:txBody>
          <a:bodyPr spcFirstLastPara="1" wrap="square" lIns="0" tIns="12050" rIns="0" bIns="0" anchor="t" anchorCtr="0">
            <a:spAutoFit/>
          </a:bodyPr>
          <a:lstStyle/>
          <a:p>
            <a:pPr marL="144780" lvl="0" indent="0" algn="l" rtl="0">
              <a:lnSpc>
                <a:spcPct val="100000"/>
              </a:lnSpc>
              <a:spcBef>
                <a:spcPts val="0"/>
              </a:spcBef>
              <a:spcAft>
                <a:spcPts val="0"/>
              </a:spcAft>
              <a:buNone/>
            </a:pPr>
            <a:r>
              <a:rPr lang="en-US"/>
              <a:t>OUTER JOIN (LEFT JOIN)</a:t>
            </a:r>
            <a:endParaRPr/>
          </a:p>
        </p:txBody>
      </p:sp>
      <p:grpSp>
        <p:nvGrpSpPr>
          <p:cNvPr id="145" name="Google Shape;145;p7"/>
          <p:cNvGrpSpPr/>
          <p:nvPr/>
        </p:nvGrpSpPr>
        <p:grpSpPr>
          <a:xfrm>
            <a:off x="1284732" y="827532"/>
            <a:ext cx="1289304" cy="1182624"/>
            <a:chOff x="1284732" y="827532"/>
            <a:chExt cx="1289304" cy="1182624"/>
          </a:xfrm>
        </p:grpSpPr>
        <p:pic>
          <p:nvPicPr>
            <p:cNvPr id="146" name="Google Shape;146;p7"/>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47" name="Google Shape;147;p7"/>
            <p:cNvPicPr preferRelativeResize="0"/>
            <p:nvPr/>
          </p:nvPicPr>
          <p:blipFill rotWithShape="1">
            <a:blip r:embed="rId4">
              <a:alphaModFix/>
            </a:blip>
            <a:srcRect/>
            <a:stretch/>
          </p:blipFill>
          <p:spPr>
            <a:xfrm>
              <a:off x="1335024" y="827532"/>
              <a:ext cx="1188720" cy="1182624"/>
            </a:xfrm>
            <a:prstGeom prst="rect">
              <a:avLst/>
            </a:prstGeom>
            <a:noFill/>
            <a:ln>
              <a:noFill/>
            </a:ln>
          </p:spPr>
        </p:pic>
        <p:pic>
          <p:nvPicPr>
            <p:cNvPr id="148" name="Google Shape;148;p7"/>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149" name="Google Shape;149;p7"/>
          <p:cNvSpPr txBox="1"/>
          <p:nvPr/>
        </p:nvSpPr>
        <p:spPr>
          <a:xfrm>
            <a:off x="1466469" y="1075385"/>
            <a:ext cx="969010" cy="1013460"/>
          </a:xfrm>
          <a:prstGeom prst="rect">
            <a:avLst/>
          </a:prstGeom>
          <a:noFill/>
          <a:ln>
            <a:noFill/>
          </a:ln>
        </p:spPr>
        <p:txBody>
          <a:bodyPr spcFirstLastPara="1" wrap="square" lIns="0" tIns="12050" rIns="0" bIns="0" anchor="t" anchorCtr="0">
            <a:spAutoFit/>
          </a:bodyPr>
          <a:lstStyle/>
          <a:p>
            <a:pPr marL="236854"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01</a:t>
            </a:r>
            <a:endParaRPr sz="2800">
              <a:latin typeface="Impact"/>
              <a:ea typeface="Impact"/>
              <a:cs typeface="Impact"/>
              <a:sym typeface="Impact"/>
            </a:endParaRPr>
          </a:p>
          <a:p>
            <a:pPr marL="354965" lvl="0" indent="-342265" algn="l" rtl="0">
              <a:lnSpc>
                <a:spcPct val="100000"/>
              </a:lnSpc>
              <a:spcBef>
                <a:spcPts val="2020"/>
              </a:spcBef>
              <a:spcAft>
                <a:spcPts val="0"/>
              </a:spcAft>
              <a:buClr>
                <a:srgbClr val="FF5A33"/>
              </a:buClr>
              <a:buSzPts val="2000"/>
              <a:buFont typeface="Noto Sans Symbols"/>
              <a:buChar char="❑"/>
            </a:pPr>
            <a:r>
              <a:rPr lang="en-US" sz="2000" b="1">
                <a:latin typeface="Times New Roman"/>
                <a:ea typeface="Times New Roman"/>
                <a:cs typeface="Times New Roman"/>
                <a:sym typeface="Times New Roman"/>
              </a:rPr>
              <a:t>Ví dụ</a:t>
            </a:r>
            <a:endParaRPr sz="2000">
              <a:latin typeface="Times New Roman"/>
              <a:ea typeface="Times New Roman"/>
              <a:cs typeface="Times New Roman"/>
              <a:sym typeface="Times New Roman"/>
            </a:endParaRPr>
          </a:p>
        </p:txBody>
      </p:sp>
      <p:sp>
        <p:nvSpPr>
          <p:cNvPr id="150" name="Google Shape;150;p7"/>
          <p:cNvSpPr txBox="1"/>
          <p:nvPr/>
        </p:nvSpPr>
        <p:spPr>
          <a:xfrm>
            <a:off x="1923669" y="3662629"/>
            <a:ext cx="1075055"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p:txBody>
      </p:sp>
      <p:sp>
        <p:nvSpPr>
          <p:cNvPr id="151" name="Google Shape;151;p7"/>
          <p:cNvSpPr txBox="1"/>
          <p:nvPr/>
        </p:nvSpPr>
        <p:spPr>
          <a:xfrm>
            <a:off x="1923669" y="5186883"/>
            <a:ext cx="1005840"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Kết quả</a:t>
            </a:r>
            <a:endParaRPr sz="2000">
              <a:latin typeface="Times New Roman"/>
              <a:ea typeface="Times New Roman"/>
              <a:cs typeface="Times New Roman"/>
              <a:sym typeface="Times New Roman"/>
            </a:endParaRPr>
          </a:p>
        </p:txBody>
      </p:sp>
      <p:sp>
        <p:nvSpPr>
          <p:cNvPr id="152" name="Google Shape;152;p7"/>
          <p:cNvSpPr txBox="1"/>
          <p:nvPr/>
        </p:nvSpPr>
        <p:spPr>
          <a:xfrm>
            <a:off x="3564382" y="3678428"/>
            <a:ext cx="4702810" cy="1397000"/>
          </a:xfrm>
          <a:prstGeom prst="rect">
            <a:avLst/>
          </a:prstGeom>
          <a:noFill/>
          <a:ln>
            <a:noFill/>
          </a:ln>
        </p:spPr>
        <p:txBody>
          <a:bodyPr spcFirstLastPara="1" wrap="square" lIns="0" tIns="12700" rIns="0" bIns="0" anchor="t" anchorCtr="0">
            <a:spAutoFit/>
          </a:bodyPr>
          <a:lstStyle/>
          <a:p>
            <a:pPr marL="12700" marR="1344295"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CustName</a:t>
            </a:r>
            <a:r>
              <a:rPr lang="en-US" sz="1800">
                <a:solidFill>
                  <a:srgbClr val="808080"/>
                </a:solidFill>
                <a:latin typeface="Arial"/>
                <a:ea typeface="Arial"/>
                <a:cs typeface="Arial"/>
                <a:sym typeface="Arial"/>
              </a:rPr>
              <a:t>, </a:t>
            </a:r>
            <a:r>
              <a:rPr lang="en-US" sz="1800">
                <a:latin typeface="Arial"/>
                <a:ea typeface="Arial"/>
                <a:cs typeface="Arial"/>
                <a:sym typeface="Arial"/>
              </a:rPr>
              <a:t>o</a:t>
            </a:r>
            <a:r>
              <a:rPr lang="en-US" sz="1800">
                <a:solidFill>
                  <a:srgbClr val="808080"/>
                </a:solidFill>
                <a:latin typeface="Arial"/>
                <a:ea typeface="Arial"/>
                <a:cs typeface="Arial"/>
                <a:sym typeface="Arial"/>
              </a:rPr>
              <a:t>.</a:t>
            </a:r>
            <a:r>
              <a:rPr lang="en-US" sz="1800">
                <a:latin typeface="Arial"/>
                <a:ea typeface="Arial"/>
                <a:cs typeface="Arial"/>
                <a:sym typeface="Arial"/>
              </a:rPr>
              <a:t>OrderID </a:t>
            </a:r>
            <a:r>
              <a:rPr lang="en-US" sz="1800">
                <a:solidFill>
                  <a:srgbClr val="0000FF"/>
                </a:solidFill>
                <a:latin typeface="Arial"/>
                <a:ea typeface="Arial"/>
                <a:cs typeface="Arial"/>
                <a:sym typeface="Arial"/>
              </a:rPr>
              <a:t>FROM </a:t>
            </a:r>
            <a:r>
              <a:rPr lang="en-US" sz="1800">
                <a:latin typeface="Arial"/>
                <a:ea typeface="Arial"/>
                <a:cs typeface="Arial"/>
                <a:sym typeface="Arial"/>
              </a:rPr>
              <a:t>Customer c</a:t>
            </a:r>
            <a:endParaRPr sz="1800">
              <a:latin typeface="Arial"/>
              <a:ea typeface="Arial"/>
              <a:cs typeface="Arial"/>
              <a:sym typeface="Arial"/>
            </a:endParaRPr>
          </a:p>
          <a:p>
            <a:pPr marL="1041400" lvl="0" indent="0" algn="l" rtl="0">
              <a:lnSpc>
                <a:spcPct val="100000"/>
              </a:lnSpc>
              <a:spcBef>
                <a:spcPts val="0"/>
              </a:spcBef>
              <a:spcAft>
                <a:spcPts val="0"/>
              </a:spcAft>
              <a:buNone/>
            </a:pPr>
            <a:r>
              <a:rPr lang="en-US" sz="1800">
                <a:solidFill>
                  <a:srgbClr val="808080"/>
                </a:solidFill>
                <a:latin typeface="Arial"/>
                <a:ea typeface="Arial"/>
                <a:cs typeface="Arial"/>
                <a:sym typeface="Arial"/>
              </a:rPr>
              <a:t>LEFT JOIN </a:t>
            </a:r>
            <a:r>
              <a:rPr lang="en-US" sz="1800">
                <a:latin typeface="Arial"/>
                <a:ea typeface="Arial"/>
                <a:cs typeface="Arial"/>
                <a:sym typeface="Arial"/>
              </a:rPr>
              <a:t>[Order] o </a:t>
            </a:r>
            <a:r>
              <a:rPr lang="en-US" sz="1800">
                <a:solidFill>
                  <a:srgbClr val="0000FF"/>
                </a:solidFill>
                <a:latin typeface="Arial"/>
                <a:ea typeface="Arial"/>
                <a:cs typeface="Arial"/>
                <a:sym typeface="Arial"/>
              </a:rPr>
              <a:t>ON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CustID </a:t>
            </a:r>
            <a:r>
              <a:rPr lang="en-US" sz="1800">
                <a:solidFill>
                  <a:srgbClr val="808080"/>
                </a:solidFill>
                <a:latin typeface="Arial"/>
                <a:ea typeface="Arial"/>
                <a:cs typeface="Arial"/>
                <a:sym typeface="Arial"/>
              </a:rPr>
              <a:t>=</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latin typeface="Arial"/>
                <a:ea typeface="Arial"/>
                <a:cs typeface="Arial"/>
                <a:sym typeface="Arial"/>
              </a:rPr>
              <a:t>o</a:t>
            </a:r>
            <a:r>
              <a:rPr lang="en-US" sz="1800">
                <a:solidFill>
                  <a:srgbClr val="808080"/>
                </a:solidFill>
                <a:latin typeface="Arial"/>
                <a:ea typeface="Arial"/>
                <a:cs typeface="Arial"/>
                <a:sym typeface="Arial"/>
              </a:rPr>
              <a:t>.</a:t>
            </a:r>
            <a:r>
              <a:rPr lang="en-US" sz="1800">
                <a:latin typeface="Arial"/>
                <a:ea typeface="Arial"/>
                <a:cs typeface="Arial"/>
                <a:sym typeface="Arial"/>
              </a:rPr>
              <a:t>CustID</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solidFill>
                  <a:srgbClr val="0000FF"/>
                </a:solidFill>
                <a:latin typeface="Arial"/>
                <a:ea typeface="Arial"/>
                <a:cs typeface="Arial"/>
                <a:sym typeface="Arial"/>
              </a:rPr>
              <a:t>ORDER BY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CustName</a:t>
            </a:r>
            <a:r>
              <a:rPr lang="en-US" sz="1800">
                <a:solidFill>
                  <a:srgbClr val="808080"/>
                </a:solidFill>
                <a:latin typeface="Arial"/>
                <a:ea typeface="Arial"/>
                <a:cs typeface="Arial"/>
                <a:sym typeface="Arial"/>
              </a:rPr>
              <a:t>;</a:t>
            </a:r>
            <a:endParaRPr sz="1800">
              <a:latin typeface="Arial"/>
              <a:ea typeface="Arial"/>
              <a:cs typeface="Arial"/>
              <a:sym typeface="Arial"/>
            </a:endParaRPr>
          </a:p>
        </p:txBody>
      </p:sp>
      <p:grpSp>
        <p:nvGrpSpPr>
          <p:cNvPr id="153" name="Google Shape;153;p7"/>
          <p:cNvGrpSpPr/>
          <p:nvPr/>
        </p:nvGrpSpPr>
        <p:grpSpPr>
          <a:xfrm>
            <a:off x="2685288" y="1996439"/>
            <a:ext cx="6492240" cy="1507236"/>
            <a:chOff x="2685288" y="1996439"/>
            <a:chExt cx="6492240" cy="1507236"/>
          </a:xfrm>
        </p:grpSpPr>
        <p:pic>
          <p:nvPicPr>
            <p:cNvPr id="154" name="Google Shape;154;p7"/>
            <p:cNvPicPr preferRelativeResize="0"/>
            <p:nvPr/>
          </p:nvPicPr>
          <p:blipFill rotWithShape="1">
            <a:blip r:embed="rId6">
              <a:alphaModFix/>
            </a:blip>
            <a:srcRect/>
            <a:stretch/>
          </p:blipFill>
          <p:spPr>
            <a:xfrm>
              <a:off x="2685288" y="1996439"/>
              <a:ext cx="3276600" cy="1507236"/>
            </a:xfrm>
            <a:prstGeom prst="rect">
              <a:avLst/>
            </a:prstGeom>
            <a:noFill/>
            <a:ln>
              <a:noFill/>
            </a:ln>
          </p:spPr>
        </p:pic>
        <p:pic>
          <p:nvPicPr>
            <p:cNvPr id="155" name="Google Shape;155;p7"/>
            <p:cNvPicPr preferRelativeResize="0"/>
            <p:nvPr/>
          </p:nvPicPr>
          <p:blipFill rotWithShape="1">
            <a:blip r:embed="rId7">
              <a:alphaModFix/>
            </a:blip>
            <a:srcRect/>
            <a:stretch/>
          </p:blipFill>
          <p:spPr>
            <a:xfrm>
              <a:off x="6324600" y="2077211"/>
              <a:ext cx="2852928" cy="1354836"/>
            </a:xfrm>
            <a:prstGeom prst="rect">
              <a:avLst/>
            </a:prstGeom>
            <a:noFill/>
            <a:ln>
              <a:noFill/>
            </a:ln>
          </p:spPr>
        </p:pic>
      </p:grpSp>
      <p:grpSp>
        <p:nvGrpSpPr>
          <p:cNvPr id="156" name="Google Shape;156;p7"/>
          <p:cNvGrpSpPr/>
          <p:nvPr/>
        </p:nvGrpSpPr>
        <p:grpSpPr>
          <a:xfrm>
            <a:off x="3957827" y="5245607"/>
            <a:ext cx="3205480" cy="1438910"/>
            <a:chOff x="3957827" y="5245607"/>
            <a:chExt cx="3205480" cy="1438910"/>
          </a:xfrm>
        </p:grpSpPr>
        <p:pic>
          <p:nvPicPr>
            <p:cNvPr id="157" name="Google Shape;157;p7"/>
            <p:cNvPicPr preferRelativeResize="0"/>
            <p:nvPr/>
          </p:nvPicPr>
          <p:blipFill rotWithShape="1">
            <a:blip r:embed="rId8">
              <a:alphaModFix/>
            </a:blip>
            <a:srcRect/>
            <a:stretch/>
          </p:blipFill>
          <p:spPr>
            <a:xfrm>
              <a:off x="3962399" y="5250179"/>
              <a:ext cx="3195828" cy="1429512"/>
            </a:xfrm>
            <a:prstGeom prst="rect">
              <a:avLst/>
            </a:prstGeom>
            <a:noFill/>
            <a:ln>
              <a:noFill/>
            </a:ln>
          </p:spPr>
        </p:pic>
        <p:sp>
          <p:nvSpPr>
            <p:cNvPr id="158" name="Google Shape;158;p7"/>
            <p:cNvSpPr/>
            <p:nvPr/>
          </p:nvSpPr>
          <p:spPr>
            <a:xfrm>
              <a:off x="3957827" y="5245607"/>
              <a:ext cx="3205480" cy="1438910"/>
            </a:xfrm>
            <a:custGeom>
              <a:avLst/>
              <a:gdLst/>
              <a:ahLst/>
              <a:cxnLst/>
              <a:rect l="l" t="t" r="r" b="b"/>
              <a:pathLst>
                <a:path w="3205479" h="1438909" extrusionOk="0">
                  <a:moveTo>
                    <a:pt x="0" y="1438656"/>
                  </a:moveTo>
                  <a:lnTo>
                    <a:pt x="3204972" y="1438656"/>
                  </a:lnTo>
                  <a:lnTo>
                    <a:pt x="3204972" y="0"/>
                  </a:lnTo>
                  <a:lnTo>
                    <a:pt x="0" y="0"/>
                  </a:lnTo>
                  <a:lnTo>
                    <a:pt x="0" y="143865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grpSp>
        <p:nvGrpSpPr>
          <p:cNvPr id="163" name="Google Shape;163;p8"/>
          <p:cNvGrpSpPr/>
          <p:nvPr/>
        </p:nvGrpSpPr>
        <p:grpSpPr>
          <a:xfrm>
            <a:off x="1284732" y="827531"/>
            <a:ext cx="1289304" cy="1182624"/>
            <a:chOff x="1284732" y="827531"/>
            <a:chExt cx="1289304" cy="1182624"/>
          </a:xfrm>
        </p:grpSpPr>
        <p:pic>
          <p:nvPicPr>
            <p:cNvPr id="164" name="Google Shape;164;p8"/>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65" name="Google Shape;165;p8"/>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166" name="Google Shape;166;p8"/>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167" name="Google Shape;167;p8"/>
          <p:cNvSpPr txBox="1">
            <a:spLocks noGrp="1"/>
          </p:cNvSpPr>
          <p:nvPr>
            <p:ph type="title"/>
          </p:nvPr>
        </p:nvSpPr>
        <p:spPr>
          <a:xfrm>
            <a:off x="1690877" y="1075385"/>
            <a:ext cx="643572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dirty="0">
                <a:latin typeface="Times New Roman" panose="02020603050405020304" pitchFamily="18" charset="0"/>
                <a:ea typeface="Impact"/>
                <a:cs typeface="Times New Roman" panose="02020603050405020304" pitchFamily="18" charset="0"/>
                <a:sym typeface="Impact"/>
              </a:rPr>
              <a:t>RIGHT JOIN</a:t>
            </a:r>
            <a:endParaRPr sz="4200" baseline="30000" dirty="0">
              <a:latin typeface="Times New Roman" panose="02020603050405020304" pitchFamily="18" charset="0"/>
              <a:ea typeface="Impact"/>
              <a:cs typeface="Times New Roman" panose="02020603050405020304" pitchFamily="18" charset="0"/>
              <a:sym typeface="Impact"/>
            </a:endParaRPr>
          </a:p>
        </p:txBody>
      </p:sp>
      <p:sp>
        <p:nvSpPr>
          <p:cNvPr id="168" name="Google Shape;168;p8"/>
          <p:cNvSpPr txBox="1"/>
          <p:nvPr/>
        </p:nvSpPr>
        <p:spPr>
          <a:xfrm>
            <a:off x="1466469" y="1757552"/>
            <a:ext cx="7913370" cy="1855470"/>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sz="2000" b="1">
                <a:latin typeface="Times New Roman"/>
                <a:ea typeface="Times New Roman"/>
                <a:cs typeface="Times New Roman"/>
                <a:sym typeface="Times New Roman"/>
              </a:rPr>
              <a:t>Right join </a:t>
            </a:r>
            <a:r>
              <a:rPr lang="en-US" sz="2000">
                <a:latin typeface="Times New Roman"/>
                <a:ea typeface="Times New Roman"/>
                <a:cs typeface="Times New Roman"/>
                <a:sym typeface="Times New Roman"/>
              </a:rPr>
              <a:t>trong SQL tương tự như left join, nhưng nó trả về tất cả các hàng từ bảng bên phải (tức là bảng thứ hai được chỉ định trong join), ngay cả khi không có kết quả khớp ở bảng bên trái (tức là bảng đầu tiên được chỉ định trong liên kết).Trong trường hợp khi tồn tại các record của table2 không có kết quả khớp với table1 thì các column select của table1 sẽ được trả về bằng NULL</a:t>
            </a:r>
            <a:endParaRPr sz="2000">
              <a:latin typeface="Times New Roman"/>
              <a:ea typeface="Times New Roman"/>
              <a:cs typeface="Times New Roman"/>
              <a:sym typeface="Times New Roman"/>
            </a:endParaRPr>
          </a:p>
        </p:txBody>
      </p:sp>
      <p:sp>
        <p:nvSpPr>
          <p:cNvPr id="169" name="Google Shape;169;p8"/>
          <p:cNvSpPr txBox="1"/>
          <p:nvPr/>
        </p:nvSpPr>
        <p:spPr>
          <a:xfrm>
            <a:off x="1923669" y="3662629"/>
            <a:ext cx="1075055"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p:txBody>
      </p:sp>
      <p:sp>
        <p:nvSpPr>
          <p:cNvPr id="170" name="Google Shape;170;p8"/>
          <p:cNvSpPr txBox="1"/>
          <p:nvPr/>
        </p:nvSpPr>
        <p:spPr>
          <a:xfrm>
            <a:off x="3860419" y="3691890"/>
            <a:ext cx="4375150" cy="1123315"/>
          </a:xfrm>
          <a:prstGeom prst="rect">
            <a:avLst/>
          </a:prstGeom>
          <a:noFill/>
          <a:ln>
            <a:noFill/>
          </a:ln>
        </p:spPr>
        <p:txBody>
          <a:bodyPr spcFirstLastPara="1" wrap="square" lIns="0" tIns="12700" rIns="0" bIns="0" anchor="t" anchorCtr="0">
            <a:spAutoFit/>
          </a:bodyPr>
          <a:lstStyle/>
          <a:p>
            <a:pPr marL="584200" marR="1969770" lvl="0" indent="-57150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col_names </a:t>
            </a:r>
            <a:r>
              <a:rPr lang="en-US" sz="1800">
                <a:solidFill>
                  <a:srgbClr val="0000FF"/>
                </a:solidFill>
                <a:latin typeface="Arial"/>
                <a:ea typeface="Arial"/>
                <a:cs typeface="Arial"/>
                <a:sym typeface="Arial"/>
              </a:rPr>
              <a:t>FROM </a:t>
            </a:r>
            <a:r>
              <a:rPr lang="en-US" sz="1800">
                <a:latin typeface="Arial"/>
                <a:ea typeface="Arial"/>
                <a:cs typeface="Arial"/>
                <a:sym typeface="Arial"/>
              </a:rPr>
              <a:t>Table_A A</a:t>
            </a:r>
            <a:endParaRPr sz="1800">
              <a:latin typeface="Arial"/>
              <a:ea typeface="Arial"/>
              <a:cs typeface="Arial"/>
              <a:sym typeface="Arial"/>
            </a:endParaRPr>
          </a:p>
          <a:p>
            <a:pPr marL="1498600" lvl="0" indent="0" algn="l" rtl="0">
              <a:lnSpc>
                <a:spcPct val="100000"/>
              </a:lnSpc>
              <a:spcBef>
                <a:spcPts val="0"/>
              </a:spcBef>
              <a:spcAft>
                <a:spcPts val="0"/>
              </a:spcAft>
              <a:buNone/>
            </a:pPr>
            <a:r>
              <a:rPr lang="en-US" sz="1800">
                <a:solidFill>
                  <a:srgbClr val="808080"/>
                </a:solidFill>
                <a:latin typeface="Arial"/>
                <a:ea typeface="Arial"/>
                <a:cs typeface="Arial"/>
                <a:sym typeface="Arial"/>
              </a:rPr>
              <a:t>RIGHT JOIN </a:t>
            </a:r>
            <a:r>
              <a:rPr lang="en-US" sz="1800">
                <a:latin typeface="Arial"/>
                <a:ea typeface="Arial"/>
                <a:cs typeface="Arial"/>
                <a:sym typeface="Arial"/>
              </a:rPr>
              <a:t>Table_B	B </a:t>
            </a:r>
            <a:r>
              <a:rPr lang="en-US" sz="1800">
                <a:solidFill>
                  <a:srgbClr val="0000FF"/>
                </a:solidFill>
                <a:latin typeface="Arial"/>
                <a:ea typeface="Arial"/>
                <a:cs typeface="Arial"/>
                <a:sym typeface="Arial"/>
              </a:rPr>
              <a:t>ON</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latin typeface="Arial"/>
                <a:ea typeface="Arial"/>
                <a:cs typeface="Arial"/>
                <a:sym typeface="Arial"/>
              </a:rPr>
              <a:t>A</a:t>
            </a:r>
            <a:r>
              <a:rPr lang="en-US" sz="1800">
                <a:solidFill>
                  <a:srgbClr val="808080"/>
                </a:solidFill>
                <a:latin typeface="Arial"/>
                <a:ea typeface="Arial"/>
                <a:cs typeface="Arial"/>
                <a:sym typeface="Arial"/>
              </a:rPr>
              <a:t>.</a:t>
            </a:r>
            <a:r>
              <a:rPr lang="en-US" sz="1800">
                <a:latin typeface="Arial"/>
                <a:ea typeface="Arial"/>
                <a:cs typeface="Arial"/>
                <a:sym typeface="Arial"/>
              </a:rPr>
              <a:t>Col1 </a:t>
            </a:r>
            <a:r>
              <a:rPr lang="en-US" sz="1800">
                <a:solidFill>
                  <a:srgbClr val="808080"/>
                </a:solidFill>
                <a:latin typeface="Arial"/>
                <a:ea typeface="Arial"/>
                <a:cs typeface="Arial"/>
                <a:sym typeface="Arial"/>
              </a:rPr>
              <a:t>= </a:t>
            </a:r>
            <a:r>
              <a:rPr lang="en-US" sz="1800">
                <a:latin typeface="Arial"/>
                <a:ea typeface="Arial"/>
                <a:cs typeface="Arial"/>
                <a:sym typeface="Arial"/>
              </a:rPr>
              <a:t>B</a:t>
            </a:r>
            <a:r>
              <a:rPr lang="en-US" sz="1800">
                <a:solidFill>
                  <a:srgbClr val="808080"/>
                </a:solidFill>
                <a:latin typeface="Arial"/>
                <a:ea typeface="Arial"/>
                <a:cs typeface="Arial"/>
                <a:sym typeface="Arial"/>
              </a:rPr>
              <a:t>.</a:t>
            </a:r>
            <a:r>
              <a:rPr lang="en-US" sz="1800">
                <a:latin typeface="Arial"/>
                <a:ea typeface="Arial"/>
                <a:cs typeface="Arial"/>
                <a:sym typeface="Arial"/>
              </a:rPr>
              <a:t>Col1</a:t>
            </a:r>
            <a:endParaRPr sz="1800">
              <a:latin typeface="Arial"/>
              <a:ea typeface="Arial"/>
              <a:cs typeface="Arial"/>
              <a:sym typeface="Arial"/>
            </a:endParaRPr>
          </a:p>
        </p:txBody>
      </p:sp>
      <p:pic>
        <p:nvPicPr>
          <p:cNvPr id="171" name="Google Shape;171;p8"/>
          <p:cNvPicPr preferRelativeResize="0"/>
          <p:nvPr/>
        </p:nvPicPr>
        <p:blipFill rotWithShape="1">
          <a:blip r:embed="rId6">
            <a:alphaModFix/>
          </a:blip>
          <a:srcRect/>
          <a:stretch/>
        </p:blipFill>
        <p:spPr>
          <a:xfrm>
            <a:off x="4419600" y="4953000"/>
            <a:ext cx="2304288" cy="15544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3452876" y="1064717"/>
            <a:ext cx="4679950" cy="452119"/>
          </a:xfrm>
          <a:prstGeom prst="rect">
            <a:avLst/>
          </a:prstGeom>
          <a:noFill/>
          <a:ln>
            <a:noFill/>
          </a:ln>
        </p:spPr>
        <p:txBody>
          <a:bodyPr spcFirstLastPara="1" wrap="square" lIns="0" tIns="12050" rIns="0" bIns="0" anchor="t" anchorCtr="0">
            <a:spAutoFit/>
          </a:bodyPr>
          <a:lstStyle/>
          <a:p>
            <a:pPr marL="17145" lvl="0" indent="0" algn="l" rtl="0">
              <a:lnSpc>
                <a:spcPct val="100000"/>
              </a:lnSpc>
              <a:spcBef>
                <a:spcPts val="0"/>
              </a:spcBef>
              <a:spcAft>
                <a:spcPts val="0"/>
              </a:spcAft>
              <a:buNone/>
            </a:pPr>
            <a:r>
              <a:rPr lang="en-US" dirty="0"/>
              <a:t>OUTER JOIN (RIGHT JOIN)</a:t>
            </a:r>
            <a:endParaRPr dirty="0"/>
          </a:p>
        </p:txBody>
      </p:sp>
      <p:grpSp>
        <p:nvGrpSpPr>
          <p:cNvPr id="177" name="Google Shape;177;p9"/>
          <p:cNvGrpSpPr/>
          <p:nvPr/>
        </p:nvGrpSpPr>
        <p:grpSpPr>
          <a:xfrm>
            <a:off x="1284732" y="827532"/>
            <a:ext cx="1289304" cy="1182624"/>
            <a:chOff x="1284732" y="827532"/>
            <a:chExt cx="1289304" cy="1182624"/>
          </a:xfrm>
        </p:grpSpPr>
        <p:pic>
          <p:nvPicPr>
            <p:cNvPr id="178" name="Google Shape;178;p9"/>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79" name="Google Shape;179;p9"/>
            <p:cNvPicPr preferRelativeResize="0"/>
            <p:nvPr/>
          </p:nvPicPr>
          <p:blipFill rotWithShape="1">
            <a:blip r:embed="rId4">
              <a:alphaModFix/>
            </a:blip>
            <a:srcRect/>
            <a:stretch/>
          </p:blipFill>
          <p:spPr>
            <a:xfrm>
              <a:off x="1335024" y="827532"/>
              <a:ext cx="1188720" cy="1182624"/>
            </a:xfrm>
            <a:prstGeom prst="rect">
              <a:avLst/>
            </a:prstGeom>
            <a:noFill/>
            <a:ln>
              <a:noFill/>
            </a:ln>
          </p:spPr>
        </p:pic>
        <p:pic>
          <p:nvPicPr>
            <p:cNvPr id="180" name="Google Shape;180;p9"/>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181" name="Google Shape;181;p9"/>
          <p:cNvSpPr txBox="1"/>
          <p:nvPr/>
        </p:nvSpPr>
        <p:spPr>
          <a:xfrm>
            <a:off x="1466469" y="1075385"/>
            <a:ext cx="969010" cy="1013460"/>
          </a:xfrm>
          <a:prstGeom prst="rect">
            <a:avLst/>
          </a:prstGeom>
          <a:noFill/>
          <a:ln>
            <a:noFill/>
          </a:ln>
        </p:spPr>
        <p:txBody>
          <a:bodyPr spcFirstLastPara="1" wrap="square" lIns="0" tIns="12050" rIns="0" bIns="0" anchor="t" anchorCtr="0">
            <a:spAutoFit/>
          </a:bodyPr>
          <a:lstStyle/>
          <a:p>
            <a:pPr marL="236854"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01</a:t>
            </a:r>
            <a:endParaRPr sz="2800">
              <a:latin typeface="Impact"/>
              <a:ea typeface="Impact"/>
              <a:cs typeface="Impact"/>
              <a:sym typeface="Impact"/>
            </a:endParaRPr>
          </a:p>
          <a:p>
            <a:pPr marL="354965" lvl="0" indent="-342265" algn="l" rtl="0">
              <a:lnSpc>
                <a:spcPct val="100000"/>
              </a:lnSpc>
              <a:spcBef>
                <a:spcPts val="2020"/>
              </a:spcBef>
              <a:spcAft>
                <a:spcPts val="0"/>
              </a:spcAft>
              <a:buClr>
                <a:srgbClr val="FF5A33"/>
              </a:buClr>
              <a:buSzPts val="2000"/>
              <a:buFont typeface="Noto Sans Symbols"/>
              <a:buChar char="❑"/>
            </a:pPr>
            <a:r>
              <a:rPr lang="en-US" sz="2000" b="1">
                <a:latin typeface="Times New Roman"/>
                <a:ea typeface="Times New Roman"/>
                <a:cs typeface="Times New Roman"/>
                <a:sym typeface="Times New Roman"/>
              </a:rPr>
              <a:t>Ví dụ</a:t>
            </a:r>
            <a:endParaRPr sz="2000">
              <a:latin typeface="Times New Roman"/>
              <a:ea typeface="Times New Roman"/>
              <a:cs typeface="Times New Roman"/>
              <a:sym typeface="Times New Roman"/>
            </a:endParaRPr>
          </a:p>
        </p:txBody>
      </p:sp>
      <p:sp>
        <p:nvSpPr>
          <p:cNvPr id="182" name="Google Shape;182;p9"/>
          <p:cNvSpPr txBox="1"/>
          <p:nvPr/>
        </p:nvSpPr>
        <p:spPr>
          <a:xfrm>
            <a:off x="1923669" y="3662629"/>
            <a:ext cx="1075055"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p:txBody>
      </p:sp>
      <p:sp>
        <p:nvSpPr>
          <p:cNvPr id="183" name="Google Shape;183;p9"/>
          <p:cNvSpPr txBox="1"/>
          <p:nvPr/>
        </p:nvSpPr>
        <p:spPr>
          <a:xfrm>
            <a:off x="1923669" y="5186883"/>
            <a:ext cx="1005840"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Kết quả</a:t>
            </a:r>
            <a:endParaRPr sz="2000">
              <a:latin typeface="Times New Roman"/>
              <a:ea typeface="Times New Roman"/>
              <a:cs typeface="Times New Roman"/>
              <a:sym typeface="Times New Roman"/>
            </a:endParaRPr>
          </a:p>
        </p:txBody>
      </p:sp>
      <p:sp>
        <p:nvSpPr>
          <p:cNvPr id="184" name="Google Shape;184;p9"/>
          <p:cNvSpPr txBox="1"/>
          <p:nvPr/>
        </p:nvSpPr>
        <p:spPr>
          <a:xfrm>
            <a:off x="3402838" y="3691890"/>
            <a:ext cx="4855845" cy="1397635"/>
          </a:xfrm>
          <a:prstGeom prst="rect">
            <a:avLst/>
          </a:prstGeom>
          <a:noFill/>
          <a:ln>
            <a:noFill/>
          </a:ln>
        </p:spPr>
        <p:txBody>
          <a:bodyPr spcFirstLastPara="1" wrap="square" lIns="0" tIns="12700" rIns="0" bIns="0" anchor="t" anchorCtr="0">
            <a:spAutoFit/>
          </a:bodyPr>
          <a:lstStyle/>
          <a:p>
            <a:pPr marL="12700" marR="1497965"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CustName</a:t>
            </a:r>
            <a:r>
              <a:rPr lang="en-US" sz="1800">
                <a:solidFill>
                  <a:srgbClr val="808080"/>
                </a:solidFill>
                <a:latin typeface="Arial"/>
                <a:ea typeface="Arial"/>
                <a:cs typeface="Arial"/>
                <a:sym typeface="Arial"/>
              </a:rPr>
              <a:t>, </a:t>
            </a:r>
            <a:r>
              <a:rPr lang="en-US" sz="1800">
                <a:latin typeface="Arial"/>
                <a:ea typeface="Arial"/>
                <a:cs typeface="Arial"/>
                <a:sym typeface="Arial"/>
              </a:rPr>
              <a:t>o</a:t>
            </a:r>
            <a:r>
              <a:rPr lang="en-US" sz="1800">
                <a:solidFill>
                  <a:srgbClr val="808080"/>
                </a:solidFill>
                <a:latin typeface="Arial"/>
                <a:ea typeface="Arial"/>
                <a:cs typeface="Arial"/>
                <a:sym typeface="Arial"/>
              </a:rPr>
              <a:t>.</a:t>
            </a:r>
            <a:r>
              <a:rPr lang="en-US" sz="1800">
                <a:latin typeface="Arial"/>
                <a:ea typeface="Arial"/>
                <a:cs typeface="Arial"/>
                <a:sym typeface="Arial"/>
              </a:rPr>
              <a:t>OrderID </a:t>
            </a:r>
            <a:r>
              <a:rPr lang="en-US" sz="1800">
                <a:solidFill>
                  <a:srgbClr val="0000FF"/>
                </a:solidFill>
                <a:latin typeface="Arial"/>
                <a:ea typeface="Arial"/>
                <a:cs typeface="Arial"/>
                <a:sym typeface="Arial"/>
              </a:rPr>
              <a:t>FROM </a:t>
            </a:r>
            <a:r>
              <a:rPr lang="en-US" sz="1800">
                <a:latin typeface="Arial"/>
                <a:ea typeface="Arial"/>
                <a:cs typeface="Arial"/>
                <a:sym typeface="Arial"/>
              </a:rPr>
              <a:t>Customer c</a:t>
            </a:r>
            <a:endParaRPr sz="1800">
              <a:latin typeface="Arial"/>
              <a:ea typeface="Arial"/>
              <a:cs typeface="Arial"/>
              <a:sym typeface="Arial"/>
            </a:endParaRPr>
          </a:p>
          <a:p>
            <a:pPr marL="1041400" lvl="0" indent="0" algn="l" rtl="0">
              <a:lnSpc>
                <a:spcPct val="100000"/>
              </a:lnSpc>
              <a:spcBef>
                <a:spcPts val="0"/>
              </a:spcBef>
              <a:spcAft>
                <a:spcPts val="0"/>
              </a:spcAft>
              <a:buNone/>
            </a:pPr>
            <a:r>
              <a:rPr lang="en-US" sz="1800">
                <a:solidFill>
                  <a:srgbClr val="808080"/>
                </a:solidFill>
                <a:latin typeface="Arial"/>
                <a:ea typeface="Arial"/>
                <a:cs typeface="Arial"/>
                <a:sym typeface="Arial"/>
              </a:rPr>
              <a:t>RIGHT JOIN </a:t>
            </a:r>
            <a:r>
              <a:rPr lang="en-US" sz="1800">
                <a:latin typeface="Arial"/>
                <a:ea typeface="Arial"/>
                <a:cs typeface="Arial"/>
                <a:sym typeface="Arial"/>
              </a:rPr>
              <a:t>[Order] o </a:t>
            </a:r>
            <a:r>
              <a:rPr lang="en-US" sz="1800">
                <a:solidFill>
                  <a:srgbClr val="0000FF"/>
                </a:solidFill>
                <a:latin typeface="Arial"/>
                <a:ea typeface="Arial"/>
                <a:cs typeface="Arial"/>
                <a:sym typeface="Arial"/>
              </a:rPr>
              <a:t>ON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CustID </a:t>
            </a:r>
            <a:r>
              <a:rPr lang="en-US" sz="1800">
                <a:solidFill>
                  <a:srgbClr val="808080"/>
                </a:solidFill>
                <a:latin typeface="Arial"/>
                <a:ea typeface="Arial"/>
                <a:cs typeface="Arial"/>
                <a:sym typeface="Arial"/>
              </a:rPr>
              <a:t>=</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latin typeface="Arial"/>
                <a:ea typeface="Arial"/>
                <a:cs typeface="Arial"/>
                <a:sym typeface="Arial"/>
              </a:rPr>
              <a:t>o</a:t>
            </a:r>
            <a:r>
              <a:rPr lang="en-US" sz="1800">
                <a:solidFill>
                  <a:srgbClr val="808080"/>
                </a:solidFill>
                <a:latin typeface="Arial"/>
                <a:ea typeface="Arial"/>
                <a:cs typeface="Arial"/>
                <a:sym typeface="Arial"/>
              </a:rPr>
              <a:t>.</a:t>
            </a:r>
            <a:r>
              <a:rPr lang="en-US" sz="1800">
                <a:latin typeface="Arial"/>
                <a:ea typeface="Arial"/>
                <a:cs typeface="Arial"/>
                <a:sym typeface="Arial"/>
              </a:rPr>
              <a:t>CustID</a:t>
            </a:r>
            <a:endParaRPr sz="1800">
              <a:latin typeface="Arial"/>
              <a:ea typeface="Arial"/>
              <a:cs typeface="Arial"/>
              <a:sym typeface="Arial"/>
            </a:endParaRPr>
          </a:p>
          <a:p>
            <a:pPr marL="12700" lvl="0" indent="0" algn="l" rtl="0">
              <a:lnSpc>
                <a:spcPct val="100000"/>
              </a:lnSpc>
              <a:spcBef>
                <a:spcPts val="0"/>
              </a:spcBef>
              <a:spcAft>
                <a:spcPts val="0"/>
              </a:spcAft>
              <a:buNone/>
            </a:pPr>
            <a:r>
              <a:rPr lang="en-US" sz="1800">
                <a:solidFill>
                  <a:srgbClr val="0000FF"/>
                </a:solidFill>
                <a:latin typeface="Arial"/>
                <a:ea typeface="Arial"/>
                <a:cs typeface="Arial"/>
                <a:sym typeface="Arial"/>
              </a:rPr>
              <a:t>ORDER BY </a:t>
            </a:r>
            <a:r>
              <a:rPr lang="en-US" sz="1800">
                <a:latin typeface="Arial"/>
                <a:ea typeface="Arial"/>
                <a:cs typeface="Arial"/>
                <a:sym typeface="Arial"/>
              </a:rPr>
              <a:t>c</a:t>
            </a:r>
            <a:r>
              <a:rPr lang="en-US" sz="1800">
                <a:solidFill>
                  <a:srgbClr val="808080"/>
                </a:solidFill>
                <a:latin typeface="Arial"/>
                <a:ea typeface="Arial"/>
                <a:cs typeface="Arial"/>
                <a:sym typeface="Arial"/>
              </a:rPr>
              <a:t>.</a:t>
            </a:r>
            <a:r>
              <a:rPr lang="en-US" sz="1800">
                <a:latin typeface="Arial"/>
                <a:ea typeface="Arial"/>
                <a:cs typeface="Arial"/>
                <a:sym typeface="Arial"/>
              </a:rPr>
              <a:t>CustName</a:t>
            </a:r>
            <a:r>
              <a:rPr lang="en-US" sz="1800">
                <a:solidFill>
                  <a:srgbClr val="808080"/>
                </a:solidFill>
                <a:latin typeface="Arial"/>
                <a:ea typeface="Arial"/>
                <a:cs typeface="Arial"/>
                <a:sym typeface="Arial"/>
              </a:rPr>
              <a:t>;</a:t>
            </a:r>
            <a:endParaRPr sz="1800">
              <a:latin typeface="Arial"/>
              <a:ea typeface="Arial"/>
              <a:cs typeface="Arial"/>
              <a:sym typeface="Arial"/>
            </a:endParaRPr>
          </a:p>
        </p:txBody>
      </p:sp>
      <p:grpSp>
        <p:nvGrpSpPr>
          <p:cNvPr id="185" name="Google Shape;185;p9"/>
          <p:cNvGrpSpPr/>
          <p:nvPr/>
        </p:nvGrpSpPr>
        <p:grpSpPr>
          <a:xfrm>
            <a:off x="2971800" y="1929383"/>
            <a:ext cx="7120128" cy="1632204"/>
            <a:chOff x="2971800" y="1929383"/>
            <a:chExt cx="7120128" cy="1632204"/>
          </a:xfrm>
        </p:grpSpPr>
        <p:pic>
          <p:nvPicPr>
            <p:cNvPr id="186" name="Google Shape;186;p9"/>
            <p:cNvPicPr preferRelativeResize="0"/>
            <p:nvPr/>
          </p:nvPicPr>
          <p:blipFill rotWithShape="1">
            <a:blip r:embed="rId6">
              <a:alphaModFix/>
            </a:blip>
            <a:srcRect/>
            <a:stretch/>
          </p:blipFill>
          <p:spPr>
            <a:xfrm>
              <a:off x="2971800" y="1929383"/>
              <a:ext cx="3547872" cy="1632204"/>
            </a:xfrm>
            <a:prstGeom prst="rect">
              <a:avLst/>
            </a:prstGeom>
            <a:noFill/>
            <a:ln>
              <a:noFill/>
            </a:ln>
          </p:spPr>
        </p:pic>
        <p:pic>
          <p:nvPicPr>
            <p:cNvPr id="187" name="Google Shape;187;p9"/>
            <p:cNvPicPr preferRelativeResize="0"/>
            <p:nvPr/>
          </p:nvPicPr>
          <p:blipFill rotWithShape="1">
            <a:blip r:embed="rId7">
              <a:alphaModFix/>
            </a:blip>
            <a:srcRect/>
            <a:stretch/>
          </p:blipFill>
          <p:spPr>
            <a:xfrm>
              <a:off x="6662928" y="1929383"/>
              <a:ext cx="3429000" cy="1629156"/>
            </a:xfrm>
            <a:prstGeom prst="rect">
              <a:avLst/>
            </a:prstGeom>
            <a:noFill/>
            <a:ln>
              <a:noFill/>
            </a:ln>
          </p:spPr>
        </p:pic>
      </p:grpSp>
      <p:grpSp>
        <p:nvGrpSpPr>
          <p:cNvPr id="188" name="Google Shape;188;p9"/>
          <p:cNvGrpSpPr/>
          <p:nvPr/>
        </p:nvGrpSpPr>
        <p:grpSpPr>
          <a:xfrm>
            <a:off x="4177283" y="5242560"/>
            <a:ext cx="3229610" cy="1222375"/>
            <a:chOff x="4177283" y="5242560"/>
            <a:chExt cx="3229610" cy="1222375"/>
          </a:xfrm>
        </p:grpSpPr>
        <p:pic>
          <p:nvPicPr>
            <p:cNvPr id="189" name="Google Shape;189;p9"/>
            <p:cNvPicPr preferRelativeResize="0"/>
            <p:nvPr/>
          </p:nvPicPr>
          <p:blipFill rotWithShape="1">
            <a:blip r:embed="rId8">
              <a:alphaModFix/>
            </a:blip>
            <a:srcRect/>
            <a:stretch/>
          </p:blipFill>
          <p:spPr>
            <a:xfrm>
              <a:off x="4181855" y="5247132"/>
              <a:ext cx="3220211" cy="1213104"/>
            </a:xfrm>
            <a:prstGeom prst="rect">
              <a:avLst/>
            </a:prstGeom>
            <a:noFill/>
            <a:ln>
              <a:noFill/>
            </a:ln>
          </p:spPr>
        </p:pic>
        <p:sp>
          <p:nvSpPr>
            <p:cNvPr id="190" name="Google Shape;190;p9"/>
            <p:cNvSpPr/>
            <p:nvPr/>
          </p:nvSpPr>
          <p:spPr>
            <a:xfrm>
              <a:off x="4177283" y="5242560"/>
              <a:ext cx="3229610" cy="1222375"/>
            </a:xfrm>
            <a:custGeom>
              <a:avLst/>
              <a:gdLst/>
              <a:ahLst/>
              <a:cxnLst/>
              <a:rect l="l" t="t" r="r" b="b"/>
              <a:pathLst>
                <a:path w="3229609" h="1222375" extrusionOk="0">
                  <a:moveTo>
                    <a:pt x="0" y="1222247"/>
                  </a:moveTo>
                  <a:lnTo>
                    <a:pt x="3229356" y="1222247"/>
                  </a:lnTo>
                  <a:lnTo>
                    <a:pt x="3229356" y="0"/>
                  </a:lnTo>
                  <a:lnTo>
                    <a:pt x="0" y="0"/>
                  </a:lnTo>
                  <a:lnTo>
                    <a:pt x="0" y="122224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grpSp>
        <p:nvGrpSpPr>
          <p:cNvPr id="195" name="Google Shape;195;p10"/>
          <p:cNvGrpSpPr/>
          <p:nvPr/>
        </p:nvGrpSpPr>
        <p:grpSpPr>
          <a:xfrm>
            <a:off x="1284732" y="827531"/>
            <a:ext cx="1289304" cy="1182624"/>
            <a:chOff x="1284732" y="827531"/>
            <a:chExt cx="1289304" cy="1182624"/>
          </a:xfrm>
        </p:grpSpPr>
        <p:pic>
          <p:nvPicPr>
            <p:cNvPr id="196" name="Google Shape;196;p10"/>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197" name="Google Shape;197;p10"/>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198" name="Google Shape;198;p10"/>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199" name="Google Shape;199;p10"/>
          <p:cNvSpPr txBox="1">
            <a:spLocks noGrp="1"/>
          </p:cNvSpPr>
          <p:nvPr>
            <p:ph type="title"/>
          </p:nvPr>
        </p:nvSpPr>
        <p:spPr>
          <a:xfrm>
            <a:off x="1690877" y="1075385"/>
            <a:ext cx="6442075" cy="50461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sz="3200" dirty="0">
                <a:latin typeface="Times New Roman" panose="02020603050405020304" pitchFamily="18" charset="0"/>
                <a:ea typeface="Impact"/>
                <a:cs typeface="Times New Roman" panose="02020603050405020304" pitchFamily="18" charset="0"/>
                <a:sym typeface="Impact"/>
              </a:rPr>
              <a:t>CROSS JOIN</a:t>
            </a:r>
            <a:endParaRPr sz="3200" baseline="30000" dirty="0">
              <a:latin typeface="Times New Roman" panose="02020603050405020304" pitchFamily="18" charset="0"/>
              <a:ea typeface="Impact"/>
              <a:cs typeface="Times New Roman" panose="02020603050405020304" pitchFamily="18" charset="0"/>
              <a:sym typeface="Impact"/>
            </a:endParaRPr>
          </a:p>
        </p:txBody>
      </p:sp>
      <p:sp>
        <p:nvSpPr>
          <p:cNvPr id="200" name="Google Shape;200;p10"/>
          <p:cNvSpPr txBox="1"/>
          <p:nvPr/>
        </p:nvSpPr>
        <p:spPr>
          <a:xfrm>
            <a:off x="1466469" y="1757552"/>
            <a:ext cx="7898130" cy="2736215"/>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Cross join, còn được gọi là tích Đề-các, trong SQL trả về tổ hợp của tất cả các hàng từ bảng đầu tiên với tất cả các hàng từ bảng thứ hai. Điều này có nghĩa là số hàng trong bảng kết quả là tích của số hàng trong bảng đầu tiên và số hàng trong bảng thứ hai</a:t>
            </a:r>
            <a:endParaRPr sz="200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a:p>
            <a:pPr marL="924560" marR="5152390" lvl="0" indent="-317500" algn="l" rtl="0">
              <a:lnSpc>
                <a:spcPct val="100000"/>
              </a:lnSpc>
              <a:spcBef>
                <a:spcPts val="2255"/>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col_names </a:t>
            </a:r>
            <a:r>
              <a:rPr lang="en-US" sz="1800">
                <a:solidFill>
                  <a:srgbClr val="0000FF"/>
                </a:solidFill>
                <a:latin typeface="Arial"/>
                <a:ea typeface="Arial"/>
                <a:cs typeface="Arial"/>
                <a:sym typeface="Arial"/>
              </a:rPr>
              <a:t>FROM </a:t>
            </a:r>
            <a:r>
              <a:rPr lang="en-US" sz="1800">
                <a:latin typeface="Arial"/>
                <a:ea typeface="Arial"/>
                <a:cs typeface="Arial"/>
                <a:sym typeface="Arial"/>
              </a:rPr>
              <a:t>Table_A A</a:t>
            </a:r>
            <a:endParaRPr sz="1800">
              <a:latin typeface="Arial"/>
              <a:ea typeface="Arial"/>
              <a:cs typeface="Arial"/>
              <a:sym typeface="Arial"/>
            </a:endParaRPr>
          </a:p>
          <a:p>
            <a:pPr marL="1179195" lvl="0" indent="0" algn="l" rtl="0">
              <a:lnSpc>
                <a:spcPct val="100000"/>
              </a:lnSpc>
              <a:spcBef>
                <a:spcPts val="0"/>
              </a:spcBef>
              <a:spcAft>
                <a:spcPts val="0"/>
              </a:spcAft>
              <a:buNone/>
            </a:pPr>
            <a:r>
              <a:rPr lang="en-US" sz="1800">
                <a:solidFill>
                  <a:srgbClr val="808080"/>
                </a:solidFill>
                <a:latin typeface="Arial"/>
                <a:ea typeface="Arial"/>
                <a:cs typeface="Arial"/>
                <a:sym typeface="Arial"/>
              </a:rPr>
              <a:t>CROSS JOIN </a:t>
            </a:r>
            <a:r>
              <a:rPr lang="en-US" sz="1800">
                <a:latin typeface="Arial"/>
                <a:ea typeface="Arial"/>
                <a:cs typeface="Arial"/>
                <a:sym typeface="Arial"/>
              </a:rPr>
              <a:t>Table_B	B</a:t>
            </a:r>
            <a:endParaRPr sz="1800">
              <a:latin typeface="Arial"/>
              <a:ea typeface="Arial"/>
              <a:cs typeface="Arial"/>
              <a:sym typeface="Arial"/>
            </a:endParaRPr>
          </a:p>
        </p:txBody>
      </p:sp>
      <p:pic>
        <p:nvPicPr>
          <p:cNvPr id="201" name="Google Shape;201;p10"/>
          <p:cNvPicPr preferRelativeResize="0"/>
          <p:nvPr/>
        </p:nvPicPr>
        <p:blipFill rotWithShape="1">
          <a:blip r:embed="rId6">
            <a:alphaModFix/>
          </a:blip>
          <a:srcRect/>
          <a:stretch/>
        </p:blipFill>
        <p:spPr>
          <a:xfrm>
            <a:off x="5867400" y="2895600"/>
            <a:ext cx="4297680" cy="32171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1"/>
          <p:cNvSpPr txBox="1">
            <a:spLocks noGrp="1"/>
          </p:cNvSpPr>
          <p:nvPr>
            <p:ph type="title"/>
          </p:nvPr>
        </p:nvSpPr>
        <p:spPr>
          <a:xfrm>
            <a:off x="3452876" y="1064717"/>
            <a:ext cx="4679950" cy="452119"/>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OUTER JOIN (CROSS JOIN)</a:t>
            </a:r>
            <a:endParaRPr/>
          </a:p>
        </p:txBody>
      </p:sp>
      <p:grpSp>
        <p:nvGrpSpPr>
          <p:cNvPr id="207" name="Google Shape;207;p11"/>
          <p:cNvGrpSpPr/>
          <p:nvPr/>
        </p:nvGrpSpPr>
        <p:grpSpPr>
          <a:xfrm>
            <a:off x="1284732" y="827532"/>
            <a:ext cx="1289304" cy="1182624"/>
            <a:chOff x="1284732" y="827532"/>
            <a:chExt cx="1289304" cy="1182624"/>
          </a:xfrm>
        </p:grpSpPr>
        <p:pic>
          <p:nvPicPr>
            <p:cNvPr id="208" name="Google Shape;208;p11"/>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09" name="Google Shape;209;p11"/>
            <p:cNvPicPr preferRelativeResize="0"/>
            <p:nvPr/>
          </p:nvPicPr>
          <p:blipFill rotWithShape="1">
            <a:blip r:embed="rId4">
              <a:alphaModFix/>
            </a:blip>
            <a:srcRect/>
            <a:stretch/>
          </p:blipFill>
          <p:spPr>
            <a:xfrm>
              <a:off x="1335024" y="827532"/>
              <a:ext cx="1188720" cy="1182624"/>
            </a:xfrm>
            <a:prstGeom prst="rect">
              <a:avLst/>
            </a:prstGeom>
            <a:noFill/>
            <a:ln>
              <a:noFill/>
            </a:ln>
          </p:spPr>
        </p:pic>
        <p:pic>
          <p:nvPicPr>
            <p:cNvPr id="210" name="Google Shape;210;p11"/>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211" name="Google Shape;211;p11"/>
          <p:cNvSpPr txBox="1"/>
          <p:nvPr/>
        </p:nvSpPr>
        <p:spPr>
          <a:xfrm>
            <a:off x="1466469" y="1075385"/>
            <a:ext cx="969010" cy="1013460"/>
          </a:xfrm>
          <a:prstGeom prst="rect">
            <a:avLst/>
          </a:prstGeom>
          <a:noFill/>
          <a:ln>
            <a:noFill/>
          </a:ln>
        </p:spPr>
        <p:txBody>
          <a:bodyPr spcFirstLastPara="1" wrap="square" lIns="0" tIns="12050" rIns="0" bIns="0" anchor="t" anchorCtr="0">
            <a:spAutoFit/>
          </a:bodyPr>
          <a:lstStyle/>
          <a:p>
            <a:pPr marL="236854"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01</a:t>
            </a:r>
            <a:endParaRPr sz="2800">
              <a:latin typeface="Impact"/>
              <a:ea typeface="Impact"/>
              <a:cs typeface="Impact"/>
              <a:sym typeface="Impact"/>
            </a:endParaRPr>
          </a:p>
          <a:p>
            <a:pPr marL="354965" lvl="0" indent="-342265" algn="l" rtl="0">
              <a:lnSpc>
                <a:spcPct val="100000"/>
              </a:lnSpc>
              <a:spcBef>
                <a:spcPts val="2020"/>
              </a:spcBef>
              <a:spcAft>
                <a:spcPts val="0"/>
              </a:spcAft>
              <a:buClr>
                <a:srgbClr val="FF5A33"/>
              </a:buClr>
              <a:buSzPts val="2000"/>
              <a:buFont typeface="Noto Sans Symbols"/>
              <a:buChar char="❑"/>
            </a:pPr>
            <a:r>
              <a:rPr lang="en-US" sz="2000" b="1">
                <a:latin typeface="Times New Roman"/>
                <a:ea typeface="Times New Roman"/>
                <a:cs typeface="Times New Roman"/>
                <a:sym typeface="Times New Roman"/>
              </a:rPr>
              <a:t>Ví dụ</a:t>
            </a:r>
            <a:endParaRPr sz="2000">
              <a:latin typeface="Times New Roman"/>
              <a:ea typeface="Times New Roman"/>
              <a:cs typeface="Times New Roman"/>
              <a:sym typeface="Times New Roman"/>
            </a:endParaRPr>
          </a:p>
        </p:txBody>
      </p:sp>
      <p:sp>
        <p:nvSpPr>
          <p:cNvPr id="212" name="Google Shape;212;p11"/>
          <p:cNvSpPr txBox="1"/>
          <p:nvPr/>
        </p:nvSpPr>
        <p:spPr>
          <a:xfrm>
            <a:off x="1923669" y="3662629"/>
            <a:ext cx="1075055"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Cú pháp</a:t>
            </a:r>
            <a:endParaRPr sz="2000">
              <a:latin typeface="Times New Roman"/>
              <a:ea typeface="Times New Roman"/>
              <a:cs typeface="Times New Roman"/>
              <a:sym typeface="Times New Roman"/>
            </a:endParaRPr>
          </a:p>
        </p:txBody>
      </p:sp>
      <p:sp>
        <p:nvSpPr>
          <p:cNvPr id="213" name="Google Shape;213;p11"/>
          <p:cNvSpPr txBox="1"/>
          <p:nvPr/>
        </p:nvSpPr>
        <p:spPr>
          <a:xfrm>
            <a:off x="1923669" y="5186883"/>
            <a:ext cx="1005840" cy="331470"/>
          </a:xfrm>
          <a:prstGeom prst="rect">
            <a:avLst/>
          </a:prstGeom>
          <a:noFill/>
          <a:ln>
            <a:noFill/>
          </a:ln>
        </p:spPr>
        <p:txBody>
          <a:bodyPr spcFirstLastPara="1" wrap="square" lIns="0" tIns="13325" rIns="0" bIns="0" anchor="t" anchorCtr="0">
            <a:spAutoFit/>
          </a:bodyPr>
          <a:lstStyle/>
          <a:p>
            <a:pPr marL="297180" lvl="0" indent="-28448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Kết quả</a:t>
            </a:r>
            <a:endParaRPr sz="2000">
              <a:latin typeface="Times New Roman"/>
              <a:ea typeface="Times New Roman"/>
              <a:cs typeface="Times New Roman"/>
              <a:sym typeface="Times New Roman"/>
            </a:endParaRPr>
          </a:p>
        </p:txBody>
      </p:sp>
      <p:sp>
        <p:nvSpPr>
          <p:cNvPr id="214" name="Google Shape;214;p11"/>
          <p:cNvSpPr txBox="1"/>
          <p:nvPr/>
        </p:nvSpPr>
        <p:spPr>
          <a:xfrm>
            <a:off x="3375786" y="3723894"/>
            <a:ext cx="4074795" cy="941069"/>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solidFill>
                  <a:srgbClr val="0000FF"/>
                </a:solidFill>
                <a:latin typeface="Arial"/>
                <a:ea typeface="Arial"/>
                <a:cs typeface="Arial"/>
                <a:sym typeface="Arial"/>
              </a:rPr>
              <a:t>SELECT </a:t>
            </a:r>
            <a:r>
              <a:rPr lang="en-US" sz="2000">
                <a:latin typeface="Arial"/>
                <a:ea typeface="Arial"/>
                <a:cs typeface="Arial"/>
                <a:sym typeface="Arial"/>
              </a:rPr>
              <a:t>c</a:t>
            </a:r>
            <a:r>
              <a:rPr lang="en-US" sz="2000">
                <a:solidFill>
                  <a:srgbClr val="808080"/>
                </a:solidFill>
                <a:latin typeface="Arial"/>
                <a:ea typeface="Arial"/>
                <a:cs typeface="Arial"/>
                <a:sym typeface="Arial"/>
              </a:rPr>
              <a:t>.</a:t>
            </a:r>
            <a:r>
              <a:rPr lang="en-US" sz="2000">
                <a:latin typeface="Arial"/>
                <a:ea typeface="Arial"/>
                <a:cs typeface="Arial"/>
                <a:sym typeface="Arial"/>
              </a:rPr>
              <a:t>CustName</a:t>
            </a:r>
            <a:r>
              <a:rPr lang="en-US" sz="2000">
                <a:solidFill>
                  <a:srgbClr val="808080"/>
                </a:solidFill>
                <a:latin typeface="Arial"/>
                <a:ea typeface="Arial"/>
                <a:cs typeface="Arial"/>
                <a:sym typeface="Arial"/>
              </a:rPr>
              <a:t>, </a:t>
            </a:r>
            <a:r>
              <a:rPr lang="en-US" sz="2000">
                <a:latin typeface="Arial"/>
                <a:ea typeface="Arial"/>
                <a:cs typeface="Arial"/>
                <a:sym typeface="Arial"/>
              </a:rPr>
              <a:t>o</a:t>
            </a:r>
            <a:r>
              <a:rPr lang="en-US" sz="2000">
                <a:solidFill>
                  <a:srgbClr val="808080"/>
                </a:solidFill>
                <a:latin typeface="Arial"/>
                <a:ea typeface="Arial"/>
                <a:cs typeface="Arial"/>
                <a:sym typeface="Arial"/>
              </a:rPr>
              <a:t>.</a:t>
            </a:r>
            <a:r>
              <a:rPr lang="en-US" sz="2000">
                <a:latin typeface="Arial"/>
                <a:ea typeface="Arial"/>
                <a:cs typeface="Arial"/>
                <a:sym typeface="Arial"/>
              </a:rPr>
              <a:t>OrderID</a:t>
            </a:r>
            <a:endParaRPr sz="2000">
              <a:latin typeface="Arial"/>
              <a:ea typeface="Arial"/>
              <a:cs typeface="Arial"/>
              <a:sym typeface="Arial"/>
            </a:endParaRPr>
          </a:p>
          <a:p>
            <a:pPr marL="12700" lvl="0" indent="0" algn="l" rtl="0">
              <a:lnSpc>
                <a:spcPct val="100000"/>
              </a:lnSpc>
              <a:spcBef>
                <a:spcPts val="0"/>
              </a:spcBef>
              <a:spcAft>
                <a:spcPts val="0"/>
              </a:spcAft>
              <a:buNone/>
            </a:pPr>
            <a:r>
              <a:rPr lang="en-US" sz="2000">
                <a:solidFill>
                  <a:srgbClr val="0000FF"/>
                </a:solidFill>
                <a:latin typeface="Arial"/>
                <a:ea typeface="Arial"/>
                <a:cs typeface="Arial"/>
                <a:sym typeface="Arial"/>
              </a:rPr>
              <a:t>FROM </a:t>
            </a:r>
            <a:r>
              <a:rPr lang="en-US" sz="2000">
                <a:latin typeface="Arial"/>
                <a:ea typeface="Arial"/>
                <a:cs typeface="Arial"/>
                <a:sym typeface="Arial"/>
              </a:rPr>
              <a:t>Customer c</a:t>
            </a:r>
            <a:endParaRPr sz="2000">
              <a:latin typeface="Arial"/>
              <a:ea typeface="Arial"/>
              <a:cs typeface="Arial"/>
              <a:sym typeface="Arial"/>
            </a:endParaRPr>
          </a:p>
          <a:p>
            <a:pPr marL="1440180" lvl="0" indent="0" algn="l" rtl="0">
              <a:lnSpc>
                <a:spcPct val="100000"/>
              </a:lnSpc>
              <a:spcBef>
                <a:spcPts val="5"/>
              </a:spcBef>
              <a:spcAft>
                <a:spcPts val="0"/>
              </a:spcAft>
              <a:buNone/>
            </a:pPr>
            <a:r>
              <a:rPr lang="en-US" sz="2000">
                <a:solidFill>
                  <a:srgbClr val="808080"/>
                </a:solidFill>
                <a:latin typeface="Arial"/>
                <a:ea typeface="Arial"/>
                <a:cs typeface="Arial"/>
                <a:sym typeface="Arial"/>
              </a:rPr>
              <a:t>CROSS JOIN </a:t>
            </a:r>
            <a:r>
              <a:rPr lang="en-US" sz="2000">
                <a:latin typeface="Arial"/>
                <a:ea typeface="Arial"/>
                <a:cs typeface="Arial"/>
                <a:sym typeface="Arial"/>
              </a:rPr>
              <a:t>[Order] o</a:t>
            </a:r>
            <a:endParaRPr sz="2000">
              <a:latin typeface="Arial"/>
              <a:ea typeface="Arial"/>
              <a:cs typeface="Arial"/>
              <a:sym typeface="Arial"/>
            </a:endParaRPr>
          </a:p>
        </p:txBody>
      </p:sp>
      <p:grpSp>
        <p:nvGrpSpPr>
          <p:cNvPr id="215" name="Google Shape;215;p11"/>
          <p:cNvGrpSpPr/>
          <p:nvPr/>
        </p:nvGrpSpPr>
        <p:grpSpPr>
          <a:xfrm>
            <a:off x="2971800" y="1929383"/>
            <a:ext cx="7120128" cy="1632204"/>
            <a:chOff x="2971800" y="1929383"/>
            <a:chExt cx="7120128" cy="1632204"/>
          </a:xfrm>
        </p:grpSpPr>
        <p:pic>
          <p:nvPicPr>
            <p:cNvPr id="216" name="Google Shape;216;p11"/>
            <p:cNvPicPr preferRelativeResize="0"/>
            <p:nvPr/>
          </p:nvPicPr>
          <p:blipFill rotWithShape="1">
            <a:blip r:embed="rId6">
              <a:alphaModFix/>
            </a:blip>
            <a:srcRect/>
            <a:stretch/>
          </p:blipFill>
          <p:spPr>
            <a:xfrm>
              <a:off x="2971800" y="1929383"/>
              <a:ext cx="3547872" cy="1632204"/>
            </a:xfrm>
            <a:prstGeom prst="rect">
              <a:avLst/>
            </a:prstGeom>
            <a:noFill/>
            <a:ln>
              <a:noFill/>
            </a:ln>
          </p:spPr>
        </p:pic>
        <p:pic>
          <p:nvPicPr>
            <p:cNvPr id="217" name="Google Shape;217;p11"/>
            <p:cNvPicPr preferRelativeResize="0"/>
            <p:nvPr/>
          </p:nvPicPr>
          <p:blipFill rotWithShape="1">
            <a:blip r:embed="rId7">
              <a:alphaModFix/>
            </a:blip>
            <a:srcRect/>
            <a:stretch/>
          </p:blipFill>
          <p:spPr>
            <a:xfrm>
              <a:off x="6662928" y="1929383"/>
              <a:ext cx="3429000" cy="1629156"/>
            </a:xfrm>
            <a:prstGeom prst="rect">
              <a:avLst/>
            </a:prstGeom>
            <a:noFill/>
            <a:ln>
              <a:noFill/>
            </a:ln>
          </p:spPr>
        </p:pic>
      </p:grpSp>
      <p:grpSp>
        <p:nvGrpSpPr>
          <p:cNvPr id="218" name="Google Shape;218;p11"/>
          <p:cNvGrpSpPr/>
          <p:nvPr/>
        </p:nvGrpSpPr>
        <p:grpSpPr>
          <a:xfrm>
            <a:off x="3576827" y="4808219"/>
            <a:ext cx="1914525" cy="1800225"/>
            <a:chOff x="3576827" y="4808219"/>
            <a:chExt cx="1914525" cy="1800225"/>
          </a:xfrm>
        </p:grpSpPr>
        <p:pic>
          <p:nvPicPr>
            <p:cNvPr id="219" name="Google Shape;219;p11"/>
            <p:cNvPicPr preferRelativeResize="0"/>
            <p:nvPr/>
          </p:nvPicPr>
          <p:blipFill rotWithShape="1">
            <a:blip r:embed="rId8">
              <a:alphaModFix/>
            </a:blip>
            <a:srcRect/>
            <a:stretch/>
          </p:blipFill>
          <p:spPr>
            <a:xfrm>
              <a:off x="3581399" y="4812791"/>
              <a:ext cx="1905000" cy="1790700"/>
            </a:xfrm>
            <a:prstGeom prst="rect">
              <a:avLst/>
            </a:prstGeom>
            <a:noFill/>
            <a:ln>
              <a:noFill/>
            </a:ln>
          </p:spPr>
        </p:pic>
        <p:sp>
          <p:nvSpPr>
            <p:cNvPr id="220" name="Google Shape;220;p11"/>
            <p:cNvSpPr/>
            <p:nvPr/>
          </p:nvSpPr>
          <p:spPr>
            <a:xfrm>
              <a:off x="3576827" y="4808219"/>
              <a:ext cx="1914525" cy="1800225"/>
            </a:xfrm>
            <a:custGeom>
              <a:avLst/>
              <a:gdLst/>
              <a:ahLst/>
              <a:cxnLst/>
              <a:rect l="l" t="t" r="r" b="b"/>
              <a:pathLst>
                <a:path w="1914525" h="1800225" extrusionOk="0">
                  <a:moveTo>
                    <a:pt x="0" y="1799843"/>
                  </a:moveTo>
                  <a:lnTo>
                    <a:pt x="1914144" y="1799843"/>
                  </a:lnTo>
                  <a:lnTo>
                    <a:pt x="1914144" y="0"/>
                  </a:lnTo>
                  <a:lnTo>
                    <a:pt x="0" y="0"/>
                  </a:lnTo>
                  <a:lnTo>
                    <a:pt x="0" y="179984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grpSp>
        <p:nvGrpSpPr>
          <p:cNvPr id="225" name="Google Shape;225;p12"/>
          <p:cNvGrpSpPr/>
          <p:nvPr/>
        </p:nvGrpSpPr>
        <p:grpSpPr>
          <a:xfrm>
            <a:off x="1284732" y="827531"/>
            <a:ext cx="1289304" cy="1182624"/>
            <a:chOff x="1284732" y="827531"/>
            <a:chExt cx="1289304" cy="1182624"/>
          </a:xfrm>
        </p:grpSpPr>
        <p:pic>
          <p:nvPicPr>
            <p:cNvPr id="226" name="Google Shape;226;p12"/>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27" name="Google Shape;227;p12"/>
            <p:cNvPicPr preferRelativeResize="0"/>
            <p:nvPr/>
          </p:nvPicPr>
          <p:blipFill rotWithShape="1">
            <a:blip r:embed="rId4">
              <a:alphaModFix/>
            </a:blip>
            <a:srcRect/>
            <a:stretch/>
          </p:blipFill>
          <p:spPr>
            <a:xfrm>
              <a:off x="1335024" y="827531"/>
              <a:ext cx="1188720" cy="1182624"/>
            </a:xfrm>
            <a:prstGeom prst="rect">
              <a:avLst/>
            </a:prstGeom>
            <a:noFill/>
            <a:ln>
              <a:noFill/>
            </a:ln>
          </p:spPr>
        </p:pic>
        <p:pic>
          <p:nvPicPr>
            <p:cNvPr id="228" name="Google Shape;228;p12"/>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229" name="Google Shape;229;p12"/>
          <p:cNvSpPr txBox="1">
            <a:spLocks noGrp="1"/>
          </p:cNvSpPr>
          <p:nvPr>
            <p:ph type="title"/>
          </p:nvPr>
        </p:nvSpPr>
        <p:spPr>
          <a:xfrm>
            <a:off x="1690877" y="1075385"/>
            <a:ext cx="6121400" cy="50461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01     </a:t>
            </a:r>
            <a:r>
              <a:rPr lang="en-US" sz="3200" dirty="0">
                <a:latin typeface="Times New Roman" panose="02020603050405020304" pitchFamily="18" charset="0"/>
                <a:ea typeface="Impact"/>
                <a:cs typeface="Times New Roman" panose="02020603050405020304" pitchFamily="18" charset="0"/>
                <a:sym typeface="Impact"/>
              </a:rPr>
              <a:t>SELF JOIN</a:t>
            </a:r>
            <a:endParaRPr sz="3200" baseline="30000" dirty="0">
              <a:latin typeface="Times New Roman" panose="02020603050405020304" pitchFamily="18" charset="0"/>
              <a:ea typeface="Impact"/>
              <a:cs typeface="Times New Roman" panose="02020603050405020304" pitchFamily="18" charset="0"/>
              <a:sym typeface="Impact"/>
            </a:endParaRPr>
          </a:p>
        </p:txBody>
      </p:sp>
      <p:sp>
        <p:nvSpPr>
          <p:cNvPr id="230" name="Google Shape;230;p12"/>
          <p:cNvSpPr txBox="1"/>
          <p:nvPr/>
        </p:nvSpPr>
        <p:spPr>
          <a:xfrm>
            <a:off x="1466469" y="1757552"/>
            <a:ext cx="7837170" cy="2693670"/>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Self join trong SQL là một kiểu join trong đó một bảng được nối với chính nó, thường sử dụng các bí danh để phân biệt giữa hai thể hiện của bảng. Điều này hữu ích khi một bảng có mối quan hệ với chính nó, chẳng hạn như khi một bảng chứa mối quan hệ cha-con hoặc mối quan hệ phân cấp.</a:t>
            </a:r>
            <a:endParaRPr sz="200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INNER JOIN</a:t>
            </a:r>
            <a:endParaRPr sz="2000">
              <a:latin typeface="Times New Roman"/>
              <a:ea typeface="Times New Roman"/>
              <a:cs typeface="Times New Roman"/>
              <a:sym typeface="Times New Roman"/>
            </a:endParaRPr>
          </a:p>
          <a:p>
            <a:pPr marL="754380" lvl="1" indent="-284480"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OUTER JOIN</a:t>
            </a:r>
            <a:endParaRPr sz="2000">
              <a:latin typeface="Times New Roman"/>
              <a:ea typeface="Times New Roman"/>
              <a:cs typeface="Times New Roman"/>
              <a:sym typeface="Times New Roman"/>
            </a:endParaRPr>
          </a:p>
          <a:p>
            <a:pPr marL="754380" lvl="1" indent="-284480" algn="l" rtl="0">
              <a:lnSpc>
                <a:spcPct val="100000"/>
              </a:lnSpc>
              <a:spcBef>
                <a:spcPts val="605"/>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CROSS JOIN</a:t>
            </a:r>
            <a:endParaRPr sz="2000">
              <a:latin typeface="Times New Roman"/>
              <a:ea typeface="Times New Roman"/>
              <a:cs typeface="Times New Roman"/>
              <a:sym typeface="Times New Roman"/>
            </a:endParaRPr>
          </a:p>
        </p:txBody>
      </p:sp>
      <p:pic>
        <p:nvPicPr>
          <p:cNvPr id="231" name="Google Shape;231;p12"/>
          <p:cNvPicPr preferRelativeResize="0"/>
          <p:nvPr/>
        </p:nvPicPr>
        <p:blipFill rotWithShape="1">
          <a:blip r:embed="rId6">
            <a:alphaModFix/>
          </a:blip>
          <a:srcRect/>
          <a:stretch/>
        </p:blipFill>
        <p:spPr>
          <a:xfrm>
            <a:off x="4556759" y="3185160"/>
            <a:ext cx="4172712" cy="27035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grpSp>
        <p:nvGrpSpPr>
          <p:cNvPr id="236" name="Google Shape;236;p13"/>
          <p:cNvGrpSpPr/>
          <p:nvPr/>
        </p:nvGrpSpPr>
        <p:grpSpPr>
          <a:xfrm>
            <a:off x="1284732" y="827531"/>
            <a:ext cx="1289304" cy="1182624"/>
            <a:chOff x="1284732" y="827531"/>
            <a:chExt cx="1289304" cy="1182624"/>
          </a:xfrm>
        </p:grpSpPr>
        <p:pic>
          <p:nvPicPr>
            <p:cNvPr id="237" name="Google Shape;237;p13"/>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38" name="Google Shape;238;p13"/>
            <p:cNvPicPr preferRelativeResize="0"/>
            <p:nvPr/>
          </p:nvPicPr>
          <p:blipFill rotWithShape="1">
            <a:blip r:embed="rId4">
              <a:alphaModFix/>
            </a:blip>
            <a:srcRect/>
            <a:stretch/>
          </p:blipFill>
          <p:spPr>
            <a:xfrm>
              <a:off x="1313688" y="827531"/>
              <a:ext cx="1231391" cy="1182624"/>
            </a:xfrm>
            <a:prstGeom prst="rect">
              <a:avLst/>
            </a:prstGeom>
            <a:noFill/>
            <a:ln>
              <a:noFill/>
            </a:ln>
          </p:spPr>
        </p:pic>
        <p:pic>
          <p:nvPicPr>
            <p:cNvPr id="239" name="Google Shape;239;p13"/>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240" name="Google Shape;240;p13"/>
          <p:cNvSpPr txBox="1">
            <a:spLocks noGrp="1"/>
          </p:cNvSpPr>
          <p:nvPr>
            <p:ph type="title"/>
          </p:nvPr>
        </p:nvSpPr>
        <p:spPr>
          <a:xfrm>
            <a:off x="1669542" y="1075385"/>
            <a:ext cx="4959350"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dirty="0">
                <a:latin typeface="Impact"/>
                <a:ea typeface="Impact"/>
                <a:cs typeface="Impact"/>
                <a:sym typeface="Impact"/>
              </a:rPr>
              <a:t>02     </a:t>
            </a:r>
            <a:r>
              <a:rPr lang="en-US" dirty="0">
                <a:latin typeface="Times New Roman" panose="02020603050405020304" pitchFamily="18" charset="0"/>
                <a:ea typeface="Impact"/>
                <a:cs typeface="Times New Roman" panose="02020603050405020304" pitchFamily="18" charset="0"/>
                <a:sym typeface="Impact"/>
              </a:rPr>
              <a:t>SUB QUERY</a:t>
            </a:r>
            <a:endParaRPr sz="4200" baseline="30000" dirty="0">
              <a:latin typeface="Times New Roman" panose="02020603050405020304" pitchFamily="18" charset="0"/>
              <a:ea typeface="Impact"/>
              <a:cs typeface="Times New Roman" panose="02020603050405020304" pitchFamily="18" charset="0"/>
              <a:sym typeface="Impact"/>
            </a:endParaRPr>
          </a:p>
        </p:txBody>
      </p:sp>
      <p:sp>
        <p:nvSpPr>
          <p:cNvPr id="241" name="Google Shape;241;p13"/>
          <p:cNvSpPr txBox="1"/>
          <p:nvPr/>
        </p:nvSpPr>
        <p:spPr>
          <a:xfrm>
            <a:off x="1466469" y="1756028"/>
            <a:ext cx="7875905" cy="4417060"/>
          </a:xfrm>
          <a:prstGeom prst="rect">
            <a:avLst/>
          </a:prstGeom>
          <a:noFill/>
          <a:ln>
            <a:noFill/>
          </a:ln>
        </p:spPr>
        <p:txBody>
          <a:bodyPr spcFirstLastPara="1" wrap="square" lIns="0" tIns="12700" rIns="0" bIns="0" anchor="t" anchorCtr="0">
            <a:spAutoFit/>
          </a:bodyPr>
          <a:lstStyle/>
          <a:p>
            <a:pPr marL="355600" marR="5080" lvl="0" indent="-342900" algn="l" rtl="0">
              <a:lnSpc>
                <a:spcPct val="100000"/>
              </a:lnSpc>
              <a:spcBef>
                <a:spcPts val="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Trong SQL (Structured Query Language), subquery (hoặc còn gọi là truy vấn con) là một truy vấn được nhúng bên trong một truy vấn khác. Subquery thường được sử dụng để trích xuất dữ liệu từ một bảng hoặc nhiều bảng dựa trên kết quả của truy vấn chính. Subquery có thể xuất hiện trong các mệnh đề SELECT, INSERT, UPDATE, DELETE và thậm chí trong một subquery khác</a:t>
            </a:r>
            <a:endParaRPr sz="2400">
              <a:latin typeface="Times New Roman"/>
              <a:ea typeface="Times New Roman"/>
              <a:cs typeface="Times New Roman"/>
              <a:sym typeface="Times New Roman"/>
            </a:endParaRPr>
          </a:p>
          <a:p>
            <a:pPr marL="1616710" marR="3594734" lvl="0" indent="0" algn="l" rtl="0">
              <a:lnSpc>
                <a:spcPct val="100000"/>
              </a:lnSpc>
              <a:spcBef>
                <a:spcPts val="2415"/>
              </a:spcBef>
              <a:spcAft>
                <a:spcPts val="0"/>
              </a:spcAft>
              <a:buNone/>
            </a:pPr>
            <a:r>
              <a:rPr lang="en-US" sz="2000">
                <a:solidFill>
                  <a:srgbClr val="0000FF"/>
                </a:solidFill>
                <a:latin typeface="Arial"/>
                <a:ea typeface="Arial"/>
                <a:cs typeface="Arial"/>
                <a:sym typeface="Arial"/>
              </a:rPr>
              <a:t>SELECT </a:t>
            </a:r>
            <a:r>
              <a:rPr lang="en-US" sz="2000">
                <a:latin typeface="Arial"/>
                <a:ea typeface="Arial"/>
                <a:cs typeface="Arial"/>
                <a:sym typeface="Arial"/>
              </a:rPr>
              <a:t>column_name </a:t>
            </a:r>
            <a:r>
              <a:rPr lang="en-US" sz="2000">
                <a:solidFill>
                  <a:srgbClr val="0000FF"/>
                </a:solidFill>
                <a:latin typeface="Arial"/>
                <a:ea typeface="Arial"/>
                <a:cs typeface="Arial"/>
                <a:sym typeface="Arial"/>
              </a:rPr>
              <a:t>FROM </a:t>
            </a:r>
            <a:r>
              <a:rPr lang="en-US" sz="2000">
                <a:latin typeface="Arial"/>
                <a:ea typeface="Arial"/>
                <a:cs typeface="Arial"/>
                <a:sym typeface="Arial"/>
              </a:rPr>
              <a:t>table_name</a:t>
            </a:r>
            <a:endParaRPr sz="2000">
              <a:latin typeface="Arial"/>
              <a:ea typeface="Arial"/>
              <a:cs typeface="Arial"/>
              <a:sym typeface="Arial"/>
            </a:endParaRPr>
          </a:p>
          <a:p>
            <a:pPr marL="2130425" marR="1318895" lvl="0" indent="-514350" algn="l" rtl="0">
              <a:lnSpc>
                <a:spcPct val="100000"/>
              </a:lnSpc>
              <a:spcBef>
                <a:spcPts val="0"/>
              </a:spcBef>
              <a:spcAft>
                <a:spcPts val="0"/>
              </a:spcAft>
              <a:buNone/>
            </a:pPr>
            <a:r>
              <a:rPr lang="en-US" sz="2000">
                <a:solidFill>
                  <a:srgbClr val="0000FF"/>
                </a:solidFill>
                <a:latin typeface="Arial"/>
                <a:ea typeface="Arial"/>
                <a:cs typeface="Arial"/>
                <a:sym typeface="Arial"/>
              </a:rPr>
              <a:t>WHERE </a:t>
            </a:r>
            <a:r>
              <a:rPr lang="en-US" sz="2000">
                <a:latin typeface="Arial"/>
                <a:ea typeface="Arial"/>
                <a:cs typeface="Arial"/>
                <a:sym typeface="Arial"/>
              </a:rPr>
              <a:t>column_name expression </a:t>
            </a:r>
            <a:r>
              <a:rPr lang="en-US" sz="2000">
                <a:solidFill>
                  <a:srgbClr val="0000FF"/>
                </a:solidFill>
                <a:latin typeface="Arial"/>
                <a:ea typeface="Arial"/>
                <a:cs typeface="Arial"/>
                <a:sym typeface="Arial"/>
              </a:rPr>
              <a:t>operator </a:t>
            </a:r>
            <a:r>
              <a:rPr lang="en-US" sz="2000">
                <a:solidFill>
                  <a:srgbClr val="808080"/>
                </a:solidFill>
                <a:latin typeface="Arial"/>
                <a:ea typeface="Arial"/>
                <a:cs typeface="Arial"/>
                <a:sym typeface="Arial"/>
              </a:rPr>
              <a:t>( SELECT COLUMN_NAME	from TABLE_NAME	WHERE ... );</a:t>
            </a:r>
            <a:endParaRPr sz="20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4"/>
          <p:cNvSpPr txBox="1">
            <a:spLocks noGrp="1"/>
          </p:cNvSpPr>
          <p:nvPr>
            <p:ph type="title"/>
          </p:nvPr>
        </p:nvSpPr>
        <p:spPr>
          <a:xfrm>
            <a:off x="3452876" y="1064717"/>
            <a:ext cx="4679950" cy="452119"/>
          </a:xfrm>
          <a:prstGeom prst="rect">
            <a:avLst/>
          </a:prstGeom>
          <a:noFill/>
          <a:ln>
            <a:noFill/>
          </a:ln>
        </p:spPr>
        <p:txBody>
          <a:bodyPr spcFirstLastPara="1" wrap="square" lIns="0" tIns="12050" rIns="0" bIns="0" anchor="t" anchorCtr="0">
            <a:spAutoFit/>
          </a:bodyPr>
          <a:lstStyle/>
          <a:p>
            <a:pPr marL="1513205" lvl="0" indent="0" algn="l" rtl="0">
              <a:lnSpc>
                <a:spcPct val="100000"/>
              </a:lnSpc>
              <a:spcBef>
                <a:spcPts val="0"/>
              </a:spcBef>
              <a:spcAft>
                <a:spcPts val="0"/>
              </a:spcAft>
              <a:buNone/>
            </a:pPr>
            <a:r>
              <a:rPr lang="en-US"/>
              <a:t>Sub Query</a:t>
            </a:r>
            <a:endParaRPr/>
          </a:p>
        </p:txBody>
      </p:sp>
      <p:grpSp>
        <p:nvGrpSpPr>
          <p:cNvPr id="247" name="Google Shape;247;p14"/>
          <p:cNvGrpSpPr/>
          <p:nvPr/>
        </p:nvGrpSpPr>
        <p:grpSpPr>
          <a:xfrm>
            <a:off x="1284732" y="827532"/>
            <a:ext cx="1289304" cy="1182624"/>
            <a:chOff x="1284732" y="827532"/>
            <a:chExt cx="1289304" cy="1182624"/>
          </a:xfrm>
        </p:grpSpPr>
        <p:pic>
          <p:nvPicPr>
            <p:cNvPr id="248" name="Google Shape;248;p14"/>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49" name="Google Shape;249;p14"/>
            <p:cNvPicPr preferRelativeResize="0"/>
            <p:nvPr/>
          </p:nvPicPr>
          <p:blipFill rotWithShape="1">
            <a:blip r:embed="rId4">
              <a:alphaModFix/>
            </a:blip>
            <a:srcRect/>
            <a:stretch/>
          </p:blipFill>
          <p:spPr>
            <a:xfrm>
              <a:off x="1313688" y="827532"/>
              <a:ext cx="1231391" cy="1182624"/>
            </a:xfrm>
            <a:prstGeom prst="rect">
              <a:avLst/>
            </a:prstGeom>
            <a:noFill/>
            <a:ln>
              <a:noFill/>
            </a:ln>
          </p:spPr>
        </p:pic>
        <p:pic>
          <p:nvPicPr>
            <p:cNvPr id="250" name="Google Shape;250;p14"/>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251" name="Google Shape;251;p14"/>
          <p:cNvSpPr txBox="1"/>
          <p:nvPr/>
        </p:nvSpPr>
        <p:spPr>
          <a:xfrm>
            <a:off x="1466469" y="1075385"/>
            <a:ext cx="1805939" cy="1071880"/>
          </a:xfrm>
          <a:prstGeom prst="rect">
            <a:avLst/>
          </a:prstGeom>
          <a:noFill/>
          <a:ln>
            <a:noFill/>
          </a:ln>
        </p:spPr>
        <p:txBody>
          <a:bodyPr spcFirstLastPara="1" wrap="square" lIns="0" tIns="12050" rIns="0" bIns="0" anchor="t" anchorCtr="0">
            <a:spAutoFit/>
          </a:bodyPr>
          <a:lstStyle/>
          <a:p>
            <a:pPr marL="215265"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02</a:t>
            </a:r>
            <a:endParaRPr sz="2800">
              <a:latin typeface="Impact"/>
              <a:ea typeface="Impact"/>
              <a:cs typeface="Impact"/>
              <a:sym typeface="Impact"/>
            </a:endParaRPr>
          </a:p>
          <a:p>
            <a:pPr marL="354965" lvl="0" indent="-342265" algn="l" rtl="0">
              <a:lnSpc>
                <a:spcPct val="100000"/>
              </a:lnSpc>
              <a:spcBef>
                <a:spcPts val="2005"/>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Các quy tắc</a:t>
            </a:r>
            <a:endParaRPr sz="2400">
              <a:latin typeface="Times New Roman"/>
              <a:ea typeface="Times New Roman"/>
              <a:cs typeface="Times New Roman"/>
              <a:sym typeface="Times New Roman"/>
            </a:endParaRPr>
          </a:p>
        </p:txBody>
      </p:sp>
      <p:sp>
        <p:nvSpPr>
          <p:cNvPr id="252" name="Google Shape;252;p14"/>
          <p:cNvSpPr txBox="1"/>
          <p:nvPr/>
        </p:nvSpPr>
        <p:spPr>
          <a:xfrm>
            <a:off x="1466469" y="2202256"/>
            <a:ext cx="9006840" cy="3896995"/>
          </a:xfrm>
          <a:prstGeom prst="rect">
            <a:avLst/>
          </a:prstGeom>
          <a:noFill/>
          <a:ln>
            <a:noFill/>
          </a:ln>
        </p:spPr>
        <p:txBody>
          <a:bodyPr spcFirstLastPara="1" wrap="square" lIns="0" tIns="12050" rIns="0" bIns="0" anchor="t" anchorCtr="0">
            <a:spAutoFit/>
          </a:bodyPr>
          <a:lstStyle/>
          <a:p>
            <a:pPr marL="355600" marR="5080" lvl="0" indent="-342900" algn="just" rtl="0">
              <a:lnSpc>
                <a:spcPct val="100000"/>
              </a:lnSpc>
              <a:spcBef>
                <a:spcPts val="0"/>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Bạn có thể đặt Truy vấn con trong một số mệnh đề SQL: mệnh đề WHERE , mệnh đề HAVING , mệnh đề TỪ. Truy vấn con có thể được sử dụng với các câu lệnh SELECT, UPDATE, INSERT, DELETE cùng với toán tử biểu thức. Nó có thể là toán tử đẳng thức hoặc toán tử so sánh như =, &gt;, =, &lt;= và toán tử Like.</a:t>
            </a:r>
            <a:endParaRPr sz="1600">
              <a:latin typeface="Times New Roman"/>
              <a:ea typeface="Times New Roman"/>
              <a:cs typeface="Times New Roman"/>
              <a:sym typeface="Times New Roman"/>
            </a:endParaRPr>
          </a:p>
          <a:p>
            <a:pPr marL="355600" marR="156210" lvl="0" indent="-342900" algn="l" rtl="0">
              <a:lnSpc>
                <a:spcPct val="100000"/>
              </a:lnSpc>
              <a:spcBef>
                <a:spcPts val="605"/>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Truy vấn con là một truy vấn trong một truy vấn khác. Truy vấn bên ngoài được gọi là truy vấn chính và truy vấn bên trong được gọi là truy vấn con .</a:t>
            </a:r>
            <a:endParaRPr sz="1600">
              <a:latin typeface="Times New Roman"/>
              <a:ea typeface="Times New Roman"/>
              <a:cs typeface="Times New Roman"/>
              <a:sym typeface="Times New Roman"/>
            </a:endParaRPr>
          </a:p>
          <a:p>
            <a:pPr marL="355600" marR="26669" lvl="0" indent="-342900" algn="l" rtl="0">
              <a:lnSpc>
                <a:spcPct val="100000"/>
              </a:lnSpc>
              <a:spcBef>
                <a:spcPts val="600"/>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Truy vấn con thường thực thi trước khi truy vấn con không có bất kỳ mối quan hệ đồng quan hệ nào với truy vấn chính , khi có mối quan hệ đồng quan hệ, trình phân tích cú pháp sẽ quyết định nhanh chóng truy vấn nào sẽ thực thi theo thứ tự ưu tiên và sử dụng đầu ra của truy vấn con cho phù hợp.</a:t>
            </a:r>
            <a:endParaRPr sz="1600">
              <a:latin typeface="Times New Roman"/>
              <a:ea typeface="Times New Roman"/>
              <a:cs typeface="Times New Roman"/>
              <a:sym typeface="Times New Roman"/>
            </a:endParaRPr>
          </a:p>
          <a:p>
            <a:pPr marL="354965" lvl="0" indent="-342265" algn="l" rtl="0">
              <a:lnSpc>
                <a:spcPct val="100000"/>
              </a:lnSpc>
              <a:spcBef>
                <a:spcPts val="600"/>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Truy vấn con phải được đặt trong dấu ngoặc đơn.</a:t>
            </a:r>
            <a:endParaRPr sz="1600">
              <a:latin typeface="Times New Roman"/>
              <a:ea typeface="Times New Roman"/>
              <a:cs typeface="Times New Roman"/>
              <a:sym typeface="Times New Roman"/>
            </a:endParaRPr>
          </a:p>
          <a:p>
            <a:pPr marL="354965" lvl="0" indent="-342265" algn="l" rtl="0">
              <a:lnSpc>
                <a:spcPct val="100000"/>
              </a:lnSpc>
              <a:spcBef>
                <a:spcPts val="600"/>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Các truy vấn con nằm ở phía bên phải của toán tử so sánh.</a:t>
            </a:r>
            <a:endParaRPr sz="1600">
              <a:latin typeface="Times New Roman"/>
              <a:ea typeface="Times New Roman"/>
              <a:cs typeface="Times New Roman"/>
              <a:sym typeface="Times New Roman"/>
            </a:endParaRPr>
          </a:p>
          <a:p>
            <a:pPr marL="355600" marR="76200" lvl="0" indent="-342900" algn="l" rtl="0">
              <a:lnSpc>
                <a:spcPct val="100000"/>
              </a:lnSpc>
              <a:spcBef>
                <a:spcPts val="600"/>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Lệnh ORDER BY không thể được sử dụng trong Truy vấn con. Lệnh GROUPBY có thể được sử dụng để thực hiện chức năng tương tự như lệnh ORDER BY.</a:t>
            </a:r>
            <a:endParaRPr sz="1600">
              <a:latin typeface="Times New Roman"/>
              <a:ea typeface="Times New Roman"/>
              <a:cs typeface="Times New Roman"/>
              <a:sym typeface="Times New Roman"/>
            </a:endParaRPr>
          </a:p>
          <a:p>
            <a:pPr marL="355600" marR="180975" lvl="0" indent="-342900" algn="l" rtl="0">
              <a:lnSpc>
                <a:spcPct val="100000"/>
              </a:lnSpc>
              <a:spcBef>
                <a:spcPts val="605"/>
              </a:spcBef>
              <a:spcAft>
                <a:spcPts val="0"/>
              </a:spcAft>
              <a:buClr>
                <a:srgbClr val="FF5A33"/>
              </a:buClr>
              <a:buSzPts val="1600"/>
              <a:buFont typeface="Noto Sans Symbols"/>
              <a:buChar char="❖"/>
            </a:pPr>
            <a:r>
              <a:rPr lang="en-US" sz="1600">
                <a:latin typeface="Times New Roman"/>
                <a:ea typeface="Times New Roman"/>
                <a:cs typeface="Times New Roman"/>
                <a:sym typeface="Times New Roman"/>
              </a:rPr>
              <a:t>Sử dụng các toán tử hàng đơn với Truy vấn con hàng đơn. Sử dụng toán tử nhiều hàng với Truy vấn con nhiều hàng.</a:t>
            </a:r>
            <a:endParaRPr sz="16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5"/>
          <p:cNvSpPr txBox="1">
            <a:spLocks noGrp="1"/>
          </p:cNvSpPr>
          <p:nvPr>
            <p:ph type="title"/>
          </p:nvPr>
        </p:nvSpPr>
        <p:spPr>
          <a:xfrm>
            <a:off x="4954015" y="1064717"/>
            <a:ext cx="167449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Sub Query</a:t>
            </a:r>
            <a:endParaRPr/>
          </a:p>
        </p:txBody>
      </p:sp>
      <p:grpSp>
        <p:nvGrpSpPr>
          <p:cNvPr id="258" name="Google Shape;258;p15"/>
          <p:cNvGrpSpPr/>
          <p:nvPr/>
        </p:nvGrpSpPr>
        <p:grpSpPr>
          <a:xfrm>
            <a:off x="1284732" y="827532"/>
            <a:ext cx="1289304" cy="1182624"/>
            <a:chOff x="1284732" y="827532"/>
            <a:chExt cx="1289304" cy="1182624"/>
          </a:xfrm>
        </p:grpSpPr>
        <p:pic>
          <p:nvPicPr>
            <p:cNvPr id="259" name="Google Shape;259;p15"/>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60" name="Google Shape;260;p15"/>
            <p:cNvPicPr preferRelativeResize="0"/>
            <p:nvPr/>
          </p:nvPicPr>
          <p:blipFill rotWithShape="1">
            <a:blip r:embed="rId4">
              <a:alphaModFix/>
            </a:blip>
            <a:srcRect/>
            <a:stretch/>
          </p:blipFill>
          <p:spPr>
            <a:xfrm>
              <a:off x="1313688" y="827532"/>
              <a:ext cx="1231391" cy="1182624"/>
            </a:xfrm>
            <a:prstGeom prst="rect">
              <a:avLst/>
            </a:prstGeom>
            <a:noFill/>
            <a:ln>
              <a:noFill/>
            </a:ln>
          </p:spPr>
        </p:pic>
        <p:pic>
          <p:nvPicPr>
            <p:cNvPr id="261" name="Google Shape;261;p15"/>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262" name="Google Shape;262;p15"/>
          <p:cNvSpPr txBox="1"/>
          <p:nvPr/>
        </p:nvSpPr>
        <p:spPr>
          <a:xfrm>
            <a:off x="1466469" y="1075385"/>
            <a:ext cx="9135110" cy="4579620"/>
          </a:xfrm>
          <a:prstGeom prst="rect">
            <a:avLst/>
          </a:prstGeom>
          <a:noFill/>
          <a:ln>
            <a:noFill/>
          </a:ln>
        </p:spPr>
        <p:txBody>
          <a:bodyPr spcFirstLastPara="1" wrap="square" lIns="0" tIns="12050" rIns="0" bIns="0" anchor="t" anchorCtr="0">
            <a:spAutoFit/>
          </a:bodyPr>
          <a:lstStyle/>
          <a:p>
            <a:pPr marL="215265"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02</a:t>
            </a:r>
            <a:endParaRPr sz="2800">
              <a:latin typeface="Impact"/>
              <a:ea typeface="Impact"/>
              <a:cs typeface="Impact"/>
              <a:sym typeface="Impact"/>
            </a:endParaRPr>
          </a:p>
          <a:p>
            <a:pPr marL="354965" lvl="0" indent="-342265" algn="l" rtl="0">
              <a:lnSpc>
                <a:spcPct val="100000"/>
              </a:lnSpc>
              <a:spcBef>
                <a:spcPts val="2005"/>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Các loại sub query</a:t>
            </a:r>
            <a:endParaRPr sz="2400">
              <a:latin typeface="Times New Roman"/>
              <a:ea typeface="Times New Roman"/>
              <a:cs typeface="Times New Roman"/>
              <a:sym typeface="Times New Roman"/>
            </a:endParaRPr>
          </a:p>
          <a:p>
            <a:pPr marL="355600" marR="154940" lvl="0" indent="-342900" algn="l" rtl="0">
              <a:lnSpc>
                <a:spcPct val="100000"/>
              </a:lnSpc>
              <a:spcBef>
                <a:spcPts val="610"/>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Single-Row Subquery</a:t>
            </a:r>
            <a:r>
              <a:rPr lang="en-US" sz="2100">
                <a:latin typeface="Times New Roman"/>
                <a:ea typeface="Times New Roman"/>
                <a:cs typeface="Times New Roman"/>
                <a:sym typeface="Times New Roman"/>
              </a:rPr>
              <a:t>: Subquery trả về duy nhất một hàng kết quả. Thường được sử dụng trong các mệnh đề WHERE hoặc HAVING để so sánh với một giá trị cụ thể.</a:t>
            </a:r>
            <a:endParaRPr sz="2100">
              <a:latin typeface="Times New Roman"/>
              <a:ea typeface="Times New Roman"/>
              <a:cs typeface="Times New Roman"/>
              <a:sym typeface="Times New Roman"/>
            </a:endParaRPr>
          </a:p>
          <a:p>
            <a:pPr marL="354965" lvl="0" indent="-342265" algn="l" rtl="0">
              <a:lnSpc>
                <a:spcPct val="100000"/>
              </a:lnSpc>
              <a:spcBef>
                <a:spcPts val="605"/>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Multiple-Row Subquery</a:t>
            </a:r>
            <a:r>
              <a:rPr lang="en-US" sz="2100">
                <a:latin typeface="Times New Roman"/>
                <a:ea typeface="Times New Roman"/>
                <a:cs typeface="Times New Roman"/>
                <a:sym typeface="Times New Roman"/>
              </a:rPr>
              <a:t>: Subquery trả về nhiều hàng kết quả. Thường được sử</a:t>
            </a:r>
            <a:endParaRPr sz="2100">
              <a:latin typeface="Times New Roman"/>
              <a:ea typeface="Times New Roman"/>
              <a:cs typeface="Times New Roman"/>
              <a:sym typeface="Times New Roman"/>
            </a:endParaRPr>
          </a:p>
          <a:p>
            <a:pPr marL="355600" lvl="0" indent="0" algn="l" rtl="0">
              <a:lnSpc>
                <a:spcPct val="100000"/>
              </a:lnSpc>
              <a:spcBef>
                <a:spcPts val="0"/>
              </a:spcBef>
              <a:spcAft>
                <a:spcPts val="0"/>
              </a:spcAft>
              <a:buNone/>
            </a:pPr>
            <a:r>
              <a:rPr lang="en-US" sz="2100">
                <a:latin typeface="Times New Roman"/>
                <a:ea typeface="Times New Roman"/>
                <a:cs typeface="Times New Roman"/>
                <a:sym typeface="Times New Roman"/>
              </a:rPr>
              <a:t>dụng với các phép toán IN, ANY hoặc ALL để so sánh với tập hợp các giá trị.</a:t>
            </a:r>
            <a:endParaRPr sz="2100">
              <a:latin typeface="Times New Roman"/>
              <a:ea typeface="Times New Roman"/>
              <a:cs typeface="Times New Roman"/>
              <a:sym typeface="Times New Roman"/>
            </a:endParaRPr>
          </a:p>
          <a:p>
            <a:pPr marL="355600" marR="144780" lvl="0" indent="-342900" algn="just" rtl="0">
              <a:lnSpc>
                <a:spcPct val="100000"/>
              </a:lnSpc>
              <a:spcBef>
                <a:spcPts val="600"/>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Multiple-Column Subquery</a:t>
            </a:r>
            <a:r>
              <a:rPr lang="en-US" sz="2100">
                <a:latin typeface="Times New Roman"/>
                <a:ea typeface="Times New Roman"/>
                <a:cs typeface="Times New Roman"/>
                <a:sym typeface="Times New Roman"/>
              </a:rPr>
              <a:t>: Subquery trả về nhiều cột trong kết quả. Điều này thường được sử dụng trong các mệnh đề SELECT để lấy dữ liệu từ nhiều cột.</a:t>
            </a:r>
            <a:endParaRPr sz="2100">
              <a:latin typeface="Times New Roman"/>
              <a:ea typeface="Times New Roman"/>
              <a:cs typeface="Times New Roman"/>
              <a:sym typeface="Times New Roman"/>
            </a:endParaRPr>
          </a:p>
          <a:p>
            <a:pPr marL="355600" marR="5080" lvl="0" indent="-342900" algn="just" rtl="0">
              <a:lnSpc>
                <a:spcPct val="100000"/>
              </a:lnSpc>
              <a:spcBef>
                <a:spcPts val="600"/>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Correlated Subquery</a:t>
            </a:r>
            <a:r>
              <a:rPr lang="en-US" sz="2100">
                <a:latin typeface="Times New Roman"/>
                <a:ea typeface="Times New Roman"/>
                <a:cs typeface="Times New Roman"/>
                <a:sym typeface="Times New Roman"/>
              </a:rPr>
              <a:t>: Subquery chứa tham chiếu đến cột từ bảng ở một truy vấn ngoài. Nó được sử dụng trong các trường hợp mà dữ liệu của subquery phụ thuộc vào dữ liệu của truy vấn bên ngoài.</a:t>
            </a:r>
            <a:endParaRPr sz="21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6"/>
          <p:cNvSpPr txBox="1">
            <a:spLocks noGrp="1"/>
          </p:cNvSpPr>
          <p:nvPr>
            <p:ph type="title"/>
          </p:nvPr>
        </p:nvSpPr>
        <p:spPr>
          <a:xfrm>
            <a:off x="4954015" y="1064717"/>
            <a:ext cx="167449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Sub Query</a:t>
            </a:r>
            <a:endParaRPr/>
          </a:p>
        </p:txBody>
      </p:sp>
      <p:grpSp>
        <p:nvGrpSpPr>
          <p:cNvPr id="268" name="Google Shape;268;p16"/>
          <p:cNvGrpSpPr/>
          <p:nvPr/>
        </p:nvGrpSpPr>
        <p:grpSpPr>
          <a:xfrm>
            <a:off x="1284732" y="827532"/>
            <a:ext cx="1289304" cy="1182624"/>
            <a:chOff x="1284732" y="827532"/>
            <a:chExt cx="1289304" cy="1182624"/>
          </a:xfrm>
        </p:grpSpPr>
        <p:pic>
          <p:nvPicPr>
            <p:cNvPr id="269" name="Google Shape;269;p16"/>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70" name="Google Shape;270;p16"/>
            <p:cNvPicPr preferRelativeResize="0"/>
            <p:nvPr/>
          </p:nvPicPr>
          <p:blipFill rotWithShape="1">
            <a:blip r:embed="rId4">
              <a:alphaModFix/>
            </a:blip>
            <a:srcRect/>
            <a:stretch/>
          </p:blipFill>
          <p:spPr>
            <a:xfrm>
              <a:off x="1313688" y="827532"/>
              <a:ext cx="1231391" cy="1182624"/>
            </a:xfrm>
            <a:prstGeom prst="rect">
              <a:avLst/>
            </a:prstGeom>
            <a:noFill/>
            <a:ln>
              <a:noFill/>
            </a:ln>
          </p:spPr>
        </p:pic>
        <p:pic>
          <p:nvPicPr>
            <p:cNvPr id="271" name="Google Shape;271;p16"/>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272" name="Google Shape;272;p16"/>
          <p:cNvSpPr txBox="1"/>
          <p:nvPr/>
        </p:nvSpPr>
        <p:spPr>
          <a:xfrm>
            <a:off x="1466469" y="1075385"/>
            <a:ext cx="2924175" cy="1028065"/>
          </a:xfrm>
          <a:prstGeom prst="rect">
            <a:avLst/>
          </a:prstGeom>
          <a:noFill/>
          <a:ln>
            <a:noFill/>
          </a:ln>
        </p:spPr>
        <p:txBody>
          <a:bodyPr spcFirstLastPara="1" wrap="square" lIns="0" tIns="12050" rIns="0" bIns="0" anchor="t" anchorCtr="0">
            <a:spAutoFit/>
          </a:bodyPr>
          <a:lstStyle/>
          <a:p>
            <a:pPr marL="215265"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02</a:t>
            </a:r>
            <a:endParaRPr sz="2800">
              <a:latin typeface="Impact"/>
              <a:ea typeface="Impact"/>
              <a:cs typeface="Impact"/>
              <a:sym typeface="Impact"/>
            </a:endParaRPr>
          </a:p>
          <a:p>
            <a:pPr marL="354965" lvl="0" indent="-342265" algn="l" rtl="0">
              <a:lnSpc>
                <a:spcPct val="100000"/>
              </a:lnSpc>
              <a:spcBef>
                <a:spcPts val="2014"/>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Single-Row Subquery</a:t>
            </a:r>
            <a:r>
              <a:rPr lang="en-US" sz="2100">
                <a:latin typeface="Times New Roman"/>
                <a:ea typeface="Times New Roman"/>
                <a:cs typeface="Times New Roman"/>
                <a:sym typeface="Times New Roman"/>
              </a:rPr>
              <a:t>:</a:t>
            </a:r>
            <a:endParaRPr sz="2100">
              <a:latin typeface="Times New Roman"/>
              <a:ea typeface="Times New Roman"/>
              <a:cs typeface="Times New Roman"/>
              <a:sym typeface="Times New Roman"/>
            </a:endParaRPr>
          </a:p>
        </p:txBody>
      </p:sp>
      <p:sp>
        <p:nvSpPr>
          <p:cNvPr id="273" name="Google Shape;273;p16"/>
          <p:cNvSpPr txBox="1"/>
          <p:nvPr/>
        </p:nvSpPr>
        <p:spPr>
          <a:xfrm>
            <a:off x="4079875" y="2316632"/>
            <a:ext cx="4346575" cy="1550035"/>
          </a:xfrm>
          <a:prstGeom prst="rect">
            <a:avLst/>
          </a:prstGeom>
          <a:noFill/>
          <a:ln>
            <a:noFill/>
          </a:ln>
        </p:spPr>
        <p:txBody>
          <a:bodyPr spcFirstLastPara="1" wrap="square" lIns="0" tIns="12700" rIns="0" bIns="0" anchor="t" anchorCtr="0">
            <a:spAutoFit/>
          </a:bodyPr>
          <a:lstStyle/>
          <a:p>
            <a:pPr marL="12700" marR="165100" lvl="0" indent="0" algn="l" rtl="0">
              <a:lnSpc>
                <a:spcPct val="131200"/>
              </a:lnSpc>
              <a:spcBef>
                <a:spcPts val="0"/>
              </a:spcBef>
              <a:spcAft>
                <a:spcPts val="0"/>
              </a:spcAft>
              <a:buNone/>
            </a:pPr>
            <a:r>
              <a:rPr lang="en-US" sz="1600">
                <a:solidFill>
                  <a:srgbClr val="0000FF"/>
                </a:solidFill>
                <a:latin typeface="Arial"/>
                <a:ea typeface="Arial"/>
                <a:cs typeface="Arial"/>
                <a:sym typeface="Arial"/>
              </a:rPr>
              <a:t>SELECT </a:t>
            </a:r>
            <a:r>
              <a:rPr lang="en-US" sz="1600">
                <a:latin typeface="Arial"/>
                <a:ea typeface="Arial"/>
                <a:cs typeface="Arial"/>
                <a:sym typeface="Arial"/>
              </a:rPr>
              <a:t>agent_name</a:t>
            </a:r>
            <a:r>
              <a:rPr lang="en-US" sz="1600">
                <a:solidFill>
                  <a:srgbClr val="808080"/>
                </a:solidFill>
                <a:latin typeface="Arial"/>
                <a:ea typeface="Arial"/>
                <a:cs typeface="Arial"/>
                <a:sym typeface="Arial"/>
              </a:rPr>
              <a:t>, </a:t>
            </a:r>
            <a:r>
              <a:rPr lang="en-US" sz="1600">
                <a:latin typeface="Arial"/>
                <a:ea typeface="Arial"/>
                <a:cs typeface="Arial"/>
                <a:sym typeface="Arial"/>
              </a:rPr>
              <a:t>agent_code</a:t>
            </a:r>
            <a:r>
              <a:rPr lang="en-US" sz="1600">
                <a:solidFill>
                  <a:srgbClr val="808080"/>
                </a:solidFill>
                <a:latin typeface="Arial"/>
                <a:ea typeface="Arial"/>
                <a:cs typeface="Arial"/>
                <a:sym typeface="Arial"/>
              </a:rPr>
              <a:t>, </a:t>
            </a:r>
            <a:r>
              <a:rPr lang="en-US" sz="1600">
                <a:latin typeface="Arial"/>
                <a:ea typeface="Arial"/>
                <a:cs typeface="Arial"/>
                <a:sym typeface="Arial"/>
              </a:rPr>
              <a:t>phone_no </a:t>
            </a:r>
            <a:r>
              <a:rPr lang="en-US" sz="1600">
                <a:solidFill>
                  <a:srgbClr val="0000FF"/>
                </a:solidFill>
                <a:latin typeface="Arial"/>
                <a:ea typeface="Arial"/>
                <a:cs typeface="Arial"/>
                <a:sym typeface="Arial"/>
              </a:rPr>
              <a:t>FROM </a:t>
            </a:r>
            <a:r>
              <a:rPr lang="en-US" sz="1600">
                <a:latin typeface="Arial"/>
                <a:ea typeface="Arial"/>
                <a:cs typeface="Arial"/>
                <a:sym typeface="Arial"/>
              </a:rPr>
              <a:t>agents</a:t>
            </a:r>
            <a:endParaRPr sz="1600">
              <a:latin typeface="Arial"/>
              <a:ea typeface="Arial"/>
              <a:cs typeface="Arial"/>
              <a:sym typeface="Arial"/>
            </a:endParaRPr>
          </a:p>
          <a:p>
            <a:pPr marL="12700" lvl="0" indent="0" algn="l" rtl="0">
              <a:lnSpc>
                <a:spcPct val="100000"/>
              </a:lnSpc>
              <a:spcBef>
                <a:spcPts val="600"/>
              </a:spcBef>
              <a:spcAft>
                <a:spcPts val="0"/>
              </a:spcAft>
              <a:buNone/>
            </a:pPr>
            <a:r>
              <a:rPr lang="en-US" sz="1600">
                <a:solidFill>
                  <a:srgbClr val="0000FF"/>
                </a:solidFill>
                <a:latin typeface="Arial"/>
                <a:ea typeface="Arial"/>
                <a:cs typeface="Arial"/>
                <a:sym typeface="Arial"/>
              </a:rPr>
              <a:t>WHERE </a:t>
            </a:r>
            <a:r>
              <a:rPr lang="en-US" sz="1600">
                <a:latin typeface="Arial"/>
                <a:ea typeface="Arial"/>
                <a:cs typeface="Arial"/>
                <a:sym typeface="Arial"/>
              </a:rPr>
              <a:t>agent_code </a:t>
            </a:r>
            <a:r>
              <a:rPr lang="en-US" sz="1600">
                <a:solidFill>
                  <a:srgbClr val="808080"/>
                </a:solidFill>
                <a:latin typeface="Arial"/>
                <a:ea typeface="Arial"/>
                <a:cs typeface="Arial"/>
                <a:sym typeface="Arial"/>
              </a:rPr>
              <a:t>=</a:t>
            </a:r>
            <a:endParaRPr sz="1600">
              <a:latin typeface="Arial"/>
              <a:ea typeface="Arial"/>
              <a:cs typeface="Arial"/>
              <a:sym typeface="Arial"/>
            </a:endParaRPr>
          </a:p>
          <a:p>
            <a:pPr marL="12700" marR="5080" lvl="0" indent="1028700" algn="l" rtl="0">
              <a:lnSpc>
                <a:spcPct val="100000"/>
              </a:lnSpc>
              <a:spcBef>
                <a:spcPts val="600"/>
              </a:spcBef>
              <a:spcAft>
                <a:spcPts val="0"/>
              </a:spcAft>
              <a:buNone/>
            </a:pPr>
            <a:r>
              <a:rPr lang="en-US" sz="1600">
                <a:solidFill>
                  <a:srgbClr val="808080"/>
                </a:solidFill>
                <a:latin typeface="Arial"/>
                <a:ea typeface="Arial"/>
                <a:cs typeface="Arial"/>
                <a:sym typeface="Arial"/>
              </a:rPr>
              <a:t>(</a:t>
            </a:r>
            <a:r>
              <a:rPr lang="en-US" sz="1600">
                <a:solidFill>
                  <a:srgbClr val="0000FF"/>
                </a:solidFill>
                <a:latin typeface="Arial"/>
                <a:ea typeface="Arial"/>
                <a:cs typeface="Arial"/>
                <a:sym typeface="Arial"/>
              </a:rPr>
              <a:t>SELECT </a:t>
            </a:r>
            <a:r>
              <a:rPr lang="en-US" sz="1600">
                <a:latin typeface="Arial"/>
                <a:ea typeface="Arial"/>
                <a:cs typeface="Arial"/>
                <a:sym typeface="Arial"/>
              </a:rPr>
              <a:t>agent_code </a:t>
            </a:r>
            <a:r>
              <a:rPr lang="en-US" sz="1600">
                <a:solidFill>
                  <a:srgbClr val="0000FF"/>
                </a:solidFill>
                <a:latin typeface="Arial"/>
                <a:ea typeface="Arial"/>
                <a:cs typeface="Arial"/>
                <a:sym typeface="Arial"/>
              </a:rPr>
              <a:t>FROM </a:t>
            </a:r>
            <a:r>
              <a:rPr lang="en-US" sz="1600">
                <a:latin typeface="Arial"/>
                <a:ea typeface="Arial"/>
                <a:cs typeface="Arial"/>
                <a:sym typeface="Arial"/>
              </a:rPr>
              <a:t>agents </a:t>
            </a:r>
            <a:r>
              <a:rPr lang="en-US" sz="1600">
                <a:solidFill>
                  <a:srgbClr val="0000FF"/>
                </a:solidFill>
                <a:latin typeface="Arial"/>
                <a:ea typeface="Arial"/>
                <a:cs typeface="Arial"/>
                <a:sym typeface="Arial"/>
              </a:rPr>
              <a:t>WHERE </a:t>
            </a:r>
            <a:r>
              <a:rPr lang="en-US" sz="1600">
                <a:latin typeface="Arial"/>
                <a:ea typeface="Arial"/>
                <a:cs typeface="Arial"/>
                <a:sym typeface="Arial"/>
              </a:rPr>
              <a:t>agent_name </a:t>
            </a:r>
            <a:r>
              <a:rPr lang="en-US" sz="1600">
                <a:solidFill>
                  <a:srgbClr val="808080"/>
                </a:solidFill>
                <a:latin typeface="Arial"/>
                <a:ea typeface="Arial"/>
                <a:cs typeface="Arial"/>
                <a:sym typeface="Arial"/>
              </a:rPr>
              <a:t>= </a:t>
            </a:r>
            <a:r>
              <a:rPr lang="en-US" sz="1600">
                <a:solidFill>
                  <a:srgbClr val="FF0000"/>
                </a:solidFill>
                <a:latin typeface="Arial"/>
                <a:ea typeface="Arial"/>
                <a:cs typeface="Arial"/>
                <a:sym typeface="Arial"/>
              </a:rPr>
              <a:t>'Alex'</a:t>
            </a:r>
            <a:r>
              <a:rPr lang="en-US" sz="1600">
                <a:solidFill>
                  <a:srgbClr val="808080"/>
                </a:solidFill>
                <a:latin typeface="Arial"/>
                <a:ea typeface="Arial"/>
                <a:cs typeface="Arial"/>
                <a:sym typeface="Arial"/>
              </a:rPr>
              <a:t>)</a:t>
            </a:r>
            <a:endParaRPr sz="1600">
              <a:latin typeface="Arial"/>
              <a:ea typeface="Arial"/>
              <a:cs typeface="Arial"/>
              <a:sym typeface="Arial"/>
            </a:endParaRPr>
          </a:p>
        </p:txBody>
      </p:sp>
      <p:sp>
        <p:nvSpPr>
          <p:cNvPr id="274" name="Google Shape;274;p16"/>
          <p:cNvSpPr/>
          <p:nvPr/>
        </p:nvSpPr>
        <p:spPr>
          <a:xfrm>
            <a:off x="4876800" y="2401823"/>
            <a:ext cx="3340735" cy="309880"/>
          </a:xfrm>
          <a:custGeom>
            <a:avLst/>
            <a:gdLst/>
            <a:ahLst/>
            <a:cxnLst/>
            <a:rect l="l" t="t" r="r" b="b"/>
            <a:pathLst>
              <a:path w="3340734" h="309880" extrusionOk="0">
                <a:moveTo>
                  <a:pt x="0" y="51562"/>
                </a:moveTo>
                <a:lnTo>
                  <a:pt x="4056" y="31503"/>
                </a:lnTo>
                <a:lnTo>
                  <a:pt x="15112" y="15112"/>
                </a:lnTo>
                <a:lnTo>
                  <a:pt x="31503" y="4056"/>
                </a:lnTo>
                <a:lnTo>
                  <a:pt x="51562" y="0"/>
                </a:lnTo>
                <a:lnTo>
                  <a:pt x="3289046" y="0"/>
                </a:lnTo>
                <a:lnTo>
                  <a:pt x="3309104" y="4056"/>
                </a:lnTo>
                <a:lnTo>
                  <a:pt x="3325495" y="15112"/>
                </a:lnTo>
                <a:lnTo>
                  <a:pt x="3336551" y="31503"/>
                </a:lnTo>
                <a:lnTo>
                  <a:pt x="3340607" y="51562"/>
                </a:lnTo>
                <a:lnTo>
                  <a:pt x="3340607" y="257810"/>
                </a:lnTo>
                <a:lnTo>
                  <a:pt x="3336551" y="277868"/>
                </a:lnTo>
                <a:lnTo>
                  <a:pt x="3325494" y="294259"/>
                </a:lnTo>
                <a:lnTo>
                  <a:pt x="3309104" y="305315"/>
                </a:lnTo>
                <a:lnTo>
                  <a:pt x="3289046" y="309372"/>
                </a:lnTo>
                <a:lnTo>
                  <a:pt x="51562" y="309372"/>
                </a:lnTo>
                <a:lnTo>
                  <a:pt x="31503" y="305315"/>
                </a:lnTo>
                <a:lnTo>
                  <a:pt x="15112" y="294259"/>
                </a:lnTo>
                <a:lnTo>
                  <a:pt x="4056" y="277868"/>
                </a:lnTo>
                <a:lnTo>
                  <a:pt x="0" y="257810"/>
                </a:lnTo>
                <a:lnTo>
                  <a:pt x="0" y="51562"/>
                </a:lnTo>
                <a:close/>
              </a:path>
            </a:pathLst>
          </a:custGeom>
          <a:noFill/>
          <a:ln w="1217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5" name="Google Shape;275;p16"/>
          <p:cNvSpPr/>
          <p:nvPr/>
        </p:nvSpPr>
        <p:spPr>
          <a:xfrm>
            <a:off x="5561076" y="3348228"/>
            <a:ext cx="1092835" cy="386080"/>
          </a:xfrm>
          <a:custGeom>
            <a:avLst/>
            <a:gdLst/>
            <a:ahLst/>
            <a:cxnLst/>
            <a:rect l="l" t="t" r="r" b="b"/>
            <a:pathLst>
              <a:path w="1092834" h="386079" extrusionOk="0">
                <a:moveTo>
                  <a:pt x="0" y="64262"/>
                </a:moveTo>
                <a:lnTo>
                  <a:pt x="5058" y="39272"/>
                </a:lnTo>
                <a:lnTo>
                  <a:pt x="18843" y="18843"/>
                </a:lnTo>
                <a:lnTo>
                  <a:pt x="39272" y="5058"/>
                </a:lnTo>
                <a:lnTo>
                  <a:pt x="64262" y="0"/>
                </a:lnTo>
                <a:lnTo>
                  <a:pt x="1028446" y="0"/>
                </a:lnTo>
                <a:lnTo>
                  <a:pt x="1053435" y="5058"/>
                </a:lnTo>
                <a:lnTo>
                  <a:pt x="1073864" y="18843"/>
                </a:lnTo>
                <a:lnTo>
                  <a:pt x="1087649" y="39272"/>
                </a:lnTo>
                <a:lnTo>
                  <a:pt x="1092707" y="64262"/>
                </a:lnTo>
                <a:lnTo>
                  <a:pt x="1092707" y="321310"/>
                </a:lnTo>
                <a:lnTo>
                  <a:pt x="1087649" y="346299"/>
                </a:lnTo>
                <a:lnTo>
                  <a:pt x="1073864" y="366728"/>
                </a:lnTo>
                <a:lnTo>
                  <a:pt x="1053435" y="380513"/>
                </a:lnTo>
                <a:lnTo>
                  <a:pt x="1028446" y="385572"/>
                </a:lnTo>
                <a:lnTo>
                  <a:pt x="64262" y="385572"/>
                </a:lnTo>
                <a:lnTo>
                  <a:pt x="39272" y="380513"/>
                </a:lnTo>
                <a:lnTo>
                  <a:pt x="18843" y="366728"/>
                </a:lnTo>
                <a:lnTo>
                  <a:pt x="5058" y="346299"/>
                </a:lnTo>
                <a:lnTo>
                  <a:pt x="0" y="321310"/>
                </a:lnTo>
                <a:lnTo>
                  <a:pt x="0" y="64262"/>
                </a:lnTo>
                <a:close/>
              </a:path>
            </a:pathLst>
          </a:custGeom>
          <a:noFill/>
          <a:ln w="12175"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76" name="Google Shape;276;p16"/>
          <p:cNvPicPr preferRelativeResize="0"/>
          <p:nvPr/>
        </p:nvPicPr>
        <p:blipFill rotWithShape="1">
          <a:blip r:embed="rId6">
            <a:alphaModFix/>
          </a:blip>
          <a:srcRect/>
          <a:stretch/>
        </p:blipFill>
        <p:spPr>
          <a:xfrm>
            <a:off x="7409688" y="4620767"/>
            <a:ext cx="3509772" cy="466344"/>
          </a:xfrm>
          <a:prstGeom prst="rect">
            <a:avLst/>
          </a:prstGeom>
          <a:noFill/>
          <a:ln>
            <a:noFill/>
          </a:ln>
        </p:spPr>
      </p:pic>
      <p:grpSp>
        <p:nvGrpSpPr>
          <p:cNvPr id="277" name="Google Shape;277;p16"/>
          <p:cNvGrpSpPr/>
          <p:nvPr/>
        </p:nvGrpSpPr>
        <p:grpSpPr>
          <a:xfrm>
            <a:off x="2243327" y="3956303"/>
            <a:ext cx="5095240" cy="2374392"/>
            <a:chOff x="2243327" y="3956303"/>
            <a:chExt cx="5095240" cy="2374392"/>
          </a:xfrm>
        </p:grpSpPr>
        <p:pic>
          <p:nvPicPr>
            <p:cNvPr id="278" name="Google Shape;278;p16"/>
            <p:cNvPicPr preferRelativeResize="0"/>
            <p:nvPr/>
          </p:nvPicPr>
          <p:blipFill rotWithShape="1">
            <a:blip r:embed="rId7">
              <a:alphaModFix/>
            </a:blip>
            <a:srcRect/>
            <a:stretch/>
          </p:blipFill>
          <p:spPr>
            <a:xfrm>
              <a:off x="2243327" y="3956303"/>
              <a:ext cx="4876800" cy="2374392"/>
            </a:xfrm>
            <a:prstGeom prst="rect">
              <a:avLst/>
            </a:prstGeom>
            <a:noFill/>
            <a:ln>
              <a:noFill/>
            </a:ln>
          </p:spPr>
        </p:pic>
        <p:sp>
          <p:nvSpPr>
            <p:cNvPr id="279" name="Google Shape;279;p16"/>
            <p:cNvSpPr/>
            <p:nvPr/>
          </p:nvSpPr>
          <p:spPr>
            <a:xfrm>
              <a:off x="7120127" y="4678679"/>
              <a:ext cx="218440" cy="408940"/>
            </a:xfrm>
            <a:custGeom>
              <a:avLst/>
              <a:gdLst/>
              <a:ahLst/>
              <a:cxnLst/>
              <a:rect l="l" t="t" r="r" b="b"/>
              <a:pathLst>
                <a:path w="218440" h="408939" extrusionOk="0">
                  <a:moveTo>
                    <a:pt x="6857" y="102108"/>
                  </a:moveTo>
                  <a:lnTo>
                    <a:pt x="0" y="102108"/>
                  </a:lnTo>
                  <a:lnTo>
                    <a:pt x="0" y="306324"/>
                  </a:lnTo>
                  <a:lnTo>
                    <a:pt x="6857" y="306324"/>
                  </a:lnTo>
                  <a:lnTo>
                    <a:pt x="6857" y="102108"/>
                  </a:lnTo>
                  <a:close/>
                </a:path>
                <a:path w="218440" h="408939" extrusionOk="0">
                  <a:moveTo>
                    <a:pt x="27177" y="102108"/>
                  </a:moveTo>
                  <a:lnTo>
                    <a:pt x="13589" y="102108"/>
                  </a:lnTo>
                  <a:lnTo>
                    <a:pt x="13589" y="306324"/>
                  </a:lnTo>
                  <a:lnTo>
                    <a:pt x="27177" y="306324"/>
                  </a:lnTo>
                  <a:lnTo>
                    <a:pt x="27177" y="102108"/>
                  </a:lnTo>
                  <a:close/>
                </a:path>
                <a:path w="218440" h="408939" extrusionOk="0">
                  <a:moveTo>
                    <a:pt x="108966" y="0"/>
                  </a:moveTo>
                  <a:lnTo>
                    <a:pt x="108966" y="102108"/>
                  </a:lnTo>
                  <a:lnTo>
                    <a:pt x="34036" y="102108"/>
                  </a:lnTo>
                  <a:lnTo>
                    <a:pt x="34036" y="306324"/>
                  </a:lnTo>
                  <a:lnTo>
                    <a:pt x="108966" y="306324"/>
                  </a:lnTo>
                  <a:lnTo>
                    <a:pt x="108966" y="408432"/>
                  </a:lnTo>
                  <a:lnTo>
                    <a:pt x="217931" y="204216"/>
                  </a:lnTo>
                  <a:lnTo>
                    <a:pt x="108966" y="0"/>
                  </a:lnTo>
                  <a:close/>
                </a:path>
              </a:pathLst>
            </a:custGeom>
            <a:solidFill>
              <a:srgbClr val="4FC1E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0" name="Google Shape;280;p16"/>
            <p:cNvSpPr/>
            <p:nvPr/>
          </p:nvSpPr>
          <p:spPr>
            <a:xfrm>
              <a:off x="7120127" y="4678679"/>
              <a:ext cx="218440" cy="408940"/>
            </a:xfrm>
            <a:custGeom>
              <a:avLst/>
              <a:gdLst/>
              <a:ahLst/>
              <a:cxnLst/>
              <a:rect l="l" t="t" r="r" b="b"/>
              <a:pathLst>
                <a:path w="218440" h="408939" extrusionOk="0">
                  <a:moveTo>
                    <a:pt x="0" y="102108"/>
                  </a:moveTo>
                  <a:lnTo>
                    <a:pt x="6857" y="102108"/>
                  </a:lnTo>
                  <a:lnTo>
                    <a:pt x="6857" y="306324"/>
                  </a:lnTo>
                  <a:lnTo>
                    <a:pt x="0" y="306324"/>
                  </a:lnTo>
                  <a:lnTo>
                    <a:pt x="0" y="102108"/>
                  </a:lnTo>
                  <a:close/>
                </a:path>
                <a:path w="218440" h="408939" extrusionOk="0">
                  <a:moveTo>
                    <a:pt x="13589" y="102108"/>
                  </a:moveTo>
                  <a:lnTo>
                    <a:pt x="27177" y="102108"/>
                  </a:lnTo>
                  <a:lnTo>
                    <a:pt x="27177" y="306324"/>
                  </a:lnTo>
                  <a:lnTo>
                    <a:pt x="13589" y="306324"/>
                  </a:lnTo>
                  <a:lnTo>
                    <a:pt x="13589" y="102108"/>
                  </a:lnTo>
                  <a:close/>
                </a:path>
                <a:path w="218440" h="408939" extrusionOk="0">
                  <a:moveTo>
                    <a:pt x="34036" y="102108"/>
                  </a:moveTo>
                  <a:lnTo>
                    <a:pt x="108966" y="102108"/>
                  </a:lnTo>
                  <a:lnTo>
                    <a:pt x="108966" y="0"/>
                  </a:lnTo>
                  <a:lnTo>
                    <a:pt x="217931" y="204216"/>
                  </a:lnTo>
                  <a:lnTo>
                    <a:pt x="108966" y="408432"/>
                  </a:lnTo>
                  <a:lnTo>
                    <a:pt x="108966" y="306324"/>
                  </a:lnTo>
                  <a:lnTo>
                    <a:pt x="34036" y="306324"/>
                  </a:lnTo>
                  <a:lnTo>
                    <a:pt x="34036" y="102108"/>
                  </a:lnTo>
                  <a:close/>
                </a:path>
              </a:pathLst>
            </a:custGeom>
            <a:noFill/>
            <a:ln w="12175" cap="flat" cmpd="sng">
              <a:solidFill>
                <a:srgbClr val="388DA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7"/>
          <p:cNvSpPr txBox="1">
            <a:spLocks noGrp="1"/>
          </p:cNvSpPr>
          <p:nvPr>
            <p:ph type="title"/>
          </p:nvPr>
        </p:nvSpPr>
        <p:spPr>
          <a:xfrm>
            <a:off x="4954015" y="1064717"/>
            <a:ext cx="167449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Sub Query</a:t>
            </a:r>
            <a:endParaRPr/>
          </a:p>
        </p:txBody>
      </p:sp>
      <p:grpSp>
        <p:nvGrpSpPr>
          <p:cNvPr id="286" name="Google Shape;286;p17"/>
          <p:cNvGrpSpPr/>
          <p:nvPr/>
        </p:nvGrpSpPr>
        <p:grpSpPr>
          <a:xfrm>
            <a:off x="1284732" y="827532"/>
            <a:ext cx="1289304" cy="1182624"/>
            <a:chOff x="1284732" y="827532"/>
            <a:chExt cx="1289304" cy="1182624"/>
          </a:xfrm>
        </p:grpSpPr>
        <p:pic>
          <p:nvPicPr>
            <p:cNvPr id="287" name="Google Shape;287;p17"/>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288" name="Google Shape;288;p17"/>
            <p:cNvPicPr preferRelativeResize="0"/>
            <p:nvPr/>
          </p:nvPicPr>
          <p:blipFill rotWithShape="1">
            <a:blip r:embed="rId4">
              <a:alphaModFix/>
            </a:blip>
            <a:srcRect/>
            <a:stretch/>
          </p:blipFill>
          <p:spPr>
            <a:xfrm>
              <a:off x="1313688" y="827532"/>
              <a:ext cx="1231391" cy="1182624"/>
            </a:xfrm>
            <a:prstGeom prst="rect">
              <a:avLst/>
            </a:prstGeom>
            <a:noFill/>
            <a:ln>
              <a:noFill/>
            </a:ln>
          </p:spPr>
        </p:pic>
        <p:pic>
          <p:nvPicPr>
            <p:cNvPr id="289" name="Google Shape;289;p17"/>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290" name="Google Shape;290;p17"/>
          <p:cNvSpPr txBox="1"/>
          <p:nvPr/>
        </p:nvSpPr>
        <p:spPr>
          <a:xfrm>
            <a:off x="1466469" y="1075385"/>
            <a:ext cx="3206115" cy="1028065"/>
          </a:xfrm>
          <a:prstGeom prst="rect">
            <a:avLst/>
          </a:prstGeom>
          <a:noFill/>
          <a:ln>
            <a:noFill/>
          </a:ln>
        </p:spPr>
        <p:txBody>
          <a:bodyPr spcFirstLastPara="1" wrap="square" lIns="0" tIns="12050" rIns="0" bIns="0" anchor="t" anchorCtr="0">
            <a:spAutoFit/>
          </a:bodyPr>
          <a:lstStyle/>
          <a:p>
            <a:pPr marL="215265"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02</a:t>
            </a:r>
            <a:endParaRPr sz="2800">
              <a:latin typeface="Impact"/>
              <a:ea typeface="Impact"/>
              <a:cs typeface="Impact"/>
              <a:sym typeface="Impact"/>
            </a:endParaRPr>
          </a:p>
          <a:p>
            <a:pPr marL="354965" lvl="0" indent="-342265" algn="l" rtl="0">
              <a:lnSpc>
                <a:spcPct val="100000"/>
              </a:lnSpc>
              <a:spcBef>
                <a:spcPts val="2014"/>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Multiple-Row Subquery</a:t>
            </a:r>
            <a:r>
              <a:rPr lang="en-US" sz="2100">
                <a:latin typeface="Times New Roman"/>
                <a:ea typeface="Times New Roman"/>
                <a:cs typeface="Times New Roman"/>
                <a:sym typeface="Times New Roman"/>
              </a:rPr>
              <a:t>:</a:t>
            </a:r>
            <a:endParaRPr sz="2100">
              <a:latin typeface="Times New Roman"/>
              <a:ea typeface="Times New Roman"/>
              <a:cs typeface="Times New Roman"/>
              <a:sym typeface="Times New Roman"/>
            </a:endParaRPr>
          </a:p>
        </p:txBody>
      </p:sp>
      <p:sp>
        <p:nvSpPr>
          <p:cNvPr id="291" name="Google Shape;291;p17"/>
          <p:cNvSpPr txBox="1"/>
          <p:nvPr/>
        </p:nvSpPr>
        <p:spPr>
          <a:xfrm>
            <a:off x="1994661" y="2415285"/>
            <a:ext cx="5456555" cy="1946275"/>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ord_num</a:t>
            </a:r>
            <a:r>
              <a:rPr lang="en-US" sz="1800">
                <a:solidFill>
                  <a:srgbClr val="808080"/>
                </a:solidFill>
                <a:latin typeface="Arial"/>
                <a:ea typeface="Arial"/>
                <a:cs typeface="Arial"/>
                <a:sym typeface="Arial"/>
              </a:rPr>
              <a:t>, </a:t>
            </a:r>
            <a:r>
              <a:rPr lang="en-US" sz="1800">
                <a:latin typeface="Arial"/>
                <a:ea typeface="Arial"/>
                <a:cs typeface="Arial"/>
                <a:sym typeface="Arial"/>
              </a:rPr>
              <a:t>ord_amount</a:t>
            </a:r>
            <a:r>
              <a:rPr lang="en-US" sz="1800">
                <a:solidFill>
                  <a:srgbClr val="808080"/>
                </a:solidFill>
                <a:latin typeface="Arial"/>
                <a:ea typeface="Arial"/>
                <a:cs typeface="Arial"/>
                <a:sym typeface="Arial"/>
              </a:rPr>
              <a:t>, </a:t>
            </a:r>
            <a:r>
              <a:rPr lang="en-US" sz="1800">
                <a:latin typeface="Arial"/>
                <a:ea typeface="Arial"/>
                <a:cs typeface="Arial"/>
                <a:sym typeface="Arial"/>
              </a:rPr>
              <a:t>ord_date</a:t>
            </a:r>
            <a:r>
              <a:rPr lang="en-US" sz="1800">
                <a:solidFill>
                  <a:srgbClr val="808080"/>
                </a:solidFill>
                <a:latin typeface="Arial"/>
                <a:ea typeface="Arial"/>
                <a:cs typeface="Arial"/>
                <a:sym typeface="Arial"/>
              </a:rPr>
              <a:t>, </a:t>
            </a:r>
            <a:r>
              <a:rPr lang="en-US" sz="1800">
                <a:latin typeface="Arial"/>
                <a:ea typeface="Arial"/>
                <a:cs typeface="Arial"/>
                <a:sym typeface="Arial"/>
              </a:rPr>
              <a:t>cust_code</a:t>
            </a:r>
            <a:r>
              <a:rPr lang="en-US" sz="1800">
                <a:solidFill>
                  <a:srgbClr val="808080"/>
                </a:solidFill>
                <a:latin typeface="Arial"/>
                <a:ea typeface="Arial"/>
                <a:cs typeface="Arial"/>
                <a:sym typeface="Arial"/>
              </a:rPr>
              <a:t>, </a:t>
            </a:r>
            <a:r>
              <a:rPr lang="en-US" sz="1800">
                <a:latin typeface="Arial"/>
                <a:ea typeface="Arial"/>
                <a:cs typeface="Arial"/>
                <a:sym typeface="Arial"/>
              </a:rPr>
              <a:t>agent_code</a:t>
            </a:r>
            <a:endParaRPr sz="1800">
              <a:latin typeface="Arial"/>
              <a:ea typeface="Arial"/>
              <a:cs typeface="Arial"/>
              <a:sym typeface="Arial"/>
            </a:endParaRPr>
          </a:p>
          <a:p>
            <a:pPr marL="0" lvl="0" indent="0" algn="l" rtl="0">
              <a:lnSpc>
                <a:spcPct val="100000"/>
              </a:lnSpc>
              <a:spcBef>
                <a:spcPts val="0"/>
              </a:spcBef>
              <a:spcAft>
                <a:spcPts val="0"/>
              </a:spcAft>
              <a:buNone/>
            </a:pPr>
            <a:r>
              <a:rPr lang="en-US" sz="1800">
                <a:solidFill>
                  <a:srgbClr val="0000FF"/>
                </a:solidFill>
                <a:latin typeface="Arial"/>
                <a:ea typeface="Arial"/>
                <a:cs typeface="Arial"/>
                <a:sym typeface="Arial"/>
              </a:rPr>
              <a:t>FROM </a:t>
            </a:r>
            <a:r>
              <a:rPr lang="en-US" sz="1800">
                <a:latin typeface="Arial"/>
                <a:ea typeface="Arial"/>
                <a:cs typeface="Arial"/>
                <a:sym typeface="Arial"/>
              </a:rPr>
              <a:t>orders</a:t>
            </a:r>
            <a:endParaRPr sz="1800">
              <a:latin typeface="Arial"/>
              <a:ea typeface="Arial"/>
              <a:cs typeface="Arial"/>
              <a:sym typeface="Arial"/>
            </a:endParaRPr>
          </a:p>
          <a:p>
            <a:pPr marL="0" lvl="0" indent="0" algn="l" rtl="0">
              <a:lnSpc>
                <a:spcPct val="100000"/>
              </a:lnSpc>
              <a:spcBef>
                <a:spcPts val="0"/>
              </a:spcBef>
              <a:spcAft>
                <a:spcPts val="0"/>
              </a:spcAft>
              <a:buNone/>
            </a:pPr>
            <a:r>
              <a:rPr lang="en-US" sz="1800">
                <a:solidFill>
                  <a:srgbClr val="0000FF"/>
                </a:solidFill>
                <a:latin typeface="Arial"/>
                <a:ea typeface="Arial"/>
                <a:cs typeface="Arial"/>
                <a:sym typeface="Arial"/>
              </a:rPr>
              <a:t>WHERE </a:t>
            </a:r>
            <a:r>
              <a:rPr lang="en-US" sz="1800">
                <a:latin typeface="Arial"/>
                <a:ea typeface="Arial"/>
                <a:cs typeface="Arial"/>
                <a:sym typeface="Arial"/>
              </a:rPr>
              <a:t>agent_code </a:t>
            </a:r>
            <a:r>
              <a:rPr lang="en-US" sz="1800">
                <a:solidFill>
                  <a:srgbClr val="808080"/>
                </a:solidFill>
                <a:latin typeface="Arial"/>
                <a:ea typeface="Arial"/>
                <a:cs typeface="Arial"/>
                <a:sym typeface="Arial"/>
              </a:rPr>
              <a:t>IN (</a:t>
            </a:r>
            <a:endParaRPr sz="1800">
              <a:latin typeface="Arial"/>
              <a:ea typeface="Arial"/>
              <a:cs typeface="Arial"/>
              <a:sym typeface="Arial"/>
            </a:endParaRPr>
          </a:p>
          <a:p>
            <a:pPr marL="513080" marR="1307465"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agent_code </a:t>
            </a:r>
            <a:r>
              <a:rPr lang="en-US" sz="1800">
                <a:solidFill>
                  <a:srgbClr val="0000FF"/>
                </a:solidFill>
                <a:latin typeface="Arial"/>
                <a:ea typeface="Arial"/>
                <a:cs typeface="Arial"/>
                <a:sym typeface="Arial"/>
              </a:rPr>
              <a:t>FROM </a:t>
            </a:r>
            <a:r>
              <a:rPr lang="en-US" sz="1800">
                <a:latin typeface="Arial"/>
                <a:ea typeface="Arial"/>
                <a:cs typeface="Arial"/>
                <a:sym typeface="Arial"/>
              </a:rPr>
              <a:t>agents </a:t>
            </a:r>
            <a:r>
              <a:rPr lang="en-US" sz="1800">
                <a:solidFill>
                  <a:srgbClr val="0000FF"/>
                </a:solidFill>
                <a:latin typeface="Arial"/>
                <a:ea typeface="Arial"/>
                <a:cs typeface="Arial"/>
                <a:sym typeface="Arial"/>
              </a:rPr>
              <a:t>WHERE </a:t>
            </a:r>
            <a:r>
              <a:rPr lang="en-US" sz="1800">
                <a:latin typeface="Arial"/>
                <a:ea typeface="Arial"/>
                <a:cs typeface="Arial"/>
                <a:sym typeface="Arial"/>
              </a:rPr>
              <a:t>working_area</a:t>
            </a:r>
            <a:r>
              <a:rPr lang="en-US" sz="1800">
                <a:solidFill>
                  <a:srgbClr val="808080"/>
                </a:solidFill>
                <a:latin typeface="Arial"/>
                <a:ea typeface="Arial"/>
                <a:cs typeface="Arial"/>
                <a:sym typeface="Arial"/>
              </a:rPr>
              <a:t>=</a:t>
            </a:r>
            <a:r>
              <a:rPr lang="en-US" sz="1800">
                <a:solidFill>
                  <a:srgbClr val="FF0000"/>
                </a:solidFill>
                <a:latin typeface="Arial"/>
                <a:ea typeface="Arial"/>
                <a:cs typeface="Arial"/>
                <a:sym typeface="Arial"/>
              </a:rPr>
              <a:t>'Bangalore'</a:t>
            </a:r>
            <a:endParaRPr sz="1800">
              <a:latin typeface="Arial"/>
              <a:ea typeface="Arial"/>
              <a:cs typeface="Arial"/>
              <a:sym typeface="Arial"/>
            </a:endParaRPr>
          </a:p>
          <a:p>
            <a:pPr marL="0" lvl="0" indent="0" algn="l" rtl="0">
              <a:lnSpc>
                <a:spcPct val="100000"/>
              </a:lnSpc>
              <a:spcBef>
                <a:spcPts val="0"/>
              </a:spcBef>
              <a:spcAft>
                <a:spcPts val="0"/>
              </a:spcAft>
              <a:buNone/>
            </a:pPr>
            <a:r>
              <a:rPr lang="en-US" sz="1800">
                <a:solidFill>
                  <a:srgbClr val="808080"/>
                </a:solidFill>
                <a:latin typeface="Arial"/>
                <a:ea typeface="Arial"/>
                <a:cs typeface="Arial"/>
                <a:sym typeface="Arial"/>
              </a:rPr>
              <a:t>)</a:t>
            </a:r>
            <a:endParaRPr sz="1800">
              <a:latin typeface="Arial"/>
              <a:ea typeface="Arial"/>
              <a:cs typeface="Arial"/>
              <a:sym typeface="Arial"/>
            </a:endParaRPr>
          </a:p>
        </p:txBody>
      </p:sp>
      <p:pic>
        <p:nvPicPr>
          <p:cNvPr id="292" name="Google Shape;292;p17"/>
          <p:cNvPicPr preferRelativeResize="0"/>
          <p:nvPr/>
        </p:nvPicPr>
        <p:blipFill rotWithShape="1">
          <a:blip r:embed="rId6">
            <a:alphaModFix/>
          </a:blip>
          <a:srcRect/>
          <a:stretch/>
        </p:blipFill>
        <p:spPr>
          <a:xfrm>
            <a:off x="6585204" y="2958083"/>
            <a:ext cx="4392167" cy="1146047"/>
          </a:xfrm>
          <a:prstGeom prst="rect">
            <a:avLst/>
          </a:prstGeom>
          <a:noFill/>
          <a:ln>
            <a:noFill/>
          </a:ln>
        </p:spPr>
      </p:pic>
      <p:grpSp>
        <p:nvGrpSpPr>
          <p:cNvPr id="293" name="Google Shape;293;p17"/>
          <p:cNvGrpSpPr/>
          <p:nvPr/>
        </p:nvGrpSpPr>
        <p:grpSpPr>
          <a:xfrm>
            <a:off x="6262116" y="3252216"/>
            <a:ext cx="218440" cy="408940"/>
            <a:chOff x="6262116" y="3252216"/>
            <a:chExt cx="218440" cy="408940"/>
          </a:xfrm>
        </p:grpSpPr>
        <p:sp>
          <p:nvSpPr>
            <p:cNvPr id="294" name="Google Shape;294;p17"/>
            <p:cNvSpPr/>
            <p:nvPr/>
          </p:nvSpPr>
          <p:spPr>
            <a:xfrm>
              <a:off x="6262116" y="3252216"/>
              <a:ext cx="218440" cy="408940"/>
            </a:xfrm>
            <a:custGeom>
              <a:avLst/>
              <a:gdLst/>
              <a:ahLst/>
              <a:cxnLst/>
              <a:rect l="l" t="t" r="r" b="b"/>
              <a:pathLst>
                <a:path w="218439" h="408939" extrusionOk="0">
                  <a:moveTo>
                    <a:pt x="6858" y="102108"/>
                  </a:moveTo>
                  <a:lnTo>
                    <a:pt x="0" y="102108"/>
                  </a:lnTo>
                  <a:lnTo>
                    <a:pt x="0" y="306324"/>
                  </a:lnTo>
                  <a:lnTo>
                    <a:pt x="6858" y="306324"/>
                  </a:lnTo>
                  <a:lnTo>
                    <a:pt x="6858" y="102108"/>
                  </a:lnTo>
                  <a:close/>
                </a:path>
                <a:path w="218439" h="408939" extrusionOk="0">
                  <a:moveTo>
                    <a:pt x="27178" y="102108"/>
                  </a:moveTo>
                  <a:lnTo>
                    <a:pt x="13588" y="102108"/>
                  </a:lnTo>
                  <a:lnTo>
                    <a:pt x="13588" y="306324"/>
                  </a:lnTo>
                  <a:lnTo>
                    <a:pt x="27178" y="306324"/>
                  </a:lnTo>
                  <a:lnTo>
                    <a:pt x="27178" y="102108"/>
                  </a:lnTo>
                  <a:close/>
                </a:path>
                <a:path w="218439" h="408939" extrusionOk="0">
                  <a:moveTo>
                    <a:pt x="108966" y="0"/>
                  </a:moveTo>
                  <a:lnTo>
                    <a:pt x="108966" y="102108"/>
                  </a:lnTo>
                  <a:lnTo>
                    <a:pt x="34036" y="102108"/>
                  </a:lnTo>
                  <a:lnTo>
                    <a:pt x="34036" y="306324"/>
                  </a:lnTo>
                  <a:lnTo>
                    <a:pt x="108966" y="306324"/>
                  </a:lnTo>
                  <a:lnTo>
                    <a:pt x="108966" y="408432"/>
                  </a:lnTo>
                  <a:lnTo>
                    <a:pt x="217932" y="204216"/>
                  </a:lnTo>
                  <a:lnTo>
                    <a:pt x="108966" y="0"/>
                  </a:lnTo>
                  <a:close/>
                </a:path>
              </a:pathLst>
            </a:custGeom>
            <a:solidFill>
              <a:srgbClr val="4FC1E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5" name="Google Shape;295;p17"/>
            <p:cNvSpPr/>
            <p:nvPr/>
          </p:nvSpPr>
          <p:spPr>
            <a:xfrm>
              <a:off x="6262116" y="3252216"/>
              <a:ext cx="218440" cy="408940"/>
            </a:xfrm>
            <a:custGeom>
              <a:avLst/>
              <a:gdLst/>
              <a:ahLst/>
              <a:cxnLst/>
              <a:rect l="l" t="t" r="r" b="b"/>
              <a:pathLst>
                <a:path w="218439" h="408939" extrusionOk="0">
                  <a:moveTo>
                    <a:pt x="0" y="102108"/>
                  </a:moveTo>
                  <a:lnTo>
                    <a:pt x="6858" y="102108"/>
                  </a:lnTo>
                  <a:lnTo>
                    <a:pt x="6858" y="306324"/>
                  </a:lnTo>
                  <a:lnTo>
                    <a:pt x="0" y="306324"/>
                  </a:lnTo>
                  <a:lnTo>
                    <a:pt x="0" y="102108"/>
                  </a:lnTo>
                  <a:close/>
                </a:path>
                <a:path w="218439" h="408939" extrusionOk="0">
                  <a:moveTo>
                    <a:pt x="13588" y="102108"/>
                  </a:moveTo>
                  <a:lnTo>
                    <a:pt x="27178" y="102108"/>
                  </a:lnTo>
                  <a:lnTo>
                    <a:pt x="27178" y="306324"/>
                  </a:lnTo>
                  <a:lnTo>
                    <a:pt x="13588" y="306324"/>
                  </a:lnTo>
                  <a:lnTo>
                    <a:pt x="13588" y="102108"/>
                  </a:lnTo>
                  <a:close/>
                </a:path>
                <a:path w="218439" h="408939" extrusionOk="0">
                  <a:moveTo>
                    <a:pt x="34036" y="102108"/>
                  </a:moveTo>
                  <a:lnTo>
                    <a:pt x="108966" y="102108"/>
                  </a:lnTo>
                  <a:lnTo>
                    <a:pt x="108966" y="0"/>
                  </a:lnTo>
                  <a:lnTo>
                    <a:pt x="217932" y="204216"/>
                  </a:lnTo>
                  <a:lnTo>
                    <a:pt x="108966" y="408432"/>
                  </a:lnTo>
                  <a:lnTo>
                    <a:pt x="108966" y="306324"/>
                  </a:lnTo>
                  <a:lnTo>
                    <a:pt x="34036" y="306324"/>
                  </a:lnTo>
                  <a:lnTo>
                    <a:pt x="34036" y="102108"/>
                  </a:lnTo>
                  <a:close/>
                </a:path>
              </a:pathLst>
            </a:custGeom>
            <a:noFill/>
            <a:ln w="12175" cap="flat" cmpd="sng">
              <a:solidFill>
                <a:srgbClr val="388DA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296" name="Google Shape;296;p17"/>
          <p:cNvPicPr preferRelativeResize="0"/>
          <p:nvPr/>
        </p:nvPicPr>
        <p:blipFill rotWithShape="1">
          <a:blip r:embed="rId7">
            <a:alphaModFix/>
          </a:blip>
          <a:srcRect/>
          <a:stretch/>
        </p:blipFill>
        <p:spPr>
          <a:xfrm>
            <a:off x="2590800" y="4629911"/>
            <a:ext cx="6742176" cy="142189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8"/>
          <p:cNvSpPr txBox="1">
            <a:spLocks noGrp="1"/>
          </p:cNvSpPr>
          <p:nvPr>
            <p:ph type="title"/>
          </p:nvPr>
        </p:nvSpPr>
        <p:spPr>
          <a:xfrm>
            <a:off x="4954015" y="1064717"/>
            <a:ext cx="167449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Sub Query</a:t>
            </a:r>
            <a:endParaRPr/>
          </a:p>
        </p:txBody>
      </p:sp>
      <p:grpSp>
        <p:nvGrpSpPr>
          <p:cNvPr id="302" name="Google Shape;302;p18"/>
          <p:cNvGrpSpPr/>
          <p:nvPr/>
        </p:nvGrpSpPr>
        <p:grpSpPr>
          <a:xfrm>
            <a:off x="1284732" y="827532"/>
            <a:ext cx="1289304" cy="1182624"/>
            <a:chOff x="1284732" y="827532"/>
            <a:chExt cx="1289304" cy="1182624"/>
          </a:xfrm>
        </p:grpSpPr>
        <p:pic>
          <p:nvPicPr>
            <p:cNvPr id="303" name="Google Shape;303;p18"/>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04" name="Google Shape;304;p18"/>
            <p:cNvPicPr preferRelativeResize="0"/>
            <p:nvPr/>
          </p:nvPicPr>
          <p:blipFill rotWithShape="1">
            <a:blip r:embed="rId4">
              <a:alphaModFix/>
            </a:blip>
            <a:srcRect/>
            <a:stretch/>
          </p:blipFill>
          <p:spPr>
            <a:xfrm>
              <a:off x="1313688" y="827532"/>
              <a:ext cx="1231391" cy="1182624"/>
            </a:xfrm>
            <a:prstGeom prst="rect">
              <a:avLst/>
            </a:prstGeom>
            <a:noFill/>
            <a:ln>
              <a:noFill/>
            </a:ln>
          </p:spPr>
        </p:pic>
        <p:pic>
          <p:nvPicPr>
            <p:cNvPr id="305" name="Google Shape;305;p18"/>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306" name="Google Shape;306;p18"/>
          <p:cNvSpPr txBox="1"/>
          <p:nvPr/>
        </p:nvSpPr>
        <p:spPr>
          <a:xfrm>
            <a:off x="1466469" y="1075385"/>
            <a:ext cx="5775325" cy="2737485"/>
          </a:xfrm>
          <a:prstGeom prst="rect">
            <a:avLst/>
          </a:prstGeom>
          <a:noFill/>
          <a:ln>
            <a:noFill/>
          </a:ln>
        </p:spPr>
        <p:txBody>
          <a:bodyPr spcFirstLastPara="1" wrap="square" lIns="0" tIns="12050" rIns="0" bIns="0" anchor="t" anchorCtr="0">
            <a:spAutoFit/>
          </a:bodyPr>
          <a:lstStyle/>
          <a:p>
            <a:pPr marL="215265"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02</a:t>
            </a:r>
            <a:endParaRPr sz="2800">
              <a:latin typeface="Impact"/>
              <a:ea typeface="Impact"/>
              <a:cs typeface="Impact"/>
              <a:sym typeface="Impact"/>
            </a:endParaRPr>
          </a:p>
          <a:p>
            <a:pPr marL="354965" lvl="0" indent="-342265" algn="l" rtl="0">
              <a:lnSpc>
                <a:spcPct val="100000"/>
              </a:lnSpc>
              <a:spcBef>
                <a:spcPts val="2014"/>
              </a:spcBef>
              <a:spcAft>
                <a:spcPts val="0"/>
              </a:spcAft>
              <a:buClr>
                <a:srgbClr val="FF5A33"/>
              </a:buClr>
              <a:buSzPts val="2100"/>
              <a:buFont typeface="Noto Sans Symbols"/>
              <a:buChar char="❖"/>
            </a:pPr>
            <a:r>
              <a:rPr lang="en-US" sz="2100" b="1">
                <a:latin typeface="Times New Roman"/>
                <a:ea typeface="Times New Roman"/>
                <a:cs typeface="Times New Roman"/>
                <a:sym typeface="Times New Roman"/>
              </a:rPr>
              <a:t>Correlated Subquery</a:t>
            </a:r>
            <a:r>
              <a:rPr lang="en-US" sz="2100">
                <a:latin typeface="Times New Roman"/>
                <a:ea typeface="Times New Roman"/>
                <a:cs typeface="Times New Roman"/>
                <a:sym typeface="Times New Roman"/>
              </a:rPr>
              <a:t>:</a:t>
            </a:r>
            <a:endParaRPr sz="2100">
              <a:latin typeface="Times New Roman"/>
              <a:ea typeface="Times New Roman"/>
              <a:cs typeface="Times New Roman"/>
              <a:sym typeface="Times New Roman"/>
            </a:endParaRPr>
          </a:p>
          <a:p>
            <a:pPr marL="0" lvl="0" indent="0" algn="l" rtl="0">
              <a:lnSpc>
                <a:spcPct val="100000"/>
              </a:lnSpc>
              <a:spcBef>
                <a:spcPts val="245"/>
              </a:spcBef>
              <a:spcAft>
                <a:spcPts val="0"/>
              </a:spcAft>
              <a:buNone/>
            </a:pPr>
            <a:endParaRPr sz="2100">
              <a:latin typeface="Times New Roman"/>
              <a:ea typeface="Times New Roman"/>
              <a:cs typeface="Times New Roman"/>
              <a:sym typeface="Times New Roman"/>
            </a:endParaRPr>
          </a:p>
          <a:p>
            <a:pPr marL="527685" marR="2372360"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	</a:t>
            </a:r>
            <a:r>
              <a:rPr lang="en-US" sz="1800">
                <a:solidFill>
                  <a:srgbClr val="0000FF"/>
                </a:solidFill>
                <a:latin typeface="Arial"/>
                <a:ea typeface="Arial"/>
                <a:cs typeface="Arial"/>
                <a:sym typeface="Arial"/>
              </a:rPr>
              <a:t>FROM </a:t>
            </a:r>
            <a:r>
              <a:rPr lang="en-US" sz="1800">
                <a:latin typeface="Arial"/>
                <a:ea typeface="Arial"/>
                <a:cs typeface="Arial"/>
                <a:sym typeface="Arial"/>
              </a:rPr>
              <a:t>orders o </a:t>
            </a:r>
            <a:r>
              <a:rPr lang="en-US" sz="1800">
                <a:solidFill>
                  <a:srgbClr val="0000FF"/>
                </a:solidFill>
                <a:latin typeface="Arial"/>
                <a:ea typeface="Arial"/>
                <a:cs typeface="Arial"/>
                <a:sym typeface="Arial"/>
              </a:rPr>
              <a:t>WHERE </a:t>
            </a:r>
            <a:r>
              <a:rPr lang="en-US" sz="1800">
                <a:latin typeface="Arial"/>
                <a:ea typeface="Arial"/>
                <a:cs typeface="Arial"/>
                <a:sym typeface="Arial"/>
              </a:rPr>
              <a:t>agent_code </a:t>
            </a:r>
            <a:r>
              <a:rPr lang="en-US" sz="1800">
                <a:solidFill>
                  <a:srgbClr val="808080"/>
                </a:solidFill>
                <a:latin typeface="Arial"/>
                <a:ea typeface="Arial"/>
                <a:cs typeface="Arial"/>
                <a:sym typeface="Arial"/>
              </a:rPr>
              <a:t>IN (</a:t>
            </a:r>
            <a:endParaRPr sz="1800">
              <a:latin typeface="Arial"/>
              <a:ea typeface="Arial"/>
              <a:cs typeface="Arial"/>
              <a:sym typeface="Arial"/>
            </a:endParaRPr>
          </a:p>
          <a:p>
            <a:pPr marL="1955800" lvl="0" indent="0" algn="l" rtl="0">
              <a:lnSpc>
                <a:spcPct val="100000"/>
              </a:lnSpc>
              <a:spcBef>
                <a:spcPts val="0"/>
              </a:spcBef>
              <a:spcAft>
                <a:spcPts val="0"/>
              </a:spcAft>
              <a:buNone/>
            </a:pPr>
            <a:r>
              <a:rPr lang="en-US" sz="1800">
                <a:solidFill>
                  <a:srgbClr val="0000FF"/>
                </a:solidFill>
                <a:latin typeface="Arial"/>
                <a:ea typeface="Arial"/>
                <a:cs typeface="Arial"/>
                <a:sym typeface="Arial"/>
              </a:rPr>
              <a:t>SELECT </a:t>
            </a:r>
            <a:r>
              <a:rPr lang="en-US" sz="1800">
                <a:latin typeface="Arial"/>
                <a:ea typeface="Arial"/>
                <a:cs typeface="Arial"/>
                <a:sym typeface="Arial"/>
              </a:rPr>
              <a:t>agent_code </a:t>
            </a:r>
            <a:r>
              <a:rPr lang="en-US" sz="1800">
                <a:solidFill>
                  <a:srgbClr val="0000FF"/>
                </a:solidFill>
                <a:latin typeface="Arial"/>
                <a:ea typeface="Arial"/>
                <a:cs typeface="Arial"/>
                <a:sym typeface="Arial"/>
              </a:rPr>
              <a:t>FROM </a:t>
            </a:r>
            <a:r>
              <a:rPr lang="en-US" sz="1800">
                <a:latin typeface="Arial"/>
                <a:ea typeface="Arial"/>
                <a:cs typeface="Arial"/>
                <a:sym typeface="Arial"/>
              </a:rPr>
              <a:t>agents a</a:t>
            </a:r>
            <a:endParaRPr sz="1800">
              <a:latin typeface="Arial"/>
              <a:ea typeface="Arial"/>
              <a:cs typeface="Arial"/>
              <a:sym typeface="Arial"/>
            </a:endParaRPr>
          </a:p>
          <a:p>
            <a:pPr marL="1955800" lvl="0" indent="0" algn="l" rtl="0">
              <a:lnSpc>
                <a:spcPct val="100000"/>
              </a:lnSpc>
              <a:spcBef>
                <a:spcPts val="0"/>
              </a:spcBef>
              <a:spcAft>
                <a:spcPts val="0"/>
              </a:spcAft>
              <a:buNone/>
            </a:pPr>
            <a:r>
              <a:rPr lang="en-US" sz="1800">
                <a:solidFill>
                  <a:srgbClr val="0000FF"/>
                </a:solidFill>
                <a:latin typeface="Arial"/>
                <a:ea typeface="Arial"/>
                <a:cs typeface="Arial"/>
                <a:sym typeface="Arial"/>
              </a:rPr>
              <a:t>WHERE </a:t>
            </a:r>
            <a:r>
              <a:rPr lang="en-US" sz="1800">
                <a:latin typeface="Arial"/>
                <a:ea typeface="Arial"/>
                <a:cs typeface="Arial"/>
                <a:sym typeface="Arial"/>
              </a:rPr>
              <a:t>o</a:t>
            </a:r>
            <a:r>
              <a:rPr lang="en-US" sz="1800">
                <a:solidFill>
                  <a:srgbClr val="808080"/>
                </a:solidFill>
                <a:latin typeface="Arial"/>
                <a:ea typeface="Arial"/>
                <a:cs typeface="Arial"/>
                <a:sym typeface="Arial"/>
              </a:rPr>
              <a:t>.</a:t>
            </a:r>
            <a:r>
              <a:rPr lang="en-US" sz="1800">
                <a:latin typeface="Arial"/>
                <a:ea typeface="Arial"/>
                <a:cs typeface="Arial"/>
                <a:sym typeface="Arial"/>
              </a:rPr>
              <a:t>ship_city </a:t>
            </a:r>
            <a:r>
              <a:rPr lang="en-US" sz="1800">
                <a:solidFill>
                  <a:srgbClr val="808080"/>
                </a:solidFill>
                <a:latin typeface="Arial"/>
                <a:ea typeface="Arial"/>
                <a:cs typeface="Arial"/>
                <a:sym typeface="Arial"/>
              </a:rPr>
              <a:t>= </a:t>
            </a:r>
            <a:r>
              <a:rPr lang="en-US" sz="1800">
                <a:latin typeface="Arial"/>
                <a:ea typeface="Arial"/>
                <a:cs typeface="Arial"/>
                <a:sym typeface="Arial"/>
              </a:rPr>
              <a:t>a</a:t>
            </a:r>
            <a:r>
              <a:rPr lang="en-US" sz="1800">
                <a:solidFill>
                  <a:srgbClr val="808080"/>
                </a:solidFill>
                <a:latin typeface="Arial"/>
                <a:ea typeface="Arial"/>
                <a:cs typeface="Arial"/>
                <a:sym typeface="Arial"/>
              </a:rPr>
              <a:t>.</a:t>
            </a:r>
            <a:r>
              <a:rPr lang="en-US" sz="1800">
                <a:latin typeface="Arial"/>
                <a:ea typeface="Arial"/>
                <a:cs typeface="Arial"/>
                <a:sym typeface="Arial"/>
              </a:rPr>
              <a:t>working_area</a:t>
            </a:r>
            <a:endParaRPr sz="1800">
              <a:latin typeface="Arial"/>
              <a:ea typeface="Arial"/>
              <a:cs typeface="Arial"/>
              <a:sym typeface="Arial"/>
            </a:endParaRPr>
          </a:p>
          <a:p>
            <a:pPr marL="527685" lvl="0" indent="0" algn="l" rtl="0">
              <a:lnSpc>
                <a:spcPct val="100000"/>
              </a:lnSpc>
              <a:spcBef>
                <a:spcPts val="0"/>
              </a:spcBef>
              <a:spcAft>
                <a:spcPts val="0"/>
              </a:spcAft>
              <a:buNone/>
            </a:pPr>
            <a:r>
              <a:rPr lang="en-US" sz="1800">
                <a:solidFill>
                  <a:srgbClr val="808080"/>
                </a:solidFill>
                <a:latin typeface="Arial"/>
                <a:ea typeface="Arial"/>
                <a:cs typeface="Arial"/>
                <a:sym typeface="Arial"/>
              </a:rPr>
              <a:t>)</a:t>
            </a:r>
            <a:endParaRPr sz="1800">
              <a:latin typeface="Arial"/>
              <a:ea typeface="Arial"/>
              <a:cs typeface="Arial"/>
              <a:sym typeface="Arial"/>
            </a:endParaRPr>
          </a:p>
        </p:txBody>
      </p:sp>
      <p:pic>
        <p:nvPicPr>
          <p:cNvPr id="307" name="Google Shape;307;p18"/>
          <p:cNvPicPr preferRelativeResize="0"/>
          <p:nvPr/>
        </p:nvPicPr>
        <p:blipFill rotWithShape="1">
          <a:blip r:embed="rId6">
            <a:alphaModFix/>
          </a:blip>
          <a:srcRect/>
          <a:stretch/>
        </p:blipFill>
        <p:spPr>
          <a:xfrm>
            <a:off x="1600200" y="4149852"/>
            <a:ext cx="7978140" cy="122986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grpSp>
        <p:nvGrpSpPr>
          <p:cNvPr id="312" name="Google Shape;312;p19"/>
          <p:cNvGrpSpPr/>
          <p:nvPr/>
        </p:nvGrpSpPr>
        <p:grpSpPr>
          <a:xfrm>
            <a:off x="1284732" y="827531"/>
            <a:ext cx="1289304" cy="1182624"/>
            <a:chOff x="1284732" y="827531"/>
            <a:chExt cx="1289304" cy="1182624"/>
          </a:xfrm>
        </p:grpSpPr>
        <p:pic>
          <p:nvPicPr>
            <p:cNvPr id="313" name="Google Shape;313;p19"/>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14" name="Google Shape;314;p19"/>
            <p:cNvPicPr preferRelativeResize="0"/>
            <p:nvPr/>
          </p:nvPicPr>
          <p:blipFill rotWithShape="1">
            <a:blip r:embed="rId4">
              <a:alphaModFix/>
            </a:blip>
            <a:srcRect/>
            <a:stretch/>
          </p:blipFill>
          <p:spPr>
            <a:xfrm>
              <a:off x="1309116" y="827531"/>
              <a:ext cx="1242060" cy="1182624"/>
            </a:xfrm>
            <a:prstGeom prst="rect">
              <a:avLst/>
            </a:prstGeom>
            <a:noFill/>
            <a:ln>
              <a:noFill/>
            </a:ln>
          </p:spPr>
        </p:pic>
        <p:pic>
          <p:nvPicPr>
            <p:cNvPr id="315" name="Google Shape;315;p19"/>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316" name="Google Shape;316;p19"/>
          <p:cNvSpPr txBox="1">
            <a:spLocks noGrp="1"/>
          </p:cNvSpPr>
          <p:nvPr>
            <p:ph type="title"/>
          </p:nvPr>
        </p:nvSpPr>
        <p:spPr>
          <a:xfrm>
            <a:off x="1664970" y="1075385"/>
            <a:ext cx="599376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a:latin typeface="Impact"/>
                <a:ea typeface="Impact"/>
                <a:cs typeface="Impact"/>
                <a:sym typeface="Impact"/>
              </a:rPr>
              <a:t>03	</a:t>
            </a:r>
            <a:r>
              <a:rPr lang="en-US" sz="4200" baseline="30000"/>
              <a:t>UNION và UNION ALL</a:t>
            </a:r>
            <a:endParaRPr sz="4200" baseline="30000">
              <a:latin typeface="Impact"/>
              <a:ea typeface="Impact"/>
              <a:cs typeface="Impact"/>
              <a:sym typeface="Impact"/>
            </a:endParaRPr>
          </a:p>
        </p:txBody>
      </p:sp>
      <p:sp>
        <p:nvSpPr>
          <p:cNvPr id="317" name="Google Shape;317;p19"/>
          <p:cNvSpPr txBox="1"/>
          <p:nvPr/>
        </p:nvSpPr>
        <p:spPr>
          <a:xfrm>
            <a:off x="1466469" y="1756028"/>
            <a:ext cx="7621905" cy="2891155"/>
          </a:xfrm>
          <a:prstGeom prst="rect">
            <a:avLst/>
          </a:prstGeom>
          <a:noFill/>
          <a:ln>
            <a:noFill/>
          </a:ln>
        </p:spPr>
        <p:txBody>
          <a:bodyPr spcFirstLastPara="1" wrap="square" lIns="0" tIns="12700" rIns="0" bIns="0" anchor="t" anchorCtr="0">
            <a:spAutoFit/>
          </a:bodyPr>
          <a:lstStyle/>
          <a:p>
            <a:pPr marL="355600" marR="5080" lvl="0" indent="-342900" algn="l" rtl="0">
              <a:lnSpc>
                <a:spcPct val="100000"/>
              </a:lnSpc>
              <a:spcBef>
                <a:spcPts val="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UNION kết hợp các cột từ hai hay nhiều mệnh đề SELECT theo chiều dọc và không bao gồm các dòng trùng lặp</a:t>
            </a:r>
            <a:endParaRPr sz="2400">
              <a:latin typeface="Times New Roman"/>
              <a:ea typeface="Times New Roman"/>
              <a:cs typeface="Times New Roman"/>
              <a:sym typeface="Times New Roman"/>
            </a:endParaRPr>
          </a:p>
          <a:p>
            <a:pPr marL="354965" lvl="0" indent="-342265" algn="l"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Đặc điểm</a:t>
            </a:r>
            <a:endParaRPr sz="2400">
              <a:latin typeface="Times New Roman"/>
              <a:ea typeface="Times New Roman"/>
              <a:cs typeface="Times New Roman"/>
              <a:sym typeface="Times New Roman"/>
            </a:endParaRPr>
          </a:p>
          <a:p>
            <a:pPr marL="812800" marR="70485" lvl="1" indent="-342900" algn="l"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Khi UNION các câu lệnh SELECT cần trả về số cột dữ liệu bằng nhau.</a:t>
            </a:r>
            <a:endParaRPr sz="2400">
              <a:latin typeface="Times New Roman"/>
              <a:ea typeface="Times New Roman"/>
              <a:cs typeface="Times New Roman"/>
              <a:sym typeface="Times New Roman"/>
            </a:endParaRPr>
          </a:p>
          <a:p>
            <a:pPr marL="812165" lvl="1" indent="-342265" algn="l" rtl="0">
              <a:lnSpc>
                <a:spcPct val="100000"/>
              </a:lnSpc>
              <a:spcBef>
                <a:spcPts val="605"/>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Các cột tương ứng cần có cùng kiểu dữ liệu.</a:t>
            </a:r>
            <a:endParaRPr sz="2400">
              <a:latin typeface="Times New Roman"/>
              <a:ea typeface="Times New Roman"/>
              <a:cs typeface="Times New Roman"/>
              <a:sym typeface="Times New Roman"/>
            </a:endParaRPr>
          </a:p>
          <a:p>
            <a:pPr marL="812165" lvl="1" indent="-342265" algn="l"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UNION sẽ gộp cả NULL.</a:t>
            </a:r>
            <a:endParaRPr sz="240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grpSp>
        <p:nvGrpSpPr>
          <p:cNvPr id="322" name="Google Shape;322;p20"/>
          <p:cNvGrpSpPr/>
          <p:nvPr/>
        </p:nvGrpSpPr>
        <p:grpSpPr>
          <a:xfrm>
            <a:off x="1284732" y="827531"/>
            <a:ext cx="1289304" cy="1182624"/>
            <a:chOff x="1284732" y="827531"/>
            <a:chExt cx="1289304" cy="1182624"/>
          </a:xfrm>
        </p:grpSpPr>
        <p:pic>
          <p:nvPicPr>
            <p:cNvPr id="323" name="Google Shape;323;p20"/>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24" name="Google Shape;324;p20"/>
            <p:cNvPicPr preferRelativeResize="0"/>
            <p:nvPr/>
          </p:nvPicPr>
          <p:blipFill rotWithShape="1">
            <a:blip r:embed="rId4">
              <a:alphaModFix/>
            </a:blip>
            <a:srcRect/>
            <a:stretch/>
          </p:blipFill>
          <p:spPr>
            <a:xfrm>
              <a:off x="1309116" y="827531"/>
              <a:ext cx="1242060" cy="1182624"/>
            </a:xfrm>
            <a:prstGeom prst="rect">
              <a:avLst/>
            </a:prstGeom>
            <a:noFill/>
            <a:ln>
              <a:noFill/>
            </a:ln>
          </p:spPr>
        </p:pic>
        <p:pic>
          <p:nvPicPr>
            <p:cNvPr id="325" name="Google Shape;325;p20"/>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326" name="Google Shape;326;p20"/>
          <p:cNvSpPr txBox="1">
            <a:spLocks noGrp="1"/>
          </p:cNvSpPr>
          <p:nvPr>
            <p:ph type="title"/>
          </p:nvPr>
        </p:nvSpPr>
        <p:spPr>
          <a:xfrm>
            <a:off x="1664970" y="1075385"/>
            <a:ext cx="599376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a:latin typeface="Impact"/>
                <a:ea typeface="Impact"/>
                <a:cs typeface="Impact"/>
                <a:sym typeface="Impact"/>
              </a:rPr>
              <a:t>03	</a:t>
            </a:r>
            <a:r>
              <a:rPr lang="en-US" sz="4200" baseline="30000"/>
              <a:t>UNION và UNION ALL</a:t>
            </a:r>
            <a:endParaRPr sz="4200" baseline="30000">
              <a:latin typeface="Impact"/>
              <a:ea typeface="Impact"/>
              <a:cs typeface="Impact"/>
              <a:sym typeface="Impact"/>
            </a:endParaRPr>
          </a:p>
        </p:txBody>
      </p:sp>
      <p:sp>
        <p:nvSpPr>
          <p:cNvPr id="327" name="Google Shape;327;p20"/>
          <p:cNvSpPr txBox="1"/>
          <p:nvPr/>
        </p:nvSpPr>
        <p:spPr>
          <a:xfrm>
            <a:off x="1466469" y="1756028"/>
            <a:ext cx="7804150" cy="3256915"/>
          </a:xfrm>
          <a:prstGeom prst="rect">
            <a:avLst/>
          </a:prstGeom>
          <a:noFill/>
          <a:ln>
            <a:noFill/>
          </a:ln>
        </p:spPr>
        <p:txBody>
          <a:bodyPr spcFirstLastPara="1" wrap="square" lIns="0" tIns="12700" rIns="0" bIns="0" anchor="t" anchorCtr="0">
            <a:spAutoFit/>
          </a:bodyPr>
          <a:lstStyle/>
          <a:p>
            <a:pPr marL="355600" marR="226695" lvl="0" indent="-342900" algn="just" rtl="0">
              <a:lnSpc>
                <a:spcPct val="100000"/>
              </a:lnSpc>
              <a:spcBef>
                <a:spcPts val="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UNION ALL Tương tự như UNION, UNION ALL kết hợp cột từ hai hay nhiều mệnh đề SELECT theo chiều dọc. Tuy nhiên, không loại bỏ các dòng trùng lặp nếu có.</a:t>
            </a:r>
            <a:endParaRPr sz="2400">
              <a:latin typeface="Times New Roman"/>
              <a:ea typeface="Times New Roman"/>
              <a:cs typeface="Times New Roman"/>
              <a:sym typeface="Times New Roman"/>
            </a:endParaRPr>
          </a:p>
          <a:p>
            <a:pPr marL="354965" lvl="0" indent="-342265" algn="just"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Đặc điểm</a:t>
            </a:r>
            <a:endParaRPr sz="2400">
              <a:latin typeface="Times New Roman"/>
              <a:ea typeface="Times New Roman"/>
              <a:cs typeface="Times New Roman"/>
              <a:sym typeface="Times New Roman"/>
            </a:endParaRPr>
          </a:p>
          <a:p>
            <a:pPr marL="812800" marR="5080" lvl="1" indent="-342900" algn="l"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Khi UNION ALL các câu lệnh SELECT cần trả về số cột dữ liệu bằng nhau.</a:t>
            </a:r>
            <a:endParaRPr sz="2400">
              <a:latin typeface="Times New Roman"/>
              <a:ea typeface="Times New Roman"/>
              <a:cs typeface="Times New Roman"/>
              <a:sym typeface="Times New Roman"/>
            </a:endParaRPr>
          </a:p>
          <a:p>
            <a:pPr marL="812165" lvl="1" indent="-342265" algn="l" rtl="0">
              <a:lnSpc>
                <a:spcPct val="100000"/>
              </a:lnSpc>
              <a:spcBef>
                <a:spcPts val="605"/>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Các cột tương ứng cần có cùng kiểu dữ liệu.</a:t>
            </a:r>
            <a:endParaRPr sz="2400">
              <a:latin typeface="Times New Roman"/>
              <a:ea typeface="Times New Roman"/>
              <a:cs typeface="Times New Roman"/>
              <a:sym typeface="Times New Roman"/>
            </a:endParaRPr>
          </a:p>
          <a:p>
            <a:pPr marL="812165" lvl="1" indent="-342265" algn="l" rtl="0">
              <a:lnSpc>
                <a:spcPct val="100000"/>
              </a:lnSpc>
              <a:spcBef>
                <a:spcPts val="600"/>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UNION ALL sẽ gộp cả NULL.</a:t>
            </a:r>
            <a:endParaRPr sz="240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21"/>
          <p:cNvSpPr txBox="1">
            <a:spLocks noGrp="1"/>
          </p:cNvSpPr>
          <p:nvPr>
            <p:ph type="title"/>
          </p:nvPr>
        </p:nvSpPr>
        <p:spPr>
          <a:xfrm>
            <a:off x="3452876" y="1064717"/>
            <a:ext cx="4679950" cy="452119"/>
          </a:xfrm>
          <a:prstGeom prst="rect">
            <a:avLst/>
          </a:prstGeom>
          <a:noFill/>
          <a:ln>
            <a:noFill/>
          </a:ln>
        </p:spPr>
        <p:txBody>
          <a:bodyPr spcFirstLastPara="1" wrap="square" lIns="0" tIns="12050" rIns="0" bIns="0" anchor="t" anchorCtr="0">
            <a:spAutoFit/>
          </a:bodyPr>
          <a:lstStyle/>
          <a:p>
            <a:pPr marL="487680" lvl="0" indent="0" algn="l" rtl="0">
              <a:lnSpc>
                <a:spcPct val="100000"/>
              </a:lnSpc>
              <a:spcBef>
                <a:spcPts val="0"/>
              </a:spcBef>
              <a:spcAft>
                <a:spcPts val="0"/>
              </a:spcAft>
              <a:buNone/>
            </a:pPr>
            <a:r>
              <a:rPr lang="en-US"/>
              <a:t>UNION và UNION ALL</a:t>
            </a:r>
            <a:endParaRPr/>
          </a:p>
        </p:txBody>
      </p:sp>
      <p:grpSp>
        <p:nvGrpSpPr>
          <p:cNvPr id="333" name="Google Shape;333;p21"/>
          <p:cNvGrpSpPr/>
          <p:nvPr/>
        </p:nvGrpSpPr>
        <p:grpSpPr>
          <a:xfrm>
            <a:off x="1284732" y="827532"/>
            <a:ext cx="1289304" cy="1182624"/>
            <a:chOff x="1284732" y="827532"/>
            <a:chExt cx="1289304" cy="1182624"/>
          </a:xfrm>
        </p:grpSpPr>
        <p:pic>
          <p:nvPicPr>
            <p:cNvPr id="334" name="Google Shape;334;p21"/>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35" name="Google Shape;335;p21"/>
            <p:cNvPicPr preferRelativeResize="0"/>
            <p:nvPr/>
          </p:nvPicPr>
          <p:blipFill rotWithShape="1">
            <a:blip r:embed="rId4">
              <a:alphaModFix/>
            </a:blip>
            <a:srcRect/>
            <a:stretch/>
          </p:blipFill>
          <p:spPr>
            <a:xfrm>
              <a:off x="1309116" y="827532"/>
              <a:ext cx="1242060" cy="1182624"/>
            </a:xfrm>
            <a:prstGeom prst="rect">
              <a:avLst/>
            </a:prstGeom>
            <a:noFill/>
            <a:ln>
              <a:noFill/>
            </a:ln>
          </p:spPr>
        </p:pic>
        <p:pic>
          <p:nvPicPr>
            <p:cNvPr id="336" name="Google Shape;336;p21"/>
            <p:cNvPicPr preferRelativeResize="0"/>
            <p:nvPr/>
          </p:nvPicPr>
          <p:blipFill rotWithShape="1">
            <a:blip r:embed="rId5">
              <a:alphaModFix/>
            </a:blip>
            <a:srcRect/>
            <a:stretch/>
          </p:blipFill>
          <p:spPr>
            <a:xfrm>
              <a:off x="1440180" y="1058164"/>
              <a:ext cx="853439" cy="490220"/>
            </a:xfrm>
            <a:prstGeom prst="rect">
              <a:avLst/>
            </a:prstGeom>
            <a:noFill/>
            <a:ln>
              <a:noFill/>
            </a:ln>
          </p:spPr>
        </p:pic>
      </p:grpSp>
      <p:sp>
        <p:nvSpPr>
          <p:cNvPr id="337" name="Google Shape;337;p21"/>
          <p:cNvSpPr txBox="1"/>
          <p:nvPr/>
        </p:nvSpPr>
        <p:spPr>
          <a:xfrm>
            <a:off x="1466469" y="1075385"/>
            <a:ext cx="1130300" cy="1071880"/>
          </a:xfrm>
          <a:prstGeom prst="rect">
            <a:avLst/>
          </a:prstGeom>
          <a:noFill/>
          <a:ln>
            <a:noFill/>
          </a:ln>
        </p:spPr>
        <p:txBody>
          <a:bodyPr spcFirstLastPara="1" wrap="square" lIns="0" tIns="12050" rIns="0" bIns="0" anchor="t" anchorCtr="0">
            <a:spAutoFit/>
          </a:bodyPr>
          <a:lstStyle/>
          <a:p>
            <a:pPr marL="210820" lvl="0" indent="0" algn="l" rtl="0">
              <a:lnSpc>
                <a:spcPct val="100000"/>
              </a:lnSpc>
              <a:spcBef>
                <a:spcPts val="0"/>
              </a:spcBef>
              <a:spcAft>
                <a:spcPts val="0"/>
              </a:spcAft>
              <a:buNone/>
            </a:pPr>
            <a:r>
              <a:rPr lang="en-US" sz="2800">
                <a:solidFill>
                  <a:srgbClr val="FFFFFF"/>
                </a:solidFill>
                <a:latin typeface="Impact"/>
                <a:ea typeface="Impact"/>
                <a:cs typeface="Impact"/>
                <a:sym typeface="Impact"/>
              </a:rPr>
              <a:t>03</a:t>
            </a:r>
            <a:endParaRPr sz="2800">
              <a:latin typeface="Impact"/>
              <a:ea typeface="Impact"/>
              <a:cs typeface="Impact"/>
              <a:sym typeface="Impact"/>
            </a:endParaRPr>
          </a:p>
          <a:p>
            <a:pPr marL="354965" lvl="0" indent="-342265" algn="l" rtl="0">
              <a:lnSpc>
                <a:spcPct val="100000"/>
              </a:lnSpc>
              <a:spcBef>
                <a:spcPts val="2005"/>
              </a:spcBef>
              <a:spcAft>
                <a:spcPts val="0"/>
              </a:spcAft>
              <a:buClr>
                <a:srgbClr val="FF5A33"/>
              </a:buClr>
              <a:buSzPts val="2400"/>
              <a:buFont typeface="Noto Sans Symbols"/>
              <a:buChar char="❑"/>
            </a:pPr>
            <a:r>
              <a:rPr lang="en-US" sz="2400">
                <a:latin typeface="Times New Roman"/>
                <a:ea typeface="Times New Roman"/>
                <a:cs typeface="Times New Roman"/>
                <a:sym typeface="Times New Roman"/>
              </a:rPr>
              <a:t>Ví dụ.</a:t>
            </a:r>
            <a:endParaRPr sz="2400">
              <a:latin typeface="Times New Roman"/>
              <a:ea typeface="Times New Roman"/>
              <a:cs typeface="Times New Roman"/>
              <a:sym typeface="Times New Roman"/>
            </a:endParaRPr>
          </a:p>
        </p:txBody>
      </p:sp>
      <p:grpSp>
        <p:nvGrpSpPr>
          <p:cNvPr id="338" name="Google Shape;338;p21"/>
          <p:cNvGrpSpPr/>
          <p:nvPr/>
        </p:nvGrpSpPr>
        <p:grpSpPr>
          <a:xfrm>
            <a:off x="3352800" y="1679448"/>
            <a:ext cx="7438644" cy="2124456"/>
            <a:chOff x="3352800" y="1679448"/>
            <a:chExt cx="7438644" cy="2124456"/>
          </a:xfrm>
        </p:grpSpPr>
        <p:pic>
          <p:nvPicPr>
            <p:cNvPr id="339" name="Google Shape;339;p21"/>
            <p:cNvPicPr preferRelativeResize="0"/>
            <p:nvPr/>
          </p:nvPicPr>
          <p:blipFill rotWithShape="1">
            <a:blip r:embed="rId6">
              <a:alphaModFix/>
            </a:blip>
            <a:srcRect/>
            <a:stretch/>
          </p:blipFill>
          <p:spPr>
            <a:xfrm>
              <a:off x="3352800" y="1679448"/>
              <a:ext cx="3601211" cy="2124456"/>
            </a:xfrm>
            <a:prstGeom prst="rect">
              <a:avLst/>
            </a:prstGeom>
            <a:noFill/>
            <a:ln>
              <a:noFill/>
            </a:ln>
          </p:spPr>
        </p:pic>
        <p:pic>
          <p:nvPicPr>
            <p:cNvPr id="340" name="Google Shape;340;p21"/>
            <p:cNvPicPr preferRelativeResize="0"/>
            <p:nvPr/>
          </p:nvPicPr>
          <p:blipFill rotWithShape="1">
            <a:blip r:embed="rId7">
              <a:alphaModFix/>
            </a:blip>
            <a:srcRect/>
            <a:stretch/>
          </p:blipFill>
          <p:spPr>
            <a:xfrm>
              <a:off x="7171944" y="1693164"/>
              <a:ext cx="3619500" cy="2086356"/>
            </a:xfrm>
            <a:prstGeom prst="rect">
              <a:avLst/>
            </a:prstGeom>
            <a:noFill/>
            <a:ln>
              <a:noFill/>
            </a:ln>
          </p:spPr>
        </p:pic>
      </p:grpSp>
      <p:sp>
        <p:nvSpPr>
          <p:cNvPr id="341" name="Google Shape;341;p21"/>
          <p:cNvSpPr txBox="1"/>
          <p:nvPr/>
        </p:nvSpPr>
        <p:spPr>
          <a:xfrm>
            <a:off x="6752335" y="4306061"/>
            <a:ext cx="1092200" cy="36195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a:solidFill>
                  <a:srgbClr val="0000FF"/>
                </a:solidFill>
                <a:latin typeface="Arial"/>
                <a:ea typeface="Arial"/>
                <a:cs typeface="Arial"/>
                <a:sym typeface="Arial"/>
              </a:rPr>
              <a:t>SELECT NAME</a:t>
            </a:r>
            <a:endParaRPr sz="1100">
              <a:latin typeface="Arial"/>
              <a:ea typeface="Arial"/>
              <a:cs typeface="Arial"/>
              <a:sym typeface="Arial"/>
            </a:endParaRPr>
          </a:p>
          <a:p>
            <a:pPr marL="12700" lvl="0" indent="0" algn="l" rtl="0">
              <a:lnSpc>
                <a:spcPct val="100000"/>
              </a:lnSpc>
              <a:spcBef>
                <a:spcPts val="0"/>
              </a:spcBef>
              <a:spcAft>
                <a:spcPts val="0"/>
              </a:spcAft>
              <a:buNone/>
            </a:pPr>
            <a:r>
              <a:rPr lang="en-US" sz="1100">
                <a:solidFill>
                  <a:srgbClr val="0000FF"/>
                </a:solidFill>
                <a:latin typeface="Arial"/>
                <a:ea typeface="Arial"/>
                <a:cs typeface="Arial"/>
                <a:sym typeface="Arial"/>
              </a:rPr>
              <a:t>FROM </a:t>
            </a:r>
            <a:r>
              <a:rPr lang="en-US" sz="1100">
                <a:latin typeface="Arial"/>
                <a:ea typeface="Arial"/>
                <a:cs typeface="Arial"/>
                <a:sym typeface="Arial"/>
              </a:rPr>
              <a:t>EMPLOYEE1</a:t>
            </a:r>
            <a:endParaRPr sz="1100">
              <a:latin typeface="Arial"/>
              <a:ea typeface="Arial"/>
              <a:cs typeface="Arial"/>
              <a:sym typeface="Arial"/>
            </a:endParaRPr>
          </a:p>
        </p:txBody>
      </p:sp>
      <p:sp>
        <p:nvSpPr>
          <p:cNvPr id="342" name="Google Shape;342;p21"/>
          <p:cNvSpPr txBox="1"/>
          <p:nvPr/>
        </p:nvSpPr>
        <p:spPr>
          <a:xfrm>
            <a:off x="6752335" y="4809235"/>
            <a:ext cx="406400" cy="19367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a:solidFill>
                  <a:srgbClr val="0000FF"/>
                </a:solidFill>
                <a:latin typeface="Arial"/>
                <a:ea typeface="Arial"/>
                <a:cs typeface="Arial"/>
                <a:sym typeface="Arial"/>
              </a:rPr>
              <a:t>UNION</a:t>
            </a:r>
            <a:endParaRPr sz="1100">
              <a:latin typeface="Arial"/>
              <a:ea typeface="Arial"/>
              <a:cs typeface="Arial"/>
              <a:sym typeface="Arial"/>
            </a:endParaRPr>
          </a:p>
        </p:txBody>
      </p:sp>
      <p:sp>
        <p:nvSpPr>
          <p:cNvPr id="343" name="Google Shape;343;p21"/>
          <p:cNvSpPr txBox="1"/>
          <p:nvPr/>
        </p:nvSpPr>
        <p:spPr>
          <a:xfrm>
            <a:off x="6752335" y="5144516"/>
            <a:ext cx="1092200" cy="361315"/>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None/>
            </a:pPr>
            <a:r>
              <a:rPr lang="en-US" sz="1100">
                <a:solidFill>
                  <a:srgbClr val="0000FF"/>
                </a:solidFill>
                <a:latin typeface="Arial"/>
                <a:ea typeface="Arial"/>
                <a:cs typeface="Arial"/>
                <a:sym typeface="Arial"/>
              </a:rPr>
              <a:t>SELECT NAME FROM </a:t>
            </a:r>
            <a:r>
              <a:rPr lang="en-US" sz="1100">
                <a:latin typeface="Arial"/>
                <a:ea typeface="Arial"/>
                <a:cs typeface="Arial"/>
                <a:sym typeface="Arial"/>
              </a:rPr>
              <a:t>EMPLOYEE2</a:t>
            </a:r>
            <a:endParaRPr sz="1100">
              <a:latin typeface="Arial"/>
              <a:ea typeface="Arial"/>
              <a:cs typeface="Arial"/>
              <a:sym typeface="Arial"/>
            </a:endParaRPr>
          </a:p>
        </p:txBody>
      </p:sp>
      <p:pic>
        <p:nvPicPr>
          <p:cNvPr id="344" name="Google Shape;344;p21"/>
          <p:cNvPicPr preferRelativeResize="0"/>
          <p:nvPr/>
        </p:nvPicPr>
        <p:blipFill rotWithShape="1">
          <a:blip r:embed="rId8">
            <a:alphaModFix/>
          </a:blip>
          <a:srcRect/>
          <a:stretch/>
        </p:blipFill>
        <p:spPr>
          <a:xfrm>
            <a:off x="8229600" y="3980688"/>
            <a:ext cx="1078992" cy="2276856"/>
          </a:xfrm>
          <a:prstGeom prst="rect">
            <a:avLst/>
          </a:prstGeom>
          <a:noFill/>
          <a:ln>
            <a:noFill/>
          </a:ln>
        </p:spPr>
      </p:pic>
      <p:sp>
        <p:nvSpPr>
          <p:cNvPr id="345" name="Google Shape;345;p21"/>
          <p:cNvSpPr txBox="1"/>
          <p:nvPr/>
        </p:nvSpPr>
        <p:spPr>
          <a:xfrm>
            <a:off x="1827276" y="4267200"/>
            <a:ext cx="1533525" cy="1186180"/>
          </a:xfrm>
          <a:prstGeom prst="rect">
            <a:avLst/>
          </a:prstGeom>
          <a:solidFill>
            <a:srgbClr val="FFFFFF"/>
          </a:solidFill>
          <a:ln>
            <a:noFill/>
          </a:ln>
        </p:spPr>
        <p:txBody>
          <a:bodyPr spcFirstLastPara="1" wrap="square" lIns="0" tIns="5075" rIns="0" bIns="0" anchor="t" anchorCtr="0">
            <a:spAutoFit/>
          </a:bodyPr>
          <a:lstStyle/>
          <a:p>
            <a:pPr marL="635" marR="457834" lvl="0" indent="0" algn="l" rtl="0">
              <a:lnSpc>
                <a:spcPct val="120000"/>
              </a:lnSpc>
              <a:spcBef>
                <a:spcPts val="0"/>
              </a:spcBef>
              <a:spcAft>
                <a:spcPts val="0"/>
              </a:spcAft>
              <a:buNone/>
            </a:pPr>
            <a:r>
              <a:rPr lang="en-US" sz="1100">
                <a:solidFill>
                  <a:srgbClr val="0000FF"/>
                </a:solidFill>
                <a:latin typeface="Arial"/>
                <a:ea typeface="Arial"/>
                <a:cs typeface="Arial"/>
                <a:sym typeface="Arial"/>
              </a:rPr>
              <a:t>SELECT NAME FROM </a:t>
            </a:r>
            <a:r>
              <a:rPr lang="en-US" sz="1100">
                <a:latin typeface="Arial"/>
                <a:ea typeface="Arial"/>
                <a:cs typeface="Arial"/>
                <a:sym typeface="Arial"/>
              </a:rPr>
              <a:t>EMPLOYEE1</a:t>
            </a:r>
            <a:endParaRPr sz="1100">
              <a:latin typeface="Arial"/>
              <a:ea typeface="Arial"/>
              <a:cs typeface="Arial"/>
              <a:sym typeface="Arial"/>
            </a:endParaRPr>
          </a:p>
          <a:p>
            <a:pPr marL="0" lvl="0" indent="0" algn="l" rtl="0">
              <a:lnSpc>
                <a:spcPct val="100000"/>
              </a:lnSpc>
              <a:spcBef>
                <a:spcPts val="75"/>
              </a:spcBef>
              <a:spcAft>
                <a:spcPts val="0"/>
              </a:spcAft>
              <a:buNone/>
            </a:pPr>
            <a:endParaRPr sz="1100">
              <a:latin typeface="Arial"/>
              <a:ea typeface="Arial"/>
              <a:cs typeface="Arial"/>
              <a:sym typeface="Arial"/>
            </a:endParaRPr>
          </a:p>
          <a:p>
            <a:pPr marL="635" lvl="0" indent="0" algn="l" rtl="0">
              <a:lnSpc>
                <a:spcPct val="100000"/>
              </a:lnSpc>
              <a:spcBef>
                <a:spcPts val="0"/>
              </a:spcBef>
              <a:spcAft>
                <a:spcPts val="0"/>
              </a:spcAft>
              <a:buNone/>
            </a:pPr>
            <a:r>
              <a:rPr lang="en-US" sz="1100">
                <a:solidFill>
                  <a:srgbClr val="0000FF"/>
                </a:solidFill>
                <a:latin typeface="Arial"/>
                <a:ea typeface="Arial"/>
                <a:cs typeface="Arial"/>
                <a:sym typeface="Arial"/>
              </a:rPr>
              <a:t>UNION </a:t>
            </a:r>
            <a:r>
              <a:rPr lang="en-US" sz="1100">
                <a:solidFill>
                  <a:srgbClr val="808080"/>
                </a:solidFill>
                <a:latin typeface="Arial"/>
                <a:ea typeface="Arial"/>
                <a:cs typeface="Arial"/>
                <a:sym typeface="Arial"/>
              </a:rPr>
              <a:t>ALL</a:t>
            </a:r>
            <a:endParaRPr sz="1100">
              <a:latin typeface="Arial"/>
              <a:ea typeface="Arial"/>
              <a:cs typeface="Arial"/>
              <a:sym typeface="Arial"/>
            </a:endParaRPr>
          </a:p>
          <a:p>
            <a:pPr marL="0" lvl="0" indent="0" algn="l" rtl="0">
              <a:lnSpc>
                <a:spcPct val="100000"/>
              </a:lnSpc>
              <a:spcBef>
                <a:spcPts val="120"/>
              </a:spcBef>
              <a:spcAft>
                <a:spcPts val="0"/>
              </a:spcAft>
              <a:buNone/>
            </a:pPr>
            <a:endParaRPr sz="1100">
              <a:latin typeface="Arial"/>
              <a:ea typeface="Arial"/>
              <a:cs typeface="Arial"/>
              <a:sym typeface="Arial"/>
            </a:endParaRPr>
          </a:p>
          <a:p>
            <a:pPr marL="635" marR="457834" lvl="0" indent="0" algn="l" rtl="0">
              <a:lnSpc>
                <a:spcPct val="100000"/>
              </a:lnSpc>
              <a:spcBef>
                <a:spcPts val="5"/>
              </a:spcBef>
              <a:spcAft>
                <a:spcPts val="0"/>
              </a:spcAft>
              <a:buNone/>
            </a:pPr>
            <a:r>
              <a:rPr lang="en-US" sz="1100">
                <a:solidFill>
                  <a:srgbClr val="0000FF"/>
                </a:solidFill>
                <a:latin typeface="Arial"/>
                <a:ea typeface="Arial"/>
                <a:cs typeface="Arial"/>
                <a:sym typeface="Arial"/>
              </a:rPr>
              <a:t>SELECT NAME FROM </a:t>
            </a:r>
            <a:r>
              <a:rPr lang="en-US" sz="1100">
                <a:latin typeface="Arial"/>
                <a:ea typeface="Arial"/>
                <a:cs typeface="Arial"/>
                <a:sym typeface="Arial"/>
              </a:rPr>
              <a:t>EMPLOYEE2</a:t>
            </a:r>
            <a:endParaRPr sz="1100">
              <a:latin typeface="Arial"/>
              <a:ea typeface="Arial"/>
              <a:cs typeface="Arial"/>
              <a:sym typeface="Arial"/>
            </a:endParaRPr>
          </a:p>
        </p:txBody>
      </p:sp>
      <p:pic>
        <p:nvPicPr>
          <p:cNvPr id="346" name="Google Shape;346;p21"/>
          <p:cNvPicPr preferRelativeResize="0"/>
          <p:nvPr/>
        </p:nvPicPr>
        <p:blipFill rotWithShape="1">
          <a:blip r:embed="rId9">
            <a:alphaModFix/>
          </a:blip>
          <a:srcRect/>
          <a:stretch/>
        </p:blipFill>
        <p:spPr>
          <a:xfrm>
            <a:off x="3598164" y="3980688"/>
            <a:ext cx="1178052" cy="25725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pSp>
        <p:nvGrpSpPr>
          <p:cNvPr id="351" name="Google Shape;351;p22"/>
          <p:cNvGrpSpPr/>
          <p:nvPr/>
        </p:nvGrpSpPr>
        <p:grpSpPr>
          <a:xfrm>
            <a:off x="1284732" y="827531"/>
            <a:ext cx="1289304" cy="1182624"/>
            <a:chOff x="1284732" y="827531"/>
            <a:chExt cx="1289304" cy="1182624"/>
          </a:xfrm>
        </p:grpSpPr>
        <p:pic>
          <p:nvPicPr>
            <p:cNvPr id="352" name="Google Shape;352;p22"/>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53" name="Google Shape;353;p22"/>
            <p:cNvPicPr preferRelativeResize="0"/>
            <p:nvPr/>
          </p:nvPicPr>
          <p:blipFill rotWithShape="1">
            <a:blip r:embed="rId4">
              <a:alphaModFix/>
            </a:blip>
            <a:srcRect/>
            <a:stretch/>
          </p:blipFill>
          <p:spPr>
            <a:xfrm>
              <a:off x="1315211" y="827531"/>
              <a:ext cx="1229868" cy="1182624"/>
            </a:xfrm>
            <a:prstGeom prst="rect">
              <a:avLst/>
            </a:prstGeom>
            <a:noFill/>
            <a:ln>
              <a:noFill/>
            </a:ln>
          </p:spPr>
        </p:pic>
        <p:pic>
          <p:nvPicPr>
            <p:cNvPr id="354" name="Google Shape;354;p22"/>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355" name="Google Shape;355;p22"/>
          <p:cNvSpPr txBox="1">
            <a:spLocks noGrp="1"/>
          </p:cNvSpPr>
          <p:nvPr>
            <p:ph type="title"/>
          </p:nvPr>
        </p:nvSpPr>
        <p:spPr>
          <a:xfrm>
            <a:off x="1671066" y="1075385"/>
            <a:ext cx="581215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a:latin typeface="Impact"/>
                <a:ea typeface="Impact"/>
                <a:cs typeface="Impact"/>
                <a:sym typeface="Impact"/>
              </a:rPr>
              <a:t>04	</a:t>
            </a:r>
            <a:r>
              <a:rPr lang="en-US" sz="4200" baseline="30000"/>
              <a:t>Constraint trong SQL</a:t>
            </a:r>
            <a:endParaRPr sz="4200" baseline="30000">
              <a:latin typeface="Impact"/>
              <a:ea typeface="Impact"/>
              <a:cs typeface="Impact"/>
              <a:sym typeface="Impact"/>
            </a:endParaRPr>
          </a:p>
        </p:txBody>
      </p:sp>
      <p:sp>
        <p:nvSpPr>
          <p:cNvPr id="356" name="Google Shape;356;p22"/>
          <p:cNvSpPr txBox="1"/>
          <p:nvPr/>
        </p:nvSpPr>
        <p:spPr>
          <a:xfrm>
            <a:off x="1466469" y="1757552"/>
            <a:ext cx="7891145" cy="3670300"/>
          </a:xfrm>
          <a:prstGeom prst="rect">
            <a:avLst/>
          </a:prstGeom>
          <a:noFill/>
          <a:ln>
            <a:noFill/>
          </a:ln>
        </p:spPr>
        <p:txBody>
          <a:bodyPr spcFirstLastPara="1" wrap="square" lIns="0" tIns="13325" rIns="0" bIns="0" anchor="t" anchorCtr="0">
            <a:spAutoFit/>
          </a:bodyPr>
          <a:lstStyle/>
          <a:p>
            <a:pPr marL="355600" marR="31115" lvl="0" indent="-342900"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Constraint là những quy tắc được áp dụng trên các cột dữ liệu, trên bảng. Được sử dụng để kiểm tra tính hợp lệ của dữ liệu vào, đảm bảo tính chính xác, tính toàn vẹn của dữ liệu.</a:t>
            </a:r>
            <a:endParaRPr sz="2000">
              <a:latin typeface="Times New Roman"/>
              <a:ea typeface="Times New Roman"/>
              <a:cs typeface="Times New Roman"/>
              <a:sym typeface="Times New Roman"/>
            </a:endParaRPr>
          </a:p>
          <a:p>
            <a:pPr marL="354965" lvl="0" indent="-342265" algn="l" rtl="0">
              <a:lnSpc>
                <a:spcPct val="100000"/>
              </a:lnSpc>
              <a:spcBef>
                <a:spcPts val="60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Các loại Constraint phổ biến</a:t>
            </a:r>
            <a:endParaRPr sz="2000">
              <a:latin typeface="Times New Roman"/>
              <a:ea typeface="Times New Roman"/>
              <a:cs typeface="Times New Roman"/>
              <a:sym typeface="Times New Roman"/>
            </a:endParaRPr>
          </a:p>
          <a:p>
            <a:pPr marL="812800" marR="5080" lvl="1" indent="-342900" algn="l" rtl="0">
              <a:lnSpc>
                <a:spcPct val="100000"/>
              </a:lnSpc>
              <a:spcBef>
                <a:spcPts val="610"/>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NOT NULL</a:t>
            </a:r>
            <a:r>
              <a:rPr lang="en-US" sz="1800">
                <a:latin typeface="Times New Roman"/>
                <a:ea typeface="Times New Roman"/>
                <a:cs typeface="Times New Roman"/>
                <a:sym typeface="Times New Roman"/>
              </a:rPr>
              <a:t>: Constraint này cho biết rằng chúng ta không thể lưu một giá trị NULL cho cột đã được gán ràng buộc này. Điều đó có nghĩa là, nếu một cột được định nghĩa là NOT NULL, cột đó sẽ không thể chấp nhận các giá trị NULL được nữa.</a:t>
            </a:r>
            <a:endParaRPr sz="1800">
              <a:latin typeface="Times New Roman"/>
              <a:ea typeface="Times New Roman"/>
              <a:cs typeface="Times New Roman"/>
              <a:sym typeface="Times New Roman"/>
            </a:endParaRPr>
          </a:p>
          <a:p>
            <a:pPr marL="812800" marR="19685" lvl="1" indent="-342900" algn="l" rtl="0">
              <a:lnSpc>
                <a:spcPct val="100000"/>
              </a:lnSpc>
              <a:spcBef>
                <a:spcPts val="600"/>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UNIQUE</a:t>
            </a:r>
            <a:r>
              <a:rPr lang="en-US" sz="1800">
                <a:latin typeface="Times New Roman"/>
                <a:ea typeface="Times New Roman"/>
                <a:cs typeface="Times New Roman"/>
                <a:sym typeface="Times New Roman"/>
              </a:rPr>
              <a:t>: Sử dụng khi chúng ta muốn định nghĩa cho một cột phải có giá trị của nó là duy nhất, nếu một bản ghi đã có giá trị này trong cột của nó thì giá trị đó sẽ không được sử dụng để điền cho bản ghi nào khác trong cơ sở dữ liệu.</a:t>
            </a:r>
            <a:endParaRPr sz="1800">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grpSp>
        <p:nvGrpSpPr>
          <p:cNvPr id="361" name="Google Shape;361;p23"/>
          <p:cNvGrpSpPr/>
          <p:nvPr/>
        </p:nvGrpSpPr>
        <p:grpSpPr>
          <a:xfrm>
            <a:off x="1284732" y="827531"/>
            <a:ext cx="1289304" cy="1182624"/>
            <a:chOff x="1284732" y="827531"/>
            <a:chExt cx="1289304" cy="1182624"/>
          </a:xfrm>
        </p:grpSpPr>
        <p:pic>
          <p:nvPicPr>
            <p:cNvPr id="362" name="Google Shape;362;p23"/>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63" name="Google Shape;363;p23"/>
            <p:cNvPicPr preferRelativeResize="0"/>
            <p:nvPr/>
          </p:nvPicPr>
          <p:blipFill rotWithShape="1">
            <a:blip r:embed="rId4">
              <a:alphaModFix/>
            </a:blip>
            <a:srcRect/>
            <a:stretch/>
          </p:blipFill>
          <p:spPr>
            <a:xfrm>
              <a:off x="1315211" y="827531"/>
              <a:ext cx="1229868" cy="1182624"/>
            </a:xfrm>
            <a:prstGeom prst="rect">
              <a:avLst/>
            </a:prstGeom>
            <a:noFill/>
            <a:ln>
              <a:noFill/>
            </a:ln>
          </p:spPr>
        </p:pic>
        <p:pic>
          <p:nvPicPr>
            <p:cNvPr id="364" name="Google Shape;364;p23"/>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365" name="Google Shape;365;p23"/>
          <p:cNvSpPr txBox="1">
            <a:spLocks noGrp="1"/>
          </p:cNvSpPr>
          <p:nvPr>
            <p:ph type="title"/>
          </p:nvPr>
        </p:nvSpPr>
        <p:spPr>
          <a:xfrm>
            <a:off x="1671066" y="1075385"/>
            <a:ext cx="581215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a:latin typeface="Impact"/>
                <a:ea typeface="Impact"/>
                <a:cs typeface="Impact"/>
                <a:sym typeface="Impact"/>
              </a:rPr>
              <a:t>04	</a:t>
            </a:r>
            <a:r>
              <a:rPr lang="en-US" sz="4200" baseline="30000"/>
              <a:t>Constraint trong SQL</a:t>
            </a:r>
            <a:endParaRPr sz="4200" baseline="30000">
              <a:latin typeface="Impact"/>
              <a:ea typeface="Impact"/>
              <a:cs typeface="Impact"/>
              <a:sym typeface="Impact"/>
            </a:endParaRPr>
          </a:p>
        </p:txBody>
      </p:sp>
      <p:sp>
        <p:nvSpPr>
          <p:cNvPr id="366" name="Google Shape;366;p23"/>
          <p:cNvSpPr txBox="1"/>
          <p:nvPr/>
        </p:nvSpPr>
        <p:spPr>
          <a:xfrm>
            <a:off x="1466469" y="1672151"/>
            <a:ext cx="7741284" cy="3740150"/>
          </a:xfrm>
          <a:prstGeom prst="rect">
            <a:avLst/>
          </a:prstGeom>
          <a:noFill/>
          <a:ln>
            <a:noFill/>
          </a:ln>
        </p:spPr>
        <p:txBody>
          <a:bodyPr spcFirstLastPara="1" wrap="square" lIns="0" tIns="98425" rIns="0" bIns="0" anchor="t" anchorCtr="0">
            <a:spAutoFit/>
          </a:bodyPr>
          <a:lstStyle/>
          <a:p>
            <a:pPr marL="354965" lvl="0" indent="-342265" algn="l" rtl="0">
              <a:lnSpc>
                <a:spcPct val="100000"/>
              </a:lnSpc>
              <a:spcBef>
                <a:spcPts val="0"/>
              </a:spcBef>
              <a:spcAft>
                <a:spcPts val="0"/>
              </a:spcAft>
              <a:buClr>
                <a:srgbClr val="FF5A33"/>
              </a:buClr>
              <a:buSzPts val="2000"/>
              <a:buFont typeface="Noto Sans Symbols"/>
              <a:buChar char="❑"/>
            </a:pPr>
            <a:r>
              <a:rPr lang="en-US" sz="2000">
                <a:latin typeface="Times New Roman"/>
                <a:ea typeface="Times New Roman"/>
                <a:cs typeface="Times New Roman"/>
                <a:sym typeface="Times New Roman"/>
              </a:rPr>
              <a:t>Các loại Constraint phổ biến (Tiếp)</a:t>
            </a:r>
            <a:endParaRPr sz="2000">
              <a:latin typeface="Times New Roman"/>
              <a:ea typeface="Times New Roman"/>
              <a:cs typeface="Times New Roman"/>
              <a:sym typeface="Times New Roman"/>
            </a:endParaRPr>
          </a:p>
          <a:p>
            <a:pPr marL="812800" marR="12700" lvl="1" indent="-342900" algn="l" rtl="0">
              <a:lnSpc>
                <a:spcPct val="100000"/>
              </a:lnSpc>
              <a:spcBef>
                <a:spcPts val="610"/>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PRIMARY KEY</a:t>
            </a:r>
            <a:r>
              <a:rPr lang="en-US" sz="1800">
                <a:latin typeface="Times New Roman"/>
                <a:ea typeface="Times New Roman"/>
                <a:cs typeface="Times New Roman"/>
                <a:sym typeface="Times New Roman"/>
              </a:rPr>
              <a:t>: Một primary key(khóa chính) một hoặc một tập các trường có giá trị là duy nhất, có thể được sử dụng để phân biệt giữa các bản ghi với nhau. Việc khai báo các cột khóa chính yêu cầu các cột phải NOT NULL.</a:t>
            </a:r>
            <a:endParaRPr sz="1800">
              <a:latin typeface="Times New Roman"/>
              <a:ea typeface="Times New Roman"/>
              <a:cs typeface="Times New Roman"/>
              <a:sym typeface="Times New Roman"/>
            </a:endParaRPr>
          </a:p>
          <a:p>
            <a:pPr marL="812800" marR="107950" lvl="1" indent="-342900" algn="just" rtl="0">
              <a:lnSpc>
                <a:spcPct val="100000"/>
              </a:lnSpc>
              <a:spcBef>
                <a:spcPts val="600"/>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FOREIGN KEY</a:t>
            </a:r>
            <a:r>
              <a:rPr lang="en-US" sz="1800">
                <a:latin typeface="Times New Roman"/>
                <a:ea typeface="Times New Roman"/>
                <a:cs typeface="Times New Roman"/>
                <a:sym typeface="Times New Roman"/>
              </a:rPr>
              <a:t>: Dùng để thiết lập khóa ngoại trên bảng, tham chiếu đến bảng khác thông qua giá trị của cột được liên kết. Giá trị của cột được liên kết phải là duy nhất trong bảng kia.</a:t>
            </a:r>
            <a:endParaRPr sz="1800">
              <a:latin typeface="Times New Roman"/>
              <a:ea typeface="Times New Roman"/>
              <a:cs typeface="Times New Roman"/>
              <a:sym typeface="Times New Roman"/>
            </a:endParaRPr>
          </a:p>
          <a:p>
            <a:pPr marL="812800" marR="73660" lvl="1" indent="-342900" algn="just" rtl="0">
              <a:lnSpc>
                <a:spcPct val="100000"/>
              </a:lnSpc>
              <a:spcBef>
                <a:spcPts val="605"/>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CHECK</a:t>
            </a:r>
            <a:r>
              <a:rPr lang="en-US" sz="1800">
                <a:latin typeface="Times New Roman"/>
                <a:ea typeface="Times New Roman"/>
                <a:cs typeface="Times New Roman"/>
                <a:sym typeface="Times New Roman"/>
              </a:rPr>
              <a:t>: Giúp kiểm tra tính hợp lệ của đầu vào dữ liệu, điều này đảm bảo tất cả giá trị trong cột đảm bảo một điều kiện nào đó.</a:t>
            </a:r>
            <a:endParaRPr sz="1800">
              <a:latin typeface="Times New Roman"/>
              <a:ea typeface="Times New Roman"/>
              <a:cs typeface="Times New Roman"/>
              <a:sym typeface="Times New Roman"/>
            </a:endParaRPr>
          </a:p>
          <a:p>
            <a:pPr marL="812800" marR="5080" lvl="1" indent="-342900" algn="just" rtl="0">
              <a:lnSpc>
                <a:spcPct val="100000"/>
              </a:lnSpc>
              <a:spcBef>
                <a:spcPts val="600"/>
              </a:spcBef>
              <a:spcAft>
                <a:spcPts val="0"/>
              </a:spcAft>
              <a:buClr>
                <a:srgbClr val="FF5A33"/>
              </a:buClr>
              <a:buSzPts val="1800"/>
              <a:buFont typeface="Noto Sans Symbols"/>
              <a:buChar char="❖"/>
            </a:pPr>
            <a:r>
              <a:rPr lang="en-US" sz="1800" b="1">
                <a:latin typeface="Times New Roman"/>
                <a:ea typeface="Times New Roman"/>
                <a:cs typeface="Times New Roman"/>
                <a:sym typeface="Times New Roman"/>
              </a:rPr>
              <a:t>DEFAULT</a:t>
            </a:r>
            <a:r>
              <a:rPr lang="en-US" sz="1800">
                <a:latin typeface="Times New Roman"/>
                <a:ea typeface="Times New Roman"/>
                <a:cs typeface="Times New Roman"/>
                <a:sym typeface="Times New Roman"/>
              </a:rPr>
              <a:t>: Ràng buộc này định nghĩa một giá trị mặc định cho một cột dữ liệu khi nó không được điền một giá trị cụ thể bởi người dùng</a:t>
            </a:r>
            <a:endParaRPr sz="18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grpSp>
        <p:nvGrpSpPr>
          <p:cNvPr id="371" name="Google Shape;371;p24"/>
          <p:cNvGrpSpPr/>
          <p:nvPr/>
        </p:nvGrpSpPr>
        <p:grpSpPr>
          <a:xfrm>
            <a:off x="1284732" y="827531"/>
            <a:ext cx="1289304" cy="1182624"/>
            <a:chOff x="1284732" y="827531"/>
            <a:chExt cx="1289304" cy="1182624"/>
          </a:xfrm>
        </p:grpSpPr>
        <p:pic>
          <p:nvPicPr>
            <p:cNvPr id="372" name="Google Shape;372;p24"/>
            <p:cNvPicPr preferRelativeResize="0"/>
            <p:nvPr/>
          </p:nvPicPr>
          <p:blipFill rotWithShape="1">
            <a:blip r:embed="rId3">
              <a:alphaModFix/>
            </a:blip>
            <a:srcRect/>
            <a:stretch/>
          </p:blipFill>
          <p:spPr>
            <a:xfrm>
              <a:off x="1284732" y="902208"/>
              <a:ext cx="1289304" cy="926591"/>
            </a:xfrm>
            <a:prstGeom prst="rect">
              <a:avLst/>
            </a:prstGeom>
            <a:noFill/>
            <a:ln>
              <a:noFill/>
            </a:ln>
          </p:spPr>
        </p:pic>
        <p:pic>
          <p:nvPicPr>
            <p:cNvPr id="373" name="Google Shape;373;p24"/>
            <p:cNvPicPr preferRelativeResize="0"/>
            <p:nvPr/>
          </p:nvPicPr>
          <p:blipFill rotWithShape="1">
            <a:blip r:embed="rId4">
              <a:alphaModFix/>
            </a:blip>
            <a:srcRect/>
            <a:stretch/>
          </p:blipFill>
          <p:spPr>
            <a:xfrm>
              <a:off x="1315211" y="827531"/>
              <a:ext cx="1229868" cy="1182624"/>
            </a:xfrm>
            <a:prstGeom prst="rect">
              <a:avLst/>
            </a:prstGeom>
            <a:noFill/>
            <a:ln>
              <a:noFill/>
            </a:ln>
          </p:spPr>
        </p:pic>
        <p:pic>
          <p:nvPicPr>
            <p:cNvPr id="374" name="Google Shape;374;p24"/>
            <p:cNvPicPr preferRelativeResize="0"/>
            <p:nvPr/>
          </p:nvPicPr>
          <p:blipFill rotWithShape="1">
            <a:blip r:embed="rId5">
              <a:alphaModFix/>
            </a:blip>
            <a:srcRect/>
            <a:stretch/>
          </p:blipFill>
          <p:spPr>
            <a:xfrm>
              <a:off x="1440180" y="1058163"/>
              <a:ext cx="853439" cy="490220"/>
            </a:xfrm>
            <a:prstGeom prst="rect">
              <a:avLst/>
            </a:prstGeom>
            <a:noFill/>
            <a:ln>
              <a:noFill/>
            </a:ln>
          </p:spPr>
        </p:pic>
      </p:grpSp>
      <p:sp>
        <p:nvSpPr>
          <p:cNvPr id="375" name="Google Shape;375;p24"/>
          <p:cNvSpPr txBox="1">
            <a:spLocks noGrp="1"/>
          </p:cNvSpPr>
          <p:nvPr>
            <p:ph type="title"/>
          </p:nvPr>
        </p:nvSpPr>
        <p:spPr>
          <a:xfrm>
            <a:off x="1671066" y="1075385"/>
            <a:ext cx="581215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b="0">
                <a:latin typeface="Impact"/>
                <a:ea typeface="Impact"/>
                <a:cs typeface="Impact"/>
                <a:sym typeface="Impact"/>
              </a:rPr>
              <a:t>04	</a:t>
            </a:r>
            <a:r>
              <a:rPr lang="en-US" sz="4200" baseline="30000"/>
              <a:t>Constraint trong SQL</a:t>
            </a:r>
            <a:endParaRPr sz="4200" baseline="30000">
              <a:latin typeface="Impact"/>
              <a:ea typeface="Impact"/>
              <a:cs typeface="Impact"/>
              <a:sym typeface="Impact"/>
            </a:endParaRPr>
          </a:p>
        </p:txBody>
      </p:sp>
      <p:sp>
        <p:nvSpPr>
          <p:cNvPr id="376" name="Google Shape;376;p24"/>
          <p:cNvSpPr txBox="1">
            <a:spLocks noGrp="1"/>
          </p:cNvSpPr>
          <p:nvPr>
            <p:ph type="body" idx="1"/>
          </p:nvPr>
        </p:nvSpPr>
        <p:spPr>
          <a:xfrm>
            <a:off x="1466469" y="1757552"/>
            <a:ext cx="8515350" cy="3754754"/>
          </a:xfrm>
          <a:prstGeom prst="rect">
            <a:avLst/>
          </a:prstGeom>
          <a:noFill/>
          <a:ln>
            <a:noFill/>
          </a:ln>
        </p:spPr>
        <p:txBody>
          <a:bodyPr spcFirstLastPara="1" wrap="square" lIns="0" tIns="13325" rIns="0" bIns="0" anchor="t" anchorCtr="0">
            <a:spAutoFit/>
          </a:bodyPr>
          <a:lstStyle/>
          <a:p>
            <a:pPr marL="355600" marR="5080" lvl="0" indent="-342900" algn="l" rtl="0">
              <a:lnSpc>
                <a:spcPct val="100000"/>
              </a:lnSpc>
              <a:spcBef>
                <a:spcPts val="0"/>
              </a:spcBef>
              <a:spcAft>
                <a:spcPts val="0"/>
              </a:spcAft>
              <a:buClr>
                <a:srgbClr val="FF5A33"/>
              </a:buClr>
              <a:buSzPts val="2000"/>
              <a:buFont typeface="Noto Sans Symbols"/>
              <a:buChar char="❑"/>
            </a:pPr>
            <a:r>
              <a:rPr lang="en-US" b="1">
                <a:latin typeface="Times New Roman"/>
                <a:ea typeface="Times New Roman"/>
                <a:cs typeface="Times New Roman"/>
                <a:sym typeface="Times New Roman"/>
              </a:rPr>
              <a:t>Auto Increment trong SQL</a:t>
            </a:r>
            <a:r>
              <a:rPr lang="en-US"/>
              <a:t>: Tự động tăng hay AUTO INCREMENT là một trường (Field) cho phép một số duy nhất được tạo tự động khi một bản ghi mới được chèn vào bảng. Chúng ta hay sử dụng trường tự động tăng cho cột có khóa chính vì đơn giản chúng ta muốn được tạo tự động mỗi khi một bản ghi mới được chèn vào.</a:t>
            </a:r>
            <a:endParaRPr/>
          </a:p>
          <a:p>
            <a:pPr marL="0" lvl="0" indent="0" algn="l" rtl="0">
              <a:lnSpc>
                <a:spcPct val="100000"/>
              </a:lnSpc>
              <a:spcBef>
                <a:spcPts val="650"/>
              </a:spcBef>
              <a:spcAft>
                <a:spcPts val="0"/>
              </a:spcAft>
              <a:buNone/>
            </a:pPr>
            <a:endParaRPr/>
          </a:p>
          <a:p>
            <a:pPr marL="1371600" lvl="0" indent="0" algn="l" rtl="0">
              <a:lnSpc>
                <a:spcPct val="100000"/>
              </a:lnSpc>
              <a:spcBef>
                <a:spcPts val="5"/>
              </a:spcBef>
              <a:spcAft>
                <a:spcPts val="0"/>
              </a:spcAft>
              <a:buNone/>
            </a:pPr>
            <a:r>
              <a:rPr lang="en-US" b="1">
                <a:solidFill>
                  <a:srgbClr val="EC5464"/>
                </a:solidFill>
                <a:latin typeface="Arial"/>
                <a:ea typeface="Arial"/>
                <a:cs typeface="Arial"/>
                <a:sym typeface="Arial"/>
              </a:rPr>
              <a:t>CREATE	TABLE	</a:t>
            </a:r>
            <a:r>
              <a:rPr lang="en-US">
                <a:latin typeface="Arial"/>
                <a:ea typeface="Arial"/>
                <a:cs typeface="Arial"/>
                <a:sym typeface="Arial"/>
              </a:rPr>
              <a:t>table_name (</a:t>
            </a:r>
            <a:endParaRPr/>
          </a:p>
          <a:p>
            <a:pPr marL="1371600" marR="1126490" lvl="0" indent="0" algn="l" rtl="0">
              <a:lnSpc>
                <a:spcPct val="100000"/>
              </a:lnSpc>
              <a:spcBef>
                <a:spcPts val="0"/>
              </a:spcBef>
              <a:spcAft>
                <a:spcPts val="0"/>
              </a:spcAft>
              <a:buNone/>
            </a:pPr>
            <a:r>
              <a:rPr lang="en-US">
                <a:latin typeface="Arial"/>
                <a:ea typeface="Arial"/>
                <a:cs typeface="Arial"/>
                <a:sym typeface="Arial"/>
              </a:rPr>
              <a:t>column1 datatype </a:t>
            </a:r>
            <a:r>
              <a:rPr lang="en-US" b="1">
                <a:solidFill>
                  <a:srgbClr val="EC5464"/>
                </a:solidFill>
                <a:latin typeface="Arial"/>
                <a:ea typeface="Arial"/>
                <a:cs typeface="Arial"/>
                <a:sym typeface="Arial"/>
              </a:rPr>
              <a:t>IDENTITY</a:t>
            </a:r>
            <a:r>
              <a:rPr lang="en-US">
                <a:solidFill>
                  <a:srgbClr val="EC5464"/>
                </a:solidFill>
                <a:latin typeface="Arial"/>
                <a:ea typeface="Arial"/>
                <a:cs typeface="Arial"/>
                <a:sym typeface="Arial"/>
              </a:rPr>
              <a:t>(1,1</a:t>
            </a:r>
            <a:r>
              <a:rPr lang="en-US">
                <a:latin typeface="Arial"/>
                <a:ea typeface="Arial"/>
                <a:cs typeface="Arial"/>
                <a:sym typeface="Arial"/>
              </a:rPr>
              <a:t>) </a:t>
            </a:r>
            <a:r>
              <a:rPr lang="en-US" b="1">
                <a:solidFill>
                  <a:srgbClr val="246DEC"/>
                </a:solidFill>
                <a:latin typeface="Arial"/>
                <a:ea typeface="Arial"/>
                <a:cs typeface="Arial"/>
                <a:sym typeface="Arial"/>
              </a:rPr>
              <a:t>PRIMARY	KEY</a:t>
            </a:r>
            <a:r>
              <a:rPr lang="en-US">
                <a:solidFill>
                  <a:srgbClr val="246DEC"/>
                </a:solidFill>
                <a:latin typeface="Arial"/>
                <a:ea typeface="Arial"/>
                <a:cs typeface="Arial"/>
                <a:sym typeface="Arial"/>
              </a:rPr>
              <a:t>, </a:t>
            </a:r>
            <a:r>
              <a:rPr lang="en-US">
                <a:latin typeface="Arial"/>
                <a:ea typeface="Arial"/>
                <a:cs typeface="Arial"/>
                <a:sym typeface="Arial"/>
              </a:rPr>
              <a:t>column2 datatype,</a:t>
            </a:r>
            <a:endParaRPr/>
          </a:p>
          <a:p>
            <a:pPr marL="1371600" lvl="0" indent="0" algn="l" rtl="0">
              <a:lnSpc>
                <a:spcPct val="100000"/>
              </a:lnSpc>
              <a:spcBef>
                <a:spcPts val="0"/>
              </a:spcBef>
              <a:spcAft>
                <a:spcPts val="0"/>
              </a:spcAft>
              <a:buNone/>
            </a:pPr>
            <a:r>
              <a:rPr lang="en-US">
                <a:latin typeface="Arial"/>
                <a:ea typeface="Arial"/>
                <a:cs typeface="Arial"/>
                <a:sym typeface="Arial"/>
              </a:rPr>
              <a:t>column3 datatype,</a:t>
            </a:r>
            <a:endParaRPr/>
          </a:p>
          <a:p>
            <a:pPr marL="1371600" lvl="0" indent="0" algn="l" rtl="0">
              <a:lnSpc>
                <a:spcPct val="100000"/>
              </a:lnSpc>
              <a:spcBef>
                <a:spcPts val="0"/>
              </a:spcBef>
              <a:spcAft>
                <a:spcPts val="0"/>
              </a:spcAft>
              <a:buNone/>
            </a:pPr>
            <a:r>
              <a:rPr lang="en-US">
                <a:latin typeface="Arial"/>
                <a:ea typeface="Arial"/>
                <a:cs typeface="Arial"/>
                <a:sym typeface="Arial"/>
              </a:rPr>
              <a:t>....</a:t>
            </a:r>
            <a:endParaRPr/>
          </a:p>
          <a:p>
            <a:pPr marL="1371600" lvl="0" indent="0" algn="l" rtl="0">
              <a:lnSpc>
                <a:spcPct val="100000"/>
              </a:lnSpc>
              <a:spcBef>
                <a:spcPts val="0"/>
              </a:spcBef>
              <a:spcAft>
                <a:spcPts val="0"/>
              </a:spcAft>
              <a:buNone/>
            </a:pPr>
            <a:r>
              <a:rPr lang="en-US">
                <a:latin typeface="Arial"/>
                <a:ea typeface="Arial"/>
                <a:cs typeface="Arial"/>
                <a:sym typeface="Arial"/>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grpSp>
        <p:nvGrpSpPr>
          <p:cNvPr id="381" name="Google Shape;381;p25"/>
          <p:cNvGrpSpPr/>
          <p:nvPr/>
        </p:nvGrpSpPr>
        <p:grpSpPr>
          <a:xfrm>
            <a:off x="1219200" y="1386839"/>
            <a:ext cx="9144000" cy="637540"/>
            <a:chOff x="1219200" y="1386839"/>
            <a:chExt cx="9144000" cy="637540"/>
          </a:xfrm>
        </p:grpSpPr>
        <p:sp>
          <p:nvSpPr>
            <p:cNvPr id="382" name="Google Shape;382;p25"/>
            <p:cNvSpPr/>
            <p:nvPr/>
          </p:nvSpPr>
          <p:spPr>
            <a:xfrm>
              <a:off x="1219200" y="1386839"/>
              <a:ext cx="9144000" cy="637540"/>
            </a:xfrm>
            <a:custGeom>
              <a:avLst/>
              <a:gdLst/>
              <a:ahLst/>
              <a:cxnLst/>
              <a:rect l="l" t="t" r="r" b="b"/>
              <a:pathLst>
                <a:path w="9144000" h="637539" extrusionOk="0">
                  <a:moveTo>
                    <a:pt x="8825484" y="0"/>
                  </a:moveTo>
                  <a:lnTo>
                    <a:pt x="318516" y="0"/>
                  </a:lnTo>
                  <a:lnTo>
                    <a:pt x="271451" y="3453"/>
                  </a:lnTo>
                  <a:lnTo>
                    <a:pt x="226530" y="13486"/>
                  </a:lnTo>
                  <a:lnTo>
                    <a:pt x="184244" y="29606"/>
                  </a:lnTo>
                  <a:lnTo>
                    <a:pt x="145088" y="51319"/>
                  </a:lnTo>
                  <a:lnTo>
                    <a:pt x="109552" y="78132"/>
                  </a:lnTo>
                  <a:lnTo>
                    <a:pt x="78132" y="109552"/>
                  </a:lnTo>
                  <a:lnTo>
                    <a:pt x="51319" y="145088"/>
                  </a:lnTo>
                  <a:lnTo>
                    <a:pt x="29606" y="184244"/>
                  </a:lnTo>
                  <a:lnTo>
                    <a:pt x="13486" y="226530"/>
                  </a:lnTo>
                  <a:lnTo>
                    <a:pt x="3453" y="271451"/>
                  </a:lnTo>
                  <a:lnTo>
                    <a:pt x="0" y="318515"/>
                  </a:lnTo>
                  <a:lnTo>
                    <a:pt x="3453" y="365580"/>
                  </a:lnTo>
                  <a:lnTo>
                    <a:pt x="13486" y="410501"/>
                  </a:lnTo>
                  <a:lnTo>
                    <a:pt x="29606" y="452787"/>
                  </a:lnTo>
                  <a:lnTo>
                    <a:pt x="51319" y="491943"/>
                  </a:lnTo>
                  <a:lnTo>
                    <a:pt x="78132" y="527479"/>
                  </a:lnTo>
                  <a:lnTo>
                    <a:pt x="109552" y="558899"/>
                  </a:lnTo>
                  <a:lnTo>
                    <a:pt x="145088" y="585712"/>
                  </a:lnTo>
                  <a:lnTo>
                    <a:pt x="184244" y="607425"/>
                  </a:lnTo>
                  <a:lnTo>
                    <a:pt x="226530" y="623545"/>
                  </a:lnTo>
                  <a:lnTo>
                    <a:pt x="271451" y="633578"/>
                  </a:lnTo>
                  <a:lnTo>
                    <a:pt x="318516" y="637032"/>
                  </a:lnTo>
                  <a:lnTo>
                    <a:pt x="8825484" y="637032"/>
                  </a:lnTo>
                  <a:lnTo>
                    <a:pt x="8872548" y="633578"/>
                  </a:lnTo>
                  <a:lnTo>
                    <a:pt x="8917469" y="623545"/>
                  </a:lnTo>
                  <a:lnTo>
                    <a:pt x="8959755" y="607425"/>
                  </a:lnTo>
                  <a:lnTo>
                    <a:pt x="8998911" y="585712"/>
                  </a:lnTo>
                  <a:lnTo>
                    <a:pt x="9034447" y="558899"/>
                  </a:lnTo>
                  <a:lnTo>
                    <a:pt x="9065867" y="527479"/>
                  </a:lnTo>
                  <a:lnTo>
                    <a:pt x="9092680" y="491943"/>
                  </a:lnTo>
                  <a:lnTo>
                    <a:pt x="9114393" y="452787"/>
                  </a:lnTo>
                  <a:lnTo>
                    <a:pt x="9130513" y="410501"/>
                  </a:lnTo>
                  <a:lnTo>
                    <a:pt x="9140546" y="365580"/>
                  </a:lnTo>
                  <a:lnTo>
                    <a:pt x="9144000" y="318515"/>
                  </a:lnTo>
                  <a:lnTo>
                    <a:pt x="9140546" y="271451"/>
                  </a:lnTo>
                  <a:lnTo>
                    <a:pt x="9130513" y="226530"/>
                  </a:lnTo>
                  <a:lnTo>
                    <a:pt x="9114393" y="184244"/>
                  </a:lnTo>
                  <a:lnTo>
                    <a:pt x="9092680" y="145088"/>
                  </a:lnTo>
                  <a:lnTo>
                    <a:pt x="9065867" y="109552"/>
                  </a:lnTo>
                  <a:lnTo>
                    <a:pt x="9034447" y="78132"/>
                  </a:lnTo>
                  <a:lnTo>
                    <a:pt x="8998911" y="51319"/>
                  </a:lnTo>
                  <a:lnTo>
                    <a:pt x="8959755" y="29606"/>
                  </a:lnTo>
                  <a:lnTo>
                    <a:pt x="8917469" y="13486"/>
                  </a:lnTo>
                  <a:lnTo>
                    <a:pt x="8872548" y="3453"/>
                  </a:lnTo>
                  <a:lnTo>
                    <a:pt x="8825484" y="0"/>
                  </a:lnTo>
                  <a:close/>
                </a:path>
              </a:pathLst>
            </a:custGeom>
            <a:solidFill>
              <a:srgbClr val="F3742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83" name="Google Shape;383;p25"/>
            <p:cNvPicPr preferRelativeResize="0"/>
            <p:nvPr/>
          </p:nvPicPr>
          <p:blipFill rotWithShape="1">
            <a:blip r:embed="rId3">
              <a:alphaModFix/>
            </a:blip>
            <a:srcRect/>
            <a:stretch/>
          </p:blipFill>
          <p:spPr>
            <a:xfrm>
              <a:off x="1466088" y="1458467"/>
              <a:ext cx="8651748" cy="495300"/>
            </a:xfrm>
            <a:prstGeom prst="rect">
              <a:avLst/>
            </a:prstGeom>
            <a:noFill/>
            <a:ln>
              <a:noFill/>
            </a:ln>
          </p:spPr>
        </p:pic>
        <p:pic>
          <p:nvPicPr>
            <p:cNvPr id="384" name="Google Shape;384;p25"/>
            <p:cNvPicPr preferRelativeResize="0"/>
            <p:nvPr/>
          </p:nvPicPr>
          <p:blipFill rotWithShape="1">
            <a:blip r:embed="rId4">
              <a:alphaModFix/>
            </a:blip>
            <a:srcRect/>
            <a:stretch/>
          </p:blipFill>
          <p:spPr>
            <a:xfrm>
              <a:off x="1456943" y="1449831"/>
              <a:ext cx="8670036" cy="513079"/>
            </a:xfrm>
            <a:prstGeom prst="rect">
              <a:avLst/>
            </a:prstGeom>
            <a:noFill/>
            <a:ln>
              <a:noFill/>
            </a:ln>
          </p:spPr>
        </p:pic>
      </p:grpSp>
      <p:sp>
        <p:nvSpPr>
          <p:cNvPr id="385" name="Google Shape;385;p25"/>
          <p:cNvSpPr txBox="1"/>
          <p:nvPr/>
        </p:nvSpPr>
        <p:spPr>
          <a:xfrm>
            <a:off x="5364226" y="1467738"/>
            <a:ext cx="854075"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b="1">
                <a:solidFill>
                  <a:srgbClr val="FFFFFF"/>
                </a:solidFill>
                <a:latin typeface="Times New Roman"/>
                <a:ea typeface="Times New Roman"/>
                <a:cs typeface="Times New Roman"/>
                <a:sym typeface="Times New Roman"/>
              </a:rPr>
              <a:t>Q&amp;A</a:t>
            </a:r>
            <a:endParaRPr sz="28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2033</Words>
  <Application>Microsoft Office PowerPoint</Application>
  <PresentationFormat>Widescreen</PresentationFormat>
  <Paragraphs>163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Impact</vt:lpstr>
      <vt:lpstr>Noto Sans Symbols</vt:lpstr>
      <vt:lpstr>Times New Roman</vt:lpstr>
      <vt:lpstr>Office Theme</vt:lpstr>
      <vt:lpstr>Java Backend Phùng Thế Quang</vt:lpstr>
      <vt:lpstr>PowerPoint Presentation</vt:lpstr>
      <vt:lpstr>01 Phép Join trong sql</vt:lpstr>
      <vt:lpstr>01      Phép Join trong sql (Inner Join)</vt:lpstr>
      <vt:lpstr>Phép JOIN trong SQL (INNER JOIN) JOIN)</vt:lpstr>
      <vt:lpstr>01 LEFT JOIN</vt:lpstr>
      <vt:lpstr>OUTER JOIN (LEFT JOIN)</vt:lpstr>
      <vt:lpstr>01      RIGHT JOIN</vt:lpstr>
      <vt:lpstr>OUTER JOIN (RIGHT JOIN)</vt:lpstr>
      <vt:lpstr>01      CROSS JOIN</vt:lpstr>
      <vt:lpstr>OUTER JOIN (CROSS JOIN)</vt:lpstr>
      <vt:lpstr>01     SELF JOIN</vt:lpstr>
      <vt:lpstr>02     SUB QUERY</vt:lpstr>
      <vt:lpstr>Sub Query</vt:lpstr>
      <vt:lpstr>Sub Query</vt:lpstr>
      <vt:lpstr>Sub Query</vt:lpstr>
      <vt:lpstr>Sub Query</vt:lpstr>
      <vt:lpstr>Sub Query</vt:lpstr>
      <vt:lpstr>03 UNION và UNION ALL</vt:lpstr>
      <vt:lpstr>03 UNION và UNION ALL</vt:lpstr>
      <vt:lpstr>UNION và UNION ALL</vt:lpstr>
      <vt:lpstr>04 Constraint trong SQL</vt:lpstr>
      <vt:lpstr>04 Constraint trong SQL</vt:lpstr>
      <vt:lpstr>04 Constraint trong SQL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Backend Phùng Thế Quang</dc:title>
  <dc:creator>Admin</dc:creator>
  <cp:lastModifiedBy>kien nguyen</cp:lastModifiedBy>
  <cp:revision>1</cp:revision>
  <dcterms:created xsi:type="dcterms:W3CDTF">2024-12-25T16:07:08Z</dcterms:created>
  <dcterms:modified xsi:type="dcterms:W3CDTF">2026-02-22T09:34:10Z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2024-08-18T00:00:00Z</vt:filetime>
  </property>
  <property fmtid="{D5CDD505-2E9C-101B-9397-08002B2CF9AE}" pid="3" name="Creator">
    <vt:lpwstr>Microsoft® PowerPoint® 2013</vt:lpwstr>
  </property>
  <property fmtid="{D5CDD505-2E9C-101B-9397-08002B2CF9AE}" pid="4" name="LastSaved">
    <vt:filetime>2024-12-25T00:00:00Z</vt:filetime>
  </property>
  <property fmtid="{D5CDD505-2E9C-101B-9397-08002B2CF9AE}" pid="5" name="Producer">
    <vt:lpwstr>3-Heights(TM) PDF Security Shell 4.8.25.2 (http://www.pdf-tools.com)</vt:lpwstr>
  </property>
</Properties>
</file>