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19200" y="996695"/>
            <a:ext cx="9144000" cy="614680"/>
          </a:xfrm>
          <a:custGeom>
            <a:avLst/>
            <a:gdLst/>
            <a:ahLst/>
            <a:cxnLst/>
            <a:rect l="l" t="t" r="r" b="b"/>
            <a:pathLst>
              <a:path w="9144000" h="614680">
                <a:moveTo>
                  <a:pt x="8836914" y="0"/>
                </a:moveTo>
                <a:lnTo>
                  <a:pt x="307086" y="0"/>
                </a:lnTo>
                <a:lnTo>
                  <a:pt x="261719" y="3330"/>
                </a:lnTo>
                <a:lnTo>
                  <a:pt x="218415" y="13006"/>
                </a:lnTo>
                <a:lnTo>
                  <a:pt x="177649" y="28550"/>
                </a:lnTo>
                <a:lnTo>
                  <a:pt x="139898" y="49487"/>
                </a:lnTo>
                <a:lnTo>
                  <a:pt x="105636" y="75341"/>
                </a:lnTo>
                <a:lnTo>
                  <a:pt x="75341" y="105636"/>
                </a:lnTo>
                <a:lnTo>
                  <a:pt x="49487" y="139898"/>
                </a:lnTo>
                <a:lnTo>
                  <a:pt x="28550" y="177649"/>
                </a:lnTo>
                <a:lnTo>
                  <a:pt x="13006" y="218415"/>
                </a:lnTo>
                <a:lnTo>
                  <a:pt x="3330" y="261719"/>
                </a:lnTo>
                <a:lnTo>
                  <a:pt x="0" y="307086"/>
                </a:lnTo>
                <a:lnTo>
                  <a:pt x="3330" y="352452"/>
                </a:lnTo>
                <a:lnTo>
                  <a:pt x="13006" y="395756"/>
                </a:lnTo>
                <a:lnTo>
                  <a:pt x="28550" y="436522"/>
                </a:lnTo>
                <a:lnTo>
                  <a:pt x="49487" y="474273"/>
                </a:lnTo>
                <a:lnTo>
                  <a:pt x="75341" y="508535"/>
                </a:lnTo>
                <a:lnTo>
                  <a:pt x="105636" y="538830"/>
                </a:lnTo>
                <a:lnTo>
                  <a:pt x="139898" y="564684"/>
                </a:lnTo>
                <a:lnTo>
                  <a:pt x="177649" y="585621"/>
                </a:lnTo>
                <a:lnTo>
                  <a:pt x="218415" y="601165"/>
                </a:lnTo>
                <a:lnTo>
                  <a:pt x="261719" y="610841"/>
                </a:lnTo>
                <a:lnTo>
                  <a:pt x="307086" y="614171"/>
                </a:lnTo>
                <a:lnTo>
                  <a:pt x="8836914" y="614171"/>
                </a:lnTo>
                <a:lnTo>
                  <a:pt x="8882280" y="610841"/>
                </a:lnTo>
                <a:lnTo>
                  <a:pt x="8925584" y="601165"/>
                </a:lnTo>
                <a:lnTo>
                  <a:pt x="8966350" y="585621"/>
                </a:lnTo>
                <a:lnTo>
                  <a:pt x="9004101" y="564684"/>
                </a:lnTo>
                <a:lnTo>
                  <a:pt x="9038363" y="538830"/>
                </a:lnTo>
                <a:lnTo>
                  <a:pt x="9068658" y="508535"/>
                </a:lnTo>
                <a:lnTo>
                  <a:pt x="9094512" y="474273"/>
                </a:lnTo>
                <a:lnTo>
                  <a:pt x="9115449" y="436522"/>
                </a:lnTo>
                <a:lnTo>
                  <a:pt x="9130993" y="395756"/>
                </a:lnTo>
                <a:lnTo>
                  <a:pt x="9140669" y="352452"/>
                </a:lnTo>
                <a:lnTo>
                  <a:pt x="9144000" y="307086"/>
                </a:lnTo>
                <a:lnTo>
                  <a:pt x="9140669" y="261719"/>
                </a:lnTo>
                <a:lnTo>
                  <a:pt x="9130993" y="218415"/>
                </a:lnTo>
                <a:lnTo>
                  <a:pt x="9115449" y="177649"/>
                </a:lnTo>
                <a:lnTo>
                  <a:pt x="9094512" y="139898"/>
                </a:lnTo>
                <a:lnTo>
                  <a:pt x="9068658" y="105636"/>
                </a:lnTo>
                <a:lnTo>
                  <a:pt x="9038363" y="75341"/>
                </a:lnTo>
                <a:lnTo>
                  <a:pt x="9004101" y="49487"/>
                </a:lnTo>
                <a:lnTo>
                  <a:pt x="8966350" y="28550"/>
                </a:lnTo>
                <a:lnTo>
                  <a:pt x="8925584" y="13006"/>
                </a:lnTo>
                <a:lnTo>
                  <a:pt x="8882280" y="3330"/>
                </a:lnTo>
                <a:lnTo>
                  <a:pt x="8836914" y="0"/>
                </a:lnTo>
                <a:close/>
              </a:path>
            </a:pathLst>
          </a:custGeom>
          <a:solidFill>
            <a:srgbClr val="F3742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66088" y="1065275"/>
            <a:ext cx="8653271" cy="47853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56091" y="1056258"/>
            <a:ext cx="8671269" cy="4953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9542" y="1075385"/>
            <a:ext cx="542290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36750" y="2212085"/>
            <a:ext cx="8089900" cy="4274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hyperlink" Target="https://mvnrepository.com/artifact/mysql/mysql-connector-java" TargetMode="Externa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63954" y="2655299"/>
            <a:ext cx="3952240" cy="1374140"/>
          </a:xfrm>
          <a:prstGeom prst="rect"/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1506855" algn="l"/>
              </a:tabLst>
            </a:pPr>
            <a:r>
              <a:rPr dirty="0" sz="6000" spc="-20" b="0">
                <a:solidFill>
                  <a:srgbClr val="15498D"/>
                </a:solidFill>
                <a:latin typeface="Arial Narrow"/>
                <a:cs typeface="Arial Narrow"/>
              </a:rPr>
              <a:t>Java</a:t>
            </a:r>
            <a:r>
              <a:rPr dirty="0" sz="6000" b="0">
                <a:solidFill>
                  <a:srgbClr val="15498D"/>
                </a:solidFill>
                <a:latin typeface="Arial Narrow"/>
                <a:cs typeface="Arial Narrow"/>
              </a:rPr>
              <a:t>	</a:t>
            </a:r>
            <a:r>
              <a:rPr dirty="0" sz="6000" spc="-10" b="0">
                <a:solidFill>
                  <a:srgbClr val="15498D"/>
                </a:solidFill>
                <a:latin typeface="Arial Narrow"/>
                <a:cs typeface="Arial Narrow"/>
              </a:rPr>
              <a:t>Backend</a:t>
            </a:r>
            <a:endParaRPr sz="6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1700" b="0">
                <a:solidFill>
                  <a:srgbClr val="F37421"/>
                </a:solidFill>
                <a:latin typeface="Arial"/>
                <a:cs typeface="Arial"/>
              </a:rPr>
              <a:t>Phùng</a:t>
            </a:r>
            <a:r>
              <a:rPr dirty="0" sz="1700" spc="-75" b="0">
                <a:solidFill>
                  <a:srgbClr val="F37421"/>
                </a:solidFill>
                <a:latin typeface="Arial"/>
                <a:cs typeface="Arial"/>
              </a:rPr>
              <a:t> </a:t>
            </a:r>
            <a:r>
              <a:rPr dirty="0" sz="1700" b="0">
                <a:solidFill>
                  <a:srgbClr val="F37421"/>
                </a:solidFill>
                <a:latin typeface="Arial"/>
                <a:cs typeface="Arial"/>
              </a:rPr>
              <a:t>Thế</a:t>
            </a:r>
            <a:r>
              <a:rPr dirty="0" sz="1700" spc="-45" b="0">
                <a:solidFill>
                  <a:srgbClr val="F37421"/>
                </a:solidFill>
                <a:latin typeface="Arial"/>
                <a:cs typeface="Arial"/>
              </a:rPr>
              <a:t> </a:t>
            </a:r>
            <a:r>
              <a:rPr dirty="0" sz="1700" spc="-10" b="0">
                <a:solidFill>
                  <a:srgbClr val="F37421"/>
                </a:solidFill>
                <a:latin typeface="Arial"/>
                <a:cs typeface="Arial"/>
              </a:rPr>
              <a:t>Quang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914400"/>
            <a:ext cx="7444740" cy="50292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228600"/>
            <a:ext cx="1143000" cy="821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028444" y="1530096"/>
            <a:ext cx="7602220" cy="3200400"/>
            <a:chOff x="2028444" y="1530096"/>
            <a:chExt cx="7602220" cy="3200400"/>
          </a:xfrm>
        </p:grpSpPr>
        <p:sp>
          <p:nvSpPr>
            <p:cNvPr id="3" name="object 3" descr=""/>
            <p:cNvSpPr/>
            <p:nvPr/>
          </p:nvSpPr>
          <p:spPr>
            <a:xfrm>
              <a:off x="2033016" y="1600200"/>
              <a:ext cx="746760" cy="600710"/>
            </a:xfrm>
            <a:custGeom>
              <a:avLst/>
              <a:gdLst/>
              <a:ahLst/>
              <a:cxnLst/>
              <a:rect l="l" t="t" r="r" b="b"/>
              <a:pathLst>
                <a:path w="746760" h="600710">
                  <a:moveTo>
                    <a:pt x="663320" y="0"/>
                  </a:moveTo>
                  <a:lnTo>
                    <a:pt x="83438" y="0"/>
                  </a:lnTo>
                  <a:lnTo>
                    <a:pt x="50952" y="6554"/>
                  </a:lnTo>
                  <a:lnTo>
                    <a:pt x="24431" y="24431"/>
                  </a:lnTo>
                  <a:lnTo>
                    <a:pt x="6554" y="50952"/>
                  </a:lnTo>
                  <a:lnTo>
                    <a:pt x="0" y="83438"/>
                  </a:lnTo>
                  <a:lnTo>
                    <a:pt x="0" y="517016"/>
                  </a:lnTo>
                  <a:lnTo>
                    <a:pt x="6554" y="549503"/>
                  </a:lnTo>
                  <a:lnTo>
                    <a:pt x="24431" y="576024"/>
                  </a:lnTo>
                  <a:lnTo>
                    <a:pt x="50952" y="593901"/>
                  </a:lnTo>
                  <a:lnTo>
                    <a:pt x="83438" y="600455"/>
                  </a:lnTo>
                  <a:lnTo>
                    <a:pt x="663320" y="600455"/>
                  </a:lnTo>
                  <a:lnTo>
                    <a:pt x="695807" y="593901"/>
                  </a:lnTo>
                  <a:lnTo>
                    <a:pt x="722328" y="576024"/>
                  </a:lnTo>
                  <a:lnTo>
                    <a:pt x="740205" y="549503"/>
                  </a:lnTo>
                  <a:lnTo>
                    <a:pt x="746759" y="517016"/>
                  </a:lnTo>
                  <a:lnTo>
                    <a:pt x="746759" y="83438"/>
                  </a:lnTo>
                  <a:lnTo>
                    <a:pt x="740205" y="50952"/>
                  </a:lnTo>
                  <a:lnTo>
                    <a:pt x="722328" y="24431"/>
                  </a:lnTo>
                  <a:lnTo>
                    <a:pt x="695807" y="6554"/>
                  </a:lnTo>
                  <a:lnTo>
                    <a:pt x="663320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077212" y="3070860"/>
              <a:ext cx="733425" cy="711835"/>
            </a:xfrm>
            <a:custGeom>
              <a:avLst/>
              <a:gdLst/>
              <a:ahLst/>
              <a:cxnLst/>
              <a:rect l="l" t="t" r="r" b="b"/>
              <a:pathLst>
                <a:path w="733425" h="711835">
                  <a:moveTo>
                    <a:pt x="634238" y="0"/>
                  </a:moveTo>
                  <a:lnTo>
                    <a:pt x="98806" y="0"/>
                  </a:lnTo>
                  <a:lnTo>
                    <a:pt x="60328" y="7758"/>
                  </a:lnTo>
                  <a:lnTo>
                    <a:pt x="28924" y="28924"/>
                  </a:lnTo>
                  <a:lnTo>
                    <a:pt x="7758" y="60328"/>
                  </a:lnTo>
                  <a:lnTo>
                    <a:pt x="0" y="98805"/>
                  </a:lnTo>
                  <a:lnTo>
                    <a:pt x="0" y="612901"/>
                  </a:lnTo>
                  <a:lnTo>
                    <a:pt x="7758" y="651379"/>
                  </a:lnTo>
                  <a:lnTo>
                    <a:pt x="28924" y="682783"/>
                  </a:lnTo>
                  <a:lnTo>
                    <a:pt x="60328" y="703949"/>
                  </a:lnTo>
                  <a:lnTo>
                    <a:pt x="98806" y="711707"/>
                  </a:lnTo>
                  <a:lnTo>
                    <a:pt x="634238" y="711707"/>
                  </a:lnTo>
                  <a:lnTo>
                    <a:pt x="672715" y="703949"/>
                  </a:lnTo>
                  <a:lnTo>
                    <a:pt x="704119" y="682783"/>
                  </a:lnTo>
                  <a:lnTo>
                    <a:pt x="725285" y="651379"/>
                  </a:lnTo>
                  <a:lnTo>
                    <a:pt x="733044" y="612901"/>
                  </a:lnTo>
                  <a:lnTo>
                    <a:pt x="733044" y="98805"/>
                  </a:lnTo>
                  <a:lnTo>
                    <a:pt x="725285" y="60328"/>
                  </a:lnTo>
                  <a:lnTo>
                    <a:pt x="704119" y="28924"/>
                  </a:lnTo>
                  <a:lnTo>
                    <a:pt x="672715" y="7758"/>
                  </a:lnTo>
                  <a:lnTo>
                    <a:pt x="634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028444" y="3064763"/>
              <a:ext cx="723900" cy="670560"/>
            </a:xfrm>
            <a:custGeom>
              <a:avLst/>
              <a:gdLst/>
              <a:ahLst/>
              <a:cxnLst/>
              <a:rect l="l" t="t" r="r" b="b"/>
              <a:pathLst>
                <a:path w="723900" h="670560">
                  <a:moveTo>
                    <a:pt x="630808" y="0"/>
                  </a:moveTo>
                  <a:lnTo>
                    <a:pt x="93091" y="0"/>
                  </a:lnTo>
                  <a:lnTo>
                    <a:pt x="56846" y="7312"/>
                  </a:lnTo>
                  <a:lnTo>
                    <a:pt x="27257" y="27257"/>
                  </a:lnTo>
                  <a:lnTo>
                    <a:pt x="7312" y="56846"/>
                  </a:lnTo>
                  <a:lnTo>
                    <a:pt x="0" y="93090"/>
                  </a:lnTo>
                  <a:lnTo>
                    <a:pt x="0" y="577469"/>
                  </a:lnTo>
                  <a:lnTo>
                    <a:pt x="7312" y="613713"/>
                  </a:lnTo>
                  <a:lnTo>
                    <a:pt x="27257" y="643302"/>
                  </a:lnTo>
                  <a:lnTo>
                    <a:pt x="56846" y="663247"/>
                  </a:lnTo>
                  <a:lnTo>
                    <a:pt x="93091" y="670560"/>
                  </a:lnTo>
                  <a:lnTo>
                    <a:pt x="630808" y="670560"/>
                  </a:lnTo>
                  <a:lnTo>
                    <a:pt x="667053" y="663247"/>
                  </a:lnTo>
                  <a:lnTo>
                    <a:pt x="696642" y="643302"/>
                  </a:lnTo>
                  <a:lnTo>
                    <a:pt x="716587" y="613713"/>
                  </a:lnTo>
                  <a:lnTo>
                    <a:pt x="723900" y="577469"/>
                  </a:lnTo>
                  <a:lnTo>
                    <a:pt x="723900" y="93090"/>
                  </a:lnTo>
                  <a:lnTo>
                    <a:pt x="716587" y="56846"/>
                  </a:lnTo>
                  <a:lnTo>
                    <a:pt x="696642" y="27257"/>
                  </a:lnTo>
                  <a:lnTo>
                    <a:pt x="667053" y="7312"/>
                  </a:lnTo>
                  <a:lnTo>
                    <a:pt x="630808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1047" y="1549908"/>
              <a:ext cx="6579108" cy="75895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44368" y="1530096"/>
              <a:ext cx="3250692" cy="90220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1340" y="1600200"/>
              <a:ext cx="6423660" cy="60350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2572" y="3029712"/>
              <a:ext cx="6577583" cy="79857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47416" y="3029712"/>
              <a:ext cx="1423416" cy="90220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02863" y="3080004"/>
              <a:ext cx="6422136" cy="64312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816352" y="1600200"/>
              <a:ext cx="277495" cy="2984500"/>
            </a:xfrm>
            <a:custGeom>
              <a:avLst/>
              <a:gdLst/>
              <a:ahLst/>
              <a:cxnLst/>
              <a:rect l="l" t="t" r="r" b="b"/>
              <a:pathLst>
                <a:path w="277494" h="2984500">
                  <a:moveTo>
                    <a:pt x="277368" y="0"/>
                  </a:moveTo>
                  <a:lnTo>
                    <a:pt x="0" y="0"/>
                  </a:lnTo>
                  <a:lnTo>
                    <a:pt x="0" y="2983992"/>
                  </a:lnTo>
                  <a:lnTo>
                    <a:pt x="277368" y="2983992"/>
                  </a:lnTo>
                  <a:lnTo>
                    <a:pt x="2773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89860" y="1600200"/>
              <a:ext cx="124968" cy="301294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036064" y="2292096"/>
              <a:ext cx="723900" cy="640080"/>
            </a:xfrm>
            <a:custGeom>
              <a:avLst/>
              <a:gdLst/>
              <a:ahLst/>
              <a:cxnLst/>
              <a:rect l="l" t="t" r="r" b="b"/>
              <a:pathLst>
                <a:path w="723900" h="640080">
                  <a:moveTo>
                    <a:pt x="635000" y="0"/>
                  </a:moveTo>
                  <a:lnTo>
                    <a:pt x="88900" y="0"/>
                  </a:lnTo>
                  <a:lnTo>
                    <a:pt x="54274" y="6979"/>
                  </a:lnTo>
                  <a:lnTo>
                    <a:pt x="26019" y="26019"/>
                  </a:lnTo>
                  <a:lnTo>
                    <a:pt x="6979" y="54274"/>
                  </a:lnTo>
                  <a:lnTo>
                    <a:pt x="0" y="88900"/>
                  </a:lnTo>
                  <a:lnTo>
                    <a:pt x="0" y="551179"/>
                  </a:lnTo>
                  <a:lnTo>
                    <a:pt x="6979" y="585805"/>
                  </a:lnTo>
                  <a:lnTo>
                    <a:pt x="26019" y="614060"/>
                  </a:lnTo>
                  <a:lnTo>
                    <a:pt x="54274" y="633100"/>
                  </a:lnTo>
                  <a:lnTo>
                    <a:pt x="88900" y="640079"/>
                  </a:lnTo>
                  <a:lnTo>
                    <a:pt x="635000" y="640079"/>
                  </a:lnTo>
                  <a:lnTo>
                    <a:pt x="669625" y="633100"/>
                  </a:lnTo>
                  <a:lnTo>
                    <a:pt x="697880" y="614060"/>
                  </a:lnTo>
                  <a:lnTo>
                    <a:pt x="716920" y="585805"/>
                  </a:lnTo>
                  <a:lnTo>
                    <a:pt x="723900" y="551179"/>
                  </a:lnTo>
                  <a:lnTo>
                    <a:pt x="723900" y="88900"/>
                  </a:lnTo>
                  <a:lnTo>
                    <a:pt x="716920" y="54274"/>
                  </a:lnTo>
                  <a:lnTo>
                    <a:pt x="697880" y="26019"/>
                  </a:lnTo>
                  <a:lnTo>
                    <a:pt x="669625" y="6979"/>
                  </a:lnTo>
                  <a:lnTo>
                    <a:pt x="635000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58540" y="2808732"/>
              <a:ext cx="5379720" cy="134112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38855" y="2241804"/>
              <a:ext cx="6591300" cy="79552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33700" y="2240280"/>
              <a:ext cx="4171188" cy="90220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89147" y="2292096"/>
              <a:ext cx="6435852" cy="64007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028444" y="3877056"/>
              <a:ext cx="715010" cy="673735"/>
            </a:xfrm>
            <a:custGeom>
              <a:avLst/>
              <a:gdLst/>
              <a:ahLst/>
              <a:cxnLst/>
              <a:rect l="l" t="t" r="r" b="b"/>
              <a:pathLst>
                <a:path w="715010" h="673735">
                  <a:moveTo>
                    <a:pt x="621157" y="0"/>
                  </a:moveTo>
                  <a:lnTo>
                    <a:pt x="93599" y="0"/>
                  </a:lnTo>
                  <a:lnTo>
                    <a:pt x="57167" y="7356"/>
                  </a:lnTo>
                  <a:lnTo>
                    <a:pt x="27416" y="27416"/>
                  </a:lnTo>
                  <a:lnTo>
                    <a:pt x="7356" y="57167"/>
                  </a:lnTo>
                  <a:lnTo>
                    <a:pt x="0" y="93599"/>
                  </a:lnTo>
                  <a:lnTo>
                    <a:pt x="0" y="580009"/>
                  </a:lnTo>
                  <a:lnTo>
                    <a:pt x="7356" y="616440"/>
                  </a:lnTo>
                  <a:lnTo>
                    <a:pt x="27416" y="646191"/>
                  </a:lnTo>
                  <a:lnTo>
                    <a:pt x="57167" y="666251"/>
                  </a:lnTo>
                  <a:lnTo>
                    <a:pt x="93599" y="673608"/>
                  </a:lnTo>
                  <a:lnTo>
                    <a:pt x="621157" y="673608"/>
                  </a:lnTo>
                  <a:lnTo>
                    <a:pt x="657588" y="666251"/>
                  </a:lnTo>
                  <a:lnTo>
                    <a:pt x="687339" y="646191"/>
                  </a:lnTo>
                  <a:lnTo>
                    <a:pt x="707399" y="616440"/>
                  </a:lnTo>
                  <a:lnTo>
                    <a:pt x="714756" y="580009"/>
                  </a:lnTo>
                  <a:lnTo>
                    <a:pt x="714756" y="93599"/>
                  </a:lnTo>
                  <a:lnTo>
                    <a:pt x="707399" y="57167"/>
                  </a:lnTo>
                  <a:lnTo>
                    <a:pt x="687339" y="27416"/>
                  </a:lnTo>
                  <a:lnTo>
                    <a:pt x="657588" y="7356"/>
                  </a:lnTo>
                  <a:lnTo>
                    <a:pt x="6211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45208" y="3884675"/>
              <a:ext cx="707390" cy="632460"/>
            </a:xfrm>
            <a:custGeom>
              <a:avLst/>
              <a:gdLst/>
              <a:ahLst/>
              <a:cxnLst/>
              <a:rect l="l" t="t" r="r" b="b"/>
              <a:pathLst>
                <a:path w="707389" h="632460">
                  <a:moveTo>
                    <a:pt x="619252" y="0"/>
                  </a:moveTo>
                  <a:lnTo>
                    <a:pt x="87884" y="0"/>
                  </a:lnTo>
                  <a:lnTo>
                    <a:pt x="53685" y="6909"/>
                  </a:lnTo>
                  <a:lnTo>
                    <a:pt x="25749" y="25749"/>
                  </a:lnTo>
                  <a:lnTo>
                    <a:pt x="6909" y="53685"/>
                  </a:lnTo>
                  <a:lnTo>
                    <a:pt x="0" y="87884"/>
                  </a:lnTo>
                  <a:lnTo>
                    <a:pt x="0" y="544576"/>
                  </a:lnTo>
                  <a:lnTo>
                    <a:pt x="6909" y="578774"/>
                  </a:lnTo>
                  <a:lnTo>
                    <a:pt x="25749" y="606710"/>
                  </a:lnTo>
                  <a:lnTo>
                    <a:pt x="53685" y="625550"/>
                  </a:lnTo>
                  <a:lnTo>
                    <a:pt x="87884" y="632460"/>
                  </a:lnTo>
                  <a:lnTo>
                    <a:pt x="619252" y="632460"/>
                  </a:lnTo>
                  <a:lnTo>
                    <a:pt x="653450" y="625550"/>
                  </a:lnTo>
                  <a:lnTo>
                    <a:pt x="681386" y="606710"/>
                  </a:lnTo>
                  <a:lnTo>
                    <a:pt x="700226" y="578774"/>
                  </a:lnTo>
                  <a:lnTo>
                    <a:pt x="707136" y="544576"/>
                  </a:lnTo>
                  <a:lnTo>
                    <a:pt x="707136" y="87884"/>
                  </a:lnTo>
                  <a:lnTo>
                    <a:pt x="700226" y="53685"/>
                  </a:lnTo>
                  <a:lnTo>
                    <a:pt x="681386" y="25749"/>
                  </a:lnTo>
                  <a:lnTo>
                    <a:pt x="653450" y="6909"/>
                  </a:lnTo>
                  <a:lnTo>
                    <a:pt x="619252" y="0"/>
                  </a:lnTo>
                  <a:close/>
                </a:path>
              </a:pathLst>
            </a:custGeom>
            <a:solidFill>
              <a:srgbClr val="EC54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37788" y="4459224"/>
              <a:ext cx="5335523" cy="11887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52572" y="3834384"/>
              <a:ext cx="6577583" cy="78790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47416" y="3828288"/>
              <a:ext cx="1094232" cy="902207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2863" y="3884675"/>
              <a:ext cx="6422136" cy="63246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188210" y="1673479"/>
            <a:ext cx="4613275" cy="2752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0444" indent="-965200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Font typeface="Impact"/>
              <a:buAutoNum type="arabicPeriod"/>
              <a:tabLst>
                <a:tab pos="1020444" algn="l"/>
              </a:tabLst>
            </a:pPr>
            <a:r>
              <a:rPr dirty="0" sz="2800" b="1">
                <a:solidFill>
                  <a:srgbClr val="E86F70"/>
                </a:solidFill>
                <a:latin typeface="Times New Roman"/>
                <a:cs typeface="Times New Roman"/>
              </a:rPr>
              <a:t>Tổng</a:t>
            </a:r>
            <a:r>
              <a:rPr dirty="0" sz="2800" spc="-50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E86F70"/>
                </a:solidFill>
                <a:latin typeface="Times New Roman"/>
                <a:cs typeface="Times New Roman"/>
              </a:rPr>
              <a:t>quan</a:t>
            </a:r>
            <a:r>
              <a:rPr dirty="0" sz="2800" spc="-45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E86F70"/>
                </a:solidFill>
                <a:latin typeface="Times New Roman"/>
                <a:cs typeface="Times New Roman"/>
              </a:rPr>
              <a:t>JDBC</a:t>
            </a:r>
            <a:endParaRPr sz="2800">
              <a:latin typeface="Times New Roman"/>
              <a:cs typeface="Times New Roman"/>
            </a:endParaRPr>
          </a:p>
          <a:p>
            <a:pPr marL="1009650" indent="-984250">
              <a:lnSpc>
                <a:spcPct val="100000"/>
              </a:lnSpc>
              <a:spcBef>
                <a:spcPts val="2245"/>
              </a:spcBef>
              <a:buClr>
                <a:srgbClr val="FFFFFF"/>
              </a:buClr>
              <a:buFont typeface="Impact"/>
              <a:buAutoNum type="arabicPeriod"/>
              <a:tabLst>
                <a:tab pos="1009650" algn="l"/>
              </a:tabLst>
            </a:pPr>
            <a:r>
              <a:rPr dirty="0" baseline="1984" sz="4200" b="1">
                <a:solidFill>
                  <a:srgbClr val="E86F70"/>
                </a:solidFill>
                <a:latin typeface="Times New Roman"/>
                <a:cs typeface="Times New Roman"/>
              </a:rPr>
              <a:t>Các</a:t>
            </a:r>
            <a:r>
              <a:rPr dirty="0" baseline="1984" sz="4200" spc="-37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b="1">
                <a:solidFill>
                  <a:srgbClr val="E86F70"/>
                </a:solidFill>
                <a:latin typeface="Times New Roman"/>
                <a:cs typeface="Times New Roman"/>
              </a:rPr>
              <a:t>bước</a:t>
            </a:r>
            <a:r>
              <a:rPr dirty="0" baseline="1984" sz="4200" spc="-52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b="1">
                <a:solidFill>
                  <a:srgbClr val="E86F70"/>
                </a:solidFill>
                <a:latin typeface="Times New Roman"/>
                <a:cs typeface="Times New Roman"/>
              </a:rPr>
              <a:t>kết</a:t>
            </a:r>
            <a:r>
              <a:rPr dirty="0" baseline="1984" sz="4200" spc="7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b="1">
                <a:solidFill>
                  <a:srgbClr val="E86F70"/>
                </a:solidFill>
                <a:latin typeface="Times New Roman"/>
                <a:cs typeface="Times New Roman"/>
              </a:rPr>
              <a:t>nối</a:t>
            </a:r>
            <a:r>
              <a:rPr dirty="0" baseline="1984" sz="4200" spc="-37" b="1">
                <a:solidFill>
                  <a:srgbClr val="E86F70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spc="-30" b="1">
                <a:solidFill>
                  <a:srgbClr val="E86F70"/>
                </a:solidFill>
                <a:latin typeface="Times New Roman"/>
                <a:cs typeface="Times New Roman"/>
              </a:rPr>
              <a:t>JDBC</a:t>
            </a:r>
            <a:endParaRPr baseline="1984" sz="4200">
              <a:latin typeface="Times New Roman"/>
              <a:cs typeface="Times New Roman"/>
            </a:endParaRPr>
          </a:p>
          <a:p>
            <a:pPr marL="1022985" indent="-1010285">
              <a:lnSpc>
                <a:spcPct val="100000"/>
              </a:lnSpc>
              <a:spcBef>
                <a:spcPts val="2840"/>
              </a:spcBef>
              <a:buClr>
                <a:srgbClr val="FFFFFF"/>
              </a:buClr>
              <a:buFont typeface="Impact"/>
              <a:buAutoNum type="arabicPeriod"/>
              <a:tabLst>
                <a:tab pos="1022985" algn="l"/>
              </a:tabLst>
            </a:pPr>
            <a:r>
              <a:rPr dirty="0" sz="2800" b="1">
                <a:solidFill>
                  <a:srgbClr val="E86F70"/>
                </a:solidFill>
                <a:latin typeface="Times New Roman"/>
                <a:cs typeface="Times New Roman"/>
              </a:rPr>
              <a:t>Ví</a:t>
            </a:r>
            <a:r>
              <a:rPr dirty="0" sz="2800" spc="-25" b="1">
                <a:solidFill>
                  <a:srgbClr val="E86F70"/>
                </a:solidFill>
                <a:latin typeface="Times New Roman"/>
                <a:cs typeface="Times New Roman"/>
              </a:rPr>
              <a:t> dụ</a:t>
            </a:r>
            <a:endParaRPr sz="2800">
              <a:latin typeface="Times New Roman"/>
              <a:cs typeface="Times New Roman"/>
            </a:endParaRPr>
          </a:p>
          <a:p>
            <a:pPr marL="1022985" indent="-996315">
              <a:lnSpc>
                <a:spcPct val="100000"/>
              </a:lnSpc>
              <a:spcBef>
                <a:spcPts val="2950"/>
              </a:spcBef>
              <a:buClr>
                <a:srgbClr val="FFFFFF"/>
              </a:buClr>
              <a:buFont typeface="Impact"/>
              <a:buAutoNum type="arabicPeriod"/>
              <a:tabLst>
                <a:tab pos="1022985" algn="l"/>
              </a:tabLst>
            </a:pPr>
            <a:r>
              <a:rPr dirty="0" baseline="1984" sz="4200" spc="-37" b="1">
                <a:solidFill>
                  <a:srgbClr val="E86F70"/>
                </a:solidFill>
                <a:latin typeface="Times New Roman"/>
                <a:cs typeface="Times New Roman"/>
              </a:rPr>
              <a:t>QA</a:t>
            </a:r>
            <a:endParaRPr baseline="1984" sz="42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036064" y="4613147"/>
            <a:ext cx="6573520" cy="721360"/>
            <a:chOff x="2036064" y="4613147"/>
            <a:chExt cx="6573520" cy="721360"/>
          </a:xfrm>
        </p:grpSpPr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78124" y="4613147"/>
              <a:ext cx="5330952" cy="12801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036064" y="4674107"/>
              <a:ext cx="692150" cy="660400"/>
            </a:xfrm>
            <a:custGeom>
              <a:avLst/>
              <a:gdLst/>
              <a:ahLst/>
              <a:cxnLst/>
              <a:rect l="l" t="t" r="r" b="b"/>
              <a:pathLst>
                <a:path w="692150" h="660400">
                  <a:moveTo>
                    <a:pt x="600202" y="0"/>
                  </a:moveTo>
                  <a:lnTo>
                    <a:pt x="91693" y="0"/>
                  </a:lnTo>
                  <a:lnTo>
                    <a:pt x="55989" y="7201"/>
                  </a:lnTo>
                  <a:lnTo>
                    <a:pt x="26844" y="26844"/>
                  </a:lnTo>
                  <a:lnTo>
                    <a:pt x="7201" y="55989"/>
                  </a:lnTo>
                  <a:lnTo>
                    <a:pt x="0" y="91694"/>
                  </a:lnTo>
                  <a:lnTo>
                    <a:pt x="0" y="568198"/>
                  </a:lnTo>
                  <a:lnTo>
                    <a:pt x="7201" y="603902"/>
                  </a:lnTo>
                  <a:lnTo>
                    <a:pt x="26844" y="633047"/>
                  </a:lnTo>
                  <a:lnTo>
                    <a:pt x="55989" y="652690"/>
                  </a:lnTo>
                  <a:lnTo>
                    <a:pt x="91693" y="659892"/>
                  </a:lnTo>
                  <a:lnTo>
                    <a:pt x="600202" y="659892"/>
                  </a:lnTo>
                  <a:lnTo>
                    <a:pt x="635906" y="652690"/>
                  </a:lnTo>
                  <a:lnTo>
                    <a:pt x="665051" y="633047"/>
                  </a:lnTo>
                  <a:lnTo>
                    <a:pt x="684694" y="603902"/>
                  </a:lnTo>
                  <a:lnTo>
                    <a:pt x="691896" y="568198"/>
                  </a:lnTo>
                  <a:lnTo>
                    <a:pt x="691896" y="91694"/>
                  </a:lnTo>
                  <a:lnTo>
                    <a:pt x="684694" y="55989"/>
                  </a:lnTo>
                  <a:lnTo>
                    <a:pt x="665051" y="26844"/>
                  </a:lnTo>
                  <a:lnTo>
                    <a:pt x="635906" y="7201"/>
                  </a:lnTo>
                  <a:lnTo>
                    <a:pt x="600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1"/>
              <a:ext cx="1188720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0877" y="1075385"/>
            <a:ext cx="54502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66695" algn="l"/>
              </a:tabLst>
            </a:pPr>
            <a:r>
              <a:rPr dirty="0" spc="-25" b="0">
                <a:latin typeface="Impact"/>
                <a:cs typeface="Impact"/>
              </a:rPr>
              <a:t>01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Tổng</a:t>
            </a:r>
            <a:r>
              <a:rPr dirty="0" baseline="1984" sz="4200" spc="-82"/>
              <a:t> </a:t>
            </a:r>
            <a:r>
              <a:rPr dirty="0" baseline="1984" sz="4200"/>
              <a:t>quan</a:t>
            </a:r>
            <a:r>
              <a:rPr dirty="0" baseline="1984" sz="4200" spc="-75"/>
              <a:t> </a:t>
            </a:r>
            <a:r>
              <a:rPr dirty="0" baseline="1984" sz="4200" spc="-30"/>
              <a:t>JDBC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756028"/>
            <a:ext cx="5795645" cy="376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JDBC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(Java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Connectivity)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là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một </a:t>
            </a:r>
            <a:r>
              <a:rPr dirty="0" sz="2400">
                <a:latin typeface="Times New Roman"/>
                <a:cs typeface="Times New Roman"/>
              </a:rPr>
              <a:t>API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chuẩn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dùng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để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tương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tác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với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loại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cơ </a:t>
            </a:r>
            <a:r>
              <a:rPr dirty="0" sz="2400">
                <a:latin typeface="Times New Roman"/>
                <a:cs typeface="Times New Roman"/>
              </a:rPr>
              <a:t>sở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dữ liệu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hệ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(database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relationship). </a:t>
            </a:r>
            <a:r>
              <a:rPr dirty="0" sz="2400">
                <a:latin typeface="Times New Roman"/>
                <a:cs typeface="Times New Roman"/>
              </a:rPr>
              <a:t>JDBC bao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gồm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một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tập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hợp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và</a:t>
            </a:r>
            <a:r>
              <a:rPr dirty="0" sz="2400" spc="-25">
                <a:latin typeface="Times New Roman"/>
                <a:cs typeface="Times New Roman"/>
              </a:rPr>
              <a:t> các </a:t>
            </a: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dùng cho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ứng dụng Java có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thể </a:t>
            </a:r>
            <a:r>
              <a:rPr dirty="0" sz="2400">
                <a:latin typeface="Times New Roman"/>
                <a:cs typeface="Times New Roman"/>
              </a:rPr>
              <a:t>giao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tiếp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với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cơ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sở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dữ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liệu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(database) </a:t>
            </a:r>
            <a:r>
              <a:rPr dirty="0" sz="2400">
                <a:latin typeface="Times New Roman"/>
                <a:cs typeface="Times New Roman"/>
              </a:rPr>
              <a:t>khác</a:t>
            </a:r>
            <a:r>
              <a:rPr dirty="0" sz="2400" spc="-10">
                <a:latin typeface="Times New Roman"/>
                <a:cs typeface="Times New Roman"/>
              </a:rPr>
              <a:t> nhau.</a:t>
            </a:r>
            <a:endParaRPr sz="2400">
              <a:latin typeface="Times New Roman"/>
              <a:cs typeface="Times New Roman"/>
            </a:endParaRPr>
          </a:p>
          <a:p>
            <a:pPr lvl="1" marL="754380" marR="172720" indent="-28511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dirty="0" sz="2400" spc="-100">
                <a:latin typeface="Times New Roman"/>
                <a:cs typeface="Times New Roman"/>
              </a:rPr>
              <a:t>DBC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có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thể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làm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việc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với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bất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kỳ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cơ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sở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dữ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liệu </a:t>
            </a:r>
            <a:r>
              <a:rPr dirty="0" sz="2400" spc="-120">
                <a:latin typeface="Times New Roman"/>
                <a:cs typeface="Times New Roman"/>
              </a:rPr>
              <a:t>(MySQL,</a:t>
            </a:r>
            <a:r>
              <a:rPr dirty="0" sz="2400" spc="-17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PostgreSQL,</a:t>
            </a:r>
            <a:r>
              <a:rPr dirty="0" sz="2400" spc="-18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Oracle,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SQL</a:t>
            </a:r>
            <a:r>
              <a:rPr dirty="0" sz="2400" spc="-2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Server,</a:t>
            </a:r>
            <a:endParaRPr sz="2400">
              <a:latin typeface="Times New Roman"/>
              <a:cs typeface="Times New Roman"/>
            </a:endParaRPr>
          </a:p>
          <a:p>
            <a:pPr algn="ctr" marR="1270">
              <a:lnSpc>
                <a:spcPct val="100000"/>
              </a:lnSpc>
            </a:pPr>
            <a:r>
              <a:rPr dirty="0" sz="2400" spc="-70">
                <a:latin typeface="Times New Roman"/>
                <a:cs typeface="Times New Roman"/>
              </a:rPr>
              <a:t>…)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dựa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vào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một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Driver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được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cung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cấp.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8916" y="2286000"/>
            <a:ext cx="3851148" cy="2894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1"/>
              <a:ext cx="1188720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0877" y="1075385"/>
            <a:ext cx="51257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89275" algn="l"/>
              </a:tabLst>
            </a:pPr>
            <a:r>
              <a:rPr dirty="0" spc="-25" b="0">
                <a:latin typeface="Impact"/>
                <a:cs typeface="Impact"/>
              </a:rPr>
              <a:t>01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JDBC</a:t>
            </a:r>
            <a:r>
              <a:rPr dirty="0" baseline="1984" sz="4200" spc="-104"/>
              <a:t> </a:t>
            </a:r>
            <a:r>
              <a:rPr dirty="0" baseline="1984" sz="4200" spc="-15"/>
              <a:t>Driver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0209"/>
            <a:ext cx="8844280" cy="436943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JDBC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driver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là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một tập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Java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implement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JDBC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interfaces.</a:t>
            </a:r>
            <a:endParaRPr sz="2400">
              <a:latin typeface="Times New Roman"/>
              <a:cs typeface="Times New Roman"/>
            </a:endParaRPr>
          </a:p>
          <a:p>
            <a:pPr lvl="1" marL="754380" indent="-28448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754380" algn="l"/>
              </a:tabLst>
            </a:pPr>
            <a:r>
              <a:rPr dirty="0" sz="2400" spc="-114">
                <a:latin typeface="Times New Roman"/>
                <a:cs typeface="Times New Roman"/>
              </a:rPr>
              <a:t>Hướng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đến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từng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loại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  <a:tab pos="6306820" algn="l"/>
              </a:tabLst>
            </a:pPr>
            <a:r>
              <a:rPr dirty="0" sz="2400">
                <a:latin typeface="Times New Roman"/>
                <a:cs typeface="Times New Roman"/>
              </a:rPr>
              <a:t>JDBC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là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tuân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thủ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tiêu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chuẩn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của</a:t>
            </a:r>
            <a:r>
              <a:rPr dirty="0" sz="2400">
                <a:latin typeface="Times New Roman"/>
                <a:cs typeface="Times New Roman"/>
              </a:rPr>
              <a:t>	</a:t>
            </a:r>
            <a:r>
              <a:rPr dirty="0" sz="2400" spc="-20">
                <a:latin typeface="Times New Roman"/>
                <a:cs typeface="Times New Roman"/>
              </a:rPr>
              <a:t>Java</a:t>
            </a:r>
            <a:endParaRPr sz="2400">
              <a:latin typeface="Times New Roman"/>
              <a:cs typeface="Times New Roman"/>
            </a:endParaRPr>
          </a:p>
          <a:p>
            <a:pPr lvl="1" marL="812800" marR="508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110">
                <a:latin typeface="Times New Roman"/>
                <a:cs typeface="Times New Roman"/>
              </a:rPr>
              <a:t>Nhưng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việc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triển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khai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các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interface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cụ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thể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đối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với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cơ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sở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dữ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liệu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cần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kết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nối. </a:t>
            </a:r>
            <a:r>
              <a:rPr dirty="0" sz="2400" spc="-140">
                <a:latin typeface="Times New Roman"/>
                <a:cs typeface="Times New Roman"/>
              </a:rPr>
              <a:t>Việc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triển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khai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như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vậy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được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gọi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là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JDBC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  <a:tab pos="1623060" algn="l"/>
              </a:tabLst>
            </a:pPr>
            <a:r>
              <a:rPr dirty="0" sz="2400">
                <a:latin typeface="Times New Roman"/>
                <a:cs typeface="Times New Roman"/>
              </a:rPr>
              <a:t>Có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4 </a:t>
            </a:r>
            <a:r>
              <a:rPr dirty="0" sz="2400" spc="-20">
                <a:latin typeface="Times New Roman"/>
                <a:cs typeface="Times New Roman"/>
              </a:rPr>
              <a:t>loại</a:t>
            </a:r>
            <a:r>
              <a:rPr dirty="0" sz="2400">
                <a:latin typeface="Times New Roman"/>
                <a:cs typeface="Times New Roman"/>
              </a:rPr>
              <a:t>	JDBC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drivers: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00">
                <a:latin typeface="Times New Roman"/>
                <a:cs typeface="Times New Roman"/>
              </a:rPr>
              <a:t>Loại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1: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JDBC-</a:t>
            </a:r>
            <a:r>
              <a:rPr dirty="0" sz="2400" spc="-110">
                <a:latin typeface="Times New Roman"/>
                <a:cs typeface="Times New Roman"/>
              </a:rPr>
              <a:t>ODBC</a:t>
            </a:r>
            <a:r>
              <a:rPr dirty="0" sz="2400" spc="-18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bridge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00">
                <a:latin typeface="Times New Roman"/>
                <a:cs typeface="Times New Roman"/>
              </a:rPr>
              <a:t>Loại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2: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Java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+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Native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code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00">
                <a:latin typeface="Times New Roman"/>
                <a:cs typeface="Times New Roman"/>
              </a:rPr>
              <a:t>Loại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3:</a:t>
            </a:r>
            <a:r>
              <a:rPr dirty="0" sz="2400" spc="-36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</a:t>
            </a:r>
            <a:r>
              <a:rPr dirty="0" sz="2400" spc="-220" b="1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Java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+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Middleware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translation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00">
                <a:latin typeface="Times New Roman"/>
                <a:cs typeface="Times New Roman"/>
              </a:rPr>
              <a:t>Loại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4:</a:t>
            </a:r>
            <a:r>
              <a:rPr dirty="0" sz="2400" spc="-37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l</a:t>
            </a:r>
            <a:r>
              <a:rPr dirty="0" sz="2400" spc="-235" b="1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Java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7108" y="1064717"/>
            <a:ext cx="24930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Kiến</a:t>
            </a:r>
            <a:r>
              <a:rPr dirty="0" spc="-45"/>
              <a:t> </a:t>
            </a:r>
            <a:r>
              <a:rPr dirty="0"/>
              <a:t>trúc</a:t>
            </a:r>
            <a:r>
              <a:rPr dirty="0" spc="-35"/>
              <a:t> </a:t>
            </a:r>
            <a:r>
              <a:rPr dirty="0" spc="-20"/>
              <a:t>JDBC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2"/>
              <a:ext cx="1188720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90877" y="1075385"/>
            <a:ext cx="351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01</a:t>
            </a:r>
            <a:endParaRPr sz="2800">
              <a:latin typeface="Impact"/>
              <a:cs typeface="Impac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5600" y="1905000"/>
            <a:ext cx="4629911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4855" y="1064717"/>
            <a:ext cx="34778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dirty="0" spc="-70"/>
              <a:t> </a:t>
            </a:r>
            <a:r>
              <a:rPr dirty="0"/>
              <a:t>thành</a:t>
            </a:r>
            <a:r>
              <a:rPr dirty="0" spc="-50"/>
              <a:t> </a:t>
            </a:r>
            <a:r>
              <a:rPr dirty="0"/>
              <a:t>phần</a:t>
            </a:r>
            <a:r>
              <a:rPr dirty="0" spc="-55"/>
              <a:t> </a:t>
            </a:r>
            <a:r>
              <a:rPr dirty="0" spc="-20"/>
              <a:t>JDBC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2"/>
              <a:ext cx="1188720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90877" y="1075385"/>
            <a:ext cx="3517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01</a:t>
            </a:r>
            <a:endParaRPr sz="2800">
              <a:latin typeface="Impact"/>
              <a:cs typeface="Impac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7400" y="1752600"/>
            <a:ext cx="6981443" cy="3781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1"/>
              <a:ext cx="1188720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0877" y="1075385"/>
            <a:ext cx="58420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6170" algn="l"/>
              </a:tabLst>
            </a:pPr>
            <a:r>
              <a:rPr dirty="0" spc="-25" b="0">
                <a:latin typeface="Impact"/>
                <a:cs typeface="Impact"/>
              </a:rPr>
              <a:t>01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67"/>
              <a:t> </a:t>
            </a:r>
            <a:r>
              <a:rPr dirty="0" baseline="1984" sz="4200"/>
              <a:t>thành</a:t>
            </a:r>
            <a:r>
              <a:rPr dirty="0" baseline="1984" sz="4200" spc="-52"/>
              <a:t> </a:t>
            </a:r>
            <a:r>
              <a:rPr dirty="0" baseline="1984" sz="4200"/>
              <a:t>phần</a:t>
            </a:r>
            <a:r>
              <a:rPr dirty="0" baseline="1984" sz="4200" spc="-67"/>
              <a:t> </a:t>
            </a:r>
            <a:r>
              <a:rPr dirty="0" baseline="1984" sz="4200" spc="-30"/>
              <a:t>JDBC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757552"/>
            <a:ext cx="8904605" cy="3866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25146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DriverManager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là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một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quản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lý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danh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sách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(database </a:t>
            </a:r>
            <a:r>
              <a:rPr dirty="0" sz="2200">
                <a:latin typeface="Times New Roman"/>
                <a:cs typeface="Times New Roman"/>
              </a:rPr>
              <a:t>drivers).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yêu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cầu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kết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nối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từ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ứng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dụng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Java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sẽ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được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này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tìm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kiếm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phù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hợp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đầu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tiên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thiết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lập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kết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nối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cơ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sở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dữ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liệu.</a:t>
            </a:r>
            <a:endParaRPr sz="2200">
              <a:latin typeface="Times New Roman"/>
              <a:cs typeface="Times New Roman"/>
            </a:endParaRPr>
          </a:p>
          <a:p>
            <a:pPr marL="355600" marR="213995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Driver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là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một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interface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dùng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xử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lý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giao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tiếp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cơ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sở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dữ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liệu. </a:t>
            </a:r>
            <a:r>
              <a:rPr dirty="0" sz="2200">
                <a:latin typeface="Times New Roman"/>
                <a:cs typeface="Times New Roman"/>
              </a:rPr>
              <a:t>Thông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thường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ứng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dụng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Java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sẽ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không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giao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tiếp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trực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tiếp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này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mà </a:t>
            </a:r>
            <a:r>
              <a:rPr dirty="0" sz="2200">
                <a:latin typeface="Times New Roman"/>
                <a:cs typeface="Times New Roman"/>
              </a:rPr>
              <a:t>thông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DriverManager.</a:t>
            </a:r>
            <a:endParaRPr sz="22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Connection</a:t>
            </a:r>
            <a:r>
              <a:rPr dirty="0" sz="2200" spc="-2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là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một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interface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cung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cấp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tất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cả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method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cần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thiết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việc </a:t>
            </a:r>
            <a:r>
              <a:rPr dirty="0" sz="2200">
                <a:latin typeface="Times New Roman"/>
                <a:cs typeface="Times New Roman"/>
              </a:rPr>
              <a:t>giao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tiếp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database.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Interface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này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chứa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nhiều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phương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thức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dạng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tạo </a:t>
            </a:r>
            <a:r>
              <a:rPr dirty="0" sz="2200">
                <a:latin typeface="Times New Roman"/>
                <a:cs typeface="Times New Roman"/>
              </a:rPr>
              <a:t>kết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nối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một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Database.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Tất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cả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thông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giao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tiếp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cơ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sở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dữ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liệu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chỉ </a:t>
            </a:r>
            <a:r>
              <a:rPr dirty="0" sz="2200">
                <a:latin typeface="Times New Roman"/>
                <a:cs typeface="Times New Roman"/>
              </a:rPr>
              <a:t>có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thể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thông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đối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tượng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Connection.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Một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Connection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đại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diện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một </a:t>
            </a:r>
            <a:r>
              <a:rPr dirty="0" sz="2200">
                <a:latin typeface="Times New Roman"/>
                <a:cs typeface="Times New Roman"/>
              </a:rPr>
              <a:t>phiên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(session)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làm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việc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cơ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sở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dữ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liệu.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35024" y="827531"/>
              <a:ext cx="1188720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0877" y="1075385"/>
            <a:ext cx="58420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6170" algn="l"/>
              </a:tabLst>
            </a:pPr>
            <a:r>
              <a:rPr dirty="0" spc="-25" b="0">
                <a:latin typeface="Impact"/>
                <a:cs typeface="Impact"/>
              </a:rPr>
              <a:t>01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67"/>
              <a:t> </a:t>
            </a:r>
            <a:r>
              <a:rPr dirty="0" baseline="1984" sz="4200"/>
              <a:t>thành</a:t>
            </a:r>
            <a:r>
              <a:rPr dirty="0" baseline="1984" sz="4200" spc="-52"/>
              <a:t> </a:t>
            </a:r>
            <a:r>
              <a:rPr dirty="0" baseline="1984" sz="4200"/>
              <a:t>phần</a:t>
            </a:r>
            <a:r>
              <a:rPr dirty="0" baseline="1984" sz="4200" spc="-67"/>
              <a:t> </a:t>
            </a:r>
            <a:r>
              <a:rPr dirty="0" baseline="1984" sz="4200" spc="-30"/>
              <a:t>JDBC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756028"/>
            <a:ext cx="8839835" cy="2738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00050" indent="-342900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Statement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là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một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phép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gửi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câu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lệnh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tới </a:t>
            </a:r>
            <a:r>
              <a:rPr dirty="0" sz="2400">
                <a:latin typeface="Times New Roman"/>
                <a:cs typeface="Times New Roman"/>
              </a:rPr>
              <a:t>Database.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Ngoài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ra,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một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số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kết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thừa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từ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nó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cung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thêm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các </a:t>
            </a:r>
            <a:r>
              <a:rPr dirty="0" sz="2400">
                <a:latin typeface="Times New Roman"/>
                <a:cs typeface="Times New Roman"/>
              </a:rPr>
              <a:t>tham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số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để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thực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thủ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tục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đã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được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lưu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trữ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(stored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procedure).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ResultSet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đại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diện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cho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tập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hợp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các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bản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ghi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(record)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có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được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sau</a:t>
            </a:r>
            <a:r>
              <a:rPr dirty="0" sz="2400" spc="-25">
                <a:latin typeface="Times New Roman"/>
                <a:cs typeface="Times New Roman"/>
              </a:rPr>
              <a:t> khi </a:t>
            </a:r>
            <a:r>
              <a:rPr dirty="0" sz="2400">
                <a:latin typeface="Times New Roman"/>
                <a:cs typeface="Times New Roman"/>
              </a:rPr>
              <a:t>thực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hiện truy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vấn</a:t>
            </a:r>
            <a:r>
              <a:rPr dirty="0" sz="2400" spc="-10">
                <a:latin typeface="Times New Roman"/>
                <a:cs typeface="Times New Roman"/>
              </a:rPr>
              <a:t> (query).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SQLException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class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này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xử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lý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bất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cứ lỗi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nào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xuất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hiện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trong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khi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làm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việc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với</a:t>
            </a:r>
            <a:r>
              <a:rPr dirty="0" sz="2400" spc="-10">
                <a:latin typeface="Times New Roman"/>
                <a:cs typeface="Times New Roman"/>
              </a:rPr>
              <a:t> Database..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2244" y="1064717"/>
            <a:ext cx="26003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dirty="0" spc="-45"/>
              <a:t> </a:t>
            </a:r>
            <a:r>
              <a:rPr dirty="0"/>
              <a:t>bước</a:t>
            </a:r>
            <a:r>
              <a:rPr dirty="0" spc="-45"/>
              <a:t> </a:t>
            </a:r>
            <a:r>
              <a:rPr dirty="0"/>
              <a:t>kết</a:t>
            </a:r>
            <a:r>
              <a:rPr dirty="0" spc="-10"/>
              <a:t> </a:t>
            </a:r>
            <a:r>
              <a:rPr dirty="0" spc="-25"/>
              <a:t>nối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2"/>
              <a:ext cx="1231391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66469" y="1075385"/>
            <a:ext cx="7440295" cy="3282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02</a:t>
            </a:r>
            <a:endParaRPr sz="280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Tải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Tạo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kết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nối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(Open </a:t>
            </a:r>
            <a:r>
              <a:rPr dirty="0" sz="2400" spc="-10">
                <a:latin typeface="Times New Roman"/>
                <a:cs typeface="Times New Roman"/>
              </a:rPr>
              <a:t>Connection)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Tạo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câu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lệnh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truy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vấn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(Statement)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4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Thực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câu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lệnh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truy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vấn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(Execute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Query)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5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Xử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lý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kết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quả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6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Đóng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kết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nối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2244" y="1064717"/>
            <a:ext cx="260032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dirty="0" spc="-45"/>
              <a:t> </a:t>
            </a:r>
            <a:r>
              <a:rPr dirty="0"/>
              <a:t>bước</a:t>
            </a:r>
            <a:r>
              <a:rPr dirty="0" spc="-45"/>
              <a:t> </a:t>
            </a:r>
            <a:r>
              <a:rPr dirty="0"/>
              <a:t>kết</a:t>
            </a:r>
            <a:r>
              <a:rPr dirty="0" spc="-10"/>
              <a:t> </a:t>
            </a:r>
            <a:r>
              <a:rPr dirty="0" spc="-25"/>
              <a:t>nối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2"/>
              <a:ext cx="1231391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66469" y="1075385"/>
            <a:ext cx="8537575" cy="3771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265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02</a:t>
            </a:r>
            <a:endParaRPr sz="2800">
              <a:latin typeface="Impact"/>
              <a:cs typeface="Impact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1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Tải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driver.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Tải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thư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viện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tại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link:</a:t>
            </a:r>
            <a:endParaRPr sz="24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dirty="0" u="sng" sz="2400" spc="-10">
                <a:solidFill>
                  <a:srgbClr val="5D9CEB"/>
                </a:solidFill>
                <a:uFill>
                  <a:solidFill>
                    <a:srgbClr val="5D9CEB"/>
                  </a:solidFill>
                </a:uFill>
                <a:latin typeface="Times New Roman"/>
                <a:cs typeface="Times New Roman"/>
                <a:hlinkClick r:id="rId5"/>
              </a:rPr>
              <a:t>https://mvnrepository.com/artifact/mysql/mysql-connector-</a:t>
            </a:r>
            <a:r>
              <a:rPr dirty="0" u="sng" sz="2400" spc="-20">
                <a:solidFill>
                  <a:srgbClr val="5D9CEB"/>
                </a:solidFill>
                <a:uFill>
                  <a:solidFill>
                    <a:srgbClr val="5D9CEB"/>
                  </a:solidFill>
                </a:uFill>
                <a:latin typeface="Times New Roman"/>
                <a:cs typeface="Times New Roman"/>
                <a:hlinkClick r:id="rId5"/>
              </a:rPr>
              <a:t>java</a:t>
            </a:r>
            <a:endParaRPr sz="24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>
                <a:latin typeface="Times New Roman"/>
                <a:cs typeface="Times New Roman"/>
              </a:rPr>
              <a:t>Hoặc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thêm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thư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viện </a:t>
            </a:r>
            <a:r>
              <a:rPr dirty="0" sz="2400" spc="-10">
                <a:latin typeface="Times New Roman"/>
                <a:cs typeface="Times New Roman"/>
              </a:rPr>
              <a:t>maven</a:t>
            </a:r>
            <a:endParaRPr sz="2400">
              <a:latin typeface="Times New Roman"/>
              <a:cs typeface="Times New Roman"/>
            </a:endParaRPr>
          </a:p>
          <a:p>
            <a:pPr marL="2267585">
              <a:lnSpc>
                <a:spcPct val="100000"/>
              </a:lnSpc>
              <a:spcBef>
                <a:spcPts val="1810"/>
              </a:spcBef>
            </a:pPr>
            <a:r>
              <a:rPr dirty="0" sz="1600" spc="-10">
                <a:latin typeface="Consolas"/>
                <a:cs typeface="Consolas"/>
              </a:rPr>
              <a:t>&lt;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dependency</a:t>
            </a:r>
            <a:r>
              <a:rPr dirty="0" sz="1600" spc="-1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712720">
              <a:lnSpc>
                <a:spcPct val="100000"/>
              </a:lnSpc>
            </a:pPr>
            <a:r>
              <a:rPr dirty="0" sz="1600" spc="-10">
                <a:latin typeface="Consolas"/>
                <a:cs typeface="Consolas"/>
              </a:rPr>
              <a:t>&lt;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groupId</a:t>
            </a:r>
            <a:r>
              <a:rPr dirty="0" sz="1600" spc="-10">
                <a:latin typeface="Consolas"/>
                <a:cs typeface="Consolas"/>
              </a:rPr>
              <a:t>&gt;mysql&lt;/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groupId</a:t>
            </a:r>
            <a:r>
              <a:rPr dirty="0" sz="1600" spc="-1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712720">
              <a:lnSpc>
                <a:spcPct val="100000"/>
              </a:lnSpc>
            </a:pPr>
            <a:r>
              <a:rPr dirty="0" sz="1600" spc="-10">
                <a:latin typeface="Consolas"/>
                <a:cs typeface="Consolas"/>
              </a:rPr>
              <a:t>&lt;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artifactId</a:t>
            </a:r>
            <a:r>
              <a:rPr dirty="0" sz="1600" spc="-10">
                <a:latin typeface="Consolas"/>
                <a:cs typeface="Consolas"/>
              </a:rPr>
              <a:t>&gt;mysql-connector-java&lt;/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artifactId</a:t>
            </a:r>
            <a:r>
              <a:rPr dirty="0" sz="1600" spc="-1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712720">
              <a:lnSpc>
                <a:spcPct val="100000"/>
              </a:lnSpc>
            </a:pPr>
            <a:r>
              <a:rPr dirty="0" sz="1600" spc="-10">
                <a:latin typeface="Consolas"/>
                <a:cs typeface="Consolas"/>
              </a:rPr>
              <a:t>&lt;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version</a:t>
            </a:r>
            <a:r>
              <a:rPr dirty="0" sz="1600" spc="-10">
                <a:latin typeface="Consolas"/>
                <a:cs typeface="Consolas"/>
              </a:rPr>
              <a:t>&gt;8.0.30&lt;/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version</a:t>
            </a:r>
            <a:r>
              <a:rPr dirty="0" sz="1600" spc="-1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  <a:p>
            <a:pPr marL="2267585">
              <a:lnSpc>
                <a:spcPct val="100000"/>
              </a:lnSpc>
            </a:pPr>
            <a:r>
              <a:rPr dirty="0" sz="1600" spc="-10">
                <a:latin typeface="Consolas"/>
                <a:cs typeface="Consolas"/>
              </a:rPr>
              <a:t>&lt;/</a:t>
            </a:r>
            <a:r>
              <a:rPr dirty="0" sz="1600" spc="-10" b="1">
                <a:solidFill>
                  <a:srgbClr val="7E0054"/>
                </a:solidFill>
                <a:latin typeface="Consolas"/>
                <a:cs typeface="Consolas"/>
              </a:rPr>
              <a:t>dependency</a:t>
            </a:r>
            <a:r>
              <a:rPr dirty="0" sz="1600" spc="-10">
                <a:latin typeface="Consolas"/>
                <a:cs typeface="Consolas"/>
              </a:rPr>
              <a:t>&gt;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1131"/>
            <a:ext cx="8611235" cy="45720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Bước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2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Tạo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kết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nối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(Open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Connection)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kết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nối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database,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chúng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ta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cần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load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và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register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nó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với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ứng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200">
                <a:latin typeface="Times New Roman"/>
                <a:cs typeface="Times New Roman"/>
              </a:rPr>
              <a:t>dụng.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Có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2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cách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thực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hiện:</a:t>
            </a:r>
            <a:endParaRPr sz="2200">
              <a:latin typeface="Times New Roman"/>
              <a:cs typeface="Times New Roman"/>
            </a:endParaRPr>
          </a:p>
          <a:p>
            <a:pPr lvl="1" marL="812800" marR="677545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200">
                <a:latin typeface="Times New Roman"/>
                <a:cs typeface="Times New Roman"/>
              </a:rPr>
              <a:t>Class.forName()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: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load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trong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memory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tại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thời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điểm </a:t>
            </a:r>
            <a:r>
              <a:rPr dirty="0" sz="2200">
                <a:latin typeface="Times New Roman"/>
                <a:cs typeface="Times New Roman"/>
              </a:rPr>
              <a:t>runtime.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đăng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ký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gọi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phương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thức: </a:t>
            </a:r>
            <a:r>
              <a:rPr dirty="0" sz="2200" spc="-10" b="1">
                <a:latin typeface="Times New Roman"/>
                <a:cs typeface="Times New Roman"/>
              </a:rPr>
              <a:t>Class.forName(“driverName”);</a:t>
            </a:r>
            <a:endParaRPr sz="2200">
              <a:latin typeface="Times New Roman"/>
              <a:cs typeface="Times New Roman"/>
            </a:endParaRPr>
          </a:p>
          <a:p>
            <a:pPr lvl="1" marL="812800" marR="508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200" spc="-10">
                <a:latin typeface="Times New Roman"/>
                <a:cs typeface="Times New Roman"/>
              </a:rPr>
              <a:t>DriverManager.registerDriver()</a:t>
            </a:r>
            <a:r>
              <a:rPr dirty="0" sz="2200">
                <a:latin typeface="Times New Roman"/>
                <a:cs typeface="Times New Roman"/>
              </a:rPr>
              <a:t> :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DriverManager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là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có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sẵn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trong </a:t>
            </a:r>
            <a:r>
              <a:rPr dirty="0" sz="2200">
                <a:latin typeface="Times New Roman"/>
                <a:cs typeface="Times New Roman"/>
              </a:rPr>
              <a:t>Java.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Để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đăng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ký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gọi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phương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thức: </a:t>
            </a:r>
            <a:r>
              <a:rPr dirty="0" sz="2200" spc="-20" b="1">
                <a:latin typeface="Times New Roman"/>
                <a:cs typeface="Times New Roman"/>
              </a:rPr>
              <a:t>DriverManager.registerDriver(new</a:t>
            </a:r>
            <a:r>
              <a:rPr dirty="0" sz="2200" spc="7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DriverName());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Sau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khi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đã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load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Driver,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chúng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tạo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connection:</a:t>
            </a:r>
            <a:endParaRPr sz="2200">
              <a:latin typeface="Times New Roman"/>
              <a:cs typeface="Times New Roman"/>
            </a:endParaRPr>
          </a:p>
          <a:p>
            <a:pPr marL="1353185">
              <a:lnSpc>
                <a:spcPct val="100000"/>
              </a:lnSpc>
              <a:spcBef>
                <a:spcPts val="1355"/>
              </a:spcBef>
            </a:pPr>
            <a:r>
              <a:rPr dirty="0" sz="1400">
                <a:latin typeface="Arial"/>
                <a:cs typeface="Arial"/>
              </a:rPr>
              <a:t>String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username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2A00FF"/>
                </a:solidFill>
                <a:latin typeface="Arial"/>
                <a:cs typeface="Arial"/>
              </a:rPr>
              <a:t>“root"</a:t>
            </a:r>
            <a:r>
              <a:rPr dirty="0" sz="1400">
                <a:latin typeface="Arial"/>
                <a:cs typeface="Arial"/>
              </a:rPr>
              <a:t>;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String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password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A00FF"/>
                </a:solidFill>
                <a:latin typeface="Arial"/>
                <a:cs typeface="Arial"/>
              </a:rPr>
              <a:t>“1234"</a:t>
            </a:r>
            <a:r>
              <a:rPr dirty="0" sz="1400" spc="-10">
                <a:latin typeface="Arial"/>
                <a:cs typeface="Arial"/>
              </a:rPr>
              <a:t>;</a:t>
            </a:r>
            <a:endParaRPr sz="1400">
              <a:latin typeface="Arial"/>
              <a:cs typeface="Arial"/>
            </a:endParaRPr>
          </a:p>
          <a:p>
            <a:pPr marL="135318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String</a:t>
            </a:r>
            <a:r>
              <a:rPr dirty="0" sz="1400" spc="-10">
                <a:latin typeface="Arial"/>
                <a:cs typeface="Arial"/>
              </a:rPr>
              <a:t> connectionURL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</a:t>
            </a:r>
            <a:r>
              <a:rPr dirty="0" sz="1400" spc="30"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2A00FF"/>
                </a:solidFill>
                <a:latin typeface="Arial"/>
                <a:cs typeface="Arial"/>
              </a:rPr>
              <a:t>"jdbc:mysql://hostname:3306/jdbcdemot3h"</a:t>
            </a:r>
            <a:r>
              <a:rPr dirty="0" sz="1400" spc="-10">
                <a:latin typeface="Arial"/>
                <a:cs typeface="Arial"/>
              </a:rPr>
              <a:t>;</a:t>
            </a:r>
            <a:endParaRPr sz="1400">
              <a:latin typeface="Arial"/>
              <a:cs typeface="Arial"/>
            </a:endParaRPr>
          </a:p>
          <a:p>
            <a:pPr marL="1353185">
              <a:lnSpc>
                <a:spcPct val="100000"/>
              </a:lnSpc>
            </a:pPr>
            <a:r>
              <a:rPr dirty="0" sz="1400">
                <a:latin typeface="Arial"/>
                <a:cs typeface="Arial"/>
              </a:rPr>
              <a:t>Connection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= </a:t>
            </a:r>
            <a:r>
              <a:rPr dirty="0" sz="1400" spc="-10">
                <a:latin typeface="Arial"/>
                <a:cs typeface="Arial"/>
              </a:rPr>
              <a:t>DriverManager.getConnection(connectionURL,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username,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password);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0209"/>
            <a:ext cx="8804910" cy="333311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Bước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Tạo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câu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lệnh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truy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vấn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(Statement)</a:t>
            </a:r>
            <a:endParaRPr sz="2400">
              <a:latin typeface="Times New Roman"/>
              <a:cs typeface="Times New Roman"/>
            </a:endParaRPr>
          </a:p>
          <a:p>
            <a:pPr algn="just" lvl="1" marL="812800" marR="205104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175">
                <a:latin typeface="Times New Roman"/>
                <a:cs typeface="Times New Roman"/>
              </a:rPr>
              <a:t>Các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interface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JDBCStatement,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135">
                <a:latin typeface="Times New Roman"/>
                <a:cs typeface="Times New Roman"/>
              </a:rPr>
              <a:t>CallableStatement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220">
                <a:latin typeface="Times New Roman"/>
                <a:cs typeface="Times New Roman"/>
              </a:rPr>
              <a:t>và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PreparedStatement </a:t>
            </a:r>
            <a:r>
              <a:rPr dirty="0" sz="2400" spc="-170">
                <a:latin typeface="Times New Roman"/>
                <a:cs typeface="Times New Roman"/>
              </a:rPr>
              <a:t>xác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định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các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phương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thức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cho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phép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gửi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các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lệnh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40">
                <a:latin typeface="Times New Roman"/>
                <a:cs typeface="Times New Roman"/>
              </a:rPr>
              <a:t>SQL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215">
                <a:latin typeface="Times New Roman"/>
                <a:cs typeface="Times New Roman"/>
              </a:rPr>
              <a:t>và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nhận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10">
                <a:latin typeface="Times New Roman"/>
                <a:cs typeface="Times New Roman"/>
              </a:rPr>
              <a:t>dữ</a:t>
            </a:r>
            <a:r>
              <a:rPr dirty="0" sz="2400" spc="6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liệu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từ </a:t>
            </a:r>
            <a:r>
              <a:rPr dirty="0" sz="2400" spc="-75">
                <a:latin typeface="Times New Roman"/>
                <a:cs typeface="Times New Roman"/>
              </a:rPr>
              <a:t>cơ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sở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dữ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liệu.</a:t>
            </a:r>
            <a:endParaRPr sz="2400">
              <a:latin typeface="Times New Roman"/>
              <a:cs typeface="Times New Roman"/>
            </a:endParaRPr>
          </a:p>
          <a:p>
            <a:pPr algn="just" lvl="1" marL="812165" indent="-342265">
              <a:lnSpc>
                <a:spcPct val="100000"/>
              </a:lnSpc>
              <a:spcBef>
                <a:spcPts val="605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25" b="1">
                <a:latin typeface="Times New Roman"/>
                <a:cs typeface="Times New Roman"/>
              </a:rPr>
              <a:t>Statement</a:t>
            </a:r>
            <a:r>
              <a:rPr dirty="0" sz="2400" spc="-2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sử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dụng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cho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các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câu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SQL</a:t>
            </a:r>
            <a:r>
              <a:rPr dirty="0" sz="2400" spc="-31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query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không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kèm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tham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số.</a:t>
            </a:r>
            <a:endParaRPr sz="2400">
              <a:latin typeface="Times New Roman"/>
              <a:cs typeface="Times New Roman"/>
            </a:endParaRPr>
          </a:p>
          <a:p>
            <a:pPr algn="just" lvl="1" marL="812800" marR="8763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140" b="1">
                <a:latin typeface="Times New Roman"/>
                <a:cs typeface="Times New Roman"/>
              </a:rPr>
              <a:t>PreparedStatement</a:t>
            </a:r>
            <a:r>
              <a:rPr dirty="0" sz="2400" spc="-140">
                <a:latin typeface="Times New Roman"/>
                <a:cs typeface="Times New Roman"/>
              </a:rPr>
              <a:t>: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25">
                <a:latin typeface="Times New Roman"/>
                <a:cs typeface="Times New Roman"/>
              </a:rPr>
              <a:t>sử</a:t>
            </a:r>
            <a:r>
              <a:rPr dirty="0" sz="2400" spc="7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dụng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tốt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cho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các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câu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240">
                <a:latin typeface="Times New Roman"/>
                <a:cs typeface="Times New Roman"/>
              </a:rPr>
              <a:t>SQL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lặp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lại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nhiều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lần,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chấp </a:t>
            </a:r>
            <a:r>
              <a:rPr dirty="0" sz="2400" spc="-90">
                <a:latin typeface="Times New Roman"/>
                <a:cs typeface="Times New Roman"/>
              </a:rPr>
              <a:t>nhận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tham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số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truyền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vào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tránh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lỗi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SQL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injection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so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với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Statement.</a:t>
            </a:r>
            <a:endParaRPr sz="2400">
              <a:latin typeface="Times New Roman"/>
              <a:cs typeface="Times New Roman"/>
            </a:endParaRPr>
          </a:p>
          <a:p>
            <a:pPr algn="just"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130" b="1">
                <a:latin typeface="Times New Roman"/>
                <a:cs typeface="Times New Roman"/>
              </a:rPr>
              <a:t>CallableStatement</a:t>
            </a:r>
            <a:r>
              <a:rPr dirty="0" sz="2400" spc="-229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thướng</a:t>
            </a:r>
            <a:r>
              <a:rPr dirty="0" sz="2400" spc="-19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sử</a:t>
            </a:r>
            <a:r>
              <a:rPr dirty="0" sz="2400" spc="-18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dụng</a:t>
            </a:r>
            <a:r>
              <a:rPr dirty="0" sz="2400" spc="-19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với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storeProcedure,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chấp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nhận</a:t>
            </a:r>
            <a:r>
              <a:rPr dirty="0" sz="2400" spc="-19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tham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266569" y="4987544"/>
            <a:ext cx="15468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70">
                <a:latin typeface="Times New Roman"/>
                <a:cs typeface="Times New Roman"/>
              </a:rPr>
              <a:t>số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truyền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vào.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94046" y="5179822"/>
            <a:ext cx="483870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PreparedStatement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stmt =</a:t>
            </a:r>
            <a:r>
              <a:rPr dirty="0" sz="1400" spc="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conn.prepareStatement(sqlInsert); stmt.setInt(</a:t>
            </a:r>
            <a:r>
              <a:rPr dirty="0" sz="1400" spc="-10">
                <a:solidFill>
                  <a:srgbClr val="009900"/>
                </a:solidFill>
                <a:latin typeface="Arial"/>
                <a:cs typeface="Arial"/>
              </a:rPr>
              <a:t>1</a:t>
            </a:r>
            <a:r>
              <a:rPr dirty="0" sz="1400" spc="-10">
                <a:latin typeface="Arial"/>
                <a:cs typeface="Arial"/>
              </a:rPr>
              <a:t>,</a:t>
            </a:r>
            <a:r>
              <a:rPr dirty="0" sz="1400" spc="35"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9900"/>
                </a:solidFill>
                <a:latin typeface="Arial"/>
                <a:cs typeface="Arial"/>
              </a:rPr>
              <a:t>1</a:t>
            </a:r>
            <a:r>
              <a:rPr dirty="0" sz="1400" spc="-25">
                <a:latin typeface="Arial"/>
                <a:cs typeface="Arial"/>
              </a:rPr>
              <a:t>);</a:t>
            </a:r>
            <a:endParaRPr sz="1400">
              <a:latin typeface="Arial"/>
              <a:cs typeface="Arial"/>
            </a:endParaRPr>
          </a:p>
          <a:p>
            <a:pPr marL="12700" marR="277558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Arial"/>
                <a:cs typeface="Arial"/>
              </a:rPr>
              <a:t>stmt.setString(</a:t>
            </a:r>
            <a:r>
              <a:rPr dirty="0" sz="1400" spc="-10">
                <a:solidFill>
                  <a:srgbClr val="009900"/>
                </a:solidFill>
                <a:latin typeface="Arial"/>
                <a:cs typeface="Arial"/>
              </a:rPr>
              <a:t>2</a:t>
            </a:r>
            <a:r>
              <a:rPr dirty="0" sz="1400" spc="-10">
                <a:latin typeface="Arial"/>
                <a:cs typeface="Arial"/>
              </a:rPr>
              <a:t>,</a:t>
            </a:r>
            <a:r>
              <a:rPr dirty="0" sz="1400" spc="50"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00FF"/>
                </a:solidFill>
                <a:latin typeface="Arial"/>
                <a:cs typeface="Arial"/>
              </a:rPr>
              <a:t>"Vinh"</a:t>
            </a:r>
            <a:r>
              <a:rPr dirty="0" sz="1400" spc="-10">
                <a:latin typeface="Arial"/>
                <a:cs typeface="Arial"/>
              </a:rPr>
              <a:t>); stmt.setString(</a:t>
            </a:r>
            <a:r>
              <a:rPr dirty="0" sz="1400" spc="-10">
                <a:solidFill>
                  <a:srgbClr val="009900"/>
                </a:solidFill>
                <a:latin typeface="Arial"/>
                <a:cs typeface="Arial"/>
              </a:rPr>
              <a:t>3</a:t>
            </a:r>
            <a:r>
              <a:rPr dirty="0" sz="1400" spc="-10">
                <a:latin typeface="Arial"/>
                <a:cs typeface="Arial"/>
              </a:rPr>
              <a:t>,</a:t>
            </a:r>
            <a:r>
              <a:rPr dirty="0" sz="1400" spc="50"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0000FF"/>
                </a:solidFill>
                <a:latin typeface="Arial"/>
                <a:cs typeface="Arial"/>
              </a:rPr>
              <a:t>"Hanoi"</a:t>
            </a:r>
            <a:r>
              <a:rPr dirty="0" sz="1400" spc="-10">
                <a:latin typeface="Arial"/>
                <a:cs typeface="Arial"/>
              </a:rPr>
              <a:t>); stmt.execute();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0209"/>
            <a:ext cx="8695690" cy="325691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00" b="1">
                <a:latin typeface="Times New Roman"/>
                <a:cs typeface="Times New Roman"/>
              </a:rPr>
              <a:t>Bước</a:t>
            </a:r>
            <a:r>
              <a:rPr dirty="0" sz="2400" spc="-2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4</a:t>
            </a:r>
            <a:r>
              <a:rPr dirty="0" sz="2400" spc="-2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Thực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thi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câu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lệnh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truy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vấn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SQL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(Execute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Query)</a:t>
            </a:r>
            <a:endParaRPr sz="24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20">
                <a:latin typeface="Times New Roman"/>
                <a:cs typeface="Times New Roman"/>
              </a:rPr>
              <a:t>Statement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cung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cấp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một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số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phương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thức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để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thực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thi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truy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vấn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SQL</a:t>
            </a:r>
            <a:r>
              <a:rPr dirty="0" sz="2400" spc="-30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tương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ứng</a:t>
            </a:r>
            <a:endParaRPr sz="2400">
              <a:latin typeface="Times New Roman"/>
              <a:cs typeface="Times New Roman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2400" spc="-90">
                <a:latin typeface="Times New Roman"/>
                <a:cs typeface="Times New Roman"/>
              </a:rPr>
              <a:t>với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các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loại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trên:</a:t>
            </a:r>
            <a:endParaRPr sz="24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400" spc="-110">
                <a:latin typeface="Times New Roman"/>
                <a:cs typeface="Times New Roman"/>
              </a:rPr>
              <a:t>Phương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ứ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 b="1">
                <a:latin typeface="Times New Roman"/>
                <a:cs typeface="Times New Roman"/>
              </a:rPr>
              <a:t>execQuery</a:t>
            </a:r>
            <a:r>
              <a:rPr dirty="0" sz="2400" spc="-114">
                <a:latin typeface="Times New Roman"/>
                <a:cs typeface="Times New Roman"/>
              </a:rPr>
              <a:t>()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được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sử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dụn</a:t>
            </a:r>
            <a:r>
              <a:rPr dirty="0" sz="2400">
                <a:latin typeface="Times New Roman"/>
                <a:cs typeface="Times New Roman"/>
              </a:rPr>
              <a:t>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đ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ự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14">
                <a:latin typeface="Times New Roman"/>
                <a:cs typeface="Times New Roman"/>
              </a:rPr>
              <a:t>i</a:t>
            </a:r>
            <a:r>
              <a:rPr dirty="0" sz="2400" spc="-120">
                <a:latin typeface="Times New Roman"/>
                <a:cs typeface="Times New Roman"/>
              </a:rPr>
              <a:t>ệ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cá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truy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vấ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truy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xuấ</a:t>
            </a:r>
            <a:r>
              <a:rPr dirty="0" sz="2400">
                <a:latin typeface="Times New Roman"/>
                <a:cs typeface="Times New Roman"/>
              </a:rPr>
              <a:t>t </a:t>
            </a:r>
            <a:r>
              <a:rPr dirty="0" sz="2400" spc="-120">
                <a:latin typeface="Times New Roman"/>
                <a:cs typeface="Times New Roman"/>
              </a:rPr>
              <a:t>g</a:t>
            </a:r>
            <a:r>
              <a:rPr dirty="0" sz="2400" spc="-114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á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trị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ừ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cơ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sở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</a:t>
            </a:r>
            <a:r>
              <a:rPr dirty="0" sz="2400">
                <a:latin typeface="Times New Roman"/>
                <a:cs typeface="Times New Roman"/>
              </a:rPr>
              <a:t>ữ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li</a:t>
            </a:r>
            <a:r>
              <a:rPr dirty="0" sz="2400" spc="-120">
                <a:latin typeface="Times New Roman"/>
                <a:cs typeface="Times New Roman"/>
              </a:rPr>
              <a:t>ệ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(select).</a:t>
            </a:r>
            <a:r>
              <a:rPr dirty="0" sz="2400" spc="-28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Phương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ứ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nà</a:t>
            </a:r>
            <a:r>
              <a:rPr dirty="0" sz="2400">
                <a:latin typeface="Times New Roman"/>
                <a:cs typeface="Times New Roman"/>
              </a:rPr>
              <a:t>y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trả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v</a:t>
            </a:r>
            <a:r>
              <a:rPr dirty="0" sz="2400">
                <a:latin typeface="Times New Roman"/>
                <a:cs typeface="Times New Roman"/>
              </a:rPr>
              <a:t>ề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đố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tượng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ResultSet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ó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5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được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sử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dụn</a:t>
            </a:r>
            <a:r>
              <a:rPr dirty="0" sz="2400">
                <a:latin typeface="Times New Roman"/>
                <a:cs typeface="Times New Roman"/>
              </a:rPr>
              <a:t>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đ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ấ</a:t>
            </a:r>
            <a:r>
              <a:rPr dirty="0" sz="2400">
                <a:latin typeface="Times New Roman"/>
                <a:cs typeface="Times New Roman"/>
              </a:rPr>
              <a:t>y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ấ</a:t>
            </a: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ả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cá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</a:t>
            </a:r>
            <a:r>
              <a:rPr dirty="0" sz="2400">
                <a:latin typeface="Times New Roman"/>
                <a:cs typeface="Times New Roman"/>
              </a:rPr>
              <a:t>ữ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li</a:t>
            </a:r>
            <a:r>
              <a:rPr dirty="0" sz="2400" spc="-120">
                <a:latin typeface="Times New Roman"/>
                <a:cs typeface="Times New Roman"/>
              </a:rPr>
              <a:t>ệ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(rec</a:t>
            </a:r>
            <a:r>
              <a:rPr dirty="0" sz="2400" spc="-125">
                <a:latin typeface="Times New Roman"/>
                <a:cs typeface="Times New Roman"/>
              </a:rPr>
              <a:t>o</a:t>
            </a:r>
            <a:r>
              <a:rPr dirty="0" sz="2400" spc="-120">
                <a:latin typeface="Times New Roman"/>
                <a:cs typeface="Times New Roman"/>
              </a:rPr>
              <a:t>r</a:t>
            </a:r>
            <a:r>
              <a:rPr dirty="0" sz="2400" spc="-125">
                <a:latin typeface="Times New Roman"/>
                <a:cs typeface="Times New Roman"/>
              </a:rPr>
              <a:t>d</a:t>
            </a:r>
            <a:r>
              <a:rPr dirty="0" sz="2400">
                <a:latin typeface="Times New Roman"/>
                <a:cs typeface="Times New Roman"/>
              </a:rPr>
              <a:t>)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 spc="-125">
                <a:latin typeface="Times New Roman"/>
                <a:cs typeface="Times New Roman"/>
              </a:rPr>
              <a:t>ủ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b</a:t>
            </a:r>
            <a:r>
              <a:rPr dirty="0" sz="2400" spc="-120">
                <a:latin typeface="Times New Roman"/>
                <a:cs typeface="Times New Roman"/>
              </a:rPr>
              <a:t>ả</a:t>
            </a:r>
            <a:r>
              <a:rPr dirty="0" sz="2400" spc="-125">
                <a:latin typeface="Times New Roman"/>
                <a:cs typeface="Times New Roman"/>
              </a:rPr>
              <a:t>ng</a:t>
            </a:r>
            <a:r>
              <a:rPr dirty="0" sz="240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algn="just" marL="355600" marR="198755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dirty="0" sz="2400" spc="-110">
                <a:latin typeface="Times New Roman"/>
                <a:cs typeface="Times New Roman"/>
              </a:rPr>
              <a:t>Phương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ứ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 b="1">
                <a:latin typeface="Times New Roman"/>
                <a:cs typeface="Times New Roman"/>
              </a:rPr>
              <a:t>execUpdate</a:t>
            </a:r>
            <a:r>
              <a:rPr dirty="0" sz="2400" spc="-120">
                <a:latin typeface="Times New Roman"/>
                <a:cs typeface="Times New Roman"/>
              </a:rPr>
              <a:t>()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được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sử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dụn</a:t>
            </a:r>
            <a:r>
              <a:rPr dirty="0" sz="2400">
                <a:latin typeface="Times New Roman"/>
                <a:cs typeface="Times New Roman"/>
              </a:rPr>
              <a:t>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đ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ự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14">
                <a:latin typeface="Times New Roman"/>
                <a:cs typeface="Times New Roman"/>
              </a:rPr>
              <a:t>i</a:t>
            </a:r>
            <a:r>
              <a:rPr dirty="0" sz="2400" spc="-120">
                <a:latin typeface="Times New Roman"/>
                <a:cs typeface="Times New Roman"/>
              </a:rPr>
              <a:t>ệ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cá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truy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vấ</a:t>
            </a:r>
            <a:r>
              <a:rPr dirty="0" sz="2400">
                <a:latin typeface="Times New Roman"/>
                <a:cs typeface="Times New Roman"/>
              </a:rPr>
              <a:t>n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insert/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update</a:t>
            </a:r>
            <a:r>
              <a:rPr dirty="0" sz="2400">
                <a:latin typeface="Times New Roman"/>
                <a:cs typeface="Times New Roman"/>
              </a:rPr>
              <a:t>/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delete</a:t>
            </a:r>
            <a:r>
              <a:rPr dirty="0" sz="240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0209"/>
            <a:ext cx="8855710" cy="369887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00" b="1">
                <a:latin typeface="Times New Roman"/>
                <a:cs typeface="Times New Roman"/>
              </a:rPr>
              <a:t>Bước</a:t>
            </a:r>
            <a:r>
              <a:rPr dirty="0" sz="2400" spc="-2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4</a:t>
            </a:r>
            <a:r>
              <a:rPr dirty="0" sz="2400" spc="-2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Thực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thi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câu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lệnh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truy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vấn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SQL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(Execute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Query)</a:t>
            </a:r>
            <a:endParaRPr sz="2400">
              <a:latin typeface="Times New Roman"/>
              <a:cs typeface="Times New Roman"/>
            </a:endParaRPr>
          </a:p>
          <a:p>
            <a:pPr algn="just" marL="3549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14">
                <a:latin typeface="Times New Roman"/>
                <a:cs typeface="Times New Roman"/>
              </a:rPr>
              <a:t>Phương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thức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4" b="1">
                <a:latin typeface="Times New Roman"/>
                <a:cs typeface="Times New Roman"/>
              </a:rPr>
              <a:t>execute</a:t>
            </a:r>
            <a:r>
              <a:rPr dirty="0" sz="2400" spc="-114">
                <a:latin typeface="Times New Roman"/>
                <a:cs typeface="Times New Roman"/>
              </a:rPr>
              <a:t>()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có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thể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thực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thi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cả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trường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hợp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trên.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Nếu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phương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thức</a:t>
            </a:r>
            <a:endParaRPr sz="2400">
              <a:latin typeface="Times New Roman"/>
              <a:cs typeface="Times New Roman"/>
            </a:endParaRPr>
          </a:p>
          <a:p>
            <a:pPr algn="just" marL="355600">
              <a:lnSpc>
                <a:spcPct val="100000"/>
              </a:lnSpc>
              <a:spcBef>
                <a:spcPts val="5"/>
              </a:spcBef>
            </a:pPr>
            <a:r>
              <a:rPr dirty="0" sz="2400" spc="-125">
                <a:latin typeface="Times New Roman"/>
                <a:cs typeface="Times New Roman"/>
              </a:rPr>
              <a:t>statement.getUpdateCount()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trả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về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số</a:t>
            </a:r>
            <a:r>
              <a:rPr dirty="0" sz="2400" spc="-20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lượng</a:t>
            </a:r>
            <a:r>
              <a:rPr dirty="0" sz="2400" spc="-19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record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bị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affect.</a:t>
            </a:r>
            <a:endParaRPr sz="2400">
              <a:latin typeface="Times New Roman"/>
              <a:cs typeface="Times New Roman"/>
            </a:endParaRPr>
          </a:p>
          <a:p>
            <a:pPr algn="just" lvl="1" marL="812165" indent="-342265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165" algn="l"/>
              </a:tabLst>
            </a:pPr>
            <a:r>
              <a:rPr dirty="0" sz="2400" spc="-95">
                <a:latin typeface="Times New Roman"/>
                <a:cs typeface="Times New Roman"/>
              </a:rPr>
              <a:t>Nếu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giá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trị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&gt;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0,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có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nghĩa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là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thực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thi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các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câu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lệnh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insert/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update/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delete.</a:t>
            </a:r>
            <a:endParaRPr sz="2400">
              <a:latin typeface="Times New Roman"/>
              <a:cs typeface="Times New Roman"/>
            </a:endParaRPr>
          </a:p>
          <a:p>
            <a:pPr algn="just" lvl="1" marL="812800" marR="581025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90">
                <a:latin typeface="Times New Roman"/>
                <a:cs typeface="Times New Roman"/>
              </a:rPr>
              <a:t>Nếu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g</a:t>
            </a:r>
            <a:r>
              <a:rPr dirty="0" sz="2400" spc="-114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á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trị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0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ó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ngh</a:t>
            </a:r>
            <a:r>
              <a:rPr dirty="0" sz="2400" spc="-114">
                <a:latin typeface="Times New Roman"/>
                <a:cs typeface="Times New Roman"/>
              </a:rPr>
              <a:t>ĩ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>
                <a:latin typeface="Times New Roman"/>
                <a:cs typeface="Times New Roman"/>
              </a:rPr>
              <a:t>à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ự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cá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câ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ện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insert/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upda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e</a:t>
            </a:r>
            <a:r>
              <a:rPr dirty="0" sz="2400">
                <a:latin typeface="Times New Roman"/>
                <a:cs typeface="Times New Roman"/>
              </a:rPr>
              <a:t>/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de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e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e </a:t>
            </a:r>
            <a:r>
              <a:rPr dirty="0" sz="2400" spc="-120">
                <a:latin typeface="Times New Roman"/>
                <a:cs typeface="Times New Roman"/>
              </a:rPr>
              <a:t>khôn</a:t>
            </a:r>
            <a:r>
              <a:rPr dirty="0" sz="2400">
                <a:latin typeface="Times New Roman"/>
                <a:cs typeface="Times New Roman"/>
              </a:rPr>
              <a:t>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ó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dòn</a:t>
            </a:r>
            <a:r>
              <a:rPr dirty="0" sz="2400">
                <a:latin typeface="Times New Roman"/>
                <a:cs typeface="Times New Roman"/>
              </a:rPr>
              <a:t>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nà</a:t>
            </a:r>
            <a:r>
              <a:rPr dirty="0" sz="2400">
                <a:latin typeface="Times New Roman"/>
                <a:cs typeface="Times New Roman"/>
              </a:rPr>
              <a:t>o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b</a:t>
            </a:r>
            <a:r>
              <a:rPr dirty="0" sz="2400">
                <a:latin typeface="Times New Roman"/>
                <a:cs typeface="Times New Roman"/>
              </a:rPr>
              <a:t>ị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ản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hưởng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hoặ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ự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câ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ện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cậ</a:t>
            </a:r>
            <a:r>
              <a:rPr dirty="0" sz="2400">
                <a:latin typeface="Times New Roman"/>
                <a:cs typeface="Times New Roman"/>
              </a:rPr>
              <a:t>p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nhậ</a:t>
            </a:r>
            <a:r>
              <a:rPr dirty="0" sz="2400">
                <a:latin typeface="Times New Roman"/>
                <a:cs typeface="Times New Roman"/>
              </a:rPr>
              <a:t>t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da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>
                <a:latin typeface="Times New Roman"/>
                <a:cs typeface="Times New Roman"/>
              </a:rPr>
              <a:t>a </a:t>
            </a:r>
            <a:r>
              <a:rPr dirty="0" sz="2400" spc="-114">
                <a:latin typeface="Times New Roman"/>
                <a:cs typeface="Times New Roman"/>
              </a:rPr>
              <a:t>structure.</a:t>
            </a:r>
            <a:endParaRPr sz="2400">
              <a:latin typeface="Times New Roman"/>
              <a:cs typeface="Times New Roman"/>
            </a:endParaRPr>
          </a:p>
          <a:p>
            <a:pPr algn="just" lvl="1" marL="812800" marR="10160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90">
                <a:latin typeface="Times New Roman"/>
                <a:cs typeface="Times New Roman"/>
              </a:rPr>
              <a:t>Nếu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g</a:t>
            </a:r>
            <a:r>
              <a:rPr dirty="0" sz="2400" spc="-114">
                <a:latin typeface="Times New Roman"/>
                <a:cs typeface="Times New Roman"/>
              </a:rPr>
              <a:t>i</a:t>
            </a:r>
            <a:r>
              <a:rPr dirty="0" sz="2400">
                <a:latin typeface="Times New Roman"/>
                <a:cs typeface="Times New Roman"/>
              </a:rPr>
              <a:t>á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trị</a:t>
            </a:r>
            <a:r>
              <a:rPr dirty="0" sz="2400" spc="-2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=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-</a:t>
            </a:r>
            <a:r>
              <a:rPr dirty="0" sz="2400" spc="-120">
                <a:latin typeface="Times New Roman"/>
                <a:cs typeface="Times New Roman"/>
              </a:rPr>
              <a:t>1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ó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ngh</a:t>
            </a:r>
            <a:r>
              <a:rPr dirty="0" sz="2400" spc="-114">
                <a:latin typeface="Times New Roman"/>
                <a:cs typeface="Times New Roman"/>
              </a:rPr>
              <a:t>ĩ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>
                <a:latin typeface="Times New Roman"/>
                <a:cs typeface="Times New Roman"/>
              </a:rPr>
              <a:t>à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 spc="-125">
                <a:latin typeface="Times New Roman"/>
                <a:cs typeface="Times New Roman"/>
              </a:rPr>
              <a:t>ự</a:t>
            </a:r>
            <a:r>
              <a:rPr dirty="0" sz="2400">
                <a:latin typeface="Times New Roman"/>
                <a:cs typeface="Times New Roman"/>
              </a:rPr>
              <a:t>c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câ</a:t>
            </a:r>
            <a:r>
              <a:rPr dirty="0" sz="2400">
                <a:latin typeface="Times New Roman"/>
                <a:cs typeface="Times New Roman"/>
              </a:rPr>
              <a:t>u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ện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select.</a:t>
            </a:r>
            <a:r>
              <a:rPr dirty="0" sz="2400" spc="-28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Khi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đó</a:t>
            </a:r>
            <a:r>
              <a:rPr dirty="0" sz="2400">
                <a:latin typeface="Times New Roman"/>
                <a:cs typeface="Times New Roman"/>
              </a:rPr>
              <a:t>,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c</a:t>
            </a:r>
            <a:r>
              <a:rPr dirty="0" sz="2400">
                <a:latin typeface="Times New Roman"/>
                <a:cs typeface="Times New Roman"/>
              </a:rPr>
              <a:t>ó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</a:t>
            </a:r>
            <a:r>
              <a:rPr dirty="0" sz="2400" spc="-120">
                <a:latin typeface="Times New Roman"/>
                <a:cs typeface="Times New Roman"/>
              </a:rPr>
              <a:t>h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gọ</a:t>
            </a:r>
            <a:r>
              <a:rPr dirty="0" sz="2400">
                <a:latin typeface="Times New Roman"/>
                <a:cs typeface="Times New Roman"/>
              </a:rPr>
              <a:t>i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ti</a:t>
            </a:r>
            <a:r>
              <a:rPr dirty="0" sz="2400" spc="-120">
                <a:latin typeface="Times New Roman"/>
                <a:cs typeface="Times New Roman"/>
              </a:rPr>
              <a:t>ế</a:t>
            </a:r>
            <a:r>
              <a:rPr dirty="0" sz="2400">
                <a:latin typeface="Times New Roman"/>
                <a:cs typeface="Times New Roman"/>
              </a:rPr>
              <a:t>p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ện</a:t>
            </a:r>
            <a:r>
              <a:rPr dirty="0" sz="2400">
                <a:latin typeface="Times New Roman"/>
                <a:cs typeface="Times New Roman"/>
              </a:rPr>
              <a:t>h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statement.getResultSet()</a:t>
            </a:r>
            <a:r>
              <a:rPr dirty="0" sz="2400" spc="-27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đ</a:t>
            </a:r>
            <a:r>
              <a:rPr dirty="0" sz="2400">
                <a:latin typeface="Times New Roman"/>
                <a:cs typeface="Times New Roman"/>
              </a:rPr>
              <a:t>ể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l</a:t>
            </a:r>
            <a:r>
              <a:rPr dirty="0" sz="2400" spc="-120">
                <a:latin typeface="Times New Roman"/>
                <a:cs typeface="Times New Roman"/>
              </a:rPr>
              <a:t>ấ</a:t>
            </a:r>
            <a:r>
              <a:rPr dirty="0" sz="2400">
                <a:latin typeface="Times New Roman"/>
                <a:cs typeface="Times New Roman"/>
              </a:rPr>
              <a:t>y</a:t>
            </a:r>
            <a:r>
              <a:rPr dirty="0" sz="2400" spc="-26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ResultSet.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680209"/>
            <a:ext cx="8879840" cy="20066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00" b="1">
                <a:latin typeface="Times New Roman"/>
                <a:cs typeface="Times New Roman"/>
              </a:rPr>
              <a:t>Bước</a:t>
            </a:r>
            <a:r>
              <a:rPr dirty="0" sz="2400" spc="-2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5</a:t>
            </a:r>
            <a:r>
              <a:rPr dirty="0" sz="2400" spc="-229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Xử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lý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kết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quả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ResultSet</a:t>
            </a:r>
            <a:endParaRPr sz="2400">
              <a:latin typeface="Times New Roman"/>
              <a:cs typeface="Times New Roman"/>
            </a:endParaRPr>
          </a:p>
          <a:p>
            <a:pPr lvl="1" marL="812800" marR="5080" indent="-342900">
              <a:lnSpc>
                <a:spcPct val="100000"/>
              </a:lnSpc>
              <a:spcBef>
                <a:spcPts val="600"/>
              </a:spcBef>
              <a:buClr>
                <a:srgbClr val="FF5A33"/>
              </a:buClr>
              <a:buFont typeface="Wingdings"/>
              <a:buChar char=""/>
              <a:tabLst>
                <a:tab pos="812800" algn="l"/>
              </a:tabLst>
            </a:pPr>
            <a:r>
              <a:rPr dirty="0" sz="2400" spc="-120">
                <a:latin typeface="Times New Roman"/>
                <a:cs typeface="Times New Roman"/>
              </a:rPr>
              <a:t>ResultSet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thực</a:t>
            </a:r>
            <a:r>
              <a:rPr dirty="0" sz="2400" spc="-22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hiện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lấy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dữ</a:t>
            </a:r>
            <a:r>
              <a:rPr dirty="0" sz="2400" spc="-204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liệu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từ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SQL</a:t>
            </a:r>
            <a:r>
              <a:rPr dirty="0" sz="2400" spc="-29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Query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bằng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con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trỏ,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phương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thức </a:t>
            </a:r>
            <a:r>
              <a:rPr dirty="0" sz="2400" spc="-95">
                <a:latin typeface="Times New Roman"/>
                <a:cs typeface="Times New Roman"/>
              </a:rPr>
              <a:t>chính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của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ResultSet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là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next()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Khi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khởi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tạo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một</a:t>
            </a:r>
            <a:r>
              <a:rPr dirty="0" sz="2400" spc="-21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đối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tượng</a:t>
            </a:r>
            <a:r>
              <a:rPr dirty="0" sz="2400" spc="-21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ResultSet,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con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trỏ </a:t>
            </a:r>
            <a:r>
              <a:rPr dirty="0" sz="2400" spc="-70">
                <a:latin typeface="Times New Roman"/>
                <a:cs typeface="Times New Roman"/>
              </a:rPr>
              <a:t>sẽ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trỏ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tới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record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đầu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tiên,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sau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khi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đã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xử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lý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dữ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liệu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(bao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gồm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columnName, </a:t>
            </a:r>
            <a:r>
              <a:rPr dirty="0" sz="2400" spc="-140">
                <a:latin typeface="Times New Roman"/>
                <a:cs typeface="Times New Roman"/>
              </a:rPr>
              <a:t>objectValue)</a:t>
            </a:r>
            <a:r>
              <a:rPr dirty="0" sz="2400" spc="-254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thì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sẽ</a:t>
            </a:r>
            <a:r>
              <a:rPr dirty="0" sz="2400" spc="-22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thực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hiện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chuyển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tới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record</a:t>
            </a:r>
            <a:r>
              <a:rPr dirty="0" sz="2400" spc="-24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tiếp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theo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756028"/>
            <a:ext cx="402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00" b="1">
                <a:latin typeface="Times New Roman"/>
                <a:cs typeface="Times New Roman"/>
              </a:rPr>
              <a:t>Bước</a:t>
            </a:r>
            <a:r>
              <a:rPr dirty="0" sz="2400" spc="-2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5</a:t>
            </a:r>
            <a:r>
              <a:rPr dirty="0" sz="2400" spc="-229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Xử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lý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kết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quả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0" b="1">
                <a:latin typeface="Times New Roman"/>
                <a:cs typeface="Times New Roman"/>
              </a:rPr>
              <a:t>ResultSet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2317242" y="2142998"/>
          <a:ext cx="6493510" cy="4410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/>
                <a:gridCol w="6038215"/>
              </a:tblGrid>
              <a:tr h="34988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.N.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Methods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void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beforeFirst()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just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before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row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22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void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afterLast()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just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after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last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row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28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boolean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first()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row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28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void</a:t>
                      </a:r>
                      <a:r>
                        <a:rPr dirty="0" sz="16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last()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last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row.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828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boolean</a:t>
                      </a:r>
                      <a:r>
                        <a:rPr dirty="0" sz="16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absolute(int</a:t>
                      </a:r>
                      <a:r>
                        <a:rPr dirty="0" sz="1600" spc="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row)</a:t>
                      </a:r>
                      <a:r>
                        <a:rPr dirty="0" sz="16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specified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row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600" spc="-50">
                          <a:latin typeface="Arial"/>
                          <a:cs typeface="Arial"/>
                        </a:rPr>
                        <a:t>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89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boolean</a:t>
                      </a:r>
                      <a:r>
                        <a:rPr dirty="0" sz="16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relative(int</a:t>
                      </a:r>
                      <a:r>
                        <a:rPr dirty="0" sz="1600" spc="1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row)</a:t>
                      </a:r>
                      <a:r>
                        <a:rPr dirty="0" sz="16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6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SQLException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4925" marR="9906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given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forward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or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backwards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from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where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currently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pointing.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04800" y="228600"/>
            <a:ext cx="10058400" cy="1781810"/>
            <a:chOff x="304800" y="228600"/>
            <a:chExt cx="10058400" cy="178181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688" y="827531"/>
              <a:ext cx="1231391" cy="11826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3"/>
              <a:ext cx="853439" cy="4902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35275" algn="l"/>
              </a:tabLst>
            </a:pPr>
            <a:r>
              <a:rPr dirty="0" spc="-25" b="0">
                <a:latin typeface="Impact"/>
                <a:cs typeface="Impact"/>
              </a:rPr>
              <a:t>02</a:t>
            </a:r>
            <a:r>
              <a:rPr dirty="0" b="0">
                <a:latin typeface="Impact"/>
                <a:cs typeface="Impact"/>
              </a:rPr>
              <a:t>	</a:t>
            </a:r>
            <a:r>
              <a:rPr dirty="0" baseline="1984" sz="4200"/>
              <a:t>Các</a:t>
            </a:r>
            <a:r>
              <a:rPr dirty="0" baseline="1984" sz="4200" spc="-30"/>
              <a:t> </a:t>
            </a:r>
            <a:r>
              <a:rPr dirty="0" baseline="1984" sz="4200"/>
              <a:t>bước</a:t>
            </a:r>
            <a:r>
              <a:rPr dirty="0" baseline="1984" sz="4200" spc="-44"/>
              <a:t> </a:t>
            </a:r>
            <a:r>
              <a:rPr dirty="0" baseline="1984" sz="4200"/>
              <a:t>kết</a:t>
            </a:r>
            <a:r>
              <a:rPr dirty="0" baseline="1984" sz="4200" spc="7"/>
              <a:t> </a:t>
            </a:r>
            <a:r>
              <a:rPr dirty="0" baseline="1984" sz="4200" spc="-37"/>
              <a:t>nối</a:t>
            </a:r>
            <a:endParaRPr baseline="1984" sz="4200">
              <a:latin typeface="Impact"/>
              <a:cs typeface="Impac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66469" y="1756028"/>
            <a:ext cx="4025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dirty="0" sz="2400" spc="-100" b="1">
                <a:latin typeface="Times New Roman"/>
                <a:cs typeface="Times New Roman"/>
              </a:rPr>
              <a:t>Bước</a:t>
            </a:r>
            <a:r>
              <a:rPr dirty="0" sz="2400" spc="-2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5</a:t>
            </a:r>
            <a:r>
              <a:rPr dirty="0" sz="2400" spc="-229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:</a:t>
            </a:r>
            <a:r>
              <a:rPr dirty="0" sz="2400" spc="-24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Xử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lý</a:t>
            </a:r>
            <a:r>
              <a:rPr dirty="0" sz="2400" spc="-229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kết</a:t>
            </a:r>
            <a:r>
              <a:rPr dirty="0" sz="2400" spc="-25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quả</a:t>
            </a:r>
            <a:r>
              <a:rPr dirty="0" sz="2400" spc="-235">
                <a:latin typeface="Times New Roman"/>
                <a:cs typeface="Times New Roman"/>
              </a:rPr>
              <a:t> </a:t>
            </a:r>
            <a:r>
              <a:rPr dirty="0" sz="2400" spc="-100" b="1">
                <a:latin typeface="Times New Roman"/>
                <a:cs typeface="Times New Roman"/>
              </a:rPr>
              <a:t>ResultSet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1974850" y="2212085"/>
          <a:ext cx="8089900" cy="4274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80"/>
                <a:gridCol w="7640955"/>
              </a:tblGrid>
              <a:tr h="349885">
                <a:tc>
                  <a:txBody>
                    <a:bodyPr/>
                    <a:lstStyle/>
                    <a:p>
                      <a:pPr algn="ctr" marR="234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spc="-25" b="1">
                          <a:latin typeface="Arial"/>
                          <a:cs typeface="Arial"/>
                        </a:rPr>
                        <a:t>.N.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Methods</a:t>
                      </a:r>
                      <a:r>
                        <a:rPr dirty="0" sz="16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600" spc="-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latin typeface="Arial"/>
                          <a:cs typeface="Arial"/>
                        </a:rPr>
                        <a:t>Description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4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boolean</a:t>
                      </a:r>
                      <a:r>
                        <a:rPr dirty="0" sz="14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previous()</a:t>
                      </a:r>
                      <a:r>
                        <a:rPr dirty="0" sz="14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4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SQLException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previous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row.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method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returns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false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previous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off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the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result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00" spc="-5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dirty="0" sz="140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400" spc="-3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boolean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next()</a:t>
                      </a:r>
                      <a:r>
                        <a:rPr dirty="0" sz="1400" spc="-25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400" spc="-3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SQLException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 marR="44323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next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row.</a:t>
                      </a:r>
                      <a:r>
                        <a:rPr dirty="0" sz="1400" spc="-4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method</a:t>
                      </a:r>
                      <a:r>
                        <a:rPr dirty="0" sz="1400" spc="-5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returns</a:t>
                      </a:r>
                      <a:r>
                        <a:rPr dirty="0" sz="1400" spc="-5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false</a:t>
                      </a:r>
                      <a:r>
                        <a:rPr dirty="0" sz="1400" spc="-4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400" spc="-1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there</a:t>
                      </a:r>
                      <a:r>
                        <a:rPr dirty="0" sz="1400" spc="-4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400" spc="-3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more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rows</a:t>
                      </a:r>
                      <a:r>
                        <a:rPr dirty="0" sz="1400" spc="-1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2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0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result</a:t>
                      </a:r>
                      <a:r>
                        <a:rPr dirty="0" sz="1400" spc="-3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set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1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400" spc="-50">
                          <a:latin typeface="Arial"/>
                          <a:cs typeface="Arial"/>
                        </a:rPr>
                        <a:t>9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173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4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int</a:t>
                      </a:r>
                      <a:r>
                        <a:rPr dirty="0" sz="14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getRow()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SQLException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Returns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number</a:t>
                      </a:r>
                      <a:r>
                        <a:rPr dirty="0" sz="14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that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pointing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to.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void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moveToInsertRow()</a:t>
                      </a:r>
                      <a:r>
                        <a:rPr dirty="0" sz="14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4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SQLException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 marR="181610">
                        <a:lnSpc>
                          <a:spcPct val="114999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special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result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set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that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can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be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used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insert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database.</a:t>
                      </a:r>
                      <a:r>
                        <a:rPr dirty="0" sz="14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location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remembered.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362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 marR="4445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Arial"/>
                          <a:cs typeface="Arial"/>
                        </a:rPr>
                        <a:t>11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984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latin typeface="Arial"/>
                          <a:cs typeface="Arial"/>
                        </a:rPr>
                        <a:t>public</a:t>
                      </a:r>
                      <a:r>
                        <a:rPr dirty="0" sz="14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void</a:t>
                      </a:r>
                      <a:r>
                        <a:rPr dirty="0" sz="14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moveToCurrentRow()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b="1">
                          <a:latin typeface="Arial"/>
                          <a:cs typeface="Arial"/>
                        </a:rPr>
                        <a:t>throws</a:t>
                      </a:r>
                      <a:r>
                        <a:rPr dirty="0" sz="14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 b="1">
                          <a:latin typeface="Arial"/>
                          <a:cs typeface="Arial"/>
                        </a:rPr>
                        <a:t>SQLException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34925" marR="289560">
                        <a:lnSpc>
                          <a:spcPct val="114999"/>
                        </a:lnSpc>
                      </a:pPr>
                      <a:r>
                        <a:rPr dirty="0" sz="1400">
                          <a:latin typeface="Arial"/>
                          <a:cs typeface="Arial"/>
                        </a:rPr>
                        <a:t>Moves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back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current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if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cursor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4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currently</a:t>
                      </a:r>
                      <a:r>
                        <a:rPr dirty="0" sz="14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at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the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insert</a:t>
                      </a:r>
                      <a:r>
                        <a:rPr dirty="0" sz="14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row;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 otherwise,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4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method</a:t>
                      </a:r>
                      <a:r>
                        <a:rPr dirty="0" sz="14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>
                          <a:latin typeface="Arial"/>
                          <a:cs typeface="Arial"/>
                        </a:rPr>
                        <a:t>does</a:t>
                      </a:r>
                      <a:r>
                        <a:rPr dirty="0" sz="14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400" spc="-10">
                          <a:latin typeface="Arial"/>
                          <a:cs typeface="Arial"/>
                        </a:rPr>
                        <a:t>nothing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653" y="1064717"/>
            <a:ext cx="8667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dirty="0" spc="-25"/>
              <a:t> dụ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827532"/>
              <a:ext cx="1242060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64970" y="1075385"/>
            <a:ext cx="4044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03</a:t>
            </a:r>
            <a:endParaRPr sz="2800">
              <a:latin typeface="Impact"/>
              <a:cs typeface="Impac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06648" y="1827682"/>
            <a:ext cx="6317615" cy="433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 marR="3185795" indent="-140335">
              <a:lnSpc>
                <a:spcPct val="120100"/>
              </a:lnSpc>
              <a:spcBef>
                <a:spcPts val="10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hostName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"localhost"</a:t>
            </a:r>
            <a:r>
              <a:rPr dirty="0" sz="1000" spc="-10">
                <a:latin typeface="Arial"/>
                <a:cs typeface="Arial"/>
              </a:rPr>
              <a:t>;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dbName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"jdbcdemot3h"</a:t>
            </a:r>
            <a:r>
              <a:rPr dirty="0" sz="1000" spc="-10">
                <a:latin typeface="Arial"/>
                <a:cs typeface="Arial"/>
              </a:rPr>
              <a:t>;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userName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"root"</a:t>
            </a:r>
            <a:r>
              <a:rPr dirty="0" sz="1000" spc="-10">
                <a:latin typeface="Arial"/>
                <a:cs typeface="Arial"/>
              </a:rPr>
              <a:t>;</a:t>
            </a:r>
            <a:r>
              <a:rPr dirty="0" sz="1000" spc="500"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3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password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“1234"</a:t>
            </a:r>
            <a:r>
              <a:rPr dirty="0" sz="1000" spc="-10">
                <a:latin typeface="Arial"/>
                <a:cs typeface="Arial"/>
              </a:rPr>
              <a:t>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4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10">
                <a:latin typeface="Arial"/>
                <a:cs typeface="Arial"/>
              </a:rPr>
              <a:t> connectionURL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"jdbc:mysql://"</a:t>
            </a:r>
            <a:r>
              <a:rPr dirty="0" sz="1000" spc="4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hostName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":3306/"</a:t>
            </a:r>
            <a:r>
              <a:rPr dirty="0" sz="1000" spc="4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dbName;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4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public</a:t>
            </a:r>
            <a:r>
              <a:rPr dirty="0" sz="1000" spc="6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5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void</a:t>
            </a:r>
            <a:r>
              <a:rPr dirty="0" sz="1000" spc="6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main(String[]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args)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throws</a:t>
            </a:r>
            <a:r>
              <a:rPr dirty="0" sz="1000" spc="6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ClassNotFoundException,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SQLException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1.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Load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Driver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 Class.forName("com.mysql.jdbc.Driver");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195"/>
              </a:spcBef>
            </a:pPr>
            <a:r>
              <a:rPr dirty="0" sz="1000" spc="-10">
                <a:latin typeface="Arial"/>
                <a:cs typeface="Arial"/>
              </a:rPr>
              <a:t>DriverManager.registerDriver(</a:t>
            </a:r>
            <a:r>
              <a:rPr dirty="0" sz="1000" spc="-10" b="1">
                <a:solidFill>
                  <a:srgbClr val="7E0054"/>
                </a:solidFill>
                <a:latin typeface="Arial"/>
                <a:cs typeface="Arial"/>
              </a:rPr>
              <a:t>new</a:t>
            </a:r>
            <a:r>
              <a:rPr dirty="0" sz="1000" spc="23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com.mysql.cj.jdbc.Driver());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2.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Open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connection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Connection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DriverManager.getConnection(connectionURL,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userName,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password);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3.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Create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Statement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Statement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con.createStatement();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4.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Execute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query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String sqlInsert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"INSERT</a:t>
            </a:r>
            <a:r>
              <a:rPr dirty="0" sz="1000" spc="2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INTO</a:t>
            </a:r>
            <a:r>
              <a:rPr dirty="0" sz="1000" spc="-2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user(username,</a:t>
            </a:r>
            <a:r>
              <a:rPr dirty="0" sz="1000" spc="-3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password,</a:t>
            </a:r>
            <a:r>
              <a:rPr dirty="0" sz="1000" spc="1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createdDAte)</a:t>
            </a:r>
            <a:r>
              <a:rPr dirty="0" sz="1000" spc="-2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VALUE('gpcoder',</a:t>
            </a:r>
            <a:r>
              <a:rPr dirty="0" sz="1000" spc="-1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'123',</a:t>
            </a:r>
            <a:r>
              <a:rPr dirty="0" sz="1000" spc="-1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now());"</a:t>
            </a:r>
            <a:r>
              <a:rPr dirty="0" sz="1000" spc="-10">
                <a:latin typeface="Arial"/>
                <a:cs typeface="Arial"/>
              </a:rPr>
              <a:t>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19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int</a:t>
            </a:r>
            <a:r>
              <a:rPr dirty="0" sz="1000" spc="11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numberRowsAffected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st.executeUpdate(sqlInsert);</a:t>
            </a:r>
            <a:endParaRPr sz="1000">
              <a:latin typeface="Arial"/>
              <a:cs typeface="Arial"/>
            </a:endParaRPr>
          </a:p>
          <a:p>
            <a:pPr marL="431800" marR="3841750" indent="-140335">
              <a:lnSpc>
                <a:spcPct val="104000"/>
              </a:lnSpc>
              <a:spcBef>
                <a:spcPts val="195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if</a:t>
            </a:r>
            <a:r>
              <a:rPr dirty="0" sz="1000" spc="8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(numberRowsAffected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==</a:t>
            </a:r>
            <a:r>
              <a:rPr dirty="0" sz="1000" spc="35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009900"/>
                </a:solidFill>
                <a:latin typeface="Arial"/>
                <a:cs typeface="Arial"/>
              </a:rPr>
              <a:t>0</a:t>
            </a:r>
            <a:r>
              <a:rPr dirty="0" sz="1000">
                <a:latin typeface="Arial"/>
                <a:cs typeface="Arial"/>
              </a:rPr>
              <a:t>)</a:t>
            </a:r>
            <a:r>
              <a:rPr dirty="0" sz="1000" spc="20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{ </a:t>
            </a:r>
            <a:r>
              <a:rPr dirty="0" sz="1000" spc="-10">
                <a:latin typeface="Arial"/>
                <a:cs typeface="Arial"/>
              </a:rPr>
              <a:t>System.out.println(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"insertion</a:t>
            </a:r>
            <a:r>
              <a:rPr dirty="0" sz="1000" spc="12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failed"</a:t>
            </a:r>
            <a:r>
              <a:rPr dirty="0" sz="1000" spc="-10">
                <a:latin typeface="Arial"/>
                <a:cs typeface="Arial"/>
              </a:rPr>
              <a:t>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latin typeface="Arial"/>
                <a:cs typeface="Arial"/>
              </a:rPr>
              <a:t>}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else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431800">
              <a:lnSpc>
                <a:spcPct val="100000"/>
              </a:lnSpc>
              <a:spcBef>
                <a:spcPts val="240"/>
              </a:spcBef>
            </a:pPr>
            <a:r>
              <a:rPr dirty="0" sz="1000" spc="-10">
                <a:latin typeface="Arial"/>
                <a:cs typeface="Arial"/>
              </a:rPr>
              <a:t>System.out.println(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"inserted</a:t>
            </a:r>
            <a:r>
              <a:rPr dirty="0" sz="1000" spc="3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successfully</a:t>
            </a:r>
            <a:r>
              <a:rPr dirty="0" sz="1000" spc="-1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:</a:t>
            </a:r>
            <a:r>
              <a:rPr dirty="0" sz="1000" spc="1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</a:t>
            </a:r>
            <a:r>
              <a:rPr dirty="0" sz="1000" spc="9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numberRowsAffected);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50"/>
              </a:spcBef>
            </a:pPr>
            <a:r>
              <a:rPr dirty="0" sz="1000" spc="-50"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 spc="-10">
                <a:latin typeface="Arial"/>
                <a:cs typeface="Arial"/>
              </a:rPr>
              <a:t>st.close();</a:t>
            </a:r>
            <a:endParaRPr sz="1000">
              <a:latin typeface="Arial"/>
              <a:cs typeface="Arial"/>
            </a:endParaRPr>
          </a:p>
          <a:p>
            <a:pPr marL="291465" marR="4803140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5.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Close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connection </a:t>
            </a:r>
            <a:r>
              <a:rPr dirty="0" sz="1000" spc="-10">
                <a:latin typeface="Arial"/>
                <a:cs typeface="Arial"/>
              </a:rPr>
              <a:t>con.close();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dirty="0" sz="1000" spc="-50"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653" y="1064717"/>
            <a:ext cx="8667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Ví</a:t>
            </a:r>
            <a:r>
              <a:rPr dirty="0" spc="-25"/>
              <a:t> dụ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84732" y="827532"/>
            <a:ext cx="1289685" cy="1183005"/>
            <a:chOff x="1284732" y="827532"/>
            <a:chExt cx="1289685" cy="11830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732" y="902208"/>
              <a:ext cx="1289304" cy="92659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9116" y="827532"/>
              <a:ext cx="1242060" cy="11826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0180" y="1058164"/>
              <a:ext cx="853439" cy="490220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664970" y="1075385"/>
            <a:ext cx="4044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>
                <a:solidFill>
                  <a:srgbClr val="FFFFFF"/>
                </a:solidFill>
                <a:latin typeface="Impact"/>
                <a:cs typeface="Impact"/>
              </a:rPr>
              <a:t>03</a:t>
            </a:r>
            <a:endParaRPr sz="2800">
              <a:latin typeface="Impact"/>
              <a:cs typeface="Impac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06648" y="1964842"/>
            <a:ext cx="5444490" cy="40563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0" marR="2312670" indent="-140335">
              <a:lnSpc>
                <a:spcPct val="120100"/>
              </a:lnSpc>
              <a:spcBef>
                <a:spcPts val="10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hostName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"localhost"</a:t>
            </a:r>
            <a:r>
              <a:rPr dirty="0" sz="1000" spc="-10">
                <a:latin typeface="Arial"/>
                <a:cs typeface="Arial"/>
              </a:rPr>
              <a:t>;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dbName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"jdbcdemot3h"</a:t>
            </a:r>
            <a:r>
              <a:rPr dirty="0" sz="1000" spc="-10">
                <a:latin typeface="Arial"/>
                <a:cs typeface="Arial"/>
              </a:rPr>
              <a:t>;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2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userName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"root"</a:t>
            </a:r>
            <a:r>
              <a:rPr dirty="0" sz="1000" spc="-10">
                <a:latin typeface="Arial"/>
                <a:cs typeface="Arial"/>
              </a:rPr>
              <a:t>;</a:t>
            </a:r>
            <a:r>
              <a:rPr dirty="0" sz="1000" spc="500"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2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2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3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password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A00FF"/>
                </a:solidFill>
                <a:latin typeface="Arial"/>
                <a:cs typeface="Arial"/>
              </a:rPr>
              <a:t>“1234"</a:t>
            </a:r>
            <a:r>
              <a:rPr dirty="0" sz="1000" spc="-10">
                <a:latin typeface="Arial"/>
                <a:cs typeface="Arial"/>
              </a:rPr>
              <a:t>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4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private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3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final</a:t>
            </a:r>
            <a:r>
              <a:rPr dirty="0" sz="1000" spc="4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10">
                <a:latin typeface="Arial"/>
                <a:cs typeface="Arial"/>
              </a:rPr>
              <a:t> connectionURL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2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"jdbc:mysql://"</a:t>
            </a:r>
            <a:r>
              <a:rPr dirty="0" sz="1000" spc="4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hostName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":3306/"</a:t>
            </a:r>
            <a:r>
              <a:rPr dirty="0" sz="1000" spc="4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+</a:t>
            </a:r>
            <a:r>
              <a:rPr dirty="0" sz="1000" spc="-10">
                <a:latin typeface="Arial"/>
                <a:cs typeface="Arial"/>
              </a:rPr>
              <a:t> dbName;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  <a:spcBef>
                <a:spcPts val="240"/>
              </a:spcBef>
            </a:pP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public</a:t>
            </a:r>
            <a:r>
              <a:rPr dirty="0" sz="1000" spc="6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static</a:t>
            </a:r>
            <a:r>
              <a:rPr dirty="0" sz="1000" spc="5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void</a:t>
            </a:r>
            <a:r>
              <a:rPr dirty="0" sz="1000" spc="6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main(String[]</a:t>
            </a:r>
            <a:r>
              <a:rPr dirty="0" sz="1000" spc="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args)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7E0054"/>
                </a:solidFill>
                <a:latin typeface="Arial"/>
                <a:cs typeface="Arial"/>
              </a:rPr>
              <a:t>throws</a:t>
            </a:r>
            <a:r>
              <a:rPr dirty="0" sz="1000" spc="60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ClassNotFoundException,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SQLException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50"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1.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Load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Driver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 Class.forName("com.mysql.jdbc.Driver");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195"/>
              </a:spcBef>
            </a:pPr>
            <a:r>
              <a:rPr dirty="0" sz="1000" spc="-10">
                <a:latin typeface="Arial"/>
                <a:cs typeface="Arial"/>
              </a:rPr>
              <a:t>DriverManager.registerDriver(</a:t>
            </a:r>
            <a:r>
              <a:rPr dirty="0" sz="1000" spc="-10" b="1">
                <a:solidFill>
                  <a:srgbClr val="7E0054"/>
                </a:solidFill>
                <a:latin typeface="Arial"/>
                <a:cs typeface="Arial"/>
              </a:rPr>
              <a:t>new</a:t>
            </a:r>
            <a:r>
              <a:rPr dirty="0" sz="1000" spc="235" b="1">
                <a:solidFill>
                  <a:srgbClr val="7E00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com.mysql.cj.jdbc.Driver());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45"/>
              </a:spcBef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2.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Open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connection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Connection</a:t>
            </a:r>
            <a:r>
              <a:rPr dirty="0" sz="1000" spc="1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con</a:t>
            </a:r>
            <a:r>
              <a:rPr dirty="0" sz="1000" spc="-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30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DriverManager.getConnection(connectionURL,</a:t>
            </a:r>
            <a:r>
              <a:rPr dirty="0" sz="1000" spc="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userName,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password);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3.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Create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Statement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Arial"/>
                <a:cs typeface="Arial"/>
              </a:rPr>
              <a:t>Statement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0">
                <a:latin typeface="Arial"/>
                <a:cs typeface="Arial"/>
              </a:rPr>
              <a:t> con.createStatement();</a:t>
            </a:r>
            <a:endParaRPr sz="1000">
              <a:latin typeface="Arial"/>
              <a:cs typeface="Arial"/>
            </a:endParaRPr>
          </a:p>
          <a:p>
            <a:pPr marL="29146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4.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Execute</a:t>
            </a:r>
            <a:r>
              <a:rPr dirty="0" sz="1000" spc="-2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query</a:t>
            </a:r>
            <a:endParaRPr sz="1000">
              <a:latin typeface="Arial"/>
              <a:cs typeface="Arial"/>
            </a:endParaRPr>
          </a:p>
          <a:p>
            <a:pPr marL="291465" marR="1710055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String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sqlInsert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25"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"INSERT</a:t>
            </a:r>
            <a:r>
              <a:rPr dirty="0" sz="1000" spc="-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INTO</a:t>
            </a:r>
            <a:r>
              <a:rPr dirty="0" sz="1000" spc="-5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student</a:t>
            </a:r>
            <a:r>
              <a:rPr dirty="0" sz="1000" spc="-4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VALUES(?,</a:t>
            </a:r>
            <a:r>
              <a:rPr dirty="0" sz="1000" spc="-20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A00FF"/>
                </a:solidFill>
                <a:latin typeface="Arial"/>
                <a:cs typeface="Arial"/>
              </a:rPr>
              <a:t>?,</a:t>
            </a:r>
            <a:r>
              <a:rPr dirty="0" sz="1000" spc="-25">
                <a:solidFill>
                  <a:srgbClr val="2A00F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A00FF"/>
                </a:solidFill>
                <a:latin typeface="Arial"/>
                <a:cs typeface="Arial"/>
              </a:rPr>
              <a:t>?)"</a:t>
            </a:r>
            <a:r>
              <a:rPr dirty="0" sz="1000" spc="-20">
                <a:latin typeface="Arial"/>
                <a:cs typeface="Arial"/>
              </a:rPr>
              <a:t>; </a:t>
            </a:r>
            <a:r>
              <a:rPr dirty="0" sz="1000">
                <a:latin typeface="Arial"/>
                <a:cs typeface="Arial"/>
              </a:rPr>
              <a:t>PreparedStatement</a:t>
            </a:r>
            <a:r>
              <a:rPr dirty="0" sz="1000" spc="-4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stmt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=</a:t>
            </a:r>
            <a:r>
              <a:rPr dirty="0" sz="1000" spc="-1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conn.prepareStatement(sqlInsert);</a:t>
            </a:r>
            <a:endParaRPr sz="1000">
              <a:latin typeface="Arial"/>
              <a:cs typeface="Arial"/>
            </a:endParaRPr>
          </a:p>
          <a:p>
            <a:pPr marL="431800" marR="3553460">
              <a:lnSpc>
                <a:spcPct val="100000"/>
              </a:lnSpc>
            </a:pPr>
            <a:r>
              <a:rPr dirty="0" sz="1000">
                <a:latin typeface="Arial"/>
                <a:cs typeface="Arial"/>
              </a:rPr>
              <a:t>stmt.setInt(1,</a:t>
            </a:r>
            <a:r>
              <a:rPr dirty="0" sz="1000" spc="-50">
                <a:latin typeface="Arial"/>
                <a:cs typeface="Arial"/>
              </a:rPr>
              <a:t> </a:t>
            </a:r>
            <a:r>
              <a:rPr dirty="0" sz="1000" spc="-25">
                <a:latin typeface="Arial"/>
                <a:cs typeface="Arial"/>
              </a:rPr>
              <a:t>1); </a:t>
            </a:r>
            <a:r>
              <a:rPr dirty="0" sz="1000">
                <a:latin typeface="Arial"/>
                <a:cs typeface="Arial"/>
              </a:rPr>
              <a:t>stmt.setString(2,</a:t>
            </a:r>
            <a:r>
              <a:rPr dirty="0" sz="1000" spc="-6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"Vinh"); </a:t>
            </a:r>
            <a:r>
              <a:rPr dirty="0" sz="1000">
                <a:latin typeface="Arial"/>
                <a:cs typeface="Arial"/>
              </a:rPr>
              <a:t>stmt.setString(3,</a:t>
            </a:r>
            <a:r>
              <a:rPr dirty="0" sz="1000" spc="-65">
                <a:latin typeface="Arial"/>
                <a:cs typeface="Arial"/>
              </a:rPr>
              <a:t> </a:t>
            </a:r>
            <a:r>
              <a:rPr dirty="0" sz="1000" spc="-10">
                <a:latin typeface="Arial"/>
                <a:cs typeface="Arial"/>
              </a:rPr>
              <a:t>"Hanoi");</a:t>
            </a:r>
            <a:endParaRPr sz="1000">
              <a:latin typeface="Arial"/>
              <a:cs typeface="Arial"/>
            </a:endParaRPr>
          </a:p>
          <a:p>
            <a:pPr marL="291465" marR="4302760">
              <a:lnSpc>
                <a:spcPct val="100000"/>
              </a:lnSpc>
            </a:pPr>
            <a:r>
              <a:rPr dirty="0" sz="1000" spc="-10">
                <a:latin typeface="Arial"/>
                <a:cs typeface="Arial"/>
              </a:rPr>
              <a:t>stmt.execute(); st.close();</a:t>
            </a:r>
            <a:endParaRPr sz="1000">
              <a:latin typeface="Arial"/>
              <a:cs typeface="Arial"/>
            </a:endParaRPr>
          </a:p>
          <a:p>
            <a:pPr marL="291465" marR="3930015">
              <a:lnSpc>
                <a:spcPct val="100000"/>
              </a:lnSpc>
            </a:pP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//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5.</a:t>
            </a:r>
            <a:r>
              <a:rPr dirty="0" sz="1000" spc="-20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E5FBE"/>
                </a:solidFill>
                <a:latin typeface="Arial"/>
                <a:cs typeface="Arial"/>
              </a:rPr>
              <a:t>Close</a:t>
            </a:r>
            <a:r>
              <a:rPr dirty="0" sz="1000" spc="-15">
                <a:solidFill>
                  <a:srgbClr val="3E5FBE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3E5FBE"/>
                </a:solidFill>
                <a:latin typeface="Arial"/>
                <a:cs typeface="Arial"/>
              </a:rPr>
              <a:t>connection </a:t>
            </a:r>
            <a:r>
              <a:rPr dirty="0" sz="1000" spc="-10">
                <a:latin typeface="Arial"/>
                <a:cs typeface="Arial"/>
              </a:rPr>
              <a:t>con.close();</a:t>
            </a:r>
            <a:endParaRPr sz="1000">
              <a:latin typeface="Arial"/>
              <a:cs typeface="Arial"/>
            </a:endParaRPr>
          </a:p>
          <a:p>
            <a:pPr marL="152400">
              <a:lnSpc>
                <a:spcPct val="100000"/>
              </a:lnSpc>
            </a:pPr>
            <a:r>
              <a:rPr dirty="0" sz="1000" spc="-50"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219200" y="1386839"/>
            <a:ext cx="9144000" cy="637540"/>
            <a:chOff x="1219200" y="1386839"/>
            <a:chExt cx="9144000" cy="637540"/>
          </a:xfrm>
        </p:grpSpPr>
        <p:sp>
          <p:nvSpPr>
            <p:cNvPr id="3" name="object 3" descr=""/>
            <p:cNvSpPr/>
            <p:nvPr/>
          </p:nvSpPr>
          <p:spPr>
            <a:xfrm>
              <a:off x="1219200" y="1386839"/>
              <a:ext cx="9144000" cy="637540"/>
            </a:xfrm>
            <a:custGeom>
              <a:avLst/>
              <a:gdLst/>
              <a:ahLst/>
              <a:cxnLst/>
              <a:rect l="l" t="t" r="r" b="b"/>
              <a:pathLst>
                <a:path w="9144000" h="637539">
                  <a:moveTo>
                    <a:pt x="8825484" y="0"/>
                  </a:moveTo>
                  <a:lnTo>
                    <a:pt x="318516" y="0"/>
                  </a:lnTo>
                  <a:lnTo>
                    <a:pt x="271451" y="3453"/>
                  </a:lnTo>
                  <a:lnTo>
                    <a:pt x="226530" y="13486"/>
                  </a:lnTo>
                  <a:lnTo>
                    <a:pt x="184244" y="29606"/>
                  </a:lnTo>
                  <a:lnTo>
                    <a:pt x="145088" y="51319"/>
                  </a:lnTo>
                  <a:lnTo>
                    <a:pt x="109552" y="78132"/>
                  </a:lnTo>
                  <a:lnTo>
                    <a:pt x="78132" y="109552"/>
                  </a:lnTo>
                  <a:lnTo>
                    <a:pt x="51319" y="145088"/>
                  </a:lnTo>
                  <a:lnTo>
                    <a:pt x="29606" y="184244"/>
                  </a:lnTo>
                  <a:lnTo>
                    <a:pt x="13486" y="226530"/>
                  </a:lnTo>
                  <a:lnTo>
                    <a:pt x="3453" y="271451"/>
                  </a:lnTo>
                  <a:lnTo>
                    <a:pt x="0" y="318515"/>
                  </a:lnTo>
                  <a:lnTo>
                    <a:pt x="3453" y="365580"/>
                  </a:lnTo>
                  <a:lnTo>
                    <a:pt x="13486" y="410501"/>
                  </a:lnTo>
                  <a:lnTo>
                    <a:pt x="29606" y="452787"/>
                  </a:lnTo>
                  <a:lnTo>
                    <a:pt x="51319" y="491943"/>
                  </a:lnTo>
                  <a:lnTo>
                    <a:pt x="78132" y="527479"/>
                  </a:lnTo>
                  <a:lnTo>
                    <a:pt x="109552" y="558899"/>
                  </a:lnTo>
                  <a:lnTo>
                    <a:pt x="145088" y="585712"/>
                  </a:lnTo>
                  <a:lnTo>
                    <a:pt x="184244" y="607425"/>
                  </a:lnTo>
                  <a:lnTo>
                    <a:pt x="226530" y="623545"/>
                  </a:lnTo>
                  <a:lnTo>
                    <a:pt x="271451" y="633578"/>
                  </a:lnTo>
                  <a:lnTo>
                    <a:pt x="318516" y="637032"/>
                  </a:lnTo>
                  <a:lnTo>
                    <a:pt x="8825484" y="637032"/>
                  </a:lnTo>
                  <a:lnTo>
                    <a:pt x="8872548" y="633578"/>
                  </a:lnTo>
                  <a:lnTo>
                    <a:pt x="8917469" y="623545"/>
                  </a:lnTo>
                  <a:lnTo>
                    <a:pt x="8959755" y="607425"/>
                  </a:lnTo>
                  <a:lnTo>
                    <a:pt x="8998911" y="585712"/>
                  </a:lnTo>
                  <a:lnTo>
                    <a:pt x="9034447" y="558899"/>
                  </a:lnTo>
                  <a:lnTo>
                    <a:pt x="9065867" y="527479"/>
                  </a:lnTo>
                  <a:lnTo>
                    <a:pt x="9092680" y="491943"/>
                  </a:lnTo>
                  <a:lnTo>
                    <a:pt x="9114393" y="452787"/>
                  </a:lnTo>
                  <a:lnTo>
                    <a:pt x="9130513" y="410501"/>
                  </a:lnTo>
                  <a:lnTo>
                    <a:pt x="9140546" y="365580"/>
                  </a:lnTo>
                  <a:lnTo>
                    <a:pt x="9144000" y="318515"/>
                  </a:lnTo>
                  <a:lnTo>
                    <a:pt x="9140546" y="271451"/>
                  </a:lnTo>
                  <a:lnTo>
                    <a:pt x="9130513" y="226530"/>
                  </a:lnTo>
                  <a:lnTo>
                    <a:pt x="9114393" y="184244"/>
                  </a:lnTo>
                  <a:lnTo>
                    <a:pt x="9092680" y="145088"/>
                  </a:lnTo>
                  <a:lnTo>
                    <a:pt x="9065867" y="109552"/>
                  </a:lnTo>
                  <a:lnTo>
                    <a:pt x="9034447" y="78132"/>
                  </a:lnTo>
                  <a:lnTo>
                    <a:pt x="8998911" y="51319"/>
                  </a:lnTo>
                  <a:lnTo>
                    <a:pt x="8959755" y="29606"/>
                  </a:lnTo>
                  <a:lnTo>
                    <a:pt x="8917469" y="13486"/>
                  </a:lnTo>
                  <a:lnTo>
                    <a:pt x="8872548" y="3453"/>
                  </a:lnTo>
                  <a:lnTo>
                    <a:pt x="8825484" y="0"/>
                  </a:lnTo>
                  <a:close/>
                </a:path>
              </a:pathLst>
            </a:custGeom>
            <a:solidFill>
              <a:srgbClr val="F374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6088" y="1458467"/>
              <a:ext cx="8651748" cy="4953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6943" y="1449831"/>
              <a:ext cx="8670036" cy="51307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364226" y="1467738"/>
            <a:ext cx="8540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Q&amp;A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D9CE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keywords>9Slide</cp:keywords>
  <dc:subject>9Slide.vn</dc:subject>
  <dc:title>9Slide.vn</dc:title>
  <dcterms:created xsi:type="dcterms:W3CDTF">2026-03-15T14:38:30Z</dcterms:created>
  <dcterms:modified xsi:type="dcterms:W3CDTF">2026-03-15T14:38:30Z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2026-03-15T00:00:00Z</vt:filetime>
  </property>
  <property fmtid="{D5CDD505-2E9C-101B-9397-08002B2CF9AE}" pid="5" name="Producer">
    <vt:lpwstr>3-Heights(TM) PDF Security Shell 4.8.25.2 (http://www.pdf-tools.com)</vt:lpwstr>
  </property>
</Properties>
</file>